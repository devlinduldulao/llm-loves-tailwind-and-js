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313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83277" autoAdjust="0"/>
  </p:normalViewPr>
  <p:slideViewPr>
    <p:cSldViewPr snapToGrid="0" snapToObjects="1">
      <p:cViewPr varScale="1">
        <p:scale>
          <a:sx n="79" d="100"/>
          <a:sy n="79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6635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Opener. Read the setup: how many CSS developers to change a lightbulb? Pause. Let them think. Callback to the position:absolute joke if this room knows it. The cascade punchline is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on the slide: they change everything around it and hope it cascades. Bridge: that non-local mess is the problem for humans and for machines. Same friction for 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Name-check Devlin + Web Developer Conference 2025. One-liner: the methodology wars are over, the machines have voted, and today is why that's architecture. Subtitle on slide: and why you should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 under 45 seconds. Hit what's on the slide: full-stack from Oslo, creator of DaloyJS. Add current role/company if you want. Headshot box is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Graveyard of methodologies. Walk the timeline: each one tried to answer where styles live and what we name them (that is the line on the slide). Optional close: Tailwind mostly deletes those questions instead of answering them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slide. Open with the headline: the machines have voted. Point at the tools: v0, bolt, Lovable, Artifacts, shadcn, Cursor/Copilot. Land the footer: every major AI UI generator defaults to Tailwind. That's revealed preference. Rest of the talk answers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reframe. Land the slide lines: how code is understood by a teammate and by a next-token predictor. Same friction, same fix: locality. Both fail when they have to reason non-locally. Everything after this is a variation on locality.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Friction 1: naming. Optional Phil Karlton quote on the slide. Walk the three bullets: invented project-specific names, names drift (card/Card/cardWrapper), humans AND models invent inconsistently. Point at .card__header--featured. Close: Tailwind deletes the naming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Friction 2: the cascade. Land the slide: the C in CSS is global and order-dependent. Walk reset → buttons → card. Land the bottom line: edit one rule here, break a component three files away. Non-local effects are the worst case for a bounded context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Friction 3: separation of concerns became separation of context. Land the slide: two files joined only by a magic string; you must hold both in your head, and so must the model. Class name is a pointer into another file. Optional: Locality of Behaviour (Carson Gross / htmx essay).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co-location. Land the slide: markup and style live in one place; an LLM sees the entire spec in one span of tokens. Point at the PricingCard snippet: no CSS file, no invented class names, no cascade. Pivot from problem to why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1: same card, two ways. Slide prompt: build a pricing card with a featured tier. Run npm run dev. Show semantic (2 files, invented names) vs Tailwind (1 file, right first try). Click Show source if available. Watch: first-try render + spacing consistency. Backup: deployed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1: co-location = context locality. Land the slide: LLMs have a bounded context and no project memory. Co-located styling = whole spec in one token span. Semantic CSS = a second file it may never have read. Point at hero vs grid gap-6 p-8.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2: closed vocabulary = predictability. Land the slide: flex items-center justify-between is a fixed phrase seen millions of times, low perplexity, high accuracy. Contrast .hero-banner-x. Model is completing a phrase, not inventing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3. Land the slide: constraints guide the model. It picks p-4 from a menu instead of hallucinating padding: 13px. Freeform CSS drifts (13px here, 14px there); the token scale keeps generations consistent without a human cleanup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4: deterministic global mapping. Land the slide: mt-4 means margin-top 1rem in every repo on earth. .spacer means nothing until you read this project. Training generalizes utilities; bespoke names stay project-local.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5: the training-data flywheel. Land the slide: Tailwind saturates modern training data (Next.js, shadcn, public repos). More usage → more data → better gen → more usage. Utilities generalize; project names do not. Gap widens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6: self-documenting = verifiable. Land the slide: the class list is the spec. Read bg-coral hover:bg-coral/80 px-4 py-2 rounded-lg and know what it does without running it. Faster review = tighter human + AI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 framework angle. Land the slide: components already co-locate template + logic; Tailwind adds style to the same unit. Template + logic + style = one file, one mental model. Encapsulation and utility-first both apply locality, at different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for the JS toolchain. Two points matching the slide: (1) dynamic composition is trivial (className={cn(...)}, Vue :class, Svelte class:). (2) build step is already there: Vite/PostCSS, JIT, tree-shaking. Close: Tailwind is build-tool-native; it belongs to the JS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TypeScript angle. Land the slide: same philosophy, constrained named vocabulary that catches mistakes early. Walk the cva Button snippet: variants type-checked and autocompleted. Mention the tools row: cva, tailwind-variants, tailwind-merge, clsx/cn. TS constrains values; Tailwind constrains styles.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2. Open the demo repo, Typed variants section. Toggle variant and size: class string updates live (matches the slide). Then editor: type Button variant= and show IntelliSense. Land the slide line: a wrong variant is a red squiggle at compile time. TypeScript + Tailwind as one constrained, checkable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3. Prompt on the slide: add a success variant, then a loading state with a spinner. (a) LIVE in Cursor/Claude on ui/button.tsx, or (b) BACKUP: repo LLM iteration panel. Narrate: the diff lands entirely inside button.tsx; nothing else moves. Land the slide: local edit = safe edit. That is the payoff of everything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slide. shadcn/ui is the thesis shipped: copy-paste components in Tailwind + TypeScript + cva. It exists because devs and LLMs both read and modify it trivially. You own the code (not a black-box install). Bullet on slide: v0, bolt, Lovable, Cursor, Artifacts all target it by default. Close on the footer: one stack, Tailwind + TypeScript.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Objections slide. Hit all three on screen: (1) class soup → extract components, not @apply; soup lives in one place. (2) learning curve → closed set + IntelliSense; learn once, transfers. (3) just inline styles → no: tokens, hover/md/dark variants, and purge. Inline styles can't do those. Most common pushback is #3.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Monday morning adopt list. Walk all five on the slide: (1) start in NEW components, no big-bang rewrite; (2) IntelliSense + Prettier class sorter; (3) cn() + cva for variants; (4) steal from shadcn/ui; (5) let LLM speed compound, measure PR velocity. Velocity is the receipt for skeptics.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four takeaways slowly, matching the slide: (1) the friction was locality; (2) LLMs love Tailwind because co-located, closed-vocab, deterministic, everywhere in training; (3) components, utilities, and TS types: locality at three layers; (4) the machines already voted, now you have the ammunition. If they keep one word: locality.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Resources. Slides will be shared; do not read every link. Call out the two that matter on this slide: Locality of Behaviour essay (the locality essay) and v0.dev (see the machines vote live). Demo repo is on the thank-you 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you / Gracias. Point at the demo repo on the slide: github.com/devlinduldulao/llm-loves-tailwind-and-js. Socials and QR if present. Invite Tailwind hot-takes. End with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13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59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95A8B3-47D6-02CA-0770-1BFDEA3245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7302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37160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920240"/>
            <a:ext cx="99971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CSS developers does it take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change a lightbulb?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 wait for it… )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1097280" y="274320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change everything around it,</a:t>
            </a:r>
            <a:endParaRPr lang="en-US" sz="3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hope it cascades.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448056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why that joke is the problem for humans and for machines.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874520"/>
            <a:ext cx="110029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
</a:t>
            </a:r>
            <a:r>
              <a:rPr lang="en-US" sz="5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Tailwind CSS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94360" y="397764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why you should too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WHOAMI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94360" y="22768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5" name="Text 3"/>
          <p:cNvSpPr/>
          <p:nvPr/>
        </p:nvSpPr>
        <p:spPr>
          <a:xfrm>
            <a:off x="886968" y="21945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developer from Oslo Norway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of </a:t>
            </a:r>
            <a:r>
              <a:rPr lang="en-US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DaloyJS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6968" y="42519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years of methodology wars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594360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01736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2001736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OOCSS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001736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09112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3409112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09112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16488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4816488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SMACSS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16488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23864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223864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23864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31240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7631240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Modules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631240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38615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9038615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CSS-in-JS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38615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445991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10445991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445991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2017→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5333" y="512064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tried to answer the same two questions: where do styles live, and what do we name them?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machines have voted.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68698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43018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bolt.new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43018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StackBlitz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43037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7357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Lovable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417357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full-app gen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Artifacts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68680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68698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3018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43018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 AI tools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43037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7357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· Copilot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7357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Tailwind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571500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AI UI generator defaults to Tailwind. That's revealed preference.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code is </a:t>
            </a:r>
            <a:r>
              <a:rPr lang="en-US" sz="38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understood</a:t>
            </a: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1002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a </a:t>
            </a:r>
            <a:r>
              <a:rPr lang="en-US" sz="3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teammate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3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by a next-token predictor.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60350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46634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friction, same fix: locality.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things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 are only two hard things in computer science: cache invalidation and naming things.”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346557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886967" y="3383280"/>
            <a:ext cx="5760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element needs an invented, project-specific name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94360" y="4352544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86968" y="4270248"/>
            <a:ext cx="5468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drift: card / Card / cardWrapper / card-box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94360" y="5269473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886968" y="5187177"/>
            <a:ext cx="5468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AND models invent inconsistently across a session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821421" y="1828800"/>
            <a:ext cx="4773170" cy="4270248"/>
          </a:xfrm>
          <a:prstGeom prst="roundRect">
            <a:avLst>
              <a:gd name="adj" fmla="val 2222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86016" y="201168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187184" y="201168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88352" y="201168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80960" y="190195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styles.css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87184" y="2377440"/>
            <a:ext cx="4114800" cy="333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what does 'featured' even mean? */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__header</a:t>
            </a:r>
            <a:r>
              <a:rPr lang="en-US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--featured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border-color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#75dfbc;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__cta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__badge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cascade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2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CSS is global and order-dependent.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867714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6" name="Text 4"/>
          <p:cNvSpPr/>
          <p:nvPr/>
        </p:nvSpPr>
        <p:spPr>
          <a:xfrm>
            <a:off x="822960" y="305059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reset.css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960" y="355351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{ margin: 0 }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13048" y="3370634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251960" y="2867714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F1CF25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0" name="Text 8"/>
          <p:cNvSpPr/>
          <p:nvPr/>
        </p:nvSpPr>
        <p:spPr>
          <a:xfrm>
            <a:off x="4480560" y="305059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buttons.css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80560" y="355351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 padding: 8px }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70648" y="3370634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909560" y="2867714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FF6A4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4" name="Text 12"/>
          <p:cNvSpPr/>
          <p:nvPr/>
        </p:nvSpPr>
        <p:spPr>
          <a:xfrm>
            <a:off x="8138160" y="305059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card.css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38160" y="355351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…relies on both 👆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94512" y="504748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one rule here → break a component three files away. Non-local effects are the worst case for a bounded context window.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30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 separation of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59" y="2651760"/>
            <a:ext cx="5028227" cy="2194560"/>
          </a:xfrm>
          <a:prstGeom prst="roundRect">
            <a:avLst>
              <a:gd name="adj" fmla="val 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86868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Component.tsx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4500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className=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"card--featured"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0" y="33832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566365" y="2651760"/>
            <a:ext cx="5028227" cy="2194560"/>
          </a:xfrm>
          <a:prstGeom prst="roundRect">
            <a:avLst>
              <a:gd name="adj" fmla="val 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704088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styles.css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40880" y="33832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.card--featured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4360" y="553212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files, joined only by a magic string. To understand the component, you must hold both in your head, and so must the model.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= co-location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about the component, in one place.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468880"/>
            <a:ext cx="11002975" cy="3307210"/>
          </a:xfrm>
          <a:prstGeom prst="roundRect">
            <a:avLst>
              <a:gd name="adj" fmla="val 2759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3816" y="265176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4984" y="265176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265176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508760" y="2542032"/>
            <a:ext cx="9905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PricingCard.tsx (the whole component)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86968" y="3017519"/>
            <a:ext cx="10417759" cy="2605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CSS file. no class names. no cascade.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className=</a:t>
            </a:r>
            <a:r>
              <a:rPr lang="en-US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{cn(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"rounded-lg px-4 py-3 font-bold"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featured</a:t>
            </a: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"bg-mint text-ink hover:bg-mint/80"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)}&gt;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Choose plan</a:t>
            </a:r>
            <a:endParaRPr lang="en-US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4359" y="577609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i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Markup and style live in one place. An LLM sees the entire spec in one span of tokens.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1: same card, two ways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an LLM: “build a pricing card with a featured tier”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4032504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950208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version: 2 files, invented names, ad-hoc spacing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873752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791456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version: 1 file, renders right the first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59" y="5824728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npm run dev   ·   watch: does it render correctly first try? Is the spacing consistent?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Co-location = context locality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have a bounded context and no project memory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86968" y="37490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Co-located styling = the whole spec in one token span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701962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886968" y="4619666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CSS = a second file it may never have read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766559" y="2651759"/>
            <a:ext cx="5101185" cy="3535031"/>
          </a:xfrm>
          <a:prstGeom prst="roundRect">
            <a:avLst>
              <a:gd name="adj" fmla="val 2667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986016" y="283464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87184" y="283464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88352" y="283464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0" y="272491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window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59167" y="3200399"/>
            <a:ext cx="4468109" cy="264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model needs BOTH of these,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often from different files: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</a:t>
            </a:r>
            <a:r>
              <a:rPr lang="en-US" sz="16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"hero"</a:t>
            </a:r>
            <a:r>
              <a:rPr lang="en-US" sz="16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</a:t>
            </a:r>
            <a:r>
              <a:rPr lang="en-US" sz="16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40 lines … }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vs. Tailwind: it's all right here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</a:t>
            </a:r>
            <a:r>
              <a:rPr lang="en-US" sz="16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"grid gap-6 p-8"</a:t>
            </a:r>
            <a:r>
              <a:rPr lang="en-US" sz="16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vocabulary = predictability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is a next-token predictor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4360" y="3807017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86968" y="3724721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“flex items-center justify-between” = a fixed phrase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6085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886968" y="452628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millions of times → low perplexity, high accuracy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94360" y="5410135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886968" y="5327839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CSS = infinite names, orders, units → drift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828032" cy="2651760"/>
          </a:xfrm>
          <a:prstGeom prst="roundRect">
            <a:avLst>
              <a:gd name="adj" fmla="val 4138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5" name="Text 13"/>
          <p:cNvSpPr/>
          <p:nvPr/>
        </p:nvSpPr>
        <p:spPr>
          <a:xfrm>
            <a:off x="704088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predictability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246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Tailwind</a:t>
            </a:r>
            <a:r>
              <a:rPr lang="en-US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flex items-center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040880" y="3657600"/>
            <a:ext cx="4023360" cy="201168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8" name="Text 16"/>
          <p:cNvSpPr/>
          <p:nvPr/>
        </p:nvSpPr>
        <p:spPr>
          <a:xfrm>
            <a:off x="7040880" y="4114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</a:t>
            </a:r>
            <a:r>
              <a:rPr lang="en-US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.hero-banner-x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040880" y="452628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6A4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0" name="Text 18"/>
          <p:cNvSpPr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confidence in the next token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tokens = constrained values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Spacing, color, radius all come from a fixed scale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3937367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886968" y="3855071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picks p-4 from a menu…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94360" y="4822585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86968" y="4740289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…instead of hallucinating padding: 13px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5724144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886968" y="5641848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guide the model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766560" y="4480560"/>
            <a:ext cx="749808" cy="365760"/>
          </a:xfrm>
          <a:prstGeom prst="roundRect">
            <a:avLst>
              <a:gd name="adj" fmla="val 1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5" name="Text 13"/>
          <p:cNvSpPr/>
          <p:nvPr/>
        </p:nvSpPr>
        <p:spPr>
          <a:xfrm>
            <a:off x="6766560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62088" y="4224528"/>
            <a:ext cx="749808" cy="621792"/>
          </a:xfrm>
          <a:prstGeom prst="roundRect">
            <a:avLst>
              <a:gd name="adj" fmla="val 8824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7" name="Text 15"/>
          <p:cNvSpPr/>
          <p:nvPr/>
        </p:nvSpPr>
        <p:spPr>
          <a:xfrm>
            <a:off x="7562088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357616" y="3968496"/>
            <a:ext cx="749808" cy="877824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9" name="Text 17"/>
          <p:cNvSpPr/>
          <p:nvPr/>
        </p:nvSpPr>
        <p:spPr>
          <a:xfrm>
            <a:off x="8357616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153144" y="3712464"/>
            <a:ext cx="749808" cy="1133856"/>
          </a:xfrm>
          <a:prstGeom prst="roundRect">
            <a:avLst>
              <a:gd name="adj" fmla="val 7317"/>
            </a:avLst>
          </a:prstGeom>
          <a:solidFill>
            <a:srgbClr val="75DFBC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1" name="Text 19"/>
          <p:cNvSpPr/>
          <p:nvPr/>
        </p:nvSpPr>
        <p:spPr>
          <a:xfrm>
            <a:off x="9153144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948672" y="3456432"/>
            <a:ext cx="749808" cy="1389888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3" name="Text 21"/>
          <p:cNvSpPr/>
          <p:nvPr/>
        </p:nvSpPr>
        <p:spPr>
          <a:xfrm>
            <a:off x="9948672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p-6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744200" y="3200400"/>
            <a:ext cx="749808" cy="1645920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5" name="Text 23"/>
          <p:cNvSpPr/>
          <p:nvPr/>
        </p:nvSpPr>
        <p:spPr>
          <a:xfrm>
            <a:off x="10744200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p-8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6656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safe menu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Deterministic, global mapping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mt-4 == margin-top: 1rem in every repo on earth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4360" y="373989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86968" y="3657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“what does .spacer mean in THIS project?”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581144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886968" y="4498848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generalizes across the entire corpus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94360" y="5413248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886968" y="5330952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class names are project-local; they don't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955270" cy="3350206"/>
          </a:xfrm>
          <a:prstGeom prst="roundRect">
            <a:avLst>
              <a:gd name="adj" fmla="val 2963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986016" y="283464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6" name="Shape 14"/>
          <p:cNvSpPr/>
          <p:nvPr/>
        </p:nvSpPr>
        <p:spPr>
          <a:xfrm>
            <a:off x="7187184" y="283464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7" name="Shape 15"/>
          <p:cNvSpPr/>
          <p:nvPr/>
        </p:nvSpPr>
        <p:spPr>
          <a:xfrm>
            <a:off x="7388352" y="283464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7680960" y="272491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 across every codebase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59168" y="3200400"/>
            <a:ext cx="42428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mt-4</a:t>
            </a:r>
            <a:r>
              <a:rPr lang="en-US" sz="20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margin-top: 1rem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</a:t>
            </a:r>
            <a:r>
              <a:rPr lang="en-US" sz="20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display: flex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gap-6</a:t>
            </a:r>
            <a:r>
              <a:rPr lang="en-US" sz="20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gap: 1.5rem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.spacer</a:t>
            </a:r>
            <a:r>
              <a:rPr lang="en-US" sz="20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¯\_(ツ)_/¯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depends on the repo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training-data flywheel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saturates modern training data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4360" y="3879879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86968" y="3797583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shadcn/ui, millions of public repos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714414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886968" y="4632118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Utilities generalize across the corpus; names don't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94360" y="5587957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886968" y="5505661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usage → more data → better gen → more usage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7498080" y="2011680"/>
            <a:ext cx="3291840" cy="3291840"/>
          </a:xfrm>
          <a:prstGeom prst="ellipse">
            <a:avLst/>
          </a:prstGeom>
          <a:ln w="19050">
            <a:solidFill>
              <a:srgbClr val="3A3A3A"/>
            </a:solidFill>
            <a:prstDash val="dash"/>
          </a:ln>
        </p:spPr>
        <p:txBody>
          <a:bodyPr/>
          <a:lstStyle/>
          <a:p>
            <a:endParaRPr lang="en-US" sz="2800"/>
          </a:p>
        </p:txBody>
      </p:sp>
      <p:sp>
        <p:nvSpPr>
          <p:cNvPr id="15" name="Shape 13"/>
          <p:cNvSpPr/>
          <p:nvPr/>
        </p:nvSpPr>
        <p:spPr>
          <a:xfrm>
            <a:off x="8366760" y="2331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6" name="Text 14"/>
          <p:cNvSpPr/>
          <p:nvPr/>
        </p:nvSpPr>
        <p:spPr>
          <a:xfrm>
            <a:off x="836676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509760" y="3474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8" name="Text 16"/>
          <p:cNvSpPr/>
          <p:nvPr/>
        </p:nvSpPr>
        <p:spPr>
          <a:xfrm>
            <a:off x="950976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66760" y="4617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0" name="Text 18"/>
          <p:cNvSpPr/>
          <p:nvPr/>
        </p:nvSpPr>
        <p:spPr>
          <a:xfrm>
            <a:off x="8366760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output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223760" y="3474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2" name="Text 20"/>
          <p:cNvSpPr/>
          <p:nvPr/>
        </p:nvSpPr>
        <p:spPr>
          <a:xfrm>
            <a:off x="722376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trust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7824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Self-documenting = verifiable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list is the spec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bg-coral hover:bg-coral/80 px-4 py-2 rounded-lg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94360" y="4581144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86968" y="4498848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know exactly what it does without running it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5376672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886968" y="5294376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review = a tighter human + AI loop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828032" cy="3099816"/>
          </a:xfrm>
          <a:prstGeom prst="roundRect">
            <a:avLst>
              <a:gd name="adj" fmla="val 4444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040880" y="2880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verify by reading: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31736" y="371246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bg-coral </a:t>
            </a:r>
            <a:r>
              <a:rPr lang="en-US" sz="20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hover:bg-coral/80 </a:t>
            </a:r>
            <a:r>
              <a:rPr lang="en-US" sz="20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px-4 py-2 </a:t>
            </a:r>
            <a:r>
              <a:rPr lang="en-US" sz="2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rounded-lg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031736" y="4895737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coral button, darkens on hover, comfy padding, soft corners.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JS FRAMEWORK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frameworks co-locate template + logic in one unit. Tailwind adds style to the same unit.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14600" y="27432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74320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F1CF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7432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89204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FF6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743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one component, one file, one mental model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encapsulation and utility-first both apply locality, at different layers.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94360" y="5097780"/>
            <a:ext cx="1234440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594360" y="50977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057400" y="5097780"/>
            <a:ext cx="996696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2057400" y="5097780"/>
            <a:ext cx="996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282696" y="5097780"/>
            <a:ext cx="1353312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3282696" y="50977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Svelte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64608" y="5097780"/>
            <a:ext cx="1234440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864608" y="50977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27648" y="5097780"/>
            <a:ext cx="1472184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6327648" y="5097780"/>
            <a:ext cx="1472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JS FRAMEWORK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JS toolchain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3857990"/>
          </a:xfrm>
          <a:prstGeom prst="roundRect">
            <a:avLst>
              <a:gd name="adj" fmla="val 352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composition is trivial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className={cn(base, active &amp;&amp; ‘bg-mint’)}
</a:t>
            </a:r>
            <a:r>
              <a:rPr lang="en-US" sz="16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:class="{ 'opacity-50': loading }"
</a:t>
            </a:r>
            <a:r>
              <a:rPr lang="en-US" sz="16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class:selected={isSelected}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02385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JSX &amp; template bindings make class composition a one-liner.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1920240"/>
            <a:ext cx="5330952" cy="3857990"/>
          </a:xfrm>
          <a:prstGeom prst="roundRect">
            <a:avLst>
              <a:gd name="adj" fmla="val 352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step is already there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0" y="319125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6876288" y="310896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/ PostCSS / bundlers = Tailwind's native home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373989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6876288" y="365760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 compiler + content scanning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0" y="428853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6876288" y="420624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Tree-shaking → ship only the utilities you use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63641" y="502385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is a build-tool-native idea. It belongs to the JS ecosystem.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TYPESCRIPT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♥ Tailwind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philosophy: a constrained, named vocabulary that catches mistakes early.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377440"/>
            <a:ext cx="11002975" cy="3502152"/>
          </a:xfrm>
          <a:prstGeom prst="roundRect">
            <a:avLst>
              <a:gd name="adj" fmla="val 2963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3816" y="256032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4984" y="256032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256032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508760" y="2450592"/>
            <a:ext cx="9905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button.tsx  ·  class-variance-authority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86968" y="2926080"/>
            <a:ext cx="10417759" cy="266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const button = </a:t>
            </a:r>
            <a:r>
              <a:rPr lang="en-US" sz="2000" dirty="0">
                <a:solidFill>
                  <a:srgbClr val="75DFBC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cva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("rounded-lg font-bold", {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9CDCFE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variants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: {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9CDCFE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  variant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: { primary: </a:t>
            </a:r>
            <a:r>
              <a:rPr lang="en-US" sz="2000" dirty="0">
                <a:solidFill>
                  <a:srgbClr val="F1CF25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"bg-mint text-ink"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,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             destructive: </a:t>
            </a:r>
            <a:r>
              <a:rPr lang="en-US" sz="2000" dirty="0">
                <a:solidFill>
                  <a:srgbClr val="F1CF25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"bg-coral text-ink"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},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9CDCFE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  size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: { sm: </a:t>
            </a:r>
            <a:r>
              <a:rPr lang="en-US" sz="2000" dirty="0">
                <a:solidFill>
                  <a:srgbClr val="F1CF25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"h-8 px-3"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, lg: </a:t>
            </a:r>
            <a:r>
              <a:rPr lang="en-US" sz="2000" dirty="0">
                <a:solidFill>
                  <a:srgbClr val="F1CF25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"h-12 px-6"</a:t>
            </a: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},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},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D8D8D8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})</a:t>
            </a:r>
            <a:r>
              <a:rPr lang="en-US" sz="2000" dirty="0">
                <a:solidFill>
                  <a:srgbClr val="6E6E6E"/>
                </a:solidFill>
                <a:latin typeface="Cascadia Code" panose="020B0609020000020004" pitchFamily="49" charset="0"/>
                <a:ea typeface="Courier New" pitchFamily="34" charset="-122"/>
                <a:cs typeface="Cascadia Code" panose="020B0609020000020004" pitchFamily="49" charset="0"/>
              </a:rPr>
              <a:t>   // ← variants are now type-checked &amp; autocompleted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94360" y="5943600"/>
            <a:ext cx="969264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5943600"/>
            <a:ext cx="969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792224" y="5943600"/>
            <a:ext cx="2505456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92224" y="594360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tailwind-variants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26280" y="5943600"/>
            <a:ext cx="2176272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26280" y="594360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tailwind-merge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31152" y="5943600"/>
            <a:ext cx="1627632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31152" y="59436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clsx / cn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2: typed variants, live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variant × size: the class string updates in real time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74904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variant is autocompleted AND type-checked in the editor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714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3891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variant is a red squiggle at compile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212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 the cva Button playground   ·   then show IntelliSense on  &lt;Button variant="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3: watch it edit ONE file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“add a success variant, then a loading state with a spinner”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74904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 lands entirely inside button.tsx. Nothing else moves.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714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3891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cascade to chase, no stylesheet to hunt down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212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edit = safe edit. That is the payoff of everything before it.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29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 is the thesis, shipped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939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0116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components: Tailwind + TypeScript + cva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27797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6974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exists because devs and LLMs both read and modify it trivially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4655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3832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v0, bolt, Lovable, Cursor, Artifacts all target it by default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4297680"/>
            <a:ext cx="11002975" cy="1371600"/>
          </a:xfrm>
          <a:prstGeom prst="roundRect">
            <a:avLst>
              <a:gd name="adj" fmla="val 8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4297680"/>
            <a:ext cx="10271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stack: </a:t>
            </a:r>
            <a:r>
              <a:rPr lang="en-US" sz="2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+ TypeScript</a:t>
            </a: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29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“But Tailwind is…”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305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“ugly class soup”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43400" y="210312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components in your framework, not @apply. The soup lives in ONE place you rarely re-read.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94360" y="320040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3649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steep learning curve”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43400" y="333756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closed set + IntelliSense. Learn it once; it transfers to every project and every model.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43484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459943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“just inline styles”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43400" y="457200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No: design tokens + hover: / md: / dark: variants + purge. Inline styles can't do any of that.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MORNING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adopt (and convince the team)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417320" y="19659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NEW components. No big-bang rewrite.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2743200"/>
            <a:ext cx="548640" cy="548640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17320" y="274320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Tailwind IntelliSense + Prettier class-sorter plugins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17320" y="352044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cn() + cva for anything with variants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4360" y="4297680"/>
            <a:ext cx="548640" cy="548640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417320" y="42976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Steal shamelessly from shadcn/ui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4360" y="507492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5074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417320" y="50749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LLM speed compound. Measure PR velocity.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29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603504" cy="60350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08760" y="20116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friction was locality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2926080"/>
            <a:ext cx="603504" cy="60350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926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29260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love Tailwind: co-located, closed-vocabulary, deterministic, everywhere in training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3840480"/>
            <a:ext cx="603504" cy="60350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8404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508760" y="38404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Components, utilities, and TS types: locality at three layers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94360" y="4754880"/>
            <a:ext cx="603504" cy="60350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7548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47548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machines already voted. Now you have the ammunition.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29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886968" y="201168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tailwindcss.com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86968" y="239572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+ the JIT engine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78728" y="205740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571336" y="201168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ui.shadcn.com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71336" y="239572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copy-paste component standard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86968" y="310896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cva.style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6968" y="349300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class-variance-authority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8728" y="315468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6571336" y="310896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github.com/dcastil/tailwind-merge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71336" y="349300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conflict-safe class merging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25196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886968" y="42062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htmx.org/essays/locality-of-behaviour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6968" y="459028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locality essay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78728" y="425196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6571336" y="42062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v0.dev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71336" y="459028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machines vote, live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737360"/>
            <a:ext cx="11002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94360" y="310896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40142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39319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repo:  </a:t>
            </a:r>
            <a:r>
              <a:rPr lang="en-US" sz="16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/devlinduldulao/llm-loves-tailwind-and-js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460857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45262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Socials:  @devlinduldulao   ·   linkedin.com/in/devlinduldulao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0" y="384048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94360" y="5852160"/>
            <a:ext cx="923544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5852160"/>
            <a:ext cx="923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00784" y="5852160"/>
            <a:ext cx="1028700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00784" y="585216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12364" y="5852160"/>
            <a:ext cx="1659636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12364" y="5852160"/>
            <a:ext cx="1659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rounded-2xl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5852160"/>
            <a:ext cx="1449324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5852160"/>
            <a:ext cx="1449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text-mint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B4D6A6-A061-9EE8-289A-08D42F3815C3}"/>
              </a:ext>
            </a:extLst>
          </p:cNvPr>
          <p:cNvSpPr txBox="1"/>
          <p:nvPr/>
        </p:nvSpPr>
        <p:spPr>
          <a:xfrm>
            <a:off x="1377244" y="3075057"/>
            <a:ext cx="4616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Thank you!</a:t>
            </a:r>
          </a:p>
          <a:p>
            <a:pPr algn="ctr"/>
            <a:endParaRPr lang="en-US" sz="40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 algn="ctr"/>
            <a:r>
              <a:rPr lang="en-US" sz="4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@DevlinDuldulao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4F4B3-E994-6BEE-60A6-D12023533FAF}"/>
              </a:ext>
            </a:extLst>
          </p:cNvPr>
          <p:cNvSpPr txBox="1"/>
          <p:nvPr/>
        </p:nvSpPr>
        <p:spPr>
          <a:xfrm>
            <a:off x="8136190" y="5852011"/>
            <a:ext cx="1959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Social Links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B6EB2D-569B-CB31-99FE-EFA1309A3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809" y="886733"/>
            <a:ext cx="4876190" cy="4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5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6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by="(-#ppt_w*2)" calcmode="lin" valueType="num">
                                      <p:cBhvr rctx="PPT">
                                        <p:cTn id="7" dur="5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</p:anim>
                                    <p:anim by="(#ppt_w*0.50)" calcmode="lin" valueType="num">
                                      <p:cBhvr>
                                        <p:cTn id="8" dur="5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(-#ppt_h/2)" to="(#ppt_y)" calcmode="lin" valueType="num">
                                      <p:cBhvr>
                                        <p:cTn id="9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  <p:animRot by="21600000">
                                      <p:cBhvr>
                                        <p:cTn id="10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6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by="(-#ppt_w*2)" calcmode="lin" valueType="num">
                                      <p:cBhvr rctx="PPT">
                                        <p:cTn id="15" dur="5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</p:anim>
                                    <p:anim by="(#ppt_w*0.50)" calcmode="lin" valueType="num">
                                      <p:cBhvr>
                                        <p:cTn id="16" dur="5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(-#ppt_h/2)" to="(#ppt_y)" calcmode="lin" valueType="num">
                                      <p:cBhvr>
                                        <p:cTn id="17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  <p:animRot by="21600000">
                                      <p:cBhvr>
                                        <p:cTn id="18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8141450-2387-4aca-b41f-19cd6be9dd3c}" enabled="1" method="Standard" siteId="{adf10e2b-b6e9-41d6-be2f-c12bb566019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3518</Words>
  <Application>Microsoft Office PowerPoint</Application>
  <PresentationFormat>Widescreen</PresentationFormat>
  <Paragraphs>412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Cascadia Code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LLMs &amp; JS frameworks love Tailwind CSS</dc:title>
  <dc:subject>PptxGenJS Presentation</dc:subject>
  <dc:creator>Devlin Duldulao</dc:creator>
  <cp:lastModifiedBy>Duldulao, Devlin (DNV External)</cp:lastModifiedBy>
  <cp:revision>14</cp:revision>
  <dcterms:created xsi:type="dcterms:W3CDTF">2026-07-14T15:54:22Z</dcterms:created>
  <dcterms:modified xsi:type="dcterms:W3CDTF">2026-08-22T11:25:02Z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78c0f71-65dc-41d1-a799-91080a268621_Enabled">
    <vt:lpwstr>true</vt:lpwstr>
  </property>
  <property fmtid="{D5CDD505-2E9C-101B-9397-08002B2CF9AE}" pid="3" name="MSIP_Label_178c0f71-65dc-41d1-a799-91080a268621_SetDate">
    <vt:lpwstr>2026-07-14T16:34:20Z</vt:lpwstr>
  </property>
  <property fmtid="{D5CDD505-2E9C-101B-9397-08002B2CF9AE}" pid="4" name="MSIP_Label_178c0f71-65dc-41d1-a799-91080a268621_Method">
    <vt:lpwstr>Standard</vt:lpwstr>
  </property>
  <property fmtid="{D5CDD505-2E9C-101B-9397-08002B2CF9AE}" pid="5" name="MSIP_Label_178c0f71-65dc-41d1-a799-91080a268621_Name">
    <vt:lpwstr>Internal - Crayon Group Only</vt:lpwstr>
  </property>
  <property fmtid="{D5CDD505-2E9C-101B-9397-08002B2CF9AE}" pid="6" name="MSIP_Label_178c0f71-65dc-41d1-a799-91080a268621_SiteId">
    <vt:lpwstr>8f47ad71-44ca-48bf-afe3-56b9360a4495</vt:lpwstr>
  </property>
  <property fmtid="{D5CDD505-2E9C-101B-9397-08002B2CF9AE}" pid="7" name="MSIP_Label_178c0f71-65dc-41d1-a799-91080a268621_ActionId">
    <vt:lpwstr>005b6897-af3e-4122-9270-827420e2aab7</vt:lpwstr>
  </property>
  <property fmtid="{D5CDD505-2E9C-101B-9397-08002B2CF9AE}" pid="8" name="MSIP_Label_178c0f71-65dc-41d1-a799-91080a268621_ContentBits">
    <vt:lpwstr>2</vt:lpwstr>
  </property>
  <property fmtid="{D5CDD505-2E9C-101B-9397-08002B2CF9AE}" pid="9" name="MSIP_Label_178c0f71-65dc-41d1-a799-91080a268621_Tag">
    <vt:lpwstr>50, 3, 0, 1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 Only</vt:lpwstr>
  </property>
  <property fmtid="{D5CDD505-2E9C-101B-9397-08002B2CF9AE}" pid="12" name="DocumentInfoFinished">
    <vt:lpwstr>True</vt:lpwstr>
  </property>
</Properties>
</file>
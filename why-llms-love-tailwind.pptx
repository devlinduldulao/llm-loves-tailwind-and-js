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66356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Opener — keep the joke tradition. Deliver the setup, pause, let them think. This is a callback to my CSS/position:absolute joke from past talks. The lightbulb version sets up the whole talk: the cascade.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Punchline. The cascade — spooky action at a distance — is exactly the friction we'll unpack. Bridge: the same thing that makes CSS hard for us makes it hard for an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Name check the conference. One-liner: the CSS methodology wars are over and the machines have voted — and today I'll show you why that's not an accident, it's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bio — keep it under 45 seconds. Update the role/company line and add any current creds. Placeholder '@' box: swap for a headshot before the talk if you want.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graveyard of methodologies. We spent 15 years arguing about where styles live and what to name them. Tailwind didn't win the argument — it deleted the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people build tools that generate UIs with AI, they reach for Tailwind by default. v0, bolt, Lovable, Artifacts — all Tailwind + shadcn. The revealed preference of the entire AI tooling industry. The rest of the talk answers: why?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reframe of the talk. Humans and LLMs fail on CSS for the SAME reason: you have to reason non-locally. Fix locality and you help both at once. Everything after this is a variation on 'locality'.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Naming is a decision, and decisions compound. BEM makes it explicit but doesn't make it easy. An LLM has to invent a name here, remember it there, and keep them consistent — with no project memory. Tailwind deletes the decision entirely.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cascade is spooky action at a distance. To safely change one rule you must know every other rule that could interact with it. Humans get this wrong when tired; an LLM gets it wrong because the interacting rule was in a file it never saw.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of concerns sounds virtuous, but for a component it's separation of CONTEXT. Reference the 'Locality of Behaviour' idea (Carson Gross). The class name is a pointer; you have to dereference it in another file. Every dereference is a chance to be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Here's the fix. The markup and the styling are the same artifact. Nothing to name, nothing to look up, nothing that can break from a distance. This is the pivot from problem to why-it-works.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1. Open the demo repo (App.tsx). Show both cards side by side — pixel identical. Click 'Show source': semantic = 2 files + 11 invented names + a cascade; Tailwind = 1 file. Optional: paste the Tailwind card into an LLM and ask it to make the CTA pulse on hover — one line changes. BACKUP: if the demo breaks, the deployed page is the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Reason 1, the big one. Context is the model's whole world. If the answer lives in a file it didn't retrieve, it will guess. Co-location means the answer is always in front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Reason 2. Frame it in the model's native terms: perplexity. Tailwind utilities are among the highest-frequency, most-co-occurring token sequences in the training data. The model isn't guessing — it's completing a phrase it has seen a million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Reason 3. The scale is a guardrail. Freeform CSS lets the model emit 13px here and 14px there — inconsistency that a human reviewer then has to catch. The token scale makes even a mediocre generation look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Reason 4. Tailwind is effectively a shared standard library the model already knows. Semantic class names are private vocabulary — the model can't have learned yours, because it's yours.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Reason 5. This is self-reinforcing and it's why the gap widens over time. Semantic CSS can't ride the flywheel — every project's names are different, so there's nothing transferable to learn.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Reason 6. Because the output is self-documenting, a human can review LLM-generated markup at a glance — no context-switching to a stylesheet, no running it to see what happens. That review speed is what makes AI-assisted UI work actually productive.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answers the 'frameworks were architecturally destined' line from the abstract. Components already pulled logic next to markup — that's locality. Tailwind just finishes the job by pulling style in too. It's the same idea, not a coincidence.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reinforcing points. (1) Frameworks make composing classes at runtime trivial — you can't do that cleanly with static stylesheets. (2) Tailwind needs a build step to purge unused utilities, and the JS ecosystem already has that step. It's a hand-in-glove 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TypeScript angle ties it together. cva turns a closed set of utilities into a typed contract — autocomplete, compile-time checks, and the whole component readable in one span. TS constrains values; Tailwind constrains styles; both catch errors early. This is why the AI-native stack is TS + Tailwind.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2. Open the demo repo → the 'Typed variants' section. Toggle variant/size and show the generated class string change live. Then flip to your editor and show autocomplete on &lt;Button variant=" — the closed set appears, and a bad value fails to compile. This is TypeScript + Tailwind as one constrained, checkable vocabulary.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3. Two ways to run it: (a) LIVE — in your editor, ask Cursor/Claude to add a `success` variant then a loading state to ui/button.tsx; narrate that only that one file changes. (b) BACKUP / deterministic — the repo's 'LLM iteration' panel replays the same edits on click: each prompt streams the diff into button.tsx and the live preview gains the capability. Punchline: because everything about the component is co-located, the model's edit is local — and a local edit is a safe edit. That's the whole talk, made physical.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shadcn/ui is the whole talk made concrete: distribution-by-copy-paste only works because the code is readable and modifiable by both humans and models. It's not a component library you install — it's code you own, in the one dialect everyone (and every model) speaks.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Steelman the objections — it builds credibility and hands the audience their rebuttals. The 'inline styles' one is the most common and the most wrong: variants and purge are exactly what inline styles can't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it actionable. Nobody has to rewrite anything — start where new code is written and let the compounding LLM speed be the argument that convinces the skeptics. Velocity is the receipt.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four takeaways slowly. If they remember one word, it's 'locality'. If they remember one sentence, it's 'the machines already voted.'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Resources — the slides will be shared, so no need to read every link. Call out the Locality of Behaviour essay and the demo repo (on the next slide).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tradition — Gracias / Thank you. Swap in your real GitHub, socials, and generate a QR to the demo repo. Invite Tailwind hot-takes. End with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795A8B3-47D6-02CA-0770-1BFDEA3245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73025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Internal Only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137160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7280" y="1920240"/>
            <a:ext cx="999713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many CSS developers does it take</a:t>
            </a:r>
            <a:endParaRPr lang="en-US" sz="40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change a lightbulb?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97280" y="41148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i="1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 wait for it… )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15544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4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None.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1097280" y="2743200"/>
            <a:ext cx="99971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just change everything around it —</a:t>
            </a:r>
            <a:endParaRPr lang="en-US" sz="30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hope it cascades. 🌊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7280" y="448056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i="1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why that joke is basically the whole problem — for humans and for machines.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1874520"/>
            <a:ext cx="110029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
</a:t>
            </a:r>
            <a:r>
              <a:rPr lang="en-US" sz="52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love Tailwind CSS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594360" y="3977640"/>
            <a:ext cx="11002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i="1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…and why you should too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489204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Devlin Duldulao</a:t>
            </a:r>
            <a:r>
              <a:rPr lang="en-US" sz="16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  Web Developer Conference   •   2025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94360" y="5715000"/>
            <a:ext cx="923544" cy="365760"/>
          </a:xfrm>
          <a:prstGeom prst="roundRect">
            <a:avLst>
              <a:gd name="adj" fmla="val 50000"/>
            </a:avLst>
          </a:prstGeom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5715000"/>
            <a:ext cx="923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flex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700784" y="5715000"/>
            <a:ext cx="1764792" cy="365760"/>
          </a:xfrm>
          <a:prstGeom prst="roundRect">
            <a:avLst>
              <a:gd name="adj" fmla="val 50000"/>
            </a:avLst>
          </a:prstGeom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700784" y="5715000"/>
            <a:ext cx="1764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1CF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items-center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48456" y="5715000"/>
            <a:ext cx="1028700" cy="365760"/>
          </a:xfrm>
          <a:prstGeom prst="roundRect">
            <a:avLst>
              <a:gd name="adj" fmla="val 50000"/>
            </a:avLst>
          </a:prstGeom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648456" y="5715000"/>
            <a:ext cx="1028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gap-4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860036" y="5715000"/>
            <a:ext cx="1659636" cy="365760"/>
          </a:xfrm>
          <a:prstGeom prst="roundRect">
            <a:avLst>
              <a:gd name="adj" fmla="val 50000"/>
            </a:avLst>
          </a:prstGeom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60036" y="5715000"/>
            <a:ext cx="1659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1CF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rounded-2xl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702552" y="5715000"/>
            <a:ext cx="1869948" cy="365760"/>
          </a:xfrm>
          <a:prstGeom prst="roundRect">
            <a:avLst>
              <a:gd name="adj" fmla="val 50000"/>
            </a:avLst>
          </a:prstGeom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702552" y="5715000"/>
            <a:ext cx="18699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hover:bg-mint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29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WHOAMI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Devlin Duldulao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94360" y="227685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86968" y="2194560"/>
            <a:ext cx="6656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developer from Oslo Norway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94360" y="296265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86968" y="2880360"/>
            <a:ext cx="6656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 of </a:t>
            </a:r>
            <a:r>
              <a:rPr lang="en-US" sz="170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DaloyJS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86968" y="4251960"/>
            <a:ext cx="6656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29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SETUP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years of methodology wars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2743200"/>
            <a:ext cx="1151344" cy="1371600"/>
          </a:xfrm>
          <a:prstGeom prst="roundRect">
            <a:avLst>
              <a:gd name="adj" fmla="val 9530"/>
            </a:avLst>
          </a:prstGeom>
          <a:solidFill>
            <a:srgbClr val="222121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2999232"/>
            <a:ext cx="1151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Vanilla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3520440"/>
            <a:ext cx="1151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2005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001736" y="2743200"/>
            <a:ext cx="1151344" cy="1371600"/>
          </a:xfrm>
          <a:prstGeom prst="roundRect">
            <a:avLst>
              <a:gd name="adj" fmla="val 9530"/>
            </a:avLst>
          </a:prstGeom>
          <a:solidFill>
            <a:srgbClr val="222121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001736" y="2999232"/>
            <a:ext cx="1151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OOCSS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001736" y="3520440"/>
            <a:ext cx="1151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2009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09112" y="2743200"/>
            <a:ext cx="1151344" cy="1371600"/>
          </a:xfrm>
          <a:prstGeom prst="roundRect">
            <a:avLst>
              <a:gd name="adj" fmla="val 9530"/>
            </a:avLst>
          </a:prstGeom>
          <a:solidFill>
            <a:srgbClr val="222121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09112" y="2999232"/>
            <a:ext cx="1151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09112" y="3520440"/>
            <a:ext cx="1151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16488" y="2743200"/>
            <a:ext cx="1151344" cy="1371600"/>
          </a:xfrm>
          <a:prstGeom prst="roundRect">
            <a:avLst>
              <a:gd name="adj" fmla="val 9530"/>
            </a:avLst>
          </a:prstGeom>
          <a:solidFill>
            <a:srgbClr val="222121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16488" y="2999232"/>
            <a:ext cx="1151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SMACSS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16488" y="3520440"/>
            <a:ext cx="1151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2011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23864" y="2743200"/>
            <a:ext cx="1151344" cy="1371600"/>
          </a:xfrm>
          <a:prstGeom prst="roundRect">
            <a:avLst>
              <a:gd name="adj" fmla="val 9530"/>
            </a:avLst>
          </a:prstGeom>
          <a:solidFill>
            <a:srgbClr val="222121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23864" y="2999232"/>
            <a:ext cx="1151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23864" y="3520440"/>
            <a:ext cx="1151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31240" y="2743200"/>
            <a:ext cx="1151344" cy="1371600"/>
          </a:xfrm>
          <a:prstGeom prst="roundRect">
            <a:avLst>
              <a:gd name="adj" fmla="val 9530"/>
            </a:avLst>
          </a:prstGeom>
          <a:solidFill>
            <a:srgbClr val="222121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631240" y="2999232"/>
            <a:ext cx="1151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 Modules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631240" y="3520440"/>
            <a:ext cx="1151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2015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038615" y="2743200"/>
            <a:ext cx="1151344" cy="1371600"/>
          </a:xfrm>
          <a:prstGeom prst="roundRect">
            <a:avLst>
              <a:gd name="adj" fmla="val 9530"/>
            </a:avLst>
          </a:prstGeom>
          <a:solidFill>
            <a:srgbClr val="222121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038615" y="2999232"/>
            <a:ext cx="1151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CSS-in-JS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038615" y="3520440"/>
            <a:ext cx="1151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2016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0445991" y="2743200"/>
            <a:ext cx="1151344" cy="1371600"/>
          </a:xfrm>
          <a:prstGeom prst="roundRect">
            <a:avLst>
              <a:gd name="adj" fmla="val 9530"/>
            </a:avLst>
          </a:prstGeom>
          <a:solidFill>
            <a:srgbClr val="2C2B2B"/>
          </a:solidFill>
          <a:ln w="12700">
            <a:solidFill>
              <a:srgbClr val="75DF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0445991" y="2999232"/>
            <a:ext cx="1151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445991" y="3520440"/>
            <a:ext cx="1151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1CF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2017→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4663440"/>
            <a:ext cx="11002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one of these tried to answer the same two questions: where do styles live, and what do we name them?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29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F1CF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THESIS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machines have voted.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94360" y="2377440"/>
            <a:ext cx="3454298" cy="1234440"/>
          </a:xfrm>
          <a:prstGeom prst="roundRect">
            <a:avLst>
              <a:gd name="adj" fmla="val 8889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68680" y="2633472"/>
            <a:ext cx="29056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3127248"/>
            <a:ext cx="2905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68698" y="2377440"/>
            <a:ext cx="3454298" cy="1234440"/>
          </a:xfrm>
          <a:prstGeom prst="roundRect">
            <a:avLst>
              <a:gd name="adj" fmla="val 8889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643018" y="2633472"/>
            <a:ext cx="29056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bolt.new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643018" y="3127248"/>
            <a:ext cx="2905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StackBlitz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43037" y="2377440"/>
            <a:ext cx="3454298" cy="1234440"/>
          </a:xfrm>
          <a:prstGeom prst="roundRect">
            <a:avLst>
              <a:gd name="adj" fmla="val 8889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417357" y="2633472"/>
            <a:ext cx="29056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Lovable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417357" y="3127248"/>
            <a:ext cx="2905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full-app gen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94360" y="3931920"/>
            <a:ext cx="3454298" cy="1234440"/>
          </a:xfrm>
          <a:prstGeom prst="roundRect">
            <a:avLst>
              <a:gd name="adj" fmla="val 8889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68680" y="4187952"/>
            <a:ext cx="29056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Artifacts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68680" y="4681728"/>
            <a:ext cx="2905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68698" y="3931920"/>
            <a:ext cx="3454298" cy="1234440"/>
          </a:xfrm>
          <a:prstGeom prst="roundRect">
            <a:avLst>
              <a:gd name="adj" fmla="val 8889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43018" y="4187952"/>
            <a:ext cx="29056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shadcn/ui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643018" y="4681728"/>
            <a:ext cx="2905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UI standard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143037" y="3931920"/>
            <a:ext cx="3454298" cy="1234440"/>
          </a:xfrm>
          <a:prstGeom prst="roundRect">
            <a:avLst>
              <a:gd name="adj" fmla="val 8889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417357" y="4187952"/>
            <a:ext cx="29056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 · Copilot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417357" y="4681728"/>
            <a:ext cx="2905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lean Tailwind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94360" y="5715000"/>
            <a:ext cx="11002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major AI UI generator defaults to Tailwind. That's not marketing — it's revealed preference.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29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REFRAME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1371600"/>
            <a:ext cx="11002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was never about </a:t>
            </a:r>
            <a:r>
              <a:rPr lang="en-US" sz="3800" b="1" dirty="0">
                <a:solidFill>
                  <a:srgbClr val="FF6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HTML</a:t>
            </a: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94360" y="2651760"/>
            <a:ext cx="110029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about how code is </a:t>
            </a:r>
            <a:r>
              <a:rPr lang="en-US" sz="30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understood</a:t>
            </a: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</a:t>
            </a:r>
            <a:endParaRPr lang="en-US" sz="30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a teammate, and by a next-token predictor.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94360" y="4663440"/>
            <a:ext cx="6035040" cy="548640"/>
          </a:xfrm>
          <a:prstGeom prst="roundRect">
            <a:avLst>
              <a:gd name="adj" fmla="val 50000"/>
            </a:avLst>
          </a:prstGeom>
          <a:solidFill>
            <a:srgbClr val="2C2B2B"/>
          </a:solidFill>
          <a:ln w="12700">
            <a:solidFill>
              <a:srgbClr val="75DF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46634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friction.  Same fix:  locality.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29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FF6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FRICTION #1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Naming things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828800"/>
            <a:ext cx="5760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“There are only two hard things in computer science: cache invalidation and naming things.”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94360" y="3465576"/>
            <a:ext cx="118872" cy="118872"/>
          </a:xfrm>
          <a:prstGeom prst="rect">
            <a:avLst/>
          </a:prstGeom>
          <a:solidFill>
            <a:srgbClr val="FF6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86968" y="3383280"/>
            <a:ext cx="5468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element needs an invented, project-specific name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94360" y="4059936"/>
            <a:ext cx="118872" cy="118872"/>
          </a:xfrm>
          <a:prstGeom prst="rect">
            <a:avLst/>
          </a:prstGeom>
          <a:solidFill>
            <a:srgbClr val="FF6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86968" y="3977640"/>
            <a:ext cx="5468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 drift: card / Card / cardWrapper / card-box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" y="4654296"/>
            <a:ext cx="118872" cy="118872"/>
          </a:xfrm>
          <a:prstGeom prst="rect">
            <a:avLst/>
          </a:prstGeom>
          <a:solidFill>
            <a:srgbClr val="FF6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86968" y="4572000"/>
            <a:ext cx="5468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Humans AND models invent inconsistently across a session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766560" y="1828800"/>
            <a:ext cx="4828032" cy="3291840"/>
          </a:xfrm>
          <a:prstGeom prst="roundRect">
            <a:avLst>
              <a:gd name="adj" fmla="val 2222"/>
            </a:avLst>
          </a:prstGeom>
          <a:solidFill>
            <a:srgbClr val="171717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986016" y="2011680"/>
            <a:ext cx="100584" cy="100584"/>
          </a:xfrm>
          <a:prstGeom prst="ellipse">
            <a:avLst/>
          </a:prstGeom>
          <a:solidFill>
            <a:srgbClr val="FF6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187184" y="2011680"/>
            <a:ext cx="100584" cy="100584"/>
          </a:xfrm>
          <a:prstGeom prst="ellipse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388352" y="2011680"/>
            <a:ext cx="100584" cy="100584"/>
          </a:xfrm>
          <a:prstGeom prst="ellipse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680960" y="1901952"/>
            <a:ext cx="3730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styles.css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59168" y="2377440"/>
            <a:ext cx="424281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what does 'featured' even mean? */</a:t>
            </a:r>
            <a:endParaRPr lang="en-US" sz="14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</a:t>
            </a:r>
            <a:r>
              <a:rPr lang="en-US" sz="1400" dirty="0">
                <a:solidFill>
                  <a:srgbClr val="F1CF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__header</a:t>
            </a:r>
            <a:r>
              <a:rPr lang="en-US" sz="1400" dirty="0">
                <a:solidFill>
                  <a:srgbClr val="FF6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--featured</a:t>
            </a:r>
            <a:r>
              <a:rPr lang="en-US" sz="140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</a:t>
            </a:r>
            <a:endParaRPr lang="en-US" sz="14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border-color</a:t>
            </a:r>
            <a:r>
              <a:rPr lang="en-US" sz="140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r>
              <a:rPr lang="en-US" sz="1400" dirty="0">
                <a:solidFill>
                  <a:srgbClr val="F1CF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#75dfbc;</a:t>
            </a:r>
            <a:endParaRPr lang="en-US" sz="14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marL="0" indent="0" algn="l">
              <a:lnSpc>
                <a:spcPct val="115000"/>
              </a:lnSpc>
              <a:buNone/>
            </a:pPr>
            <a:endParaRPr lang="en-US" sz="14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</a:t>
            </a:r>
            <a:r>
              <a:rPr lang="en-US" sz="1400" dirty="0">
                <a:solidFill>
                  <a:srgbClr val="F1CF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__cta</a:t>
            </a:r>
            <a:r>
              <a:rPr lang="en-US" sz="140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 … }</a:t>
            </a:r>
            <a:endParaRPr lang="en-US" sz="14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</a:t>
            </a:r>
            <a:r>
              <a:rPr lang="en-US" sz="1400" dirty="0">
                <a:solidFill>
                  <a:srgbClr val="F1CF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__badge</a:t>
            </a:r>
            <a:r>
              <a:rPr lang="en-US" sz="140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 … }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FF6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FRICTION #2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cascade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783080"/>
            <a:ext cx="11002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r>
              <a:rPr lang="en-US" sz="2200" b="1" dirty="0">
                <a:solidFill>
                  <a:srgbClr val="FF6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CSS is global and order-dependent.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94360" y="2651760"/>
            <a:ext cx="3200400" cy="1554480"/>
          </a:xfrm>
          <a:prstGeom prst="roundRect">
            <a:avLst>
              <a:gd name="adj" fmla="val 7059"/>
            </a:avLst>
          </a:prstGeom>
          <a:solidFill>
            <a:srgbClr val="2C2B2B"/>
          </a:solidFill>
          <a:ln w="12700">
            <a:solidFill>
              <a:srgbClr val="75DF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2834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reset.css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3375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A6A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{ margin: 0 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13048" y="3154680"/>
            <a:ext cx="420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251960" y="2651760"/>
            <a:ext cx="3200400" cy="1554480"/>
          </a:xfrm>
          <a:prstGeom prst="roundRect">
            <a:avLst>
              <a:gd name="adj" fmla="val 7059"/>
            </a:avLst>
          </a:prstGeom>
          <a:solidFill>
            <a:srgbClr val="2C2B2B"/>
          </a:solidFill>
          <a:ln w="12700">
            <a:solidFill>
              <a:srgbClr val="F1CF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480560" y="2834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CF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buttons.css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480560" y="33375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A6A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button { padding: 8px }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470648" y="3154680"/>
            <a:ext cx="420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7909560" y="2651760"/>
            <a:ext cx="3200400" cy="1554480"/>
          </a:xfrm>
          <a:prstGeom prst="roundRect">
            <a:avLst>
              <a:gd name="adj" fmla="val 7059"/>
            </a:avLst>
          </a:prstGeom>
          <a:solidFill>
            <a:srgbClr val="2C2B2B"/>
          </a:solidFill>
          <a:ln w="12700">
            <a:solidFill>
              <a:srgbClr val="FF6A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138160" y="2834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card.css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138160" y="33375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A6A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…relies on both 👆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" y="461772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7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one rule here → break a component three files away. Non-local effects are the worst case for a bounded context window.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29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FF6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FRICTION #3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110029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Separation of concerns</a:t>
            </a:r>
            <a:endParaRPr lang="en-US" sz="300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became separation of context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2651760"/>
            <a:ext cx="4846320" cy="2194560"/>
          </a:xfrm>
          <a:prstGeom prst="roundRect">
            <a:avLst>
              <a:gd name="adj" fmla="val 5000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68680" y="2834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Component.tsx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338328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className=</a:t>
            </a:r>
            <a:r>
              <a:rPr lang="en-US" sz="1300" dirty="0">
                <a:solidFill>
                  <a:srgbClr val="F1CF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"card--featured"</a:t>
            </a:r>
            <a:r>
              <a:rPr lang="en-US" sz="130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0" y="33832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🔗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766560" y="2651760"/>
            <a:ext cx="4828032" cy="2194560"/>
          </a:xfrm>
          <a:prstGeom prst="roundRect">
            <a:avLst>
              <a:gd name="adj" fmla="val 5000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040880" y="2834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CF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styles.css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040880" y="338328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1CF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.card--featured</a:t>
            </a:r>
            <a:r>
              <a:rPr lang="en-US" sz="130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 … }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94360" y="512064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7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files, joined only by a magic string. To understand the component, you must hold both in your head — and so must the model.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 = co-location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78308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about the component, in one place.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94360" y="2468880"/>
            <a:ext cx="11002975" cy="2651760"/>
          </a:xfrm>
          <a:prstGeom prst="roundRect">
            <a:avLst>
              <a:gd name="adj" fmla="val 2759"/>
            </a:avLst>
          </a:prstGeom>
          <a:solidFill>
            <a:srgbClr val="171717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13816" y="2651760"/>
            <a:ext cx="100584" cy="100584"/>
          </a:xfrm>
          <a:prstGeom prst="ellipse">
            <a:avLst/>
          </a:prstGeom>
          <a:solidFill>
            <a:srgbClr val="FF6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14984" y="2651760"/>
            <a:ext cx="100584" cy="100584"/>
          </a:xfrm>
          <a:prstGeom prst="ellipse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216152" y="2651760"/>
            <a:ext cx="100584" cy="100584"/>
          </a:xfrm>
          <a:prstGeom prst="ellipse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508760" y="2542032"/>
            <a:ext cx="9905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PricingCard.tsx  — that's the whole thing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86968" y="3017520"/>
            <a:ext cx="10417759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no CSS file. no class names. no cascade.</a:t>
            </a:r>
            <a:endParaRPr lang="en-US" sz="1500" dirty="0"/>
          </a:p>
          <a:p>
            <a:pPr marL="0" indent="0" algn="l">
              <a:lnSpc>
                <a:spcPct val="115000"/>
              </a:lnSpc>
              <a:buNone/>
            </a:pPr>
            <a:endParaRPr lang="en-US" sz="15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</a:t>
            </a:r>
            <a:r>
              <a:rPr lang="en-US" sz="150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className=</a:t>
            </a:r>
            <a:r>
              <a:rPr lang="en-US" sz="1500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{cn(</a:t>
            </a:r>
            <a:endParaRPr lang="en-US" sz="15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F1CF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"rounded-lg px-4 py-3 font-bold"</a:t>
            </a:r>
            <a:r>
              <a:rPr lang="en-US" sz="150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5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featured</a:t>
            </a:r>
            <a:r>
              <a:rPr lang="en-US" sz="150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&amp;&amp; </a:t>
            </a:r>
            <a:r>
              <a:rPr lang="en-US" sz="1500" dirty="0">
                <a:solidFill>
                  <a:srgbClr val="F1CF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"bg-mint text-ink hover:bg-mint/80"</a:t>
            </a:r>
            <a:endParaRPr lang="en-US" sz="15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)}&gt;</a:t>
            </a:r>
            <a:endParaRPr lang="en-US" sz="15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Choose plan</a:t>
            </a:r>
            <a:endParaRPr lang="en-US" sz="15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5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&lt;/button&gt;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94360" y="5349240"/>
            <a:ext cx="11002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i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naming • no file-hopping • no indirection • no spooky cascade. An LLM sees the entire spec in one span of tokens.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C2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128016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94360" y="12801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94360" y="196596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1 — same card, two ways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94360" y="3191256"/>
            <a:ext cx="118872" cy="118872"/>
          </a:xfrm>
          <a:prstGeom prst="rect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86968" y="3108960"/>
            <a:ext cx="107103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an LLM: “build a pricing card with a featured tier”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94360" y="3831336"/>
            <a:ext cx="118872" cy="118872"/>
          </a:xfrm>
          <a:prstGeom prst="rect">
            <a:avLst/>
          </a:prstGeom>
          <a:solidFill>
            <a:srgbClr val="FF6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86968" y="3749040"/>
            <a:ext cx="107103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version: 2 files, invented names, ad-hoc spacing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94360" y="447141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86968" y="4389120"/>
            <a:ext cx="107103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 version: 1 file, renders right the first time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94360" y="521208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A6A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npm run dev   ·   watch: does it render correctly first try? Is the spacing consistent?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WORKS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1463040"/>
            <a:ext cx="822960" cy="822960"/>
          </a:xfrm>
          <a:prstGeom prst="ellipse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9436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691640" y="1463040"/>
            <a:ext cx="9905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Co-location = context locality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94360" y="296265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86968" y="2880360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LLMs have a bounded context and no project memory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4360" y="360273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86968" y="3520440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Co-located styling = the whole spec in one token span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94360" y="424281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86968" y="4160520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CSS = a second file it may never have read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766560" y="2651760"/>
            <a:ext cx="4828032" cy="2743200"/>
          </a:xfrm>
          <a:prstGeom prst="roundRect">
            <a:avLst>
              <a:gd name="adj" fmla="val 2667"/>
            </a:avLst>
          </a:prstGeom>
          <a:solidFill>
            <a:srgbClr val="171717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986016" y="2834640"/>
            <a:ext cx="100584" cy="100584"/>
          </a:xfrm>
          <a:prstGeom prst="ellipse">
            <a:avLst/>
          </a:prstGeom>
          <a:solidFill>
            <a:srgbClr val="FF6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187184" y="2834640"/>
            <a:ext cx="100584" cy="100584"/>
          </a:xfrm>
          <a:prstGeom prst="ellipse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388352" y="2834640"/>
            <a:ext cx="100584" cy="100584"/>
          </a:xfrm>
          <a:prstGeom prst="ellipse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680960" y="2724912"/>
            <a:ext cx="3730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 window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059168" y="3200400"/>
            <a:ext cx="424281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model needs BOTH of these,</a:t>
            </a:r>
            <a:endParaRPr lang="en-US" sz="13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often from different files:</a:t>
            </a:r>
            <a:endParaRPr lang="en-US" sz="1300" dirty="0"/>
          </a:p>
          <a:p>
            <a:pPr marL="0" indent="0" algn="l">
              <a:lnSpc>
                <a:spcPct val="115000"/>
              </a:lnSpc>
              <a:buNone/>
            </a:pPr>
            <a:endParaRPr lang="en-US" sz="13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</a:t>
            </a:r>
            <a:r>
              <a:rPr lang="en-US" sz="1300" dirty="0">
                <a:solidFill>
                  <a:srgbClr val="F1CF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"hero"</a:t>
            </a:r>
            <a:r>
              <a:rPr lang="en-US" sz="130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3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FF6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.hero</a:t>
            </a:r>
            <a:r>
              <a:rPr lang="en-US" sz="130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 … 40 lines … }</a:t>
            </a:r>
            <a:endParaRPr lang="en-US" sz="1300" dirty="0"/>
          </a:p>
          <a:p>
            <a:pPr marL="0" indent="0" algn="l">
              <a:lnSpc>
                <a:spcPct val="115000"/>
              </a:lnSpc>
              <a:buNone/>
            </a:pPr>
            <a:endParaRPr lang="en-US" sz="13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vs. Tailwind: it's all right here 👇</a:t>
            </a:r>
            <a:endParaRPr lang="en-US" sz="13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30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</a:t>
            </a:r>
            <a:r>
              <a:rPr lang="en-US" sz="1300" dirty="0">
                <a:solidFill>
                  <a:srgbClr val="F1CF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"grid gap-6 p-8"</a:t>
            </a:r>
            <a:r>
              <a:rPr lang="en-US" sz="130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29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WORKS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1463040"/>
            <a:ext cx="822960" cy="822960"/>
          </a:xfrm>
          <a:prstGeom prst="ellipse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9436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691640" y="1463040"/>
            <a:ext cx="9905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vocabulary = predictability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94360" y="296265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86968" y="2880360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LLM is a next-token predictor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4360" y="360273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86968" y="3520440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“flex items-center justify-between” = a fixed phrase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94360" y="424281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86968" y="4160520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seen millions of times → low perplexity, high accuracy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94360" y="4882896"/>
            <a:ext cx="118872" cy="118872"/>
          </a:xfrm>
          <a:prstGeom prst="rect">
            <a:avLst/>
          </a:prstGeom>
          <a:solidFill>
            <a:srgbClr val="FF6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86968" y="4800600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Arbitrary CSS = infinite names, orders, units → drift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766560" y="2651760"/>
            <a:ext cx="4828032" cy="2651760"/>
          </a:xfrm>
          <a:prstGeom prst="roundRect">
            <a:avLst>
              <a:gd name="adj" fmla="val 4138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040880" y="28346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predictability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040880" y="32461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Tailwind</a:t>
            </a:r>
            <a:r>
              <a:rPr lang="en-US" sz="1300" dirty="0">
                <a:solidFill>
                  <a:srgbClr val="F1CF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flex items-center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040880" y="3657600"/>
            <a:ext cx="4023360" cy="201168"/>
          </a:xfrm>
          <a:prstGeom prst="roundRect">
            <a:avLst>
              <a:gd name="adj" fmla="val 50000"/>
            </a:avLst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040880" y="41148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</a:t>
            </a:r>
            <a:r>
              <a:rPr lang="en-US" sz="1300" dirty="0">
                <a:solidFill>
                  <a:srgbClr val="A6A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.hero-banner-x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040880" y="4526280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FF6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040880" y="48463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confidence in the next token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29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WORKS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1463040"/>
            <a:ext cx="822960" cy="822960"/>
          </a:xfrm>
          <a:prstGeom prst="ellipse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9436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691640" y="1463040"/>
            <a:ext cx="9905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tokens = constrained values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94360" y="296265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86968" y="2880360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Spacing, color, radius all come from a fixed scale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4360" y="360273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86968" y="3520440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picks p-4 from a menu…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94360" y="4242816"/>
            <a:ext cx="118872" cy="118872"/>
          </a:xfrm>
          <a:prstGeom prst="rect">
            <a:avLst/>
          </a:prstGeom>
          <a:solidFill>
            <a:srgbClr val="FF6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86968" y="4160520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…instead of hallucinating padding: 13px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94360" y="488289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86968" y="4800600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 don't limit the model — they guide it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766560" y="4480560"/>
            <a:ext cx="749808" cy="365760"/>
          </a:xfrm>
          <a:prstGeom prst="roundRect">
            <a:avLst>
              <a:gd name="adj" fmla="val 15000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766560" y="4937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6A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p-1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562088" y="4224528"/>
            <a:ext cx="749808" cy="621792"/>
          </a:xfrm>
          <a:prstGeom prst="roundRect">
            <a:avLst>
              <a:gd name="adj" fmla="val 8824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562088" y="4937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6A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p-2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357616" y="3968496"/>
            <a:ext cx="749808" cy="877824"/>
          </a:xfrm>
          <a:prstGeom prst="roundRect">
            <a:avLst>
              <a:gd name="adj" fmla="val 7317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357616" y="4937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6A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p-3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153144" y="3712464"/>
            <a:ext cx="749808" cy="1133856"/>
          </a:xfrm>
          <a:prstGeom prst="roundRect">
            <a:avLst>
              <a:gd name="adj" fmla="val 7317"/>
            </a:avLst>
          </a:prstGeom>
          <a:solidFill>
            <a:srgbClr val="75DFBC"/>
          </a:solidFill>
          <a:ln w="12700">
            <a:solidFill>
              <a:srgbClr val="75DF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153144" y="4937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p-4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948672" y="3456432"/>
            <a:ext cx="749808" cy="1389888"/>
          </a:xfrm>
          <a:prstGeom prst="roundRect">
            <a:avLst>
              <a:gd name="adj" fmla="val 7317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948672" y="4937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6A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p-6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0744200" y="3200400"/>
            <a:ext cx="749808" cy="1645920"/>
          </a:xfrm>
          <a:prstGeom prst="roundRect">
            <a:avLst>
              <a:gd name="adj" fmla="val 7317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744200" y="4937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6A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766560" y="2560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small, safe menu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29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WORKS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1463040"/>
            <a:ext cx="822960" cy="822960"/>
          </a:xfrm>
          <a:prstGeom prst="ellipse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9436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691640" y="1463040"/>
            <a:ext cx="9905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Deterministic, global mapping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94360" y="296265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86968" y="2880360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mt-4 == margin-top: 1rem — in every repo on earth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4360" y="360273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86968" y="3520440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“what does .spacer mean in THIS project?”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94360" y="424281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86968" y="4160520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generalizes across the entire corpus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94360" y="4882896"/>
            <a:ext cx="118872" cy="118872"/>
          </a:xfrm>
          <a:prstGeom prst="rect">
            <a:avLst/>
          </a:prstGeom>
          <a:solidFill>
            <a:srgbClr val="FF6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86968" y="4800600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Bespoke class names are project-local — they don't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766560" y="2651760"/>
            <a:ext cx="4828032" cy="2468880"/>
          </a:xfrm>
          <a:prstGeom prst="roundRect">
            <a:avLst>
              <a:gd name="adj" fmla="val 2963"/>
            </a:avLst>
          </a:prstGeom>
          <a:solidFill>
            <a:srgbClr val="171717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986016" y="2834640"/>
            <a:ext cx="100584" cy="100584"/>
          </a:xfrm>
          <a:prstGeom prst="ellipse">
            <a:avLst/>
          </a:prstGeom>
          <a:solidFill>
            <a:srgbClr val="FF6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187184" y="2834640"/>
            <a:ext cx="100584" cy="100584"/>
          </a:xfrm>
          <a:prstGeom prst="ellipse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388352" y="2834640"/>
            <a:ext cx="100584" cy="100584"/>
          </a:xfrm>
          <a:prstGeom prst="ellipse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680960" y="2724912"/>
            <a:ext cx="3730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stable across every codebase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059168" y="3200400"/>
            <a:ext cx="424281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mt-4</a:t>
            </a:r>
            <a:r>
              <a:rPr lang="en-US" sz="1400" dirty="0">
                <a:solidFill>
                  <a:srgbClr val="A6A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margin-top: 1rem</a:t>
            </a:r>
            <a:endParaRPr lang="en-US" sz="14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flex</a:t>
            </a:r>
            <a:r>
              <a:rPr lang="en-US" sz="1400" dirty="0">
                <a:solidFill>
                  <a:srgbClr val="A6A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display: flex</a:t>
            </a:r>
            <a:endParaRPr lang="en-US" sz="14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gap-6</a:t>
            </a:r>
            <a:r>
              <a:rPr lang="en-US" sz="1400" dirty="0">
                <a:solidFill>
                  <a:srgbClr val="A6A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gap: 1.5rem</a:t>
            </a:r>
            <a:endParaRPr lang="en-US" sz="1400" dirty="0"/>
          </a:p>
          <a:p>
            <a:pPr marL="0" indent="0" algn="l">
              <a:lnSpc>
                <a:spcPct val="115000"/>
              </a:lnSpc>
              <a:buNone/>
            </a:pPr>
            <a:endParaRPr lang="en-US" sz="14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FF6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.spacer</a:t>
            </a:r>
            <a:r>
              <a:rPr lang="en-US" sz="1400" dirty="0">
                <a:solidFill>
                  <a:srgbClr val="A6A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→ ¯\_(ツ)_/¯</a:t>
            </a:r>
            <a:endParaRPr lang="en-US" sz="14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depends on the repo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29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WORKS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1463040"/>
            <a:ext cx="822960" cy="822960"/>
          </a:xfrm>
          <a:prstGeom prst="ellipse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9436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691640" y="1463040"/>
            <a:ext cx="9905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training-data flywheel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94360" y="296265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86968" y="2880360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 saturates modern training data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4360" y="360273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86968" y="3520440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Next.js, shadcn/ui, millions of public repos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94360" y="4242816"/>
            <a:ext cx="118872" cy="118872"/>
          </a:xfrm>
          <a:prstGeom prst="rect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86968" y="4160520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Utilities generalize across the corpus; names don't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94360" y="488289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86968" y="4800600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usage → more data → better gen → more usage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498080" y="2011680"/>
            <a:ext cx="3291840" cy="3291840"/>
          </a:xfrm>
          <a:prstGeom prst="ellipse">
            <a:avLst/>
          </a:prstGeom>
          <a:ln w="19050">
            <a:solidFill>
              <a:srgbClr val="3A3A3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366760" y="23317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2C2B2B"/>
          </a:solidFill>
          <a:ln w="12700">
            <a:solidFill>
              <a:srgbClr val="75DF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366760" y="23317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509760" y="34747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2C2B2B"/>
          </a:solidFill>
          <a:ln w="12700">
            <a:solidFill>
              <a:srgbClr val="75DF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509760" y="34747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data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366760" y="46177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2C2B2B"/>
          </a:solidFill>
          <a:ln w="12700">
            <a:solidFill>
              <a:srgbClr val="75DF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366760" y="46177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output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223760" y="34747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2C2B2B"/>
          </a:solidFill>
          <a:ln w="12700">
            <a:solidFill>
              <a:srgbClr val="75DF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223760" y="34747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trust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778240" y="3246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1CF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↻</a:t>
            </a:r>
            <a:endParaRPr lang="en-US" sz="4000" dirty="0"/>
          </a:p>
        </p:txBody>
      </p:sp>
      <p:sp>
        <p:nvSpPr>
          <p:cNvPr id="24" name="Text 22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29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WORKS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1463040"/>
            <a:ext cx="822960" cy="822960"/>
          </a:xfrm>
          <a:prstGeom prst="ellipse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9436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691640" y="1463040"/>
            <a:ext cx="9905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Self-documenting = verifiable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94360" y="296265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86968" y="2880360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class list IS the spec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4360" y="360273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86968" y="3520440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bg-coral hover:bg-coral/80 px-4 py-2 rounded-lg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94360" y="424281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86968" y="4160520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…and know exactly what it does — without running it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94360" y="4882896"/>
            <a:ext cx="118872" cy="118872"/>
          </a:xfrm>
          <a:prstGeom prst="rect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86968" y="4800600"/>
            <a:ext cx="5742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 review = a tighter human + AI loop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766560" y="2651760"/>
            <a:ext cx="4828032" cy="2468880"/>
          </a:xfrm>
          <a:prstGeom prst="roundRect">
            <a:avLst>
              <a:gd name="adj" fmla="val 4444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040880" y="28803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verify by reading: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040880" y="33832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500" dirty="0">
                <a:solidFill>
                  <a:srgbClr val="FF6A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bg-coral </a:t>
            </a:r>
            <a:r>
              <a:rPr lang="en-US" sz="1500" dirty="0">
                <a:solidFill>
                  <a:srgbClr val="F1CF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hover:bg-coral/80 </a:t>
            </a:r>
            <a:r>
              <a:rPr lang="en-US" sz="1500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px-4 py-2 </a:t>
            </a:r>
            <a:r>
              <a:rPr lang="en-US" sz="15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rounded-lg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040880" y="434340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coral button, darkens on hover, comfy padding, soft corners.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29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F1CF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JS FRAMEWORK ANGLE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Components already do this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7830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frameworks co-locate template + logic in one unit. Tailwind adds the third pillar — style — to the same unit.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94360" y="2743200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2C2B2B"/>
          </a:solidFill>
          <a:ln w="12700">
            <a:solidFill>
              <a:srgbClr val="75DF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27432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514600" y="2743200"/>
            <a:ext cx="228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743200" y="2743200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2C2B2B"/>
          </a:solidFill>
          <a:ln w="12700">
            <a:solidFill>
              <a:srgbClr val="F1CF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743200" y="27432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CF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63440" y="2743200"/>
            <a:ext cx="228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892040" y="2743200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2C2B2B"/>
          </a:solidFill>
          <a:ln w="12700">
            <a:solidFill>
              <a:srgbClr val="FF6A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92040" y="27432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6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Style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269480" y="27432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i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one component, one file, one mental model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 encapsulation and utility-first are the SAME principle — locality — applied at different layers.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94360" y="4892040"/>
            <a:ext cx="1234440" cy="411480"/>
          </a:xfrm>
          <a:prstGeom prst="roundRect">
            <a:avLst>
              <a:gd name="adj" fmla="val 50000"/>
            </a:avLst>
          </a:prstGeom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94360" y="489204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057400" y="4892040"/>
            <a:ext cx="996696" cy="411480"/>
          </a:xfrm>
          <a:prstGeom prst="roundRect">
            <a:avLst>
              <a:gd name="adj" fmla="val 50000"/>
            </a:avLst>
          </a:prstGeom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057400" y="4892040"/>
            <a:ext cx="9966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82696" y="4892040"/>
            <a:ext cx="1353312" cy="411480"/>
          </a:xfrm>
          <a:prstGeom prst="roundRect">
            <a:avLst>
              <a:gd name="adj" fmla="val 50000"/>
            </a:avLst>
          </a:prstGeom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282696" y="489204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Svelte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864608" y="4892040"/>
            <a:ext cx="1234440" cy="411480"/>
          </a:xfrm>
          <a:prstGeom prst="roundRect">
            <a:avLst>
              <a:gd name="adj" fmla="val 50000"/>
            </a:avLst>
          </a:prstGeom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64608" y="489204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327648" y="4892040"/>
            <a:ext cx="1472184" cy="411480"/>
          </a:xfrm>
          <a:prstGeom prst="roundRect">
            <a:avLst>
              <a:gd name="adj" fmla="val 50000"/>
            </a:avLst>
          </a:prstGeom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327648" y="4892040"/>
            <a:ext cx="1472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Angular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F1CF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JS FRAMEWORK ANGLE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the JS toolchain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192024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21488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composition is trivial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dirty="0">
                <a:solidFill>
                  <a:srgbClr val="F1CF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className={cn(base, active &amp;&amp; ‘bg-mint’)}
</a:t>
            </a: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:class="{ 'opacity-50': loading }"
</a:t>
            </a:r>
            <a:r>
              <a:rPr lang="en-US" sz="1300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class:selected={isSelected}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429768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JSX &amp; template bindings make class composition a one-liner.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0" y="1920240"/>
            <a:ext cx="5330952" cy="3108960"/>
          </a:xfrm>
          <a:prstGeom prst="roundRect">
            <a:avLst>
              <a:gd name="adj" fmla="val 3529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583680" y="21488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1CF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 step is already there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583680" y="2825496"/>
            <a:ext cx="118872" cy="118872"/>
          </a:xfrm>
          <a:prstGeom prst="rect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876288" y="2743200"/>
            <a:ext cx="4553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 / PostCSS / bundlers = Tailwind's native home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583680" y="3374136"/>
            <a:ext cx="118872" cy="118872"/>
          </a:xfrm>
          <a:prstGeom prst="rect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876288" y="3291840"/>
            <a:ext cx="4553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JIT compiler + content scanning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583680" y="3922776"/>
            <a:ext cx="118872" cy="118872"/>
          </a:xfrm>
          <a:prstGeom prst="rect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876288" y="3840480"/>
            <a:ext cx="4553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Tree-shaking → ship only the utilities you use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83680" y="443484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 is a build-tool-native idea. It belongs to the JS ecosystem.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TYPESCRIPT ANGLE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TypeScript ♥ Tailwind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78308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philosophy: a constrained, named vocabulary that catches mistakes early.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94360" y="2377440"/>
            <a:ext cx="11002975" cy="2468880"/>
          </a:xfrm>
          <a:prstGeom prst="roundRect">
            <a:avLst>
              <a:gd name="adj" fmla="val 2963"/>
            </a:avLst>
          </a:prstGeom>
          <a:solidFill>
            <a:srgbClr val="171717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13816" y="2560320"/>
            <a:ext cx="100584" cy="100584"/>
          </a:xfrm>
          <a:prstGeom prst="ellipse">
            <a:avLst/>
          </a:prstGeom>
          <a:solidFill>
            <a:srgbClr val="FF6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14984" y="2560320"/>
            <a:ext cx="100584" cy="100584"/>
          </a:xfrm>
          <a:prstGeom prst="ellipse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216152" y="2560320"/>
            <a:ext cx="100584" cy="100584"/>
          </a:xfrm>
          <a:prstGeom prst="ellipse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508760" y="2450592"/>
            <a:ext cx="9905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button.tsx  ·  class-variance-authority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86968" y="2926080"/>
            <a:ext cx="10417759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button = </a:t>
            </a:r>
            <a:r>
              <a:rPr lang="en-US" sz="1350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cva</a:t>
            </a:r>
            <a:r>
              <a:rPr lang="en-US" sz="13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("rounded-lg font-bold", {</a:t>
            </a:r>
            <a:endParaRPr lang="en-US" sz="135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3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variants</a:t>
            </a:r>
            <a:r>
              <a:rPr lang="en-US" sz="13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  <a:endParaRPr lang="en-US" sz="135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3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variant</a:t>
            </a:r>
            <a:r>
              <a:rPr lang="en-US" sz="13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primary: </a:t>
            </a:r>
            <a:r>
              <a:rPr lang="en-US" sz="1350" dirty="0">
                <a:solidFill>
                  <a:srgbClr val="F1CF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"bg-mint text-ink"</a:t>
            </a:r>
            <a:r>
              <a:rPr lang="en-US" sz="13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5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3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destructive: </a:t>
            </a:r>
            <a:r>
              <a:rPr lang="en-US" sz="1350" dirty="0">
                <a:solidFill>
                  <a:srgbClr val="F1CF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"bg-coral text-ink"</a:t>
            </a:r>
            <a:r>
              <a:rPr lang="en-US" sz="13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},</a:t>
            </a:r>
            <a:endParaRPr lang="en-US" sz="135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3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</a:t>
            </a:r>
            <a:r>
              <a:rPr lang="en-US" sz="13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sm: </a:t>
            </a:r>
            <a:r>
              <a:rPr lang="en-US" sz="1350" dirty="0">
                <a:solidFill>
                  <a:srgbClr val="F1CF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"h-8 px-3"</a:t>
            </a:r>
            <a:r>
              <a:rPr lang="en-US" sz="13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lg: </a:t>
            </a:r>
            <a:r>
              <a:rPr lang="en-US" sz="1350" dirty="0">
                <a:solidFill>
                  <a:srgbClr val="F1CF2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"h-12 px-6"</a:t>
            </a:r>
            <a:r>
              <a:rPr lang="en-US" sz="13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},</a:t>
            </a:r>
            <a:endParaRPr lang="en-US" sz="135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3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35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350" dirty="0">
                <a:solidFill>
                  <a:srgbClr val="D8D8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r>
              <a:rPr lang="en-US" sz="135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// ← variants are now type-checked &amp; autocompleted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94360" y="5074920"/>
            <a:ext cx="969264" cy="411480"/>
          </a:xfrm>
          <a:prstGeom prst="roundRect">
            <a:avLst>
              <a:gd name="adj" fmla="val 50000"/>
            </a:avLst>
          </a:prstGeom>
          <a:solidFill>
            <a:srgbClr val="2C2B2B"/>
          </a:solidFill>
          <a:ln w="12700">
            <a:solidFill>
              <a:srgbClr val="75DF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94360" y="5074920"/>
            <a:ext cx="969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792224" y="5074920"/>
            <a:ext cx="2505456" cy="411480"/>
          </a:xfrm>
          <a:prstGeom prst="roundRect">
            <a:avLst>
              <a:gd name="adj" fmla="val 50000"/>
            </a:avLst>
          </a:prstGeom>
          <a:solidFill>
            <a:srgbClr val="2C2B2B"/>
          </a:solidFill>
          <a:ln w="12700">
            <a:solidFill>
              <a:srgbClr val="75DF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792224" y="5074920"/>
            <a:ext cx="2505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tailwind-variants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26280" y="5074920"/>
            <a:ext cx="2176272" cy="411480"/>
          </a:xfrm>
          <a:prstGeom prst="roundRect">
            <a:avLst>
              <a:gd name="adj" fmla="val 50000"/>
            </a:avLst>
          </a:prstGeom>
          <a:solidFill>
            <a:srgbClr val="2C2B2B"/>
          </a:solidFill>
          <a:ln w="12700">
            <a:solidFill>
              <a:srgbClr val="75DF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26280" y="5074920"/>
            <a:ext cx="21762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tailwind-merge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931152" y="5074920"/>
            <a:ext cx="1627632" cy="411480"/>
          </a:xfrm>
          <a:prstGeom prst="roundRect">
            <a:avLst>
              <a:gd name="adj" fmla="val 50000"/>
            </a:avLst>
          </a:prstGeom>
          <a:solidFill>
            <a:srgbClr val="2C2B2B"/>
          </a:solidFill>
          <a:ln w="12700">
            <a:solidFill>
              <a:srgbClr val="75DF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931152" y="5074920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clsx / cn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29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C2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128016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94360" y="12801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94360" y="196596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2 — typed variants, live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94360" y="319125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86968" y="3108960"/>
            <a:ext cx="107103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Toggle variant × size — the class string updates in real time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94360" y="3831336"/>
            <a:ext cx="118872" cy="118872"/>
          </a:xfrm>
          <a:prstGeom prst="rect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86968" y="3749040"/>
            <a:ext cx="107103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variant is autocompleted AND type-checked in the editor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94360" y="447141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86968" y="4389120"/>
            <a:ext cx="107103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wrong variant is a red squiggle — not a production bug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94360" y="521208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A6A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open the cva Button playground   ·   then show IntelliSense on  &lt;Button variant="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29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C2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128016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94360" y="12801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94360" y="196596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3 — watch it edit ONE file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94360" y="3191256"/>
            <a:ext cx="118872" cy="118872"/>
          </a:xfrm>
          <a:prstGeom prst="rect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86968" y="3108960"/>
            <a:ext cx="107103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Prompt: “add a success variant, then a loading state with a spinner”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94360" y="383133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86968" y="3749040"/>
            <a:ext cx="107103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diff lands entirely inside button.tsx — nothing else moves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94360" y="447141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86968" y="4389120"/>
            <a:ext cx="107103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cascade to chase, no stylesheet to hunt down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94360" y="521208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local edit = safe edit. This is the payoff of everything before it.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29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F1CF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PROOF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shadcn/ui is the thesis, shipped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209397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86968" y="2011680"/>
            <a:ext cx="107103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Copy-paste components: Tailwind + TypeScript + cva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94360" y="277977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86968" y="2697480"/>
            <a:ext cx="107103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exists BECAUSE devs and LLMs both read &amp; modify it trivially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94360" y="346557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86968" y="3383280"/>
            <a:ext cx="107103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v0, bolt, Lovable, Cursor, Artifacts all target it by default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94360" y="4297680"/>
            <a:ext cx="11002975" cy="1371600"/>
          </a:xfrm>
          <a:prstGeom prst="roundRect">
            <a:avLst>
              <a:gd name="adj" fmla="val 8000"/>
            </a:avLst>
          </a:prstGeom>
          <a:solidFill>
            <a:srgbClr val="2C2B2B"/>
          </a:solidFill>
          <a:ln w="12700">
            <a:solidFill>
              <a:srgbClr val="75DF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60120" y="4297680"/>
            <a:ext cx="1027145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AI-native UI stack on earth is </a:t>
            </a:r>
            <a:r>
              <a:rPr lang="en-US" sz="26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 + TypeScript</a:t>
            </a: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 QED.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29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FF6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BE HONEST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“But Tailwind is…”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1965960"/>
            <a:ext cx="11002975" cy="1051560"/>
          </a:xfrm>
          <a:prstGeom prst="roundRect">
            <a:avLst>
              <a:gd name="adj" fmla="val 10435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2130552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6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“ugly class soup”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343400" y="2103120"/>
            <a:ext cx="6933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components in your framework — not @apply. The soup lives in ONE place you rarely re-read.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94360" y="3200400"/>
            <a:ext cx="11002975" cy="1051560"/>
          </a:xfrm>
          <a:prstGeom prst="roundRect">
            <a:avLst>
              <a:gd name="adj" fmla="val 10435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3364992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1CF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 steep learning curve”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343400" y="3337560"/>
            <a:ext cx="6933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a closed set + IntelliSense. Learn it once; it transfers to every project and every model.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360" y="4434840"/>
            <a:ext cx="11002975" cy="1051560"/>
          </a:xfrm>
          <a:prstGeom prst="roundRect">
            <a:avLst>
              <a:gd name="adj" fmla="val 10435"/>
            </a:avLst>
          </a:prstGeom>
          <a:solidFill>
            <a:srgbClr val="2C2B2B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14400" y="4599432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“just inline styles”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343400" y="4572000"/>
            <a:ext cx="6933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No: design tokens + hover: / md: / dark: variants + purge. Inline styles can't do any of that.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29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MONDAY MORNING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adopt (and convince the team)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965960"/>
            <a:ext cx="548640" cy="548640"/>
          </a:xfrm>
          <a:prstGeom prst="ellipse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417320" y="196596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in NEW components — no big-bang rewrite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94360" y="2743200"/>
            <a:ext cx="548640" cy="548640"/>
          </a:xfrm>
          <a:prstGeom prst="ellipse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94360" y="2743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417320" y="274320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the Tailwind IntelliSense + Prettier class-sorter plugins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94360" y="3520440"/>
            <a:ext cx="548640" cy="548640"/>
          </a:xfrm>
          <a:prstGeom prst="ellipse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3520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417320" y="352044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 cn() + cva for anything with variants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94360" y="4297680"/>
            <a:ext cx="548640" cy="548640"/>
          </a:xfrm>
          <a:prstGeom prst="ellipse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4360" y="4297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417320" y="42976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Steal shamelessly from shadcn/ui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94360" y="5074920"/>
            <a:ext cx="548640" cy="548640"/>
          </a:xfrm>
          <a:prstGeom prst="ellipse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94360" y="5074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417320" y="507492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the LLM speed compound — measure PR velocity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29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remember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2011680"/>
            <a:ext cx="603504" cy="603504"/>
          </a:xfrm>
          <a:prstGeom prst="ellipse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20116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508760" y="2011680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friction was never aesthetic — it was locality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94360" y="2926080"/>
            <a:ext cx="603504" cy="603504"/>
          </a:xfrm>
          <a:prstGeom prst="ellipse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94360" y="2926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508760" y="2926080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LLMs love Tailwind: co-located, closed-vocabulary, deterministic, everywhere in training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94360" y="3840480"/>
            <a:ext cx="603504" cy="603504"/>
          </a:xfrm>
          <a:prstGeom prst="ellipse">
            <a:avLst/>
          </a:prstGeom>
          <a:solidFill>
            <a:srgbClr val="FF6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38404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508760" y="3840480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Components + utilities + TS types = the same idea at three layers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94360" y="4754880"/>
            <a:ext cx="603504" cy="603504"/>
          </a:xfrm>
          <a:prstGeom prst="ellipse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4360" y="47548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508760" y="4754880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machines already voted — now you have the ammunition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29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DEEPER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86868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2057400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86968" y="2011680"/>
            <a:ext cx="504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tailwindcss.com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86968" y="2395728"/>
            <a:ext cx="504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 + the JIT engine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78728" y="2057400"/>
            <a:ext cx="118872" cy="118872"/>
          </a:xfrm>
          <a:prstGeom prst="rect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571336" y="2011680"/>
            <a:ext cx="504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ui.shadcn.com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71336" y="2395728"/>
            <a:ext cx="504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copy-paste component standard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4360" y="3154680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86968" y="3108960"/>
            <a:ext cx="504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cva.style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86968" y="3493008"/>
            <a:ext cx="504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class-variance-authority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78728" y="3154680"/>
            <a:ext cx="118872" cy="118872"/>
          </a:xfrm>
          <a:prstGeom prst="rect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571336" y="3108960"/>
            <a:ext cx="504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github.com/dcastil/tailwind-merge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71336" y="3493008"/>
            <a:ext cx="504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conflict-safe class merging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4360" y="4251960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86968" y="4206240"/>
            <a:ext cx="504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htmx.org/essays/locality-of-behaviour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86968" y="4590288"/>
            <a:ext cx="504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idea behind the whole talk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78728" y="4251960"/>
            <a:ext cx="118872" cy="118872"/>
          </a:xfrm>
          <a:prstGeom prst="rect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571336" y="4206240"/>
            <a:ext cx="504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5DF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v0.dev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71336" y="4590288"/>
            <a:ext cx="504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machines vote, live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29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2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1737360"/>
            <a:ext cx="110029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594360" y="3108960"/>
            <a:ext cx="11002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Devlin Duldulao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94360" y="4014216"/>
            <a:ext cx="118872" cy="118872"/>
          </a:xfrm>
          <a:prstGeom prst="rect">
            <a:avLst/>
          </a:prstGeom>
          <a:solidFill>
            <a:srgbClr val="75DFB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86968" y="3931920"/>
            <a:ext cx="107103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repo:  </a:t>
            </a:r>
            <a:r>
              <a:rPr lang="en-US" sz="160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</a:t>
            </a: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/devlinduldulao/llm-loves-tailwind-and-js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94360" y="4608576"/>
            <a:ext cx="118872" cy="118872"/>
          </a:xfrm>
          <a:prstGeom prst="rect">
            <a:avLst/>
          </a:prstGeom>
          <a:solidFill>
            <a:srgbClr val="F1CF2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86968" y="4526280"/>
            <a:ext cx="107103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Socials:  @devlinduldulao   ·   linkedin.com/in/devlinduldulao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869680" y="3840480"/>
            <a:ext cx="2194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22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94360" y="5852160"/>
            <a:ext cx="923544" cy="365760"/>
          </a:xfrm>
          <a:prstGeom prst="roundRect">
            <a:avLst>
              <a:gd name="adj" fmla="val 50000"/>
            </a:avLst>
          </a:prstGeom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5852160"/>
            <a:ext cx="923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700784" y="5852160"/>
            <a:ext cx="1028700" cy="365760"/>
          </a:xfrm>
          <a:prstGeom prst="roundRect">
            <a:avLst>
              <a:gd name="adj" fmla="val 50000"/>
            </a:avLst>
          </a:prstGeom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700784" y="5852160"/>
            <a:ext cx="1028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1CF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gap-4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912364" y="5852160"/>
            <a:ext cx="1659636" cy="365760"/>
          </a:xfrm>
          <a:prstGeom prst="roundRect">
            <a:avLst>
              <a:gd name="adj" fmla="val 50000"/>
            </a:avLst>
          </a:prstGeom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912364" y="5852160"/>
            <a:ext cx="1659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5DF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rounded-2xl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5852160"/>
            <a:ext cx="1449324" cy="365760"/>
          </a:xfrm>
          <a:prstGeom prst="roundRect">
            <a:avLst>
              <a:gd name="adj" fmla="val 50000"/>
            </a:avLst>
          </a:prstGeom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754880" y="5852160"/>
            <a:ext cx="14493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1CF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text-mint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436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LLMs &amp; JS frameworks love Tailwind CSS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134295" y="6419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29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3363</Words>
  <Application>Microsoft Macintosh PowerPoint</Application>
  <PresentationFormat>Widescreen</PresentationFormat>
  <Paragraphs>413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Aptos</vt:lpstr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Why LLMs &amp; JS frameworks love Tailwind CSS</dc:title>
  <dc:subject>PptxGenJS Presentation</dc:subject>
  <dc:creator>Devlin Duldulao</dc:creator>
  <cp:lastModifiedBy>Devlin Duldulao</cp:lastModifiedBy>
  <cp:revision>5</cp:revision>
  <dcterms:created xsi:type="dcterms:W3CDTF">2026-07-14T15:54:22Z</dcterms:created>
  <dcterms:modified xsi:type="dcterms:W3CDTF">2026-07-14T16:36:28Z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78c0f71-65dc-41d1-a799-91080a268621_Enabled">
    <vt:lpwstr>true</vt:lpwstr>
  </property>
  <property fmtid="{D5CDD505-2E9C-101B-9397-08002B2CF9AE}" pid="3" name="MSIP_Label_178c0f71-65dc-41d1-a799-91080a268621_SetDate">
    <vt:lpwstr>2026-07-14T16:34:20Z</vt:lpwstr>
  </property>
  <property fmtid="{D5CDD505-2E9C-101B-9397-08002B2CF9AE}" pid="4" name="MSIP_Label_178c0f71-65dc-41d1-a799-91080a268621_Method">
    <vt:lpwstr>Standard</vt:lpwstr>
  </property>
  <property fmtid="{D5CDD505-2E9C-101B-9397-08002B2CF9AE}" pid="5" name="MSIP_Label_178c0f71-65dc-41d1-a799-91080a268621_Name">
    <vt:lpwstr>Internal - Crayon Group Only</vt:lpwstr>
  </property>
  <property fmtid="{D5CDD505-2E9C-101B-9397-08002B2CF9AE}" pid="6" name="MSIP_Label_178c0f71-65dc-41d1-a799-91080a268621_SiteId">
    <vt:lpwstr>8f47ad71-44ca-48bf-afe3-56b9360a4495</vt:lpwstr>
  </property>
  <property fmtid="{D5CDD505-2E9C-101B-9397-08002B2CF9AE}" pid="7" name="MSIP_Label_178c0f71-65dc-41d1-a799-91080a268621_ActionId">
    <vt:lpwstr>005b6897-af3e-4122-9270-827420e2aab7</vt:lpwstr>
  </property>
  <property fmtid="{D5CDD505-2E9C-101B-9397-08002B2CF9AE}" pid="8" name="MSIP_Label_178c0f71-65dc-41d1-a799-91080a268621_ContentBits">
    <vt:lpwstr>2</vt:lpwstr>
  </property>
  <property fmtid="{D5CDD505-2E9C-101B-9397-08002B2CF9AE}" pid="9" name="MSIP_Label_178c0f71-65dc-41d1-a799-91080a268621_Tag">
    <vt:lpwstr>50, 3, 0, 1</vt:lpwstr>
  </property>
  <property fmtid="{D5CDD505-2E9C-101B-9397-08002B2CF9AE}" pid="10" name="ClassificationContentMarkingFooterLocations">
    <vt:lpwstr>Office Theme:3</vt:lpwstr>
  </property>
  <property fmtid="{D5CDD505-2E9C-101B-9397-08002B2CF9AE}" pid="11" name="ClassificationContentMarkingFooterText">
    <vt:lpwstr>Internal Only</vt:lpwstr>
  </property>
</Properties>
</file>
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316" r:id="rId2"/>
    <p:sldId id="317" r:id="rId3"/>
    <p:sldId id="318" r:id="rId4"/>
    <p:sldId id="301" r:id="rId5"/>
    <p:sldId id="300" r:id="rId6"/>
    <p:sldId id="319" r:id="rId7"/>
    <p:sldId id="261" r:id="rId8"/>
    <p:sldId id="263" r:id="rId9"/>
    <p:sldId id="265" r:id="rId10"/>
    <p:sldId id="266" r:id="rId11"/>
    <p:sldId id="320" r:id="rId12"/>
    <p:sldId id="321" r:id="rId13"/>
    <p:sldId id="334" r:id="rId14"/>
    <p:sldId id="328" r:id="rId15"/>
    <p:sldId id="336" r:id="rId16"/>
    <p:sldId id="330" r:id="rId17"/>
    <p:sldId id="337" r:id="rId18"/>
    <p:sldId id="329" r:id="rId19"/>
    <p:sldId id="335" r:id="rId20"/>
    <p:sldId id="322" r:id="rId21"/>
    <p:sldId id="323" r:id="rId22"/>
    <p:sldId id="331" r:id="rId23"/>
    <p:sldId id="324" r:id="rId24"/>
    <p:sldId id="332" r:id="rId25"/>
    <p:sldId id="325" r:id="rId26"/>
    <p:sldId id="333" r:id="rId27"/>
    <p:sldId id="326" r:id="rId28"/>
    <p:sldId id="314" r:id="rId29"/>
    <p:sldId id="310" r:id="rId30"/>
    <p:sldId id="31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60" autoAdjust="0"/>
    <p:restoredTop sz="67119" autoAdjust="0"/>
  </p:normalViewPr>
  <p:slideViewPr>
    <p:cSldViewPr snapToGrid="0" snapToObjects="1">
      <p:cViewPr varScale="1">
        <p:scale>
          <a:sx n="64" d="100"/>
          <a:sy n="64" d="100"/>
        </p:scale>
        <p:origin x="451" y="58"/>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663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Hello everyone. I want to start with a question.</a:t>
            </a:r>
          </a:p>
          <a:p>
            <a:r>
              <a:rPr lang="en-US" dirty="0"/>
              <a:t>How many CSS developers does it take to change a lightbulb?</a:t>
            </a:r>
          </a:p>
          <a:p>
            <a:endParaRPr lang="en-GB" dirty="0"/>
          </a:p>
        </p:txBody>
      </p:sp>
    </p:spTree>
    <p:extLst>
      <p:ext uri="{BB962C8B-B14F-4D97-AF65-F5344CB8AC3E}">
        <p14:creationId xmlns:p14="http://schemas.microsoft.com/office/powerpoint/2010/main" val="3207352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None. They change everything around it, and hope it cascades.</a:t>
            </a:r>
          </a:p>
          <a:p>
            <a:r>
              <a:rPr lang="en-US" dirty="0"/>
              <a:t>That joke is this entire talk. You edit one rule, and you hope the rest of the page still works. You change the lightbulb by rearranging the room.</a:t>
            </a:r>
          </a:p>
          <a:p>
            <a:r>
              <a:rPr lang="en-US" dirty="0"/>
              <a:t>That non-local mess is the problem for humans. And it is the exact same problem for machines. The rest of this talk is why.</a:t>
            </a:r>
          </a:p>
          <a:p>
            <a:endParaRPr lang="en-GB" dirty="0"/>
          </a:p>
        </p:txBody>
      </p:sp>
    </p:spTree>
    <p:extLst>
      <p:ext uri="{BB962C8B-B14F-4D97-AF65-F5344CB8AC3E}">
        <p14:creationId xmlns:p14="http://schemas.microsoft.com/office/powerpoint/2010/main" val="15193936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My name is Devlin Duldulao. This talk is Why LLMs and JavaScript frameworks love Tailwind CSS, and why you should too.</a:t>
            </a:r>
          </a:p>
          <a:p>
            <a:r>
              <a:rPr lang="en-US" dirty="0"/>
              <a:t>The methodology wars are over. The machines have already voted. Today I want to show you why that vote is not a fashion trend. It is architecture.</a:t>
            </a:r>
          </a:p>
          <a:p>
            <a:r>
              <a:rPr lang="en-US" dirty="0"/>
              <a:t>We will look at three frictions of CSS, why co-location fixes them, why language models generate Tailwind more accurately than semantic CSS, and why this fits the JavaScript and TypeScript toolchain so tightly. Then I will show you three live demos.</a:t>
            </a:r>
          </a:p>
          <a:p>
            <a:endParaRPr lang="en-GB" dirty="0"/>
          </a:p>
        </p:txBody>
      </p:sp>
    </p:spTree>
    <p:extLst>
      <p:ext uri="{BB962C8B-B14F-4D97-AF65-F5344CB8AC3E}">
        <p14:creationId xmlns:p14="http://schemas.microsoft.com/office/powerpoint/2010/main" val="232625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For fifteen years, frontend developers fought methodology wars.</a:t>
            </a:r>
          </a:p>
          <a:p>
            <a:r>
              <a:rPr lang="en-US" dirty="0"/>
              <a:t>Vanilla CSS in 2005. Then OOCSS in 2009, object-oriented CSS, which said reuse objects, not pages. BEM in 2010, block element modifier, which tried to make naming systematic. SMACSS in 2011, scalable and modular architecture. Atomic CSS in 2013. CSS Modules in 2015, which scoped names to a file. CSS in JS in 2016, which put styles back into JavaScript. Then Tailwind, from 2017 on.</a:t>
            </a:r>
          </a:p>
          <a:p>
            <a:r>
              <a:rPr lang="en-US" dirty="0"/>
              <a:t>Every one of these tried to answer the same two questions. Where do styles live? And what do we name them? That is the whole war. Location, and naming.</a:t>
            </a:r>
          </a:p>
          <a:p>
            <a:r>
              <a:rPr lang="en-US" dirty="0"/>
              <a:t>Most of these methodologies answered those questions with more rules. More naming conventions. More files. More process. Tailwind is interesting because it mostly deletes those questions instead of answering them better. You stop inventing names. You stop splitting the look into another file. And that is why the rest of this talk exists.</a:t>
            </a:r>
          </a:p>
          <a:p>
            <a:endParaRPr lang="en-GB" dirty="0"/>
          </a:p>
        </p:txBody>
      </p:sp>
    </p:spTree>
    <p:extLst>
      <p:ext uri="{BB962C8B-B14F-4D97-AF65-F5344CB8AC3E}">
        <p14:creationId xmlns:p14="http://schemas.microsoft.com/office/powerpoint/2010/main" val="30951229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thesis. The machines have voted.</a:t>
            </a:r>
          </a:p>
          <a:p>
            <a:r>
              <a:rPr lang="en-US" dirty="0"/>
              <a:t>v0 from Vercel generates UI in Tailwind. bolt.new from StackBlitz does the same. Lovable generates full apps in Tailwind. Claude Artifacts from Anthropic. shadcn is the default component system the AI tools reach for. Cursor and Copilot lean Tailwind every time you ask for a component.</a:t>
            </a:r>
          </a:p>
          <a:p>
            <a:r>
              <a:rPr lang="en-US" dirty="0"/>
              <a:t>Every major AI UI generator defaults to Tailwind. That is not a Twitter argument. That is revealed preference. Economists use that phrase when they stop listening to what people say they want, and start watching what they actually choose.</a:t>
            </a:r>
          </a:p>
          <a:p>
            <a:r>
              <a:rPr lang="en-US" dirty="0"/>
              <a:t>When every tool that has to generate UI picks the same styling system, that is a signal. The rest of this talk is the why. Not because Tailwind won a popularity contest with humans. Because the way Tailwind is shaped matches the way a language model, and a teammate, actually understand code.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one. Naming things.</a:t>
            </a:r>
          </a:p>
          <a:p>
            <a:r>
              <a:rPr lang="en-US" dirty="0"/>
              <a:t>There are only two hard things in computer science: cache invalidation and naming things. That quote is on the slide because it is still true, and CSS makes you do the second one for every heading, every badge, every button.</a:t>
            </a:r>
          </a:p>
          <a:p>
            <a:r>
              <a:rPr lang="en-US" dirty="0"/>
              <a:t>Semantic CSS makes you invent a name for every element, and those names are project-specific. Then they drift. card. Card. cardWrapper. card-box. Four names for the same idea, invented by four people, or by one person on four different days.</a:t>
            </a:r>
          </a:p>
          <a:p>
            <a:r>
              <a:rPr lang="en-US" dirty="0"/>
              <a:t>Humans invent inconsistently. Models invent inconsistently. Look at this rule. card header featured. What does featured even mean in this file? Is it a thicker border? A badge? A different button color? You cannot know until you read the CSS.</a:t>
            </a:r>
          </a:p>
          <a:p>
            <a:r>
              <a:rPr lang="en-US" dirty="0"/>
              <a:t>Tailwind deletes the naming decision. You do not name the thing. You describe the look with a closed vocabulary. That is the first friction gone.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three. Separation of concerns became separation of context.</a:t>
            </a:r>
          </a:p>
          <a:p>
            <a:r>
              <a:rPr lang="en-US" dirty="0"/>
              <a:t>We were taught to keep markup in one file and styles in another. That sounded clean. In practice, the component file has a class name, the stylesheet has the rule, and they are joined only by a magic string. card featured on one side. The same string on the other. A pointer. Not a spec.</a:t>
            </a:r>
          </a:p>
          <a:p>
            <a:r>
              <a:rPr lang="en-US" dirty="0"/>
              <a:t>To understand this component, you must hold both files in your head. And so must the model. If the CSS file is not in the context window, the model is guessing what card featured means. It will guess. It will guess wrong often enough to waste your afternoon.</a:t>
            </a:r>
          </a:p>
          <a:p>
            <a:r>
              <a:rPr lang="en-US" dirty="0"/>
              <a:t>The class name is not documentation. It is a pointer into another file. Carson Gross wrote about this as locality of behaviour. I will share that essay at the end. For now, the point is simple. Two files for one look is two contexts for one thought.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co-location. Tailwind puts markup and style in one place.</a:t>
            </a:r>
          </a:p>
          <a:p>
            <a:r>
              <a:rPr lang="en-US" dirty="0"/>
              <a:t>Look at this button. There is no CSS file. There are no invented class names. There is no cascade to reason about. rounded-lg, px-4, py-3, font-bold. And if it is featured, a background, a text color, and a hover state. Everything about how this button looks is sitting on the button.</a:t>
            </a:r>
          </a:p>
          <a:p>
            <a:r>
              <a:rPr lang="en-US" dirty="0"/>
              <a:t>An LLM sees the entire spec in one span of tokens. A teammate sees the same thing. You do not open a second tab. You do not search for a class name. You read the component and you are done.</a:t>
            </a:r>
          </a:p>
          <a:p>
            <a:r>
              <a:rPr lang="en-US" dirty="0"/>
              <a:t>That is the whole trick. Markup and style live in one place. Now I want to show it to you live, with the same card, two ways.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Each box is a place a CSS rule can live, and the arrow tells you which one wins a conflict in styling.</a:t>
            </a:r>
            <a:br>
              <a:rPr lang="en-US" dirty="0"/>
            </a:br>
            <a:br>
              <a:rPr lang="en-US" dirty="0"/>
            </a:br>
            <a:r>
              <a:rPr lang="en-US" dirty="0"/>
              <a:t>The four named layers come from </a:t>
            </a:r>
            <a:r>
              <a:rPr lang="en-US" sz="1200" kern="1200" dirty="0">
                <a:solidFill>
                  <a:schemeClr val="tx1"/>
                </a:solidFill>
                <a:latin typeface="+mn-lt"/>
                <a:ea typeface="+mn-ea"/>
                <a:cs typeface="+mn-cs"/>
              </a:rPr>
              <a:t>@import "</a:t>
            </a:r>
            <a:r>
              <a:rPr lang="en-US" sz="1200" kern="1200" dirty="0" err="1">
                <a:solidFill>
                  <a:schemeClr val="tx1"/>
                </a:solidFill>
                <a:latin typeface="+mn-lt"/>
                <a:ea typeface="+mn-ea"/>
                <a:cs typeface="+mn-cs"/>
              </a:rPr>
              <a:t>tailwindcss</a:t>
            </a:r>
            <a:r>
              <a:rPr lang="en-US" sz="1200" kern="1200" dirty="0">
                <a:solidFill>
                  <a:schemeClr val="tx1"/>
                </a:solidFill>
                <a:latin typeface="+mn-lt"/>
                <a:ea typeface="+mn-ea"/>
                <a:cs typeface="+mn-cs"/>
              </a:rPr>
              <a:t>"</a:t>
            </a:r>
            <a:r>
              <a:rPr lang="en-US" dirty="0"/>
              <a:t>, which declares their order up front. The coral or </a:t>
            </a:r>
            <a:r>
              <a:rPr lang="en-US" dirty="0" err="1"/>
              <a:t>redish</a:t>
            </a:r>
            <a:r>
              <a:rPr lang="en-US" dirty="0"/>
              <a:t> box isn't a layer or unlayered styles means styles are CSS rules written outside of any explicit @layer block, meaning they always take absolute precedence over Tailwind's built-in utility and theme layers</a:t>
            </a:r>
          </a:p>
        </p:txBody>
      </p:sp>
    </p:spTree>
    <p:extLst>
      <p:ext uri="{BB962C8B-B14F-4D97-AF65-F5344CB8AC3E}">
        <p14:creationId xmlns:p14="http://schemas.microsoft.com/office/powerpoint/2010/main" val="29539854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endParaRPr lang="en-US" dirty="0"/>
          </a:p>
        </p:txBody>
      </p:sp>
    </p:spTree>
    <p:extLst>
      <p:ext uri="{BB962C8B-B14F-4D97-AF65-F5344CB8AC3E}">
        <p14:creationId xmlns:p14="http://schemas.microsoft.com/office/powerpoint/2010/main" val="41384000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26457331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34725002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6754506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11339007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4375886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4581102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a:t>
            </a:r>
            <a:r>
              <a:rPr lang="en-US" dirty="0" err="1"/>
              <a:t>ui</a:t>
            </a:r>
            <a:r>
              <a:rPr lang="en-US" dirty="0"/>
              <a:t> is not a finished design system; it's a foundation for building your own design system.</a:t>
            </a:r>
            <a:endParaRPr lang="en-GB" dirty="0"/>
          </a:p>
        </p:txBody>
      </p:sp>
    </p:spTree>
    <p:extLst>
      <p:ext uri="{BB962C8B-B14F-4D97-AF65-F5344CB8AC3E}">
        <p14:creationId xmlns:p14="http://schemas.microsoft.com/office/powerpoint/2010/main" val="40663008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 distributes code rather than a package: </a:t>
            </a:r>
          </a:p>
          <a:p>
            <a:endParaRPr lang="en-US" dirty="0"/>
          </a:p>
          <a:p>
            <a:r>
              <a:rPr lang="en-US" dirty="0"/>
              <a:t>the registry serves JSON definitions, </a:t>
            </a:r>
          </a:p>
          <a:p>
            <a:endParaRPr lang="en-US" dirty="0"/>
          </a:p>
          <a:p>
            <a:r>
              <a:rPr lang="en-US" dirty="0"/>
              <a:t>the CLI writes real </a:t>
            </a:r>
            <a:r>
              <a:rPr lang="en-US" sz="1200" kern="1200" dirty="0">
                <a:solidFill>
                  <a:schemeClr val="tx1"/>
                </a:solidFill>
                <a:latin typeface="+mn-lt"/>
                <a:ea typeface="+mn-ea"/>
                <a:cs typeface="+mn-cs"/>
              </a:rPr>
              <a:t>.</a:t>
            </a:r>
            <a:r>
              <a:rPr lang="en-US" sz="1200" kern="1200" dirty="0" err="1">
                <a:solidFill>
                  <a:schemeClr val="tx1"/>
                </a:solidFill>
                <a:latin typeface="+mn-lt"/>
                <a:ea typeface="+mn-ea"/>
                <a:cs typeface="+mn-cs"/>
              </a:rPr>
              <a:t>tsx</a:t>
            </a:r>
            <a:r>
              <a:rPr lang="en-US" dirty="0"/>
              <a:t> files into your repo, </a:t>
            </a:r>
          </a:p>
          <a:p>
            <a:endParaRPr lang="en-US" dirty="0"/>
          </a:p>
          <a:p>
            <a:r>
              <a:rPr lang="en-US" dirty="0"/>
              <a:t>and nothing links back afterward since the component never lands in </a:t>
            </a:r>
            <a:r>
              <a:rPr lang="en-US" sz="1200" kern="1200" dirty="0" err="1">
                <a:solidFill>
                  <a:schemeClr val="tx1"/>
                </a:solidFill>
                <a:latin typeface="+mn-lt"/>
                <a:ea typeface="+mn-ea"/>
                <a:cs typeface="+mn-cs"/>
              </a:rPr>
              <a:t>node_modules</a:t>
            </a:r>
            <a:r>
              <a:rPr lang="en-US" dirty="0"/>
              <a:t>. </a:t>
            </a:r>
          </a:p>
          <a:p>
            <a:endParaRPr lang="en-US" dirty="0"/>
          </a:p>
          <a:p>
            <a:r>
              <a:rPr lang="en-US" dirty="0"/>
              <a:t>The three boxes at the bottom are the layers inside each file. </a:t>
            </a:r>
          </a:p>
          <a:p>
            <a:endParaRPr lang="en-US" dirty="0"/>
          </a:p>
          <a:p>
            <a:r>
              <a:rPr lang="en-US" dirty="0"/>
              <a:t>Base UI handles keyboard, focus, and ARIA, </a:t>
            </a:r>
          </a:p>
          <a:p>
            <a:endParaRPr lang="en-US" dirty="0"/>
          </a:p>
          <a:p>
            <a:r>
              <a:rPr lang="en-US" dirty="0"/>
              <a:t>Tailwind carries every visual decision as editable classes, </a:t>
            </a:r>
          </a:p>
          <a:p>
            <a:endParaRPr lang="en-US" dirty="0"/>
          </a:p>
          <a:p>
            <a:r>
              <a:rPr lang="en-US" dirty="0"/>
              <a:t>and your theme tokens supply the values. That's why customizing means opening the file instead of overriding from outside. </a:t>
            </a:r>
          </a:p>
          <a:p>
            <a:endParaRPr lang="en-US" dirty="0"/>
          </a:p>
          <a:p>
            <a:r>
              <a:rPr lang="en-US" dirty="0"/>
              <a:t>The trade-off is that you own the maintenance, though </a:t>
            </a:r>
            <a:r>
              <a:rPr lang="en-US" sz="1200" kern="1200" dirty="0">
                <a:solidFill>
                  <a:schemeClr val="tx1"/>
                </a:solidFill>
                <a:latin typeface="+mn-lt"/>
                <a:ea typeface="+mn-ea"/>
                <a:cs typeface="+mn-cs"/>
              </a:rPr>
              <a:t>add --diff</a:t>
            </a:r>
            <a:r>
              <a:rPr lang="en-US" dirty="0"/>
              <a:t> will show you what changed upstream so you can merge deliberately.</a:t>
            </a:r>
          </a:p>
        </p:txBody>
      </p:sp>
    </p:spTree>
    <p:extLst>
      <p:ext uri="{BB962C8B-B14F-4D97-AF65-F5344CB8AC3E}">
        <p14:creationId xmlns:p14="http://schemas.microsoft.com/office/powerpoint/2010/main" val="5793285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Rows 1 through 3 all trace back to the same decision — the source lives in your repo, so there's no props API to work around, no foreign CSS to override, and no version to bump. </a:t>
            </a:r>
          </a:p>
          <a:p>
            <a:endParaRPr lang="en-US" dirty="0"/>
          </a:p>
          <a:p>
            <a:r>
              <a:rPr lang="en-US" dirty="0"/>
              <a:t>Row 4 is the separate win: Base UI supplies the keyboard, focus, and ARIA behavior that's genuinely hard to get right by hand.</a:t>
            </a:r>
          </a:p>
        </p:txBody>
      </p:sp>
    </p:spTree>
    <p:extLst>
      <p:ext uri="{BB962C8B-B14F-4D97-AF65-F5344CB8AC3E}">
        <p14:creationId xmlns:p14="http://schemas.microsoft.com/office/powerpoint/2010/main" val="11578531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7233014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The hardest evidence is </a:t>
            </a:r>
            <a:r>
              <a:rPr lang="en-US" dirty="0" err="1"/>
              <a:t>WebUIBench</a:t>
            </a:r>
            <a:r>
              <a:rPr lang="en-US" dirty="0"/>
              <a:t>: generating the same 100 UI images with and without a Tailwind instruction moved compilation success from 47% to 92%. </a:t>
            </a:r>
          </a:p>
          <a:p>
            <a:pPr rtl="0"/>
            <a:endParaRPr lang="en-US" dirty="0"/>
          </a:p>
          <a:p>
            <a:pPr rtl="0"/>
            <a:r>
              <a:rPr lang="en-US" dirty="0"/>
              <a:t>Adoption backs it up — Bolt, Lovable, v0, and Cursor emit </a:t>
            </a:r>
            <a:r>
              <a:rPr lang="en-US" dirty="0" err="1"/>
              <a:t>shadcn</a:t>
            </a:r>
            <a:r>
              <a:rPr lang="en-US" dirty="0"/>
              <a:t>/</a:t>
            </a:r>
            <a:r>
              <a:rPr lang="en-US" dirty="0" err="1"/>
              <a:t>ui</a:t>
            </a:r>
            <a:r>
              <a:rPr lang="en-US" dirty="0"/>
              <a:t> by default, with v0 restricted to React plus Tailwind plus </a:t>
            </a:r>
            <a:r>
              <a:rPr lang="en-US" dirty="0" err="1"/>
              <a:t>shadcn</a:t>
            </a:r>
            <a:r>
              <a:rPr lang="en-US" dirty="0"/>
              <a:t>, and the reason given is architectural, since visible owned source is easier for a model to read and modify than an opaque library abstraction. </a:t>
            </a:r>
          </a:p>
          <a:p>
            <a:pPr rtl="0"/>
            <a:endParaRPr lang="en-US" dirty="0"/>
          </a:p>
          <a:p>
            <a:pPr rtl="0"/>
            <a:r>
              <a:rPr lang="en-US" dirty="0" err="1"/>
              <a:t>shadcn</a:t>
            </a:r>
            <a:r>
              <a:rPr lang="en-US" dirty="0"/>
              <a:t> passed 109,000 GitHub stars by March 2026, </a:t>
            </a:r>
          </a:p>
          <a:p>
            <a:pPr rtl="0"/>
            <a:endParaRPr lang="en-US" dirty="0"/>
          </a:p>
          <a:p>
            <a:pPr rtl="0"/>
            <a:r>
              <a:rPr lang="en-US" dirty="0"/>
              <a:t>Tailwind ranked first in State of CSS 2025 with 2,041 of roughly 2,863 framework-using respondents, and </a:t>
            </a:r>
            <a:r>
              <a:rPr lang="en-US" dirty="0" err="1"/>
              <a:t>shadcn</a:t>
            </a:r>
            <a:r>
              <a:rPr lang="en-US" dirty="0"/>
              <a:t> now ships official AI skills for agents. </a:t>
            </a:r>
          </a:p>
        </p:txBody>
      </p:sp>
    </p:spTree>
    <p:extLst>
      <p:ext uri="{BB962C8B-B14F-4D97-AF65-F5344CB8AC3E}">
        <p14:creationId xmlns:p14="http://schemas.microsoft.com/office/powerpoint/2010/main" val="22394399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9142551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sz="1200" b="0" i="0" kern="1200" dirty="0">
                <a:solidFill>
                  <a:schemeClr val="tx1"/>
                </a:solidFill>
                <a:effectLst/>
                <a:latin typeface="+mn-lt"/>
                <a:ea typeface="+mn-ea"/>
                <a:cs typeface="+mn-cs"/>
              </a:rPr>
              <a:t>On CC-Bench-V2's frontend suite, generated React projects built successfully 95% of the time for Claude Opus 4.5 and 100% for GLM-5, with check-item pass rates near 71%. </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TypeScript became GitHub's most-used language in August 2025 at 2,636,006 monthly contributors, up about 1.05 million year over year, which GitHub credits to typed languages being more reliable for agent-assisted coding and frameworks scaffolding TypeScript by default.</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and package hallucination rates across the 2026 frontier cohort were consistently lower for JavaScript than Python, 2.62% versus 6.63% for Claude Sonnet 4.6.</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br>
              <a:rPr lang="en-US" dirty="0"/>
            </a:br>
            <a:endParaRPr lang="en-US" dirty="0"/>
          </a:p>
        </p:txBody>
      </p:sp>
    </p:spTree>
    <p:extLst>
      <p:ext uri="{BB962C8B-B14F-4D97-AF65-F5344CB8AC3E}">
        <p14:creationId xmlns:p14="http://schemas.microsoft.com/office/powerpoint/2010/main" val="276701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8075941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Four channels for the same ground truth, and they're not interchangeable.</a:t>
            </a:r>
          </a:p>
          <a:p>
            <a:pPr rtl="0"/>
            <a:endParaRPr lang="en-US" dirty="0"/>
          </a:p>
          <a:p>
            <a:pPr rtl="0"/>
            <a:r>
              <a:rPr lang="en-US" sz="1200" kern="1200" dirty="0">
                <a:solidFill>
                  <a:schemeClr val="tx1"/>
                </a:solidFill>
                <a:latin typeface="+mn-lt"/>
                <a:ea typeface="+mn-ea"/>
                <a:cs typeface="+mn-cs"/>
              </a:rPr>
              <a:t>AGENTS.md</a:t>
            </a:r>
            <a:r>
              <a:rPr lang="en-US" dirty="0"/>
              <a:t> holds facts that don't change — the pinned version, the import styles. </a:t>
            </a:r>
            <a:endParaRPr lang="en-US" baseline="0" dirty="0"/>
          </a:p>
          <a:p>
            <a:pPr rtl="0"/>
            <a:endParaRPr lang="en-US" baseline="0" dirty="0"/>
          </a:p>
          <a:p>
            <a:pPr rtl="0"/>
            <a:r>
              <a:rPr lang="en-US" dirty="0"/>
              <a:t>An MCP docs server fetching current docs on demand instead of a snapshot that goes stale. </a:t>
            </a:r>
          </a:p>
          <a:p>
            <a:pPr rtl="0"/>
            <a:endParaRPr lang="en-US" dirty="0"/>
          </a:p>
          <a:p>
            <a:pPr rtl="0"/>
            <a:r>
              <a:rPr lang="en-US" dirty="0"/>
              <a:t>A skill packages the procedures: which command, which flags, what to check. </a:t>
            </a:r>
          </a:p>
          <a:p>
            <a:pPr rtl="0"/>
            <a:endParaRPr lang="en-US" dirty="0"/>
          </a:p>
          <a:p>
            <a:pPr rtl="0"/>
            <a:r>
              <a:rPr lang="en-US" dirty="0"/>
              <a:t>Copying and pasting prompt context is gray because it dies with the chat, though it's still the fastest way to try something once.</a:t>
            </a:r>
          </a:p>
        </p:txBody>
      </p:sp>
    </p:spTree>
    <p:extLst>
      <p:ext uri="{BB962C8B-B14F-4D97-AF65-F5344CB8AC3E}">
        <p14:creationId xmlns:p14="http://schemas.microsoft.com/office/powerpoint/2010/main" val="133104093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GB" dirty="0" err="1"/>
              <a:t>bodyLimitBytes</a:t>
            </a:r>
            <a:r>
              <a:rPr lang="en-GB" dirty="0"/>
              <a:t>, </a:t>
            </a:r>
            <a:r>
              <a:rPr lang="en-GB" dirty="0" err="1"/>
              <a:t>jsonMaxKeys</a:t>
            </a:r>
            <a:r>
              <a:rPr lang="en-GB" dirty="0"/>
              <a:t>, </a:t>
            </a:r>
            <a:r>
              <a:rPr lang="en-GB" dirty="0" err="1"/>
              <a:t>jsonMaxDepth</a:t>
            </a:r>
            <a:r>
              <a:rPr lang="en-GB" dirty="0"/>
              <a:t>, </a:t>
            </a:r>
            <a:r>
              <a:rPr lang="en-GB" dirty="0" err="1"/>
              <a:t>requestTimeoutMs</a:t>
            </a:r>
            <a:r>
              <a:rPr lang="en-GB" dirty="0"/>
              <a:t>, </a:t>
            </a:r>
            <a:r>
              <a:rPr lang="en-GB" dirty="0" err="1"/>
              <a:t>secureHeaders</a:t>
            </a:r>
            <a:r>
              <a:rPr lang="en-GB" dirty="0"/>
              <a:t> + </a:t>
            </a:r>
            <a:r>
              <a:rPr lang="en-GB" dirty="0" err="1"/>
              <a:t>maxHeaderCount</a:t>
            </a:r>
            <a:r>
              <a:rPr lang="en-GB" dirty="0"/>
              <a:t>, RFC 9457 </a:t>
            </a:r>
            <a:r>
              <a:rPr lang="en-GB" dirty="0" err="1"/>
              <a:t>problem+json</a:t>
            </a:r>
            <a:r>
              <a:rPr lang="en-GB" dirty="0"/>
              <a:t> which is reduction or auto strip detail from 5xx.</a:t>
            </a:r>
          </a:p>
          <a:p>
            <a:endParaRPr lang="en-GB" dirty="0"/>
          </a:p>
          <a:p>
            <a:r>
              <a:rPr lang="en-GB" dirty="0"/>
              <a:t>Server will refuse to run on </a:t>
            </a:r>
          </a:p>
          <a:p>
            <a:r>
              <a:rPr lang="en-GB" dirty="0"/>
              <a:t>wildcard CORS with credentials and anywhere</a:t>
            </a:r>
          </a:p>
          <a:p>
            <a:r>
              <a:rPr lang="en-GB" dirty="0"/>
              <a:t>a session secret under 32 bytes or a default placeholder</a:t>
            </a:r>
          </a:p>
          <a:p>
            <a:r>
              <a:rPr lang="en-GB" dirty="0"/>
              <a:t>sessions, a mutating route, and no CSRF hook</a:t>
            </a:r>
          </a:p>
          <a:p>
            <a:r>
              <a:rPr lang="en-GB" dirty="0"/>
              <a:t>proxy trust left unconfigured in production</a:t>
            </a:r>
          </a:p>
          <a:p>
            <a:r>
              <a:rPr lang="en-GB" dirty="0"/>
              <a:t>a symmetric algorithm handed to a JWKS verifier</a:t>
            </a:r>
          </a:p>
          <a:p>
            <a:r>
              <a:rPr lang="en-GB" dirty="0"/>
              <a:t>auth declared with no auth hook behind it</a:t>
            </a:r>
          </a:p>
          <a:p>
            <a:endParaRPr lang="en-GB" dirty="0"/>
          </a:p>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091CD-CE40-DE50-BB6F-73EE86E3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E217A3-0C6D-E0FB-E8D9-26C54CD953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80ABD-7274-B998-04A2-E3FDD70461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86FBF8-DAE3-786B-F774-C9033F4FA5D1}"/>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245651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521754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95A8B3-47D6-02CA-0770-1BFDEA32452D}"/>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0706852E-5507-9E7B-79DE-72F24FBAA6DF}"/>
              </a:ext>
            </a:extLst>
          </p:cNvPr>
          <p:cNvSpPr/>
          <p:nvPr/>
        </p:nvSpPr>
        <p:spPr>
          <a:xfrm>
            <a:off x="1097280" y="1920240"/>
            <a:ext cx="9997135" cy="2011680"/>
          </a:xfrm>
          <a:prstGeom prst="rect">
            <a:avLst/>
          </a:prstGeom>
          <a:noFill/>
          <a:ln/>
        </p:spPr>
        <p:txBody>
          <a:bodyPr wrap="square" lIns="0" tIns="0" rIns="0" bIns="0" rtlCol="0" anchor="t"/>
          <a:lstStyle/>
          <a:p>
            <a:pPr>
              <a:lnSpc>
                <a:spcPct val="105000"/>
              </a:lnSpc>
            </a:pPr>
            <a:r>
              <a:rPr lang="en-US" sz="4000" b="1" dirty="0">
                <a:solidFill>
                  <a:schemeClr val="tx1">
                    <a:lumMod val="85000"/>
                    <a:lumOff val="15000"/>
                  </a:schemeClr>
                </a:solidFill>
                <a:latin typeface="Arial" pitchFamily="34" charset="0"/>
                <a:ea typeface="Arial" pitchFamily="34" charset="-122"/>
                <a:cs typeface="Arial" pitchFamily="34" charset="-120"/>
              </a:rPr>
              <a:t>Why it feels that CSS is like dating?</a:t>
            </a:r>
            <a:endParaRPr lang="en-US" sz="4000" dirty="0">
              <a:solidFill>
                <a:schemeClr val="tx1">
                  <a:lumMod val="85000"/>
                  <a:lumOff val="15000"/>
                </a:schemeClr>
              </a:solidFill>
            </a:endParaRPr>
          </a:p>
        </p:txBody>
      </p:sp>
      <p:sp>
        <p:nvSpPr>
          <p:cNvPr id="5" name="Text 2">
            <a:extLst>
              <a:ext uri="{FF2B5EF4-FFF2-40B4-BE49-F238E27FC236}">
                <a16:creationId xmlns:a16="http://schemas.microsoft.com/office/drawing/2014/main" id="{8D66257F-9719-6614-AF8F-2F2DA6658338}"/>
              </a:ext>
            </a:extLst>
          </p:cNvPr>
          <p:cNvSpPr/>
          <p:nvPr/>
        </p:nvSpPr>
        <p:spPr>
          <a:xfrm>
            <a:off x="1097280" y="4114800"/>
            <a:ext cx="7315200" cy="548640"/>
          </a:xfrm>
          <a:prstGeom prst="rect">
            <a:avLst/>
          </a:prstGeom>
          <a:noFill/>
          <a:ln/>
        </p:spPr>
        <p:txBody>
          <a:bodyPr wrap="square" lIns="0" tIns="0" rIns="0" bIns="0" rtlCol="0" anchor="ctr"/>
          <a:lstStyle/>
          <a:p>
            <a:pPr marL="0" indent="0" algn="l">
              <a:buNone/>
            </a:pPr>
            <a:r>
              <a:rPr lang="en-US" sz="2400" i="1" dirty="0">
                <a:solidFill>
                  <a:schemeClr val="tx1">
                    <a:lumMod val="85000"/>
                    <a:lumOff val="15000"/>
                  </a:schemeClr>
                </a:solidFill>
                <a:latin typeface="Arial" pitchFamily="34" charset="0"/>
                <a:ea typeface="Arial" pitchFamily="34" charset="-122"/>
                <a:cs typeface="Arial" pitchFamily="34" charset="-120"/>
              </a:rPr>
              <a:t>( wait for it… )</a:t>
            </a:r>
            <a:endParaRPr lang="en-US" sz="2400" dirty="0">
              <a:solidFill>
                <a:schemeClr val="tx1">
                  <a:lumMod val="85000"/>
                  <a:lumOff val="15000"/>
                </a:schemeClr>
              </a:solidFill>
            </a:endParaRPr>
          </a:p>
        </p:txBody>
      </p:sp>
    </p:spTree>
    <p:extLst>
      <p:ext uri="{BB962C8B-B14F-4D97-AF65-F5344CB8AC3E}">
        <p14:creationId xmlns:p14="http://schemas.microsoft.com/office/powerpoint/2010/main" val="33278901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84594E54-C97D-DD45-4972-EFB8080D7132}"/>
              </a:ext>
            </a:extLst>
          </p:cNvPr>
          <p:cNvSpPr/>
          <p:nvPr/>
        </p:nvSpPr>
        <p:spPr>
          <a:xfrm>
            <a:off x="1097280" y="2697480"/>
            <a:ext cx="9997135" cy="1463040"/>
          </a:xfrm>
          <a:prstGeom prst="rect">
            <a:avLst/>
          </a:prstGeom>
          <a:noFill/>
          <a:ln/>
        </p:spPr>
        <p:txBody>
          <a:bodyPr wrap="square" lIns="0" tIns="0" rIns="0" bIns="0" rtlCol="0" anchor="t"/>
          <a:lstStyle/>
          <a:p>
            <a:pPr>
              <a:lnSpc>
                <a:spcPct val="105000"/>
              </a:lnSpc>
            </a:pPr>
            <a:r>
              <a:rPr lang="en-US" sz="3600" dirty="0">
                <a:solidFill>
                  <a:schemeClr val="tx1">
                    <a:lumMod val="95000"/>
                    <a:lumOff val="5000"/>
                  </a:schemeClr>
                </a:solidFill>
                <a:latin typeface="Arial" pitchFamily="34" charset="0"/>
                <a:ea typeface="Arial" pitchFamily="34" charset="-122"/>
                <a:cs typeface="Arial" pitchFamily="34" charset="-120"/>
              </a:rPr>
              <a:t>You think you've finally found the right one, then </a:t>
            </a:r>
            <a:r>
              <a:rPr lang="en-US" sz="3600" dirty="0">
                <a:solidFill>
                  <a:schemeClr val="tx1">
                    <a:lumMod val="95000"/>
                    <a:lumOff val="5000"/>
                  </a:schemeClr>
                </a:solidFill>
                <a:latin typeface="Cascadia Code" panose="020B0609020000020004" pitchFamily="49" charset="0"/>
                <a:ea typeface="Arial" pitchFamily="34" charset="-122"/>
                <a:cs typeface="Cascadia Code" panose="020B0609020000020004" pitchFamily="49" charset="0"/>
              </a:rPr>
              <a:t>!important </a:t>
            </a:r>
            <a:r>
              <a:rPr lang="en-US" sz="3600" dirty="0">
                <a:solidFill>
                  <a:schemeClr val="tx1">
                    <a:lumMod val="95000"/>
                    <a:lumOff val="5000"/>
                  </a:schemeClr>
                </a:solidFill>
                <a:latin typeface="Arial" pitchFamily="34" charset="0"/>
                <a:ea typeface="Arial" pitchFamily="34" charset="-122"/>
                <a:cs typeface="Arial" pitchFamily="34" charset="-120"/>
              </a:rPr>
              <a:t>shows up.</a:t>
            </a:r>
            <a:endParaRPr lang="en-US" sz="3600" dirty="0">
              <a:solidFill>
                <a:schemeClr val="tx1">
                  <a:lumMod val="95000"/>
                  <a:lumOff val="5000"/>
                </a:schemeClr>
              </a:solidFill>
            </a:endParaRPr>
          </a:p>
        </p:txBody>
      </p:sp>
    </p:spTree>
    <p:extLst>
      <p:ext uri="{BB962C8B-B14F-4D97-AF65-F5344CB8AC3E}">
        <p14:creationId xmlns:p14="http://schemas.microsoft.com/office/powerpoint/2010/main" val="12883188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2ABA5A76-1081-2914-0CEA-5010A114DB88}"/>
              </a:ext>
            </a:extLst>
          </p:cNvPr>
          <p:cNvSpPr/>
          <p:nvPr/>
        </p:nvSpPr>
        <p:spPr>
          <a:xfrm>
            <a:off x="594360" y="1874520"/>
            <a:ext cx="11002975" cy="2194560"/>
          </a:xfrm>
          <a:prstGeom prst="rect">
            <a:avLst/>
          </a:prstGeom>
          <a:noFill/>
          <a:ln/>
        </p:spPr>
        <p:txBody>
          <a:bodyPr wrap="square" lIns="0" tIns="0" rIns="0" bIns="0" rtlCol="0" anchor="t"/>
          <a:lstStyle/>
          <a:p>
            <a:pPr marL="0" indent="0" algn="l">
              <a:lnSpc>
                <a:spcPct val="102000"/>
              </a:lnSpc>
              <a:buNone/>
            </a:pPr>
            <a:r>
              <a:rPr lang="en-US" sz="5200" b="1" dirty="0">
                <a:solidFill>
                  <a:schemeClr val="tx1">
                    <a:lumMod val="75000"/>
                    <a:lumOff val="25000"/>
                  </a:schemeClr>
                </a:solidFill>
                <a:latin typeface="Arial" pitchFamily="34" charset="0"/>
                <a:ea typeface="Arial" pitchFamily="34" charset="-122"/>
                <a:cs typeface="Arial" pitchFamily="34" charset="-120"/>
              </a:rPr>
              <a:t>Why LLMs &amp; JS frameworks
love Tailwind CSS</a:t>
            </a:r>
            <a:endParaRPr lang="en-US" sz="5200" dirty="0">
              <a:solidFill>
                <a:schemeClr val="tx1">
                  <a:lumMod val="75000"/>
                  <a:lumOff val="25000"/>
                </a:schemeClr>
              </a:solidFill>
            </a:endParaRPr>
          </a:p>
        </p:txBody>
      </p:sp>
      <p:sp>
        <p:nvSpPr>
          <p:cNvPr id="5" name="Text 1">
            <a:extLst>
              <a:ext uri="{FF2B5EF4-FFF2-40B4-BE49-F238E27FC236}">
                <a16:creationId xmlns:a16="http://schemas.microsoft.com/office/drawing/2014/main" id="{8D0B2F97-ADC1-64C8-0922-FFC85F3F5319}"/>
              </a:ext>
            </a:extLst>
          </p:cNvPr>
          <p:cNvSpPr/>
          <p:nvPr/>
        </p:nvSpPr>
        <p:spPr>
          <a:xfrm>
            <a:off x="594360" y="3977640"/>
            <a:ext cx="11002975" cy="548640"/>
          </a:xfrm>
          <a:prstGeom prst="rect">
            <a:avLst/>
          </a:prstGeom>
          <a:noFill/>
          <a:ln/>
        </p:spPr>
        <p:txBody>
          <a:bodyPr wrap="square" lIns="0" tIns="0" rIns="0" bIns="0" rtlCol="0" anchor="ctr"/>
          <a:lstStyle/>
          <a:p>
            <a:pPr marL="0" indent="0" algn="l">
              <a:buNone/>
            </a:pPr>
            <a:r>
              <a:rPr lang="en-US" sz="2800" i="1" dirty="0">
                <a:solidFill>
                  <a:srgbClr val="A6A6A6"/>
                </a:solidFill>
                <a:latin typeface="Arial" pitchFamily="34" charset="0"/>
                <a:ea typeface="Arial" pitchFamily="34" charset="-122"/>
                <a:cs typeface="Arial" pitchFamily="34" charset="-120"/>
              </a:rPr>
              <a:t>…and why you should too</a:t>
            </a:r>
            <a:endParaRPr lang="en-US" sz="2800" dirty="0"/>
          </a:p>
        </p:txBody>
      </p:sp>
      <p:sp>
        <p:nvSpPr>
          <p:cNvPr id="7" name="Text 2">
            <a:extLst>
              <a:ext uri="{FF2B5EF4-FFF2-40B4-BE49-F238E27FC236}">
                <a16:creationId xmlns:a16="http://schemas.microsoft.com/office/drawing/2014/main" id="{86804EAF-45AC-F6A9-2492-A03DCE57380B}"/>
              </a:ext>
            </a:extLst>
          </p:cNvPr>
          <p:cNvSpPr/>
          <p:nvPr/>
        </p:nvSpPr>
        <p:spPr>
          <a:xfrm>
            <a:off x="594360" y="4892040"/>
            <a:ext cx="11002975" cy="780972"/>
          </a:xfrm>
          <a:prstGeom prst="rect">
            <a:avLst/>
          </a:prstGeom>
          <a:noFill/>
          <a:ln/>
        </p:spPr>
        <p:txBody>
          <a:bodyPr wrap="square" lIns="0" tIns="0" rIns="0" bIns="0" rtlCol="0" anchor="ctr"/>
          <a:lstStyle/>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@DevlinDuldulao</a:t>
            </a:r>
          </a:p>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Senior consultant at SoftwareOne Norway</a:t>
            </a:r>
          </a:p>
        </p:txBody>
      </p:sp>
    </p:spTree>
    <p:extLst>
      <p:ext uri="{BB962C8B-B14F-4D97-AF65-F5344CB8AC3E}">
        <p14:creationId xmlns:p14="http://schemas.microsoft.com/office/powerpoint/2010/main" val="12714989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9006" y="30186"/>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2902"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B011052-0B56-59B0-E718-EBA992077E07}"/>
              </a:ext>
            </a:extLst>
          </p:cNvPr>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15 years of methodology wars</a:t>
            </a:r>
            <a:endParaRPr lang="en-US" sz="3400" dirty="0">
              <a:solidFill>
                <a:schemeClr val="tx1">
                  <a:lumMod val="95000"/>
                  <a:lumOff val="5000"/>
                </a:schemeClr>
              </a:solidFill>
            </a:endParaRPr>
          </a:p>
        </p:txBody>
      </p:sp>
      <p:sp>
        <p:nvSpPr>
          <p:cNvPr id="5" name="Shape 2">
            <a:extLst>
              <a:ext uri="{FF2B5EF4-FFF2-40B4-BE49-F238E27FC236}">
                <a16:creationId xmlns:a16="http://schemas.microsoft.com/office/drawing/2014/main" id="{50DC7FBD-9BAB-D4E5-9792-DEA061F0458E}"/>
              </a:ext>
            </a:extLst>
          </p:cNvPr>
          <p:cNvSpPr/>
          <p:nvPr/>
        </p:nvSpPr>
        <p:spPr>
          <a:xfrm>
            <a:off x="59436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7" name="Text 3">
            <a:extLst>
              <a:ext uri="{FF2B5EF4-FFF2-40B4-BE49-F238E27FC236}">
                <a16:creationId xmlns:a16="http://schemas.microsoft.com/office/drawing/2014/main" id="{285160DB-9432-0595-B29D-AE38841B3245}"/>
              </a:ext>
            </a:extLst>
          </p:cNvPr>
          <p:cNvSpPr/>
          <p:nvPr/>
        </p:nvSpPr>
        <p:spPr>
          <a:xfrm>
            <a:off x="59436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Vanilla</a:t>
            </a:r>
            <a:endParaRPr lang="en-US" dirty="0"/>
          </a:p>
        </p:txBody>
      </p:sp>
      <p:sp>
        <p:nvSpPr>
          <p:cNvPr id="9" name="Text 4">
            <a:extLst>
              <a:ext uri="{FF2B5EF4-FFF2-40B4-BE49-F238E27FC236}">
                <a16:creationId xmlns:a16="http://schemas.microsoft.com/office/drawing/2014/main" id="{CE7FFF5E-A89A-77A0-C040-B529C81D2FF0}"/>
              </a:ext>
            </a:extLst>
          </p:cNvPr>
          <p:cNvSpPr/>
          <p:nvPr/>
        </p:nvSpPr>
        <p:spPr>
          <a:xfrm>
            <a:off x="59436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2005</a:t>
            </a:r>
            <a:endParaRPr lang="en-US" sz="1600" dirty="0"/>
          </a:p>
        </p:txBody>
      </p:sp>
      <p:sp>
        <p:nvSpPr>
          <p:cNvPr id="11" name="Shape 5">
            <a:extLst>
              <a:ext uri="{FF2B5EF4-FFF2-40B4-BE49-F238E27FC236}">
                <a16:creationId xmlns:a16="http://schemas.microsoft.com/office/drawing/2014/main" id="{AC4B3742-73FF-C1BA-6A4A-EA7A2B15D136}"/>
              </a:ext>
            </a:extLst>
          </p:cNvPr>
          <p:cNvSpPr/>
          <p:nvPr/>
        </p:nvSpPr>
        <p:spPr>
          <a:xfrm>
            <a:off x="2001736"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3" name="Text 6">
            <a:extLst>
              <a:ext uri="{FF2B5EF4-FFF2-40B4-BE49-F238E27FC236}">
                <a16:creationId xmlns:a16="http://schemas.microsoft.com/office/drawing/2014/main" id="{2465B0CB-24C9-BBE7-FD52-6D8D7618BCF7}"/>
              </a:ext>
            </a:extLst>
          </p:cNvPr>
          <p:cNvSpPr/>
          <p:nvPr/>
        </p:nvSpPr>
        <p:spPr>
          <a:xfrm>
            <a:off x="2001736"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OOCSS</a:t>
            </a:r>
            <a:endParaRPr lang="en-US" dirty="0"/>
          </a:p>
        </p:txBody>
      </p:sp>
      <p:sp>
        <p:nvSpPr>
          <p:cNvPr id="15" name="Text 7">
            <a:extLst>
              <a:ext uri="{FF2B5EF4-FFF2-40B4-BE49-F238E27FC236}">
                <a16:creationId xmlns:a16="http://schemas.microsoft.com/office/drawing/2014/main" id="{E633C04A-B3B8-6C0A-5650-25B632C6735E}"/>
              </a:ext>
            </a:extLst>
          </p:cNvPr>
          <p:cNvSpPr/>
          <p:nvPr/>
        </p:nvSpPr>
        <p:spPr>
          <a:xfrm>
            <a:off x="2001736"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2009</a:t>
            </a:r>
            <a:endParaRPr lang="en-US" sz="1600" dirty="0"/>
          </a:p>
        </p:txBody>
      </p:sp>
      <p:sp>
        <p:nvSpPr>
          <p:cNvPr id="17" name="Shape 8">
            <a:extLst>
              <a:ext uri="{FF2B5EF4-FFF2-40B4-BE49-F238E27FC236}">
                <a16:creationId xmlns:a16="http://schemas.microsoft.com/office/drawing/2014/main" id="{D5886CBD-1C4E-D79F-543F-81F286D67CDC}"/>
              </a:ext>
            </a:extLst>
          </p:cNvPr>
          <p:cNvSpPr/>
          <p:nvPr/>
        </p:nvSpPr>
        <p:spPr>
          <a:xfrm>
            <a:off x="3409112"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9" name="Text 9">
            <a:extLst>
              <a:ext uri="{FF2B5EF4-FFF2-40B4-BE49-F238E27FC236}">
                <a16:creationId xmlns:a16="http://schemas.microsoft.com/office/drawing/2014/main" id="{07CD2121-6FF8-628C-1EC2-44AC32CC0435}"/>
              </a:ext>
            </a:extLst>
          </p:cNvPr>
          <p:cNvSpPr/>
          <p:nvPr/>
        </p:nvSpPr>
        <p:spPr>
          <a:xfrm>
            <a:off x="3409112"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BEM</a:t>
            </a:r>
            <a:endParaRPr lang="en-US" dirty="0"/>
          </a:p>
        </p:txBody>
      </p:sp>
      <p:sp>
        <p:nvSpPr>
          <p:cNvPr id="21" name="Text 10">
            <a:extLst>
              <a:ext uri="{FF2B5EF4-FFF2-40B4-BE49-F238E27FC236}">
                <a16:creationId xmlns:a16="http://schemas.microsoft.com/office/drawing/2014/main" id="{598E4960-336A-07CF-AD14-1D176AEE0EFB}"/>
              </a:ext>
            </a:extLst>
          </p:cNvPr>
          <p:cNvSpPr/>
          <p:nvPr/>
        </p:nvSpPr>
        <p:spPr>
          <a:xfrm>
            <a:off x="3409112"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2010</a:t>
            </a:r>
            <a:endParaRPr lang="en-US" sz="1600" dirty="0"/>
          </a:p>
        </p:txBody>
      </p:sp>
      <p:sp>
        <p:nvSpPr>
          <p:cNvPr id="23" name="Shape 11">
            <a:extLst>
              <a:ext uri="{FF2B5EF4-FFF2-40B4-BE49-F238E27FC236}">
                <a16:creationId xmlns:a16="http://schemas.microsoft.com/office/drawing/2014/main" id="{BE4163CF-2F22-907B-2D61-DA392718AFA8}"/>
              </a:ext>
            </a:extLst>
          </p:cNvPr>
          <p:cNvSpPr/>
          <p:nvPr/>
        </p:nvSpPr>
        <p:spPr>
          <a:xfrm>
            <a:off x="4816488"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5" name="Text 12">
            <a:extLst>
              <a:ext uri="{FF2B5EF4-FFF2-40B4-BE49-F238E27FC236}">
                <a16:creationId xmlns:a16="http://schemas.microsoft.com/office/drawing/2014/main" id="{5D489014-E7F6-3F6D-E6E7-75213352FD67}"/>
              </a:ext>
            </a:extLst>
          </p:cNvPr>
          <p:cNvSpPr/>
          <p:nvPr/>
        </p:nvSpPr>
        <p:spPr>
          <a:xfrm>
            <a:off x="4816488"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SMACSS</a:t>
            </a:r>
            <a:endParaRPr lang="en-US" dirty="0"/>
          </a:p>
        </p:txBody>
      </p:sp>
      <p:sp>
        <p:nvSpPr>
          <p:cNvPr id="27" name="Text 13">
            <a:extLst>
              <a:ext uri="{FF2B5EF4-FFF2-40B4-BE49-F238E27FC236}">
                <a16:creationId xmlns:a16="http://schemas.microsoft.com/office/drawing/2014/main" id="{1054AFA5-A7B9-CFE4-0225-7756BCF5FEC9}"/>
              </a:ext>
            </a:extLst>
          </p:cNvPr>
          <p:cNvSpPr/>
          <p:nvPr/>
        </p:nvSpPr>
        <p:spPr>
          <a:xfrm>
            <a:off x="4816488"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2011</a:t>
            </a:r>
            <a:endParaRPr lang="en-US" sz="1600" dirty="0"/>
          </a:p>
        </p:txBody>
      </p:sp>
      <p:sp>
        <p:nvSpPr>
          <p:cNvPr id="29" name="Shape 14">
            <a:extLst>
              <a:ext uri="{FF2B5EF4-FFF2-40B4-BE49-F238E27FC236}">
                <a16:creationId xmlns:a16="http://schemas.microsoft.com/office/drawing/2014/main" id="{B823822A-0CEB-6FA6-2D74-71E4DB3A6584}"/>
              </a:ext>
            </a:extLst>
          </p:cNvPr>
          <p:cNvSpPr/>
          <p:nvPr/>
        </p:nvSpPr>
        <p:spPr>
          <a:xfrm>
            <a:off x="6223864"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1" name="Text 15">
            <a:extLst>
              <a:ext uri="{FF2B5EF4-FFF2-40B4-BE49-F238E27FC236}">
                <a16:creationId xmlns:a16="http://schemas.microsoft.com/office/drawing/2014/main" id="{ACED6B06-5F28-EC3B-51CA-23E870FEAF8F}"/>
              </a:ext>
            </a:extLst>
          </p:cNvPr>
          <p:cNvSpPr/>
          <p:nvPr/>
        </p:nvSpPr>
        <p:spPr>
          <a:xfrm>
            <a:off x="6223864"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Atomic</a:t>
            </a:r>
            <a:endParaRPr lang="en-US" dirty="0"/>
          </a:p>
        </p:txBody>
      </p:sp>
      <p:sp>
        <p:nvSpPr>
          <p:cNvPr id="33" name="Text 16">
            <a:extLst>
              <a:ext uri="{FF2B5EF4-FFF2-40B4-BE49-F238E27FC236}">
                <a16:creationId xmlns:a16="http://schemas.microsoft.com/office/drawing/2014/main" id="{CDE9EA28-7760-D1EA-F4F1-C0A980BD5EE1}"/>
              </a:ext>
            </a:extLst>
          </p:cNvPr>
          <p:cNvSpPr/>
          <p:nvPr/>
        </p:nvSpPr>
        <p:spPr>
          <a:xfrm>
            <a:off x="6223864"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2013</a:t>
            </a:r>
            <a:endParaRPr lang="en-US" sz="1600" dirty="0"/>
          </a:p>
        </p:txBody>
      </p:sp>
      <p:sp>
        <p:nvSpPr>
          <p:cNvPr id="35" name="Shape 17">
            <a:extLst>
              <a:ext uri="{FF2B5EF4-FFF2-40B4-BE49-F238E27FC236}">
                <a16:creationId xmlns:a16="http://schemas.microsoft.com/office/drawing/2014/main" id="{74044E17-809D-96CB-F791-62D750AB7628}"/>
              </a:ext>
            </a:extLst>
          </p:cNvPr>
          <p:cNvSpPr/>
          <p:nvPr/>
        </p:nvSpPr>
        <p:spPr>
          <a:xfrm>
            <a:off x="763124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7" name="Text 18">
            <a:extLst>
              <a:ext uri="{FF2B5EF4-FFF2-40B4-BE49-F238E27FC236}">
                <a16:creationId xmlns:a16="http://schemas.microsoft.com/office/drawing/2014/main" id="{9B7C33E6-D57D-45A1-9874-40FEC57D1CF7}"/>
              </a:ext>
            </a:extLst>
          </p:cNvPr>
          <p:cNvSpPr/>
          <p:nvPr/>
        </p:nvSpPr>
        <p:spPr>
          <a:xfrm>
            <a:off x="763124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 Modules</a:t>
            </a:r>
            <a:endParaRPr lang="en-US" dirty="0"/>
          </a:p>
        </p:txBody>
      </p:sp>
      <p:sp>
        <p:nvSpPr>
          <p:cNvPr id="39" name="Text 19">
            <a:extLst>
              <a:ext uri="{FF2B5EF4-FFF2-40B4-BE49-F238E27FC236}">
                <a16:creationId xmlns:a16="http://schemas.microsoft.com/office/drawing/2014/main" id="{A04568C9-356C-8C65-7F40-84EA7C9098EA}"/>
              </a:ext>
            </a:extLst>
          </p:cNvPr>
          <p:cNvSpPr/>
          <p:nvPr/>
        </p:nvSpPr>
        <p:spPr>
          <a:xfrm>
            <a:off x="763124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2015</a:t>
            </a:r>
            <a:endParaRPr lang="en-US" sz="1600" dirty="0"/>
          </a:p>
        </p:txBody>
      </p:sp>
      <p:sp>
        <p:nvSpPr>
          <p:cNvPr id="41" name="Shape 20">
            <a:extLst>
              <a:ext uri="{FF2B5EF4-FFF2-40B4-BE49-F238E27FC236}">
                <a16:creationId xmlns:a16="http://schemas.microsoft.com/office/drawing/2014/main" id="{4504358F-A082-C1C8-3C66-C67D0925457C}"/>
              </a:ext>
            </a:extLst>
          </p:cNvPr>
          <p:cNvSpPr/>
          <p:nvPr/>
        </p:nvSpPr>
        <p:spPr>
          <a:xfrm>
            <a:off x="9038615"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43" name="Text 21">
            <a:extLst>
              <a:ext uri="{FF2B5EF4-FFF2-40B4-BE49-F238E27FC236}">
                <a16:creationId xmlns:a16="http://schemas.microsoft.com/office/drawing/2014/main" id="{C0E9110E-9460-9DC5-1478-797AFB518583}"/>
              </a:ext>
            </a:extLst>
          </p:cNvPr>
          <p:cNvSpPr/>
          <p:nvPr/>
        </p:nvSpPr>
        <p:spPr>
          <a:xfrm>
            <a:off x="9038615"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CSS-in-JS</a:t>
            </a:r>
            <a:endParaRPr lang="en-US" dirty="0"/>
          </a:p>
        </p:txBody>
      </p:sp>
      <p:sp>
        <p:nvSpPr>
          <p:cNvPr id="45" name="Text 22">
            <a:extLst>
              <a:ext uri="{FF2B5EF4-FFF2-40B4-BE49-F238E27FC236}">
                <a16:creationId xmlns:a16="http://schemas.microsoft.com/office/drawing/2014/main" id="{ACA9714D-10D4-BA1F-895D-3B55B97276AC}"/>
              </a:ext>
            </a:extLst>
          </p:cNvPr>
          <p:cNvSpPr/>
          <p:nvPr/>
        </p:nvSpPr>
        <p:spPr>
          <a:xfrm>
            <a:off x="9038615"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2016</a:t>
            </a:r>
            <a:endParaRPr lang="en-US" sz="1600" dirty="0"/>
          </a:p>
        </p:txBody>
      </p:sp>
      <p:sp>
        <p:nvSpPr>
          <p:cNvPr id="47" name="Shape 23">
            <a:extLst>
              <a:ext uri="{FF2B5EF4-FFF2-40B4-BE49-F238E27FC236}">
                <a16:creationId xmlns:a16="http://schemas.microsoft.com/office/drawing/2014/main" id="{34C644E8-CF66-9437-72C4-30C3CCBE6CE3}"/>
              </a:ext>
            </a:extLst>
          </p:cNvPr>
          <p:cNvSpPr/>
          <p:nvPr/>
        </p:nvSpPr>
        <p:spPr>
          <a:xfrm>
            <a:off x="10445991" y="2743200"/>
            <a:ext cx="1151344" cy="1371600"/>
          </a:xfrm>
          <a:prstGeom prst="roundRect">
            <a:avLst>
              <a:gd name="adj" fmla="val 9530"/>
            </a:avLst>
          </a:prstGeom>
          <a:solidFill>
            <a:srgbClr val="2C2B2B"/>
          </a:solidFill>
          <a:ln w="12700">
            <a:solidFill>
              <a:srgbClr val="75DFBC"/>
            </a:solidFill>
            <a:prstDash val="solid"/>
          </a:ln>
        </p:spPr>
        <p:txBody>
          <a:bodyPr/>
          <a:lstStyle/>
          <a:p>
            <a:endParaRPr lang="en-US" sz="2400"/>
          </a:p>
        </p:txBody>
      </p:sp>
      <p:sp>
        <p:nvSpPr>
          <p:cNvPr id="49" name="Text 24">
            <a:extLst>
              <a:ext uri="{FF2B5EF4-FFF2-40B4-BE49-F238E27FC236}">
                <a16:creationId xmlns:a16="http://schemas.microsoft.com/office/drawing/2014/main" id="{ADF8D1E7-9E75-D5F6-A9CE-19EDEA015C53}"/>
              </a:ext>
            </a:extLst>
          </p:cNvPr>
          <p:cNvSpPr/>
          <p:nvPr/>
        </p:nvSpPr>
        <p:spPr>
          <a:xfrm>
            <a:off x="10445991" y="2999232"/>
            <a:ext cx="1151344" cy="457200"/>
          </a:xfrm>
          <a:prstGeom prst="rect">
            <a:avLst/>
          </a:prstGeom>
          <a:noFill/>
          <a:ln/>
        </p:spPr>
        <p:txBody>
          <a:bodyPr wrap="square" lIns="0" tIns="0" rIns="0" bIns="0" rtlCol="0" anchor="ctr"/>
          <a:lstStyle/>
          <a:p>
            <a:pPr marL="0" indent="0" algn="ctr">
              <a:buNone/>
            </a:pPr>
            <a:r>
              <a:rPr lang="en-US" b="1" dirty="0">
                <a:solidFill>
                  <a:srgbClr val="75DFBC"/>
                </a:solidFill>
                <a:latin typeface="Arial" pitchFamily="34" charset="0"/>
                <a:ea typeface="Arial" pitchFamily="34" charset="-122"/>
                <a:cs typeface="Arial" pitchFamily="34" charset="-120"/>
              </a:rPr>
              <a:t>Tailwind</a:t>
            </a:r>
            <a:endParaRPr lang="en-US" dirty="0"/>
          </a:p>
        </p:txBody>
      </p:sp>
      <p:sp>
        <p:nvSpPr>
          <p:cNvPr id="51" name="Text 25">
            <a:extLst>
              <a:ext uri="{FF2B5EF4-FFF2-40B4-BE49-F238E27FC236}">
                <a16:creationId xmlns:a16="http://schemas.microsoft.com/office/drawing/2014/main" id="{EBD3968A-2DF8-9D6F-C207-591A5065D5AA}"/>
              </a:ext>
            </a:extLst>
          </p:cNvPr>
          <p:cNvSpPr/>
          <p:nvPr/>
        </p:nvSpPr>
        <p:spPr>
          <a:xfrm>
            <a:off x="10445991" y="3520440"/>
            <a:ext cx="1151344" cy="365760"/>
          </a:xfrm>
          <a:prstGeom prst="rect">
            <a:avLst/>
          </a:prstGeom>
          <a:noFill/>
          <a:ln/>
        </p:spPr>
        <p:txBody>
          <a:bodyPr wrap="square" lIns="0" tIns="0" rIns="0" bIns="0" rtlCol="0" anchor="ctr"/>
          <a:lstStyle/>
          <a:p>
            <a:pPr marL="0" indent="0" algn="ctr">
              <a:buNone/>
            </a:pPr>
            <a:r>
              <a:rPr lang="en-US" sz="1600" dirty="0">
                <a:solidFill>
                  <a:srgbClr val="F1CF25"/>
                </a:solidFill>
                <a:latin typeface="Courier New" pitchFamily="34" charset="0"/>
                <a:ea typeface="Courier New" pitchFamily="34" charset="-122"/>
                <a:cs typeface="Courier New" pitchFamily="34" charset="-120"/>
              </a:rPr>
              <a:t>2017→</a:t>
            </a:r>
            <a:endParaRPr lang="en-US" sz="1600" dirty="0"/>
          </a:p>
        </p:txBody>
      </p:sp>
    </p:spTree>
    <p:extLst>
      <p:ext uri="{BB962C8B-B14F-4D97-AF65-F5344CB8AC3E}">
        <p14:creationId xmlns:p14="http://schemas.microsoft.com/office/powerpoint/2010/main" val="3337599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chemeClr val="tx1">
                    <a:lumMod val="95000"/>
                    <a:lumOff val="5000"/>
                  </a:schemeClr>
                </a:solidFill>
                <a:latin typeface="Arial" pitchFamily="34" charset="0"/>
                <a:ea typeface="Arial" pitchFamily="34" charset="-122"/>
                <a:cs typeface="Arial" pitchFamily="34" charset="-120"/>
              </a:rPr>
              <a:t>The machines have voted.</a:t>
            </a:r>
            <a:endParaRPr lang="en-US" sz="4000" dirty="0">
              <a:solidFill>
                <a:schemeClr val="tx1">
                  <a:lumMod val="95000"/>
                  <a:lumOff val="5000"/>
                </a:schemeClr>
              </a:solidFill>
            </a:endParaRPr>
          </a:p>
        </p:txBody>
      </p:sp>
      <p:sp>
        <p:nvSpPr>
          <p:cNvPr id="4" name="Shape 2"/>
          <p:cNvSpPr/>
          <p:nvPr/>
        </p:nvSpPr>
        <p:spPr>
          <a:xfrm>
            <a:off x="594360"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868680"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v0</a:t>
            </a:r>
            <a:endParaRPr lang="en-US" sz="2000" dirty="0"/>
          </a:p>
        </p:txBody>
      </p:sp>
      <p:sp>
        <p:nvSpPr>
          <p:cNvPr id="6" name="Text 4"/>
          <p:cNvSpPr/>
          <p:nvPr/>
        </p:nvSpPr>
        <p:spPr>
          <a:xfrm>
            <a:off x="868680" y="3127248"/>
            <a:ext cx="290565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Vercel</a:t>
            </a:r>
            <a:endParaRPr lang="en-US" dirty="0"/>
          </a:p>
        </p:txBody>
      </p:sp>
      <p:sp>
        <p:nvSpPr>
          <p:cNvPr id="7" name="Shape 5"/>
          <p:cNvSpPr/>
          <p:nvPr/>
        </p:nvSpPr>
        <p:spPr>
          <a:xfrm>
            <a:off x="4368698"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4643018"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bolt.new</a:t>
            </a:r>
            <a:endParaRPr lang="en-US" sz="2000" dirty="0"/>
          </a:p>
        </p:txBody>
      </p:sp>
      <p:sp>
        <p:nvSpPr>
          <p:cNvPr id="9" name="Text 7"/>
          <p:cNvSpPr/>
          <p:nvPr/>
        </p:nvSpPr>
        <p:spPr>
          <a:xfrm>
            <a:off x="4643018"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StackBlitz</a:t>
            </a:r>
            <a:endParaRPr lang="en-US" sz="1600" dirty="0"/>
          </a:p>
        </p:txBody>
      </p:sp>
      <p:sp>
        <p:nvSpPr>
          <p:cNvPr id="10" name="Shape 8"/>
          <p:cNvSpPr/>
          <p:nvPr/>
        </p:nvSpPr>
        <p:spPr>
          <a:xfrm>
            <a:off x="8143037"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8417357"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Lovable</a:t>
            </a:r>
            <a:endParaRPr lang="en-US" sz="2000" dirty="0"/>
          </a:p>
        </p:txBody>
      </p:sp>
      <p:sp>
        <p:nvSpPr>
          <p:cNvPr id="12" name="Text 10"/>
          <p:cNvSpPr/>
          <p:nvPr/>
        </p:nvSpPr>
        <p:spPr>
          <a:xfrm>
            <a:off x="8417357"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full-app gen</a:t>
            </a:r>
            <a:endParaRPr lang="en-US" sz="1600" dirty="0"/>
          </a:p>
        </p:txBody>
      </p:sp>
      <p:sp>
        <p:nvSpPr>
          <p:cNvPr id="13" name="Shape 11"/>
          <p:cNvSpPr/>
          <p:nvPr/>
        </p:nvSpPr>
        <p:spPr>
          <a:xfrm>
            <a:off x="594360"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4" name="Text 12"/>
          <p:cNvSpPr/>
          <p:nvPr/>
        </p:nvSpPr>
        <p:spPr>
          <a:xfrm>
            <a:off x="868680"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Claude Artifacts</a:t>
            </a:r>
            <a:endParaRPr lang="en-US" sz="2000" dirty="0"/>
          </a:p>
        </p:txBody>
      </p:sp>
      <p:sp>
        <p:nvSpPr>
          <p:cNvPr id="15" name="Text 13"/>
          <p:cNvSpPr/>
          <p:nvPr/>
        </p:nvSpPr>
        <p:spPr>
          <a:xfrm>
            <a:off x="868680"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Anthropic</a:t>
            </a:r>
            <a:endParaRPr lang="en-US" sz="1600" dirty="0"/>
          </a:p>
        </p:txBody>
      </p:sp>
      <p:sp>
        <p:nvSpPr>
          <p:cNvPr id="16" name="Shape 14"/>
          <p:cNvSpPr/>
          <p:nvPr/>
        </p:nvSpPr>
        <p:spPr>
          <a:xfrm>
            <a:off x="4368698"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7" name="Text 15"/>
          <p:cNvSpPr/>
          <p:nvPr/>
        </p:nvSpPr>
        <p:spPr>
          <a:xfrm>
            <a:off x="4643018"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shadcn/ui</a:t>
            </a:r>
            <a:endParaRPr lang="en-US" sz="2000" dirty="0"/>
          </a:p>
        </p:txBody>
      </p:sp>
      <p:sp>
        <p:nvSpPr>
          <p:cNvPr id="18" name="Text 16"/>
          <p:cNvSpPr/>
          <p:nvPr/>
        </p:nvSpPr>
        <p:spPr>
          <a:xfrm>
            <a:off x="4643018"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default for AI tools</a:t>
            </a:r>
            <a:endParaRPr lang="en-US" sz="1600" dirty="0"/>
          </a:p>
        </p:txBody>
      </p:sp>
      <p:sp>
        <p:nvSpPr>
          <p:cNvPr id="19" name="Shape 17"/>
          <p:cNvSpPr/>
          <p:nvPr/>
        </p:nvSpPr>
        <p:spPr>
          <a:xfrm>
            <a:off x="8143037"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20" name="Text 18"/>
          <p:cNvSpPr/>
          <p:nvPr/>
        </p:nvSpPr>
        <p:spPr>
          <a:xfrm>
            <a:off x="8417357"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Cursor, Copilot</a:t>
            </a:r>
            <a:endParaRPr lang="en-US" sz="2000" dirty="0"/>
          </a:p>
        </p:txBody>
      </p:sp>
      <p:sp>
        <p:nvSpPr>
          <p:cNvPr id="21" name="Text 19"/>
          <p:cNvSpPr/>
          <p:nvPr/>
        </p:nvSpPr>
        <p:spPr>
          <a:xfrm>
            <a:off x="8417357"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lean Tailwind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142024"/>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Naming things</a:t>
            </a:r>
            <a:endParaRPr lang="en-US" sz="3400" dirty="0">
              <a:solidFill>
                <a:schemeClr val="tx1">
                  <a:lumMod val="95000"/>
                  <a:lumOff val="5000"/>
                </a:schemeClr>
              </a:solidFill>
            </a:endParaRPr>
          </a:p>
        </p:txBody>
      </p:sp>
      <p:sp>
        <p:nvSpPr>
          <p:cNvPr id="4" name="Text 2"/>
          <p:cNvSpPr/>
          <p:nvPr/>
        </p:nvSpPr>
        <p:spPr>
          <a:xfrm>
            <a:off x="6849687" y="310150"/>
            <a:ext cx="4438574" cy="1280160"/>
          </a:xfrm>
          <a:prstGeom prst="rect">
            <a:avLst/>
          </a:prstGeom>
          <a:noFill/>
          <a:ln/>
        </p:spPr>
        <p:txBody>
          <a:bodyPr wrap="square" lIns="0" tIns="0" rIns="0" bIns="0" rtlCol="0" anchor="t"/>
          <a:lstStyle/>
          <a:p>
            <a:pPr marL="0" indent="0" algn="l">
              <a:lnSpc>
                <a:spcPct val="110000"/>
              </a:lnSpc>
              <a:buNone/>
            </a:pPr>
            <a:r>
              <a:rPr lang="en-US" sz="2000" i="1" dirty="0">
                <a:solidFill>
                  <a:schemeClr val="tx1">
                    <a:lumMod val="95000"/>
                    <a:lumOff val="5000"/>
                  </a:schemeClr>
                </a:solidFill>
                <a:latin typeface="Arial" pitchFamily="34" charset="0"/>
                <a:ea typeface="Arial" pitchFamily="34" charset="-122"/>
                <a:cs typeface="Arial" pitchFamily="34" charset="-120"/>
              </a:rPr>
              <a:t>“There are only two hard things in computer science: cache invalidation and naming things.”</a:t>
            </a:r>
            <a:endParaRPr lang="en-US" sz="2000" dirty="0">
              <a:solidFill>
                <a:schemeClr val="tx1">
                  <a:lumMod val="95000"/>
                  <a:lumOff val="5000"/>
                </a:schemeClr>
              </a:solidFill>
            </a:endParaRPr>
          </a:p>
        </p:txBody>
      </p:sp>
      <p:sp>
        <p:nvSpPr>
          <p:cNvPr id="6" name="Text 4"/>
          <p:cNvSpPr/>
          <p:nvPr/>
        </p:nvSpPr>
        <p:spPr>
          <a:xfrm>
            <a:off x="609043" y="1147864"/>
            <a:ext cx="4523276" cy="5267690"/>
          </a:xfrm>
          <a:prstGeom prst="rect">
            <a:avLst/>
          </a:prstGeom>
          <a:noFill/>
          <a:ln/>
        </p:spPr>
        <p:txBody>
          <a:bodyPr wrap="square" lIns="0" tIns="0" rIns="0" bIns="0" rtlCol="0" anchor="t"/>
          <a:lstStyle/>
          <a:p>
            <a:pPr marL="342900" indent="-342900" algn="l">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Every element needs an invented, project-specific name</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Names drift: card / Card / </a:t>
            </a:r>
            <a:r>
              <a:rPr lang="en-US" sz="2400" dirty="0" err="1">
                <a:solidFill>
                  <a:schemeClr val="tx1">
                    <a:lumMod val="95000"/>
                    <a:lumOff val="5000"/>
                  </a:schemeClr>
                </a:solidFill>
                <a:latin typeface="Arial" pitchFamily="34" charset="0"/>
                <a:ea typeface="Arial" pitchFamily="34" charset="-122"/>
                <a:cs typeface="Arial" pitchFamily="34" charset="-120"/>
              </a:rPr>
              <a:t>cardWrapper</a:t>
            </a:r>
            <a:r>
              <a:rPr lang="en-US" sz="2400" dirty="0">
                <a:solidFill>
                  <a:schemeClr val="tx1">
                    <a:lumMod val="95000"/>
                    <a:lumOff val="5000"/>
                  </a:schemeClr>
                </a:solidFill>
                <a:latin typeface="Arial" pitchFamily="34" charset="0"/>
                <a:ea typeface="Arial" pitchFamily="34" charset="-122"/>
                <a:cs typeface="Arial" pitchFamily="34" charset="-120"/>
              </a:rPr>
              <a:t> / card-box</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Humans AND models invent inconsistently across a session</a:t>
            </a:r>
            <a:endParaRPr lang="en-US" sz="2400" dirty="0">
              <a:solidFill>
                <a:schemeClr val="tx1">
                  <a:lumMod val="95000"/>
                  <a:lumOff val="5000"/>
                </a:schemeClr>
              </a:solidFill>
            </a:endParaRPr>
          </a:p>
          <a:p>
            <a:pPr marL="342900" indent="-342900">
              <a:lnSpc>
                <a:spcPct val="150000"/>
              </a:lnSpc>
              <a:buFont typeface="Arial" panose="020B0604020202020204" pitchFamily="34" charset="0"/>
              <a:buChar char="•"/>
            </a:pPr>
            <a:endParaRPr lang="en-US" sz="2400" dirty="0">
              <a:solidFill>
                <a:schemeClr val="tx1">
                  <a:lumMod val="95000"/>
                  <a:lumOff val="5000"/>
                </a:schemeClr>
              </a:solidFill>
            </a:endParaRPr>
          </a:p>
          <a:p>
            <a:pPr marL="342900" indent="-342900" algn="l">
              <a:lnSpc>
                <a:spcPct val="150000"/>
              </a:lnSpc>
              <a:buFont typeface="Arial" panose="020B0604020202020204" pitchFamily="34" charset="0"/>
              <a:buChar char="•"/>
            </a:pPr>
            <a:endParaRPr lang="en-US" sz="2400" dirty="0">
              <a:solidFill>
                <a:schemeClr val="tx1">
                  <a:lumMod val="95000"/>
                  <a:lumOff val="5000"/>
                </a:schemeClr>
              </a:solidFill>
            </a:endParaRPr>
          </a:p>
        </p:txBody>
      </p:sp>
      <p:sp>
        <p:nvSpPr>
          <p:cNvPr id="8" name="Text 6"/>
          <p:cNvSpPr/>
          <p:nvPr/>
        </p:nvSpPr>
        <p:spPr>
          <a:xfrm>
            <a:off x="729756" y="2934478"/>
            <a:ext cx="3622144"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0" name="Text 8"/>
          <p:cNvSpPr/>
          <p:nvPr/>
        </p:nvSpPr>
        <p:spPr>
          <a:xfrm>
            <a:off x="729756" y="3851407"/>
            <a:ext cx="4483612"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1" name="Shape 9"/>
          <p:cNvSpPr/>
          <p:nvPr/>
        </p:nvSpPr>
        <p:spPr>
          <a:xfrm>
            <a:off x="5696841" y="1754155"/>
            <a:ext cx="6181027" cy="4344893"/>
          </a:xfrm>
          <a:prstGeom prst="roundRect">
            <a:avLst>
              <a:gd name="adj" fmla="val 2222"/>
            </a:avLst>
          </a:prstGeom>
          <a:solidFill>
            <a:srgbClr val="171717"/>
          </a:solidFill>
          <a:ln w="12700">
            <a:solidFill>
              <a:srgbClr val="3A3A3A"/>
            </a:solidFill>
            <a:prstDash val="solid"/>
          </a:ln>
        </p:spPr>
        <p:txBody>
          <a:bodyPr/>
          <a:lstStyle/>
          <a:p>
            <a:endParaRPr lang="en-US"/>
          </a:p>
        </p:txBody>
      </p:sp>
      <p:sp>
        <p:nvSpPr>
          <p:cNvPr id="15" name="Text 13"/>
          <p:cNvSpPr/>
          <p:nvPr/>
        </p:nvSpPr>
        <p:spPr>
          <a:xfrm>
            <a:off x="6481174" y="1901952"/>
            <a:ext cx="3730752" cy="292608"/>
          </a:xfrm>
          <a:prstGeom prst="rect">
            <a:avLst/>
          </a:prstGeom>
          <a:noFill/>
          <a:ln/>
        </p:spPr>
        <p:txBody>
          <a:bodyPr wrap="square" lIns="0" tIns="0" rIns="0" bIns="0" rtlCol="0" anchor="ctr"/>
          <a:lstStyle/>
          <a:p>
            <a:pPr marL="0" indent="0" algn="l">
              <a:buNone/>
            </a:pPr>
            <a:r>
              <a:rPr lang="en-US" dirty="0">
                <a:solidFill>
                  <a:schemeClr val="bg2">
                    <a:lumMod val="90000"/>
                  </a:schemeClr>
                </a:solidFill>
                <a:latin typeface="Courier New" pitchFamily="34" charset="0"/>
                <a:ea typeface="Courier New" pitchFamily="34" charset="-122"/>
                <a:cs typeface="Courier New" pitchFamily="34" charset="-120"/>
              </a:rPr>
              <a:t>styles.css</a:t>
            </a:r>
            <a:endParaRPr lang="en-US" dirty="0">
              <a:solidFill>
                <a:schemeClr val="bg2">
                  <a:lumMod val="90000"/>
                </a:schemeClr>
              </a:solidFill>
            </a:endParaRPr>
          </a:p>
        </p:txBody>
      </p:sp>
      <p:sp>
        <p:nvSpPr>
          <p:cNvPr id="16" name="Text 14"/>
          <p:cNvSpPr/>
          <p:nvPr/>
        </p:nvSpPr>
        <p:spPr>
          <a:xfrm>
            <a:off x="5927962" y="2377440"/>
            <a:ext cx="5721810" cy="3332696"/>
          </a:xfrm>
          <a:prstGeom prst="rect">
            <a:avLst/>
          </a:prstGeom>
          <a:noFill/>
          <a:ln/>
        </p:spPr>
        <p:txBody>
          <a:bodyPr wrap="square" lIns="0" tIns="0" rIns="0" bIns="0" rtlCol="0" anchor="t"/>
          <a:lstStyle/>
          <a:p>
            <a:pPr marL="0" indent="0" algn="l">
              <a:lnSpc>
                <a:spcPct val="115000"/>
              </a:lnSpc>
              <a:buNone/>
            </a:pPr>
            <a:r>
              <a:rPr lang="en-US" sz="2000" dirty="0">
                <a:solidFill>
                  <a:srgbClr val="6E6E6E"/>
                </a:solidFill>
                <a:latin typeface="Courier New" pitchFamily="34" charset="0"/>
                <a:ea typeface="Courier New" pitchFamily="34" charset="-122"/>
                <a:cs typeface="Courier New" pitchFamily="34" charset="-120"/>
              </a:rPr>
              <a:t>/* what does 'featured' even mean? */</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__header</a:t>
            </a:r>
            <a:r>
              <a:rPr lang="en-US" sz="2000" dirty="0">
                <a:solidFill>
                  <a:srgbClr val="FF6A4C"/>
                </a:solidFill>
                <a:latin typeface="Courier New" pitchFamily="34" charset="0"/>
                <a:ea typeface="Courier New" pitchFamily="34" charset="-122"/>
                <a:cs typeface="Courier New" pitchFamily="34" charset="-120"/>
              </a:rPr>
              <a:t>--featured</a:t>
            </a:r>
            <a:r>
              <a:rPr lang="en-US" sz="2000" dirty="0">
                <a:solidFill>
                  <a:srgbClr val="D8D8D8"/>
                </a:solidFill>
                <a:latin typeface="Courier New" pitchFamily="34" charset="0"/>
                <a:ea typeface="Courier New" pitchFamily="34" charset="-122"/>
                <a:cs typeface="Courier New" pitchFamily="34" charset="-120"/>
              </a:rPr>
              <a:t> {</a:t>
            </a:r>
            <a:endParaRPr lang="en-US" sz="2000" dirty="0"/>
          </a:p>
          <a:p>
            <a:pPr marL="0" indent="0" algn="l">
              <a:lnSpc>
                <a:spcPct val="115000"/>
              </a:lnSpc>
              <a:buNone/>
            </a:pPr>
            <a:r>
              <a:rPr lang="en-US" sz="2000" dirty="0">
                <a:solidFill>
                  <a:srgbClr val="9CDCFE"/>
                </a:solidFill>
                <a:latin typeface="Courier New" pitchFamily="34" charset="0"/>
                <a:ea typeface="Courier New" pitchFamily="34" charset="-122"/>
                <a:cs typeface="Courier New" pitchFamily="34" charset="-120"/>
              </a:rPr>
              <a:t>  border-color</a:t>
            </a:r>
            <a:r>
              <a:rPr lang="en-US" sz="2000" dirty="0">
                <a:solidFill>
                  <a:srgbClr val="D8D8D8"/>
                </a:solidFill>
                <a:latin typeface="Courier New" pitchFamily="34" charset="0"/>
                <a:ea typeface="Courier New" pitchFamily="34" charset="-122"/>
                <a:cs typeface="Courier New" pitchFamily="34" charset="-120"/>
              </a:rPr>
              <a:t>: </a:t>
            </a:r>
            <a:r>
              <a:rPr lang="en-US" sz="2000" dirty="0">
                <a:solidFill>
                  <a:srgbClr val="F1CF25"/>
                </a:solidFill>
                <a:latin typeface="Courier New" pitchFamily="34" charset="0"/>
                <a:ea typeface="Courier New" pitchFamily="34" charset="-122"/>
                <a:cs typeface="Courier New" pitchFamily="34" charset="-120"/>
              </a:rPr>
              <a:t>#75dfbc;</a:t>
            </a:r>
            <a:endParaRPr lang="en-US" sz="2000" dirty="0"/>
          </a:p>
          <a:p>
            <a:pPr marL="0" indent="0" algn="l">
              <a:lnSpc>
                <a:spcPct val="115000"/>
              </a:lnSpc>
              <a:buNone/>
            </a:pPr>
            <a:r>
              <a:rPr lang="en-US" sz="2000" dirty="0">
                <a:solidFill>
                  <a:srgbClr val="D8D8D8"/>
                </a:solidFill>
                <a:latin typeface="Courier New" pitchFamily="34" charset="0"/>
                <a:ea typeface="Courier New" pitchFamily="34" charset="-122"/>
                <a:cs typeface="Courier New" pitchFamily="34" charset="-120"/>
              </a:rPr>
              <a:t>}</a:t>
            </a:r>
            <a:endParaRPr lang="en-US" sz="2000" dirty="0"/>
          </a:p>
          <a:p>
            <a:pPr marL="0" indent="0" algn="l">
              <a:lnSpc>
                <a:spcPct val="115000"/>
              </a:lnSpc>
              <a:buNone/>
            </a:pP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__cta</a:t>
            </a:r>
            <a:r>
              <a:rPr lang="en-US" sz="2000" dirty="0">
                <a:solidFill>
                  <a:srgbClr val="D8D8D8"/>
                </a:solidFill>
                <a:latin typeface="Courier New" pitchFamily="34" charset="0"/>
                <a:ea typeface="Courier New" pitchFamily="34" charset="-122"/>
                <a:cs typeface="Courier New" pitchFamily="34" charset="-120"/>
              </a:rPr>
              <a:t> { … }</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__badge</a:t>
            </a:r>
            <a:r>
              <a:rPr lang="en-US" sz="2000" dirty="0">
                <a:solidFill>
                  <a:srgbClr val="D8D8D8"/>
                </a:solidFill>
                <a:latin typeface="Courier New" pitchFamily="34" charset="0"/>
                <a:ea typeface="Courier New" pitchFamily="34" charset="-122"/>
                <a:cs typeface="Courier New" pitchFamily="34" charset="-120"/>
              </a:rPr>
              <a:t> { … }</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463040"/>
          </a:xfrm>
          <a:prstGeom prst="rect">
            <a:avLst/>
          </a:prstGeom>
          <a:noFill/>
          <a:ln/>
        </p:spPr>
        <p:txBody>
          <a:bodyPr wrap="square" lIns="0" tIns="0" rIns="0" bIns="0" rtlCol="0" anchor="t"/>
          <a:lstStyle/>
          <a:p>
            <a:pPr marL="0" indent="0" algn="l">
              <a:lnSpc>
                <a:spcPct val="102000"/>
              </a:lnSpc>
              <a:buNone/>
            </a:pPr>
            <a:r>
              <a:rPr lang="en-US" sz="3000" b="1" dirty="0">
                <a:solidFill>
                  <a:schemeClr val="bg2">
                    <a:lumMod val="25000"/>
                  </a:schemeClr>
                </a:solidFill>
                <a:latin typeface="Arial" pitchFamily="34" charset="0"/>
                <a:ea typeface="Arial" pitchFamily="34" charset="-122"/>
                <a:cs typeface="Arial" pitchFamily="34" charset="-120"/>
              </a:rPr>
              <a:t>Separation of concerns</a:t>
            </a:r>
            <a:endParaRPr lang="en-US" sz="3000" dirty="0">
              <a:solidFill>
                <a:schemeClr val="bg2">
                  <a:lumMod val="25000"/>
                </a:schemeClr>
              </a:solidFill>
            </a:endParaRPr>
          </a:p>
          <a:p>
            <a:pPr marL="0" indent="0" algn="l">
              <a:lnSpc>
                <a:spcPct val="102000"/>
              </a:lnSpc>
              <a:buNone/>
            </a:pPr>
            <a:r>
              <a:rPr lang="en-US" sz="3000" b="1" dirty="0">
                <a:solidFill>
                  <a:schemeClr val="bg2">
                    <a:lumMod val="25000"/>
                  </a:schemeClr>
                </a:solidFill>
                <a:latin typeface="Arial" pitchFamily="34" charset="0"/>
                <a:ea typeface="Arial" pitchFamily="34" charset="-122"/>
                <a:cs typeface="Arial" pitchFamily="34" charset="-120"/>
              </a:rPr>
              <a:t>became separation of context</a:t>
            </a:r>
            <a:endParaRPr lang="en-US" sz="3000" dirty="0">
              <a:solidFill>
                <a:schemeClr val="bg2">
                  <a:lumMod val="25000"/>
                </a:schemeClr>
              </a:solidFill>
            </a:endParaRPr>
          </a:p>
        </p:txBody>
      </p:sp>
      <p:sp>
        <p:nvSpPr>
          <p:cNvPr id="4" name="Shape 2"/>
          <p:cNvSpPr/>
          <p:nvPr/>
        </p:nvSpPr>
        <p:spPr>
          <a:xfrm>
            <a:off x="594359"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5" name="Text 3"/>
          <p:cNvSpPr/>
          <p:nvPr/>
        </p:nvSpPr>
        <p:spPr>
          <a:xfrm>
            <a:off x="868680" y="2834640"/>
            <a:ext cx="4297680" cy="365760"/>
          </a:xfrm>
          <a:prstGeom prst="rect">
            <a:avLst/>
          </a:prstGeom>
          <a:noFill/>
          <a:ln/>
        </p:spPr>
        <p:txBody>
          <a:bodyPr wrap="square" lIns="0" tIns="0" rIns="0" bIns="0" rtlCol="0" anchor="ctr"/>
          <a:lstStyle/>
          <a:p>
            <a:pPr marL="0" indent="0" algn="l">
              <a:buNone/>
            </a:pPr>
            <a:r>
              <a:rPr lang="en-US" sz="1600" b="1" dirty="0">
                <a:solidFill>
                  <a:srgbClr val="75DFBC"/>
                </a:solidFill>
                <a:latin typeface="Courier New" pitchFamily="34" charset="0"/>
                <a:ea typeface="Courier New" pitchFamily="34" charset="-122"/>
                <a:cs typeface="Courier New" pitchFamily="34" charset="-120"/>
              </a:rPr>
              <a:t>Component.tsx</a:t>
            </a:r>
            <a:endParaRPr lang="en-US" sz="1600" dirty="0"/>
          </a:p>
        </p:txBody>
      </p:sp>
      <p:sp>
        <p:nvSpPr>
          <p:cNvPr id="6" name="Text 4"/>
          <p:cNvSpPr/>
          <p:nvPr/>
        </p:nvSpPr>
        <p:spPr>
          <a:xfrm>
            <a:off x="868680" y="3383280"/>
            <a:ext cx="4500988" cy="731520"/>
          </a:xfrm>
          <a:prstGeom prst="rect">
            <a:avLst/>
          </a:prstGeom>
          <a:noFill/>
          <a:ln/>
        </p:spPr>
        <p:txBody>
          <a:bodyPr wrap="square" lIns="0" tIns="0" rIns="0" bIns="0" rtlCol="0" anchor="t"/>
          <a:lstStyle/>
          <a:p>
            <a:pPr marL="0" indent="0" algn="l">
              <a:buNone/>
            </a:pPr>
            <a:r>
              <a:rPr lang="en-US" dirty="0">
                <a:solidFill>
                  <a:srgbClr val="D8D8D8"/>
                </a:solidFill>
                <a:latin typeface="Courier New" pitchFamily="34" charset="0"/>
                <a:ea typeface="Courier New" pitchFamily="34" charset="-122"/>
                <a:cs typeface="Courier New" pitchFamily="34" charset="-120"/>
              </a:rPr>
              <a:t>&lt;div className=</a:t>
            </a: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&gt;</a:t>
            </a:r>
            <a:endParaRPr lang="en-US" dirty="0"/>
          </a:p>
        </p:txBody>
      </p:sp>
      <p:sp>
        <p:nvSpPr>
          <p:cNvPr id="7" name="Text 5"/>
          <p:cNvSpPr/>
          <p:nvPr/>
        </p:nvSpPr>
        <p:spPr>
          <a:xfrm>
            <a:off x="5486400" y="3383280"/>
            <a:ext cx="1188720" cy="640080"/>
          </a:xfrm>
          <a:prstGeom prst="rect">
            <a:avLst/>
          </a:prstGeom>
          <a:noFill/>
          <a:ln/>
        </p:spPr>
        <p:txBody>
          <a:bodyPr wrap="square" lIns="0" tIns="0" rIns="0" bIns="0" rtlCol="0" anchor="ctr"/>
          <a:lstStyle/>
          <a:p>
            <a:pPr marL="0" indent="0" algn="ctr">
              <a:buNone/>
            </a:pPr>
            <a:r>
              <a:rPr lang="en-US" sz="3600" dirty="0">
                <a:solidFill>
                  <a:srgbClr val="000000"/>
                </a:solidFill>
                <a:latin typeface="Arial" pitchFamily="34" charset="0"/>
                <a:ea typeface="Arial" pitchFamily="34" charset="-122"/>
                <a:cs typeface="Arial" pitchFamily="34" charset="-120"/>
              </a:rPr>
              <a:t>🔗</a:t>
            </a:r>
            <a:endParaRPr lang="en-US" sz="3600" dirty="0"/>
          </a:p>
        </p:txBody>
      </p:sp>
      <p:sp>
        <p:nvSpPr>
          <p:cNvPr id="8" name="Shape 6"/>
          <p:cNvSpPr/>
          <p:nvPr/>
        </p:nvSpPr>
        <p:spPr>
          <a:xfrm>
            <a:off x="6566365"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9" name="Text 7"/>
          <p:cNvSpPr/>
          <p:nvPr/>
        </p:nvSpPr>
        <p:spPr>
          <a:xfrm>
            <a:off x="7040880" y="2834640"/>
            <a:ext cx="4297680" cy="365760"/>
          </a:xfrm>
          <a:prstGeom prst="rect">
            <a:avLst/>
          </a:prstGeom>
          <a:noFill/>
          <a:ln/>
        </p:spPr>
        <p:txBody>
          <a:bodyPr wrap="square" lIns="0" tIns="0" rIns="0" bIns="0" rtlCol="0" anchor="ctr"/>
          <a:lstStyle/>
          <a:p>
            <a:pPr marL="0" indent="0" algn="l">
              <a:buNone/>
            </a:pPr>
            <a:r>
              <a:rPr lang="en-US" sz="1600" b="1" dirty="0">
                <a:solidFill>
                  <a:srgbClr val="F1CF25"/>
                </a:solidFill>
                <a:latin typeface="Courier New" pitchFamily="34" charset="0"/>
                <a:ea typeface="Courier New" pitchFamily="34" charset="-122"/>
                <a:cs typeface="Courier New" pitchFamily="34" charset="-120"/>
              </a:rPr>
              <a:t>styles.css</a:t>
            </a:r>
            <a:endParaRPr lang="en-US" sz="1600" dirty="0"/>
          </a:p>
        </p:txBody>
      </p:sp>
      <p:sp>
        <p:nvSpPr>
          <p:cNvPr id="10" name="Text 8"/>
          <p:cNvSpPr/>
          <p:nvPr/>
        </p:nvSpPr>
        <p:spPr>
          <a:xfrm>
            <a:off x="7040880" y="3383280"/>
            <a:ext cx="4297680" cy="731520"/>
          </a:xfrm>
          <a:prstGeom prst="rect">
            <a:avLst/>
          </a:prstGeom>
          <a:noFill/>
          <a:ln/>
        </p:spPr>
        <p:txBody>
          <a:bodyPr wrap="square" lIns="0" tIns="0" rIns="0" bIns="0" rtlCol="0" anchor="t"/>
          <a:lstStyle/>
          <a:p>
            <a:pPr marL="0" indent="0" algn="l">
              <a:buNone/>
            </a:pP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 { … }</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43294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Tailwind = co-location</a:t>
            </a:r>
            <a:endParaRPr lang="en-US" sz="3400" dirty="0">
              <a:solidFill>
                <a:schemeClr val="tx1">
                  <a:lumMod val="95000"/>
                  <a:lumOff val="5000"/>
                </a:schemeClr>
              </a:solidFill>
            </a:endParaRPr>
          </a:p>
        </p:txBody>
      </p:sp>
      <p:sp>
        <p:nvSpPr>
          <p:cNvPr id="4" name="Text 2"/>
          <p:cNvSpPr/>
          <p:nvPr/>
        </p:nvSpPr>
        <p:spPr>
          <a:xfrm>
            <a:off x="594360" y="1347340"/>
            <a:ext cx="11002975" cy="457200"/>
          </a:xfrm>
          <a:prstGeom prst="rect">
            <a:avLst/>
          </a:prstGeom>
          <a:noFill/>
          <a:ln/>
        </p:spPr>
        <p:txBody>
          <a:bodyPr wrap="square" lIns="0" tIns="0" rIns="0" bIns="0" rtlCol="0" anchor="ctr"/>
          <a:lstStyle/>
          <a:p>
            <a:pPr marL="0" indent="0" algn="l">
              <a:buNone/>
            </a:pPr>
            <a:r>
              <a:rPr lang="en-US" sz="2000" dirty="0">
                <a:solidFill>
                  <a:schemeClr val="tx1">
                    <a:lumMod val="95000"/>
                    <a:lumOff val="5000"/>
                  </a:schemeClr>
                </a:solidFill>
                <a:latin typeface="Arial" pitchFamily="34" charset="0"/>
                <a:ea typeface="Arial" pitchFamily="34" charset="-122"/>
                <a:cs typeface="Arial" pitchFamily="34" charset="-120"/>
              </a:rPr>
              <a:t>Everything about the component, in one place.</a:t>
            </a:r>
            <a:endParaRPr lang="en-US" sz="2000" dirty="0">
              <a:solidFill>
                <a:schemeClr val="tx1">
                  <a:lumMod val="95000"/>
                  <a:lumOff val="5000"/>
                </a:schemeClr>
              </a:solidFill>
            </a:endParaRPr>
          </a:p>
        </p:txBody>
      </p:sp>
      <p:sp>
        <p:nvSpPr>
          <p:cNvPr id="5" name="Shape 3"/>
          <p:cNvSpPr/>
          <p:nvPr/>
        </p:nvSpPr>
        <p:spPr>
          <a:xfrm>
            <a:off x="594360" y="2033140"/>
            <a:ext cx="11002975" cy="4391920"/>
          </a:xfrm>
          <a:prstGeom prst="roundRect">
            <a:avLst>
              <a:gd name="adj" fmla="val 2759"/>
            </a:avLst>
          </a:prstGeom>
          <a:solidFill>
            <a:srgbClr val="171717"/>
          </a:solidFill>
          <a:ln w="12700">
            <a:solidFill>
              <a:srgbClr val="3A3A3A"/>
            </a:solidFill>
            <a:prstDash val="solid"/>
          </a:ln>
        </p:spPr>
        <p:txBody>
          <a:bodyPr/>
          <a:lstStyle/>
          <a:p>
            <a:endParaRPr lang="en-US" dirty="0"/>
          </a:p>
        </p:txBody>
      </p:sp>
      <p:sp>
        <p:nvSpPr>
          <p:cNvPr id="9" name="Text 7"/>
          <p:cNvSpPr/>
          <p:nvPr/>
        </p:nvSpPr>
        <p:spPr>
          <a:xfrm>
            <a:off x="1508760" y="2106292"/>
            <a:ext cx="9905695" cy="292608"/>
          </a:xfrm>
          <a:prstGeom prst="rect">
            <a:avLst/>
          </a:prstGeom>
          <a:noFill/>
          <a:ln/>
        </p:spPr>
        <p:txBody>
          <a:bodyPr wrap="square" lIns="0" tIns="0" rIns="0" bIns="0" rtlCol="0" anchor="ctr"/>
          <a:lstStyle/>
          <a:p>
            <a:pPr marL="0" indent="0" algn="l">
              <a:buNone/>
            </a:pPr>
            <a:r>
              <a:rPr lang="en-US" sz="1600" dirty="0">
                <a:solidFill>
                  <a:schemeClr val="bg1">
                    <a:lumMod val="95000"/>
                  </a:schemeClr>
                </a:solidFill>
                <a:latin typeface="Courier New" pitchFamily="34" charset="0"/>
                <a:ea typeface="Courier New" pitchFamily="34" charset="-122"/>
                <a:cs typeface="Courier New" pitchFamily="34" charset="-120"/>
              </a:rPr>
              <a:t>PricingCard.tsx (the whole component)</a:t>
            </a:r>
            <a:endParaRPr lang="en-US" sz="1600" dirty="0">
              <a:solidFill>
                <a:schemeClr val="bg1">
                  <a:lumMod val="95000"/>
                </a:schemeClr>
              </a:solidFill>
            </a:endParaRPr>
          </a:p>
        </p:txBody>
      </p:sp>
      <p:sp>
        <p:nvSpPr>
          <p:cNvPr id="10" name="Text 8"/>
          <p:cNvSpPr/>
          <p:nvPr/>
        </p:nvSpPr>
        <p:spPr>
          <a:xfrm>
            <a:off x="886968" y="2581779"/>
            <a:ext cx="10417759" cy="3595086"/>
          </a:xfrm>
          <a:prstGeom prst="rect">
            <a:avLst/>
          </a:prstGeom>
          <a:noFill/>
          <a:ln/>
        </p:spPr>
        <p:txBody>
          <a:bodyPr wrap="square" lIns="0" tIns="0" rIns="0" bIns="0" rtlCol="0" anchor="t"/>
          <a:lstStyle/>
          <a:p>
            <a:pPr marL="0" indent="0" algn="l">
              <a:lnSpc>
                <a:spcPct val="115000"/>
              </a:lnSpc>
              <a:buNone/>
            </a:pPr>
            <a:r>
              <a:rPr lang="en-US" sz="2400" dirty="0">
                <a:solidFill>
                  <a:srgbClr val="6E6E6E"/>
                </a:solidFill>
                <a:latin typeface="Courier New" pitchFamily="34" charset="0"/>
                <a:ea typeface="Courier New" pitchFamily="34" charset="-122"/>
                <a:cs typeface="Courier New" pitchFamily="34" charset="-120"/>
              </a:rPr>
              <a:t>// no CSS file. no class names. no cascade.</a:t>
            </a:r>
            <a:endParaRPr lang="en-US" sz="2400" dirty="0"/>
          </a:p>
          <a:p>
            <a:pPr marL="0" indent="0" algn="l">
              <a:lnSpc>
                <a:spcPct val="115000"/>
              </a:lnSpc>
              <a:buNone/>
            </a:pP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&lt;button</a:t>
            </a:r>
            <a:r>
              <a:rPr lang="en-US" sz="2400" dirty="0">
                <a:solidFill>
                  <a:srgbClr val="D8D8D8"/>
                </a:solidFill>
                <a:latin typeface="Courier New" pitchFamily="34" charset="0"/>
                <a:ea typeface="Courier New" pitchFamily="34" charset="-122"/>
                <a:cs typeface="Courier New" pitchFamily="34" charset="-120"/>
              </a:rPr>
              <a:t> className=</a:t>
            </a:r>
            <a:r>
              <a:rPr lang="en-US" sz="2400" dirty="0">
                <a:solidFill>
                  <a:srgbClr val="75DFBC"/>
                </a:solidFill>
                <a:latin typeface="Courier New" pitchFamily="34" charset="0"/>
                <a:ea typeface="Courier New" pitchFamily="34" charset="-122"/>
                <a:cs typeface="Courier New" pitchFamily="34" charset="-120"/>
              </a:rPr>
              <a:t>{cn(</a:t>
            </a:r>
            <a:endParaRPr lang="en-US" sz="2400" dirty="0"/>
          </a:p>
          <a:p>
            <a:pPr marL="0" indent="0" algn="l">
              <a:lnSpc>
                <a:spcPct val="115000"/>
              </a:lnSpc>
              <a:buNone/>
            </a:pPr>
            <a:r>
              <a:rPr lang="en-US" sz="2400" dirty="0">
                <a:solidFill>
                  <a:srgbClr val="F1CF25"/>
                </a:solidFill>
                <a:latin typeface="Courier New" pitchFamily="34" charset="0"/>
                <a:ea typeface="Courier New" pitchFamily="34" charset="-122"/>
                <a:cs typeface="Courier New" pitchFamily="34" charset="-120"/>
              </a:rPr>
              <a:t>  "rounded-lg px-4 py-3 font-bold"</a:t>
            </a:r>
            <a:r>
              <a:rPr lang="en-US" sz="2400" dirty="0">
                <a:solidFill>
                  <a:srgbClr val="D8D8D8"/>
                </a:solidFill>
                <a:latin typeface="Courier New" pitchFamily="34" charset="0"/>
                <a:ea typeface="Courier New" pitchFamily="34" charset="-122"/>
                <a:cs typeface="Courier New" pitchFamily="34" charset="-120"/>
              </a:rPr>
              <a:t>,</a:t>
            </a: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  featured</a:t>
            </a:r>
            <a:r>
              <a:rPr lang="en-US" sz="2400" dirty="0">
                <a:solidFill>
                  <a:srgbClr val="D8D8D8"/>
                </a:solidFill>
                <a:latin typeface="Courier New" pitchFamily="34" charset="0"/>
                <a:ea typeface="Courier New" pitchFamily="34" charset="-122"/>
                <a:cs typeface="Courier New" pitchFamily="34" charset="-120"/>
              </a:rPr>
              <a:t> &amp;&amp; </a:t>
            </a:r>
            <a:r>
              <a:rPr lang="en-US" sz="2400" dirty="0">
                <a:solidFill>
                  <a:srgbClr val="F1CF25"/>
                </a:solidFill>
                <a:latin typeface="Courier New" pitchFamily="34" charset="0"/>
                <a:ea typeface="Courier New" pitchFamily="34" charset="-122"/>
                <a:cs typeface="Courier New" pitchFamily="34" charset="-120"/>
              </a:rPr>
              <a:t>"bg-mint text-ink hover:bg-mint/80"</a:t>
            </a:r>
            <a:endParaRPr lang="en-US" sz="2400" dirty="0"/>
          </a:p>
          <a:p>
            <a:pPr marL="0" indent="0" algn="l">
              <a:lnSpc>
                <a:spcPct val="115000"/>
              </a:lnSpc>
              <a:buNone/>
            </a:pPr>
            <a:r>
              <a:rPr lang="en-US" sz="2400" dirty="0">
                <a:solidFill>
                  <a:srgbClr val="75DFBC"/>
                </a:solidFill>
                <a:latin typeface="Courier New" pitchFamily="34" charset="0"/>
                <a:ea typeface="Courier New" pitchFamily="34" charset="-122"/>
                <a:cs typeface="Courier New" pitchFamily="34" charset="-120"/>
              </a:rPr>
              <a:t>)}&gt;</a:t>
            </a:r>
            <a:endParaRPr lang="en-US" sz="2400" dirty="0"/>
          </a:p>
          <a:p>
            <a:pPr marL="0" indent="0" algn="l">
              <a:lnSpc>
                <a:spcPct val="115000"/>
              </a:lnSpc>
              <a:buNone/>
            </a:pPr>
            <a:r>
              <a:rPr lang="en-US" sz="2400" dirty="0">
                <a:solidFill>
                  <a:srgbClr val="D8D8D8"/>
                </a:solidFill>
                <a:latin typeface="Courier New" pitchFamily="34" charset="0"/>
                <a:ea typeface="Courier New" pitchFamily="34" charset="-122"/>
                <a:cs typeface="Courier New" pitchFamily="34" charset="-120"/>
              </a:rPr>
              <a:t>  Choose plan</a:t>
            </a: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&lt;/button&gt;</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2CFE6E-2D96-E374-D839-2D11AEB8B6AB}"/>
              </a:ext>
            </a:extLst>
          </p:cNvPr>
          <p:cNvPicPr>
            <a:picLocks noChangeAspect="1"/>
          </p:cNvPicPr>
          <p:nvPr/>
        </p:nvPicPr>
        <p:blipFill>
          <a:blip r:embed="rId3"/>
          <a:stretch>
            <a:fillRect/>
          </a:stretch>
        </p:blipFill>
        <p:spPr>
          <a:xfrm>
            <a:off x="7958" y="0"/>
            <a:ext cx="12184042" cy="6862481"/>
          </a:xfrm>
          <a:prstGeom prst="rect">
            <a:avLst/>
          </a:prstGeom>
        </p:spPr>
      </p:pic>
    </p:spTree>
    <p:extLst>
      <p:ext uri="{BB962C8B-B14F-4D97-AF65-F5344CB8AC3E}">
        <p14:creationId xmlns:p14="http://schemas.microsoft.com/office/powerpoint/2010/main" val="35108922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0E5BEBF-A442-4C34-7379-A29507C3EA44}"/>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37009075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6439F-C0E0-1553-6BC7-B3DFA96B0B6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E28E763-238C-BB4D-A0BB-06B244B081A1}"/>
              </a:ext>
            </a:extLst>
          </p:cNvPr>
          <p:cNvSpPr txBox="1"/>
          <p:nvPr/>
        </p:nvSpPr>
        <p:spPr>
          <a:xfrm>
            <a:off x="782053" y="902368"/>
            <a:ext cx="10744200" cy="646331"/>
          </a:xfrm>
          <a:prstGeom prst="rect">
            <a:avLst/>
          </a:prstGeom>
          <a:noFill/>
        </p:spPr>
        <p:txBody>
          <a:bodyPr wrap="square" rtlCol="0">
            <a:spAutoFit/>
          </a:bodyPr>
          <a:lstStyle/>
          <a:p>
            <a:r>
              <a:rPr lang="en-GB" sz="3600" dirty="0" err="1"/>
              <a:t>Vibecoding</a:t>
            </a:r>
            <a:r>
              <a:rPr lang="en-GB" sz="3600" dirty="0"/>
              <a:t> without design system</a:t>
            </a:r>
          </a:p>
        </p:txBody>
      </p:sp>
    </p:spTree>
    <p:extLst>
      <p:ext uri="{BB962C8B-B14F-4D97-AF65-F5344CB8AC3E}">
        <p14:creationId xmlns:p14="http://schemas.microsoft.com/office/powerpoint/2010/main" val="1734746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AE36DE5-BB33-D354-63EF-9448DC12A931}"/>
              </a:ext>
            </a:extLst>
          </p:cNvPr>
          <p:cNvPicPr>
            <a:picLocks noChangeAspect="1"/>
          </p:cNvPicPr>
          <p:nvPr/>
        </p:nvPicPr>
        <p:blipFill>
          <a:blip r:embed="rId3"/>
          <a:stretch>
            <a:fillRect/>
          </a:stretch>
        </p:blipFill>
        <p:spPr>
          <a:xfrm>
            <a:off x="0" y="156411"/>
            <a:ext cx="12107701" cy="6591068"/>
          </a:xfrm>
          <a:prstGeom prst="rect">
            <a:avLst/>
          </a:prstGeom>
        </p:spPr>
      </p:pic>
    </p:spTree>
    <p:extLst>
      <p:ext uri="{BB962C8B-B14F-4D97-AF65-F5344CB8AC3E}">
        <p14:creationId xmlns:p14="http://schemas.microsoft.com/office/powerpoint/2010/main" val="34805980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1C8D49-AEF8-2514-AAF0-8B3DE0AC8F6C}"/>
              </a:ext>
            </a:extLst>
          </p:cNvPr>
          <p:cNvPicPr>
            <a:picLocks noChangeAspect="1"/>
          </p:cNvPicPr>
          <p:nvPr/>
        </p:nvPicPr>
        <p:blipFill>
          <a:blip r:embed="rId3"/>
          <a:stretch>
            <a:fillRect/>
          </a:stretch>
        </p:blipFill>
        <p:spPr>
          <a:xfrm>
            <a:off x="105885" y="0"/>
            <a:ext cx="11980230" cy="6858000"/>
          </a:xfrm>
          <a:prstGeom prst="rect">
            <a:avLst/>
          </a:prstGeom>
        </p:spPr>
      </p:pic>
    </p:spTree>
    <p:extLst>
      <p:ext uri="{BB962C8B-B14F-4D97-AF65-F5344CB8AC3E}">
        <p14:creationId xmlns:p14="http://schemas.microsoft.com/office/powerpoint/2010/main" val="9073588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D079E95-6CF3-4A50-DF05-2608ADCE957C}"/>
              </a:ext>
            </a:extLst>
          </p:cNvPr>
          <p:cNvPicPr>
            <a:picLocks noChangeAspect="1"/>
          </p:cNvPicPr>
          <p:nvPr/>
        </p:nvPicPr>
        <p:blipFill>
          <a:blip r:embed="rId3"/>
          <a:stretch>
            <a:fillRect/>
          </a:stretch>
        </p:blipFill>
        <p:spPr>
          <a:xfrm>
            <a:off x="0" y="87570"/>
            <a:ext cx="12192000" cy="6682859"/>
          </a:xfrm>
          <a:prstGeom prst="rect">
            <a:avLst/>
          </a:prstGeom>
        </p:spPr>
      </p:pic>
    </p:spTree>
    <p:extLst>
      <p:ext uri="{BB962C8B-B14F-4D97-AF65-F5344CB8AC3E}">
        <p14:creationId xmlns:p14="http://schemas.microsoft.com/office/powerpoint/2010/main" val="2604705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AE22681-241E-6398-9AC4-3A51D8C10E6E}"/>
              </a:ext>
            </a:extLst>
          </p:cNvPr>
          <p:cNvPicPr>
            <a:picLocks noChangeAspect="1"/>
          </p:cNvPicPr>
          <p:nvPr/>
        </p:nvPicPr>
        <p:blipFill>
          <a:blip r:embed="rId3"/>
          <a:stretch>
            <a:fillRect/>
          </a:stretch>
        </p:blipFill>
        <p:spPr>
          <a:xfrm>
            <a:off x="0" y="-2188"/>
            <a:ext cx="12192000" cy="6862376"/>
          </a:xfrm>
          <a:prstGeom prst="rect">
            <a:avLst/>
          </a:prstGeom>
        </p:spPr>
      </p:pic>
    </p:spTree>
    <p:extLst>
      <p:ext uri="{BB962C8B-B14F-4D97-AF65-F5344CB8AC3E}">
        <p14:creationId xmlns:p14="http://schemas.microsoft.com/office/powerpoint/2010/main" val="13465355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032D8FB-4F60-4AF4-158D-962AEC147F0A}"/>
              </a:ext>
            </a:extLst>
          </p:cNvPr>
          <p:cNvPicPr>
            <a:picLocks noChangeAspect="1"/>
          </p:cNvPicPr>
          <p:nvPr/>
        </p:nvPicPr>
        <p:blipFill>
          <a:blip r:embed="rId3"/>
          <a:stretch>
            <a:fillRect/>
          </a:stretch>
        </p:blipFill>
        <p:spPr>
          <a:xfrm>
            <a:off x="117880" y="0"/>
            <a:ext cx="11956239" cy="6858000"/>
          </a:xfrm>
          <a:prstGeom prst="rect">
            <a:avLst/>
          </a:prstGeom>
        </p:spPr>
      </p:pic>
    </p:spTree>
    <p:extLst>
      <p:ext uri="{BB962C8B-B14F-4D97-AF65-F5344CB8AC3E}">
        <p14:creationId xmlns:p14="http://schemas.microsoft.com/office/powerpoint/2010/main" val="6373069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512FB9-33C7-FDEF-7973-3F9D98ADB3D4}"/>
              </a:ext>
            </a:extLst>
          </p:cNvPr>
          <p:cNvPicPr>
            <a:picLocks noChangeAspect="1"/>
          </p:cNvPicPr>
          <p:nvPr/>
        </p:nvPicPr>
        <p:blipFill>
          <a:blip r:embed="rId3"/>
          <a:stretch>
            <a:fillRect/>
          </a:stretch>
        </p:blipFill>
        <p:spPr>
          <a:xfrm>
            <a:off x="2833" y="0"/>
            <a:ext cx="12186334" cy="6858000"/>
          </a:xfrm>
          <a:prstGeom prst="rect">
            <a:avLst/>
          </a:prstGeom>
        </p:spPr>
      </p:pic>
    </p:spTree>
    <p:extLst>
      <p:ext uri="{BB962C8B-B14F-4D97-AF65-F5344CB8AC3E}">
        <p14:creationId xmlns:p14="http://schemas.microsoft.com/office/powerpoint/2010/main" val="30560165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F8CF84-E836-6661-06CC-0231A3914E6F}"/>
              </a:ext>
            </a:extLst>
          </p:cNvPr>
          <p:cNvPicPr>
            <a:picLocks noChangeAspect="1"/>
          </p:cNvPicPr>
          <p:nvPr/>
        </p:nvPicPr>
        <p:blipFill>
          <a:blip r:embed="rId3"/>
          <a:stretch>
            <a:fillRect/>
          </a:stretch>
        </p:blipFill>
        <p:spPr>
          <a:xfrm>
            <a:off x="0" y="0"/>
            <a:ext cx="12176086" cy="6858000"/>
          </a:xfrm>
          <a:prstGeom prst="rect">
            <a:avLst/>
          </a:prstGeom>
        </p:spPr>
      </p:pic>
    </p:spTree>
    <p:extLst>
      <p:ext uri="{BB962C8B-B14F-4D97-AF65-F5344CB8AC3E}">
        <p14:creationId xmlns:p14="http://schemas.microsoft.com/office/powerpoint/2010/main" val="18571711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7C662D4-81AB-FBA5-45A0-517D98F31995}"/>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4899086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5D137A-3031-1D81-D4B4-006CDC262D66}"/>
              </a:ext>
            </a:extLst>
          </p:cNvPr>
          <p:cNvSpPr txBox="1"/>
          <p:nvPr/>
        </p:nvSpPr>
        <p:spPr>
          <a:xfrm>
            <a:off x="782053" y="902368"/>
            <a:ext cx="10744200" cy="646331"/>
          </a:xfrm>
          <a:prstGeom prst="rect">
            <a:avLst/>
          </a:prstGeom>
          <a:noFill/>
        </p:spPr>
        <p:txBody>
          <a:bodyPr wrap="square" rtlCol="0">
            <a:spAutoFit/>
          </a:bodyPr>
          <a:lstStyle/>
          <a:p>
            <a:r>
              <a:rPr lang="en-GB" sz="3600" dirty="0"/>
              <a:t>Why coding models love </a:t>
            </a:r>
            <a:r>
              <a:rPr lang="en-GB" sz="3600" dirty="0" err="1"/>
              <a:t>TailwindCSS</a:t>
            </a:r>
            <a:r>
              <a:rPr lang="en-GB" sz="3600" dirty="0"/>
              <a:t> and Shad-</a:t>
            </a:r>
            <a:r>
              <a:rPr lang="en-GB" sz="3600" dirty="0" err="1"/>
              <a:t>cn</a:t>
            </a:r>
            <a:r>
              <a:rPr lang="en-GB" sz="3600" dirty="0"/>
              <a:t>?</a:t>
            </a:r>
          </a:p>
        </p:txBody>
      </p:sp>
    </p:spTree>
    <p:extLst>
      <p:ext uri="{BB962C8B-B14F-4D97-AF65-F5344CB8AC3E}">
        <p14:creationId xmlns:p14="http://schemas.microsoft.com/office/powerpoint/2010/main" val="17682992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2AE848A-25C4-8311-2069-02E7DECB339D}"/>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6438162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290B4-C7A0-0A6E-87CD-25321C23A6A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D7A7AA4-B48F-70CD-1365-ECA09787C432}"/>
              </a:ext>
            </a:extLst>
          </p:cNvPr>
          <p:cNvSpPr txBox="1"/>
          <p:nvPr/>
        </p:nvSpPr>
        <p:spPr>
          <a:xfrm>
            <a:off x="782053" y="902368"/>
            <a:ext cx="10744200" cy="1200329"/>
          </a:xfrm>
          <a:prstGeom prst="rect">
            <a:avLst/>
          </a:prstGeom>
          <a:noFill/>
        </p:spPr>
        <p:txBody>
          <a:bodyPr wrap="square" rtlCol="0">
            <a:spAutoFit/>
          </a:bodyPr>
          <a:lstStyle/>
          <a:p>
            <a:r>
              <a:rPr lang="en-GB" sz="3600" dirty="0"/>
              <a:t>Why coding models love JavaScript and TypeScript libraries and frameworks?</a:t>
            </a:r>
          </a:p>
        </p:txBody>
      </p:sp>
    </p:spTree>
    <p:extLst>
      <p:ext uri="{BB962C8B-B14F-4D97-AF65-F5344CB8AC3E}">
        <p14:creationId xmlns:p14="http://schemas.microsoft.com/office/powerpoint/2010/main" val="38246790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ACC80DE-7755-5061-1741-249B3F9177FA}"/>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7646037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35FF5-FB37-6F4D-2E22-4A232A5ED8F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6AB1FD6-8748-0CBA-C1EA-F512936A2ADC}"/>
              </a:ext>
            </a:extLst>
          </p:cNvPr>
          <p:cNvSpPr txBox="1"/>
          <p:nvPr/>
        </p:nvSpPr>
        <p:spPr>
          <a:xfrm>
            <a:off x="782053" y="902368"/>
            <a:ext cx="10744200" cy="1200329"/>
          </a:xfrm>
          <a:prstGeom prst="rect">
            <a:avLst/>
          </a:prstGeom>
          <a:noFill/>
        </p:spPr>
        <p:txBody>
          <a:bodyPr wrap="square" rtlCol="0">
            <a:spAutoFit/>
          </a:bodyPr>
          <a:lstStyle/>
          <a:p>
            <a:r>
              <a:rPr lang="en-GB" sz="3600" dirty="0"/>
              <a:t>What to do if you want to use a newly release framework?</a:t>
            </a:r>
          </a:p>
        </p:txBody>
      </p:sp>
    </p:spTree>
    <p:extLst>
      <p:ext uri="{BB962C8B-B14F-4D97-AF65-F5344CB8AC3E}">
        <p14:creationId xmlns:p14="http://schemas.microsoft.com/office/powerpoint/2010/main" val="24218599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DAED699-1E71-1EF9-795A-E643C671B25F}"/>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22621386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b="1" dirty="0">
                <a:solidFill>
                  <a:schemeClr val="tx1">
                    <a:lumMod val="95000"/>
                    <a:lumOff val="5000"/>
                  </a:schemeClr>
                </a:solidFill>
              </a:rPr>
              <a:t>Knowledge atrophy </a:t>
            </a:r>
            <a:r>
              <a:rPr lang="en-GB" sz="2800"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7160"/>
            <a:ext cx="12191650" cy="672084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54D12-4E9A-71CB-5C67-19EDAFF6C7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E8910F-9301-47EA-017F-9BDA2A325682}"/>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1">
                    <a:lumMod val="95000"/>
                    <a:lumOff val="5000"/>
                  </a:schemeClr>
                </a:solidFill>
              </a:rPr>
              <a:t>Thank you!</a:t>
            </a:r>
          </a:p>
          <a:p>
            <a:pPr algn="ctr"/>
            <a:endParaRPr lang="en-US" sz="4000" dirty="0">
              <a:solidFill>
                <a:schemeClr val="tx1">
                  <a:lumMod val="95000"/>
                  <a:lumOff val="5000"/>
                </a:schemeClr>
              </a:solidFill>
            </a:endParaRPr>
          </a:p>
          <a:p>
            <a:pPr algn="ctr"/>
            <a:r>
              <a:rPr lang="en-US" sz="4000" dirty="0">
                <a:solidFill>
                  <a:schemeClr val="tx1">
                    <a:lumMod val="95000"/>
                    <a:lumOff val="5000"/>
                  </a:schemeClr>
                </a:solidFill>
              </a:rPr>
              <a:t>@DevlinDuldulao</a:t>
            </a:r>
          </a:p>
        </p:txBody>
      </p:sp>
      <p:sp>
        <p:nvSpPr>
          <p:cNvPr id="3" name="TextBox 2">
            <a:extLst>
              <a:ext uri="{FF2B5EF4-FFF2-40B4-BE49-F238E27FC236}">
                <a16:creationId xmlns:a16="http://schemas.microsoft.com/office/drawing/2014/main" id="{3A45CE5F-A1C0-EBE2-5D6A-C4DF7A99D10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1">
                    <a:lumMod val="95000"/>
                    <a:lumOff val="5000"/>
                  </a:schemeClr>
                </a:solidFill>
                <a:latin typeface="Brush Script MT" panose="03060802040406070304" pitchFamily="66" charset="0"/>
              </a:rPr>
              <a:t>Social Links</a:t>
            </a:r>
          </a:p>
        </p:txBody>
      </p:sp>
      <p:pic>
        <p:nvPicPr>
          <p:cNvPr id="4" name="Picture 3">
            <a:extLst>
              <a:ext uri="{FF2B5EF4-FFF2-40B4-BE49-F238E27FC236}">
                <a16:creationId xmlns:a16="http://schemas.microsoft.com/office/drawing/2014/main" id="{61B6DF07-7C49-CE6F-718A-1E7FE35848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3939952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2">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2">
                                            <p:txEl>
                                              <p:pRg st="0" end="0"/>
                                            </p:txEl>
                                          </p:spTgt>
                                        </p:tgtEl>
                                        <p:attrNameLst>
                                          <p:attrName>ppt_w</p:attrName>
                                        </p:attrNameLst>
                                      </p:cBhvr>
                                    </p:anim>
                                    <p:anim by="(#ppt_w*0.50)" calcmode="lin" valueType="num">
                                      <p:cBhvr>
                                        <p:cTn id="8" dur="500" decel="50000" autoRev="1" fill="hold">
                                          <p:stCondLst>
                                            <p:cond delay="0"/>
                                          </p:stCondLst>
                                        </p:cTn>
                                        <p:tgtEl>
                                          <p:spTgt spid="2">
                                            <p:txEl>
                                              <p:pRg st="0" end="0"/>
                                            </p:txEl>
                                          </p:spTgt>
                                        </p:tgtEl>
                                        <p:attrNameLst>
                                          <p:attrName>ppt_x</p:attrName>
                                        </p:attrNameLst>
                                      </p:cBhvr>
                                    </p:anim>
                                    <p:anim from="(-#ppt_h/2)" to="(#ppt_y)" calcmode="lin" valueType="num">
                                      <p:cBhvr>
                                        <p:cTn id="9" dur="1000" fill="hold">
                                          <p:stCondLst>
                                            <p:cond delay="0"/>
                                          </p:stCondLst>
                                        </p:cTn>
                                        <p:tgtEl>
                                          <p:spTgt spid="2">
                                            <p:txEl>
                                              <p:pRg st="0" end="0"/>
                                            </p:txEl>
                                          </p:spTgt>
                                        </p:tgtEl>
                                        <p:attrNameLst>
                                          <p:attrName>ppt_y</p:attrName>
                                        </p:attrNameLst>
                                      </p:cBhvr>
                                    </p:anim>
                                    <p:animRot by="21600000">
                                      <p:cBhvr>
                                        <p:cTn id="10" dur="1000" fill="hold">
                                          <p:stCondLst>
                                            <p:cond delay="0"/>
                                          </p:stCondLst>
                                        </p:cTn>
                                        <p:tgtEl>
                                          <p:spTgt spid="2">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2">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2">
                                            <p:txEl>
                                              <p:pRg st="2" end="2"/>
                                            </p:txEl>
                                          </p:spTgt>
                                        </p:tgtEl>
                                        <p:attrNameLst>
                                          <p:attrName>ppt_w</p:attrName>
                                        </p:attrNameLst>
                                      </p:cBhvr>
                                    </p:anim>
                                    <p:anim by="(#ppt_w*0.50)" calcmode="lin" valueType="num">
                                      <p:cBhvr>
                                        <p:cTn id="16" dur="500" decel="50000" autoRev="1" fill="hold">
                                          <p:stCondLst>
                                            <p:cond delay="0"/>
                                          </p:stCondLst>
                                        </p:cTn>
                                        <p:tgtEl>
                                          <p:spTgt spid="2">
                                            <p:txEl>
                                              <p:pRg st="2" end="2"/>
                                            </p:txEl>
                                          </p:spTgt>
                                        </p:tgtEl>
                                        <p:attrNameLst>
                                          <p:attrName>ppt_x</p:attrName>
                                        </p:attrNameLst>
                                      </p:cBhvr>
                                    </p:anim>
                                    <p:anim from="(-#ppt_h/2)" to="(#ppt_y)" calcmode="lin" valueType="num">
                                      <p:cBhvr>
                                        <p:cTn id="17" dur="1000" fill="hold">
                                          <p:stCondLst>
                                            <p:cond delay="0"/>
                                          </p:stCondLst>
                                        </p:cTn>
                                        <p:tgtEl>
                                          <p:spTgt spid="2">
                                            <p:txEl>
                                              <p:pRg st="2" end="2"/>
                                            </p:txEl>
                                          </p:spTgt>
                                        </p:tgtEl>
                                        <p:attrNameLst>
                                          <p:attrName>ppt_y</p:attrName>
                                        </p:attrNameLst>
                                      </p:cBhvr>
                                    </p:anim>
                                    <p:animRot by="21600000">
                                      <p:cBhvr>
                                        <p:cTn id="18" dur="1000" fill="hold">
                                          <p:stCondLst>
                                            <p:cond delay="0"/>
                                          </p:stCondLst>
                                        </p:cTn>
                                        <p:tgtEl>
                                          <p:spTgt spid="2">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646</TotalTime>
  <Words>2178</Words>
  <Application>Microsoft Office PowerPoint</Application>
  <PresentationFormat>Widescreen</PresentationFormat>
  <Paragraphs>166</Paragraphs>
  <Slides>30</Slides>
  <Notes>30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Aptos</vt:lpstr>
      <vt:lpstr>Arial</vt:lpstr>
      <vt:lpstr>Brush Script MT</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LLMs &amp; JS frameworks love Tailwind CSS</dc:title>
  <dc:subject>PptxGenJS Presentation</dc:subject>
  <dc:creator>Devlin Duldulao</dc:creator>
  <cp:lastModifiedBy>Duldulao, Devlin (DNV External)</cp:lastModifiedBy>
  <cp:revision>146</cp:revision>
  <dcterms:created xsi:type="dcterms:W3CDTF">2026-07-14T15:54:22Z</dcterms:created>
  <dcterms:modified xsi:type="dcterms:W3CDTF">2026-09-03T19:31:37Z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78c0f71-65dc-41d1-a799-91080a268621_Enabled">
    <vt:lpwstr>true</vt:lpwstr>
  </property>
  <property fmtid="{D5CDD505-2E9C-101B-9397-08002B2CF9AE}" pid="3" name="MSIP_Label_178c0f71-65dc-41d1-a799-91080a268621_SetDate">
    <vt:lpwstr>2026-07-14T16:34:20Z</vt:lpwstr>
  </property>
  <property fmtid="{D5CDD505-2E9C-101B-9397-08002B2CF9AE}" pid="4" name="MSIP_Label_178c0f71-65dc-41d1-a799-91080a268621_Method">
    <vt:lpwstr>Standard</vt:lpwstr>
  </property>
  <property fmtid="{D5CDD505-2E9C-101B-9397-08002B2CF9AE}" pid="5" name="MSIP_Label_178c0f71-65dc-41d1-a799-91080a268621_Name">
    <vt:lpwstr>Internal - Crayon Group Only</vt:lpwstr>
  </property>
  <property fmtid="{D5CDD505-2E9C-101B-9397-08002B2CF9AE}" pid="6" name="MSIP_Label_178c0f71-65dc-41d1-a799-91080a268621_SiteId">
    <vt:lpwstr>8f47ad71-44ca-48bf-afe3-56b9360a4495</vt:lpwstr>
  </property>
  <property fmtid="{D5CDD505-2E9C-101B-9397-08002B2CF9AE}" pid="7" name="MSIP_Label_178c0f71-65dc-41d1-a799-91080a268621_ActionId">
    <vt:lpwstr>005b6897-af3e-4122-9270-827420e2aab7</vt:lpwstr>
  </property>
  <property fmtid="{D5CDD505-2E9C-101B-9397-08002B2CF9AE}" pid="8" name="MSIP_Label_178c0f71-65dc-41d1-a799-91080a268621_ContentBits">
    <vt:lpwstr>2</vt:lpwstr>
  </property>
  <property fmtid="{D5CDD505-2E9C-101B-9397-08002B2CF9AE}" pid="9" name="MSIP_Label_178c0f71-65dc-41d1-a799-91080a268621_Tag">
    <vt:lpwstr>50, 3, 0, 1</vt:lpwstr>
  </property>
  <property fmtid="{D5CDD505-2E9C-101B-9397-08002B2CF9AE}" pid="10" name="ClassificationContentMarkingFooterLocations">
    <vt:lpwstr>Office Theme:3</vt:lpwstr>
  </property>
  <property fmtid="{D5CDD505-2E9C-101B-9397-08002B2CF9AE}" pid="11" name="ClassificationContentMarkingFooterText">
    <vt:lpwstr>Internal Only</vt:lpwstr>
  </property>
  <property fmtid="{D5CDD505-2E9C-101B-9397-08002B2CF9AE}" pid="12" name="DocumentInfoFinished">
    <vt:lpwstr>True</vt:lpwstr>
  </property>
</Properties>
</file>
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316" r:id="rId2"/>
    <p:sldId id="317" r:id="rId3"/>
    <p:sldId id="318" r:id="rId4"/>
    <p:sldId id="256" r:id="rId5"/>
    <p:sldId id="301" r:id="rId6"/>
    <p:sldId id="300" r:id="rId7"/>
    <p:sldId id="319" r:id="rId8"/>
    <p:sldId id="261" r:id="rId9"/>
    <p:sldId id="263" r:id="rId10"/>
    <p:sldId id="265" r:id="rId11"/>
    <p:sldId id="266" r:id="rId12"/>
    <p:sldId id="320" r:id="rId13"/>
    <p:sldId id="321" r:id="rId14"/>
    <p:sldId id="340" r:id="rId15"/>
    <p:sldId id="334" r:id="rId16"/>
    <p:sldId id="328" r:id="rId17"/>
    <p:sldId id="336" r:id="rId18"/>
    <p:sldId id="330" r:id="rId19"/>
    <p:sldId id="337" r:id="rId20"/>
    <p:sldId id="329" r:id="rId21"/>
    <p:sldId id="339" r:id="rId22"/>
    <p:sldId id="335" r:id="rId23"/>
    <p:sldId id="322" r:id="rId24"/>
    <p:sldId id="323" r:id="rId25"/>
    <p:sldId id="331" r:id="rId26"/>
    <p:sldId id="324" r:id="rId27"/>
    <p:sldId id="332" r:id="rId28"/>
    <p:sldId id="325" r:id="rId29"/>
    <p:sldId id="333" r:id="rId30"/>
    <p:sldId id="326" r:id="rId31"/>
    <p:sldId id="314" r:id="rId32"/>
    <p:sldId id="310" r:id="rId33"/>
    <p:sldId id="315" r:id="rId3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28" autoAdjust="0"/>
    <p:restoredTop sz="50177" autoAdjust="0"/>
  </p:normalViewPr>
  <p:slideViewPr>
    <p:cSldViewPr snapToGrid="0" snapToObjects="1">
      <p:cViewPr varScale="1">
        <p:scale>
          <a:sx n="71" d="100"/>
          <a:sy n="71" d="100"/>
        </p:scale>
        <p:origin x="1920" y="176"/>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6635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Hello everyone. I want to start with a question.</a:t>
            </a:r>
          </a:p>
          <a:p>
            <a:r>
              <a:rPr lang="en-US" dirty="0"/>
              <a:t>How many CSS developers does it take to change a lightbulb?</a:t>
            </a:r>
          </a:p>
          <a:p>
            <a:endParaRPr lang="en-GB" dirty="0"/>
          </a:p>
        </p:txBody>
      </p:sp>
    </p:spTree>
    <p:extLst>
      <p:ext uri="{BB962C8B-B14F-4D97-AF65-F5344CB8AC3E}">
        <p14:creationId xmlns:p14="http://schemas.microsoft.com/office/powerpoint/2010/main" val="32073526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None. They change everything around it and hope it cascades.</a:t>
            </a:r>
          </a:p>
        </p:txBody>
      </p:sp>
    </p:spTree>
    <p:extLst>
      <p:ext uri="{BB962C8B-B14F-4D97-AF65-F5344CB8AC3E}">
        <p14:creationId xmlns:p14="http://schemas.microsoft.com/office/powerpoint/2010/main" val="15193936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GB" dirty="0"/>
          </a:p>
        </p:txBody>
      </p:sp>
    </p:spTree>
    <p:extLst>
      <p:ext uri="{BB962C8B-B14F-4D97-AF65-F5344CB8AC3E}">
        <p14:creationId xmlns:p14="http://schemas.microsoft.com/office/powerpoint/2010/main" val="2326254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5425" y="1524000"/>
            <a:ext cx="7308850" cy="4113213"/>
          </a:xfrm>
          <a:prstGeom prst="rect">
            <a:avLst/>
          </a:prstGeom>
          <a:noFill/>
          <a:ln w="12700">
            <a:solidFill>
              <a:prstClr val="black"/>
            </a:solidFill>
          </a:ln>
        </p:spPr>
      </p:sp>
      <p:sp>
        <p:nvSpPr>
          <p:cNvPr id="3" name="Notes Placeholder 2"/>
          <p:cNvSpPr>
            <a:spLocks noGrp="1"/>
          </p:cNvSpPr>
          <p:nvPr>
            <p:ph type="body" idx="1"/>
          </p:nvPr>
        </p:nvSpPr>
        <p:spPr>
          <a:xfrm>
            <a:off x="685800" y="5865813"/>
            <a:ext cx="5486400" cy="4799012"/>
          </a:xfrm>
          <a:prstGeom prst="rect">
            <a:avLst/>
          </a:prstGeom>
        </p:spPr>
        <p:txBody>
          <a:bodyPr/>
          <a:lstStyle/>
          <a:p>
            <a:endParaRPr lang="en-GB" dirty="0"/>
          </a:p>
        </p:txBody>
      </p:sp>
    </p:spTree>
    <p:extLst>
      <p:ext uri="{BB962C8B-B14F-4D97-AF65-F5344CB8AC3E}">
        <p14:creationId xmlns:p14="http://schemas.microsoft.com/office/powerpoint/2010/main" val="29681038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5425" y="1524000"/>
            <a:ext cx="7308850" cy="4113213"/>
          </a:xfrm>
          <a:prstGeom prst="rect">
            <a:avLst/>
          </a:prstGeom>
          <a:noFill/>
          <a:ln w="12700">
            <a:solidFill>
              <a:prstClr val="black"/>
            </a:solidFill>
          </a:ln>
        </p:spPr>
      </p:sp>
      <p:sp>
        <p:nvSpPr>
          <p:cNvPr id="3" name="Notes Placeholder 2"/>
          <p:cNvSpPr>
            <a:spLocks noGrp="1"/>
          </p:cNvSpPr>
          <p:nvPr>
            <p:ph type="body" idx="1"/>
          </p:nvPr>
        </p:nvSpPr>
        <p:spPr>
          <a:xfrm>
            <a:off x="685800" y="5865813"/>
            <a:ext cx="5486400" cy="4799012"/>
          </a:xfrm>
          <a:prstGeom prst="rect">
            <a:avLst/>
          </a:prstGeom>
        </p:spPr>
        <p:txBody>
          <a:bodyPr/>
          <a:lstStyle/>
          <a:p>
            <a:endParaRPr lang="en-GB" dirty="0"/>
          </a:p>
        </p:txBody>
      </p:sp>
    </p:spTree>
    <p:extLst>
      <p:ext uri="{BB962C8B-B14F-4D97-AF65-F5344CB8AC3E}">
        <p14:creationId xmlns:p14="http://schemas.microsoft.com/office/powerpoint/2010/main" val="38420750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For fifteen years, frontend developers fought methodology wars.</a:t>
            </a:r>
          </a:p>
          <a:p>
            <a:endParaRPr lang="en-US" dirty="0"/>
          </a:p>
          <a:p>
            <a:r>
              <a:rPr lang="en-US" dirty="0"/>
              <a:t>Vanilla CSS in 2005. </a:t>
            </a:r>
          </a:p>
          <a:p>
            <a:endParaRPr lang="en-US" dirty="0"/>
          </a:p>
          <a:p>
            <a:r>
              <a:rPr lang="en-US" dirty="0"/>
              <a:t>Then OOCSS in 2009, object-oriented CSS, which said reuse objects, not pages. </a:t>
            </a:r>
          </a:p>
          <a:p>
            <a:endParaRPr lang="en-US" dirty="0"/>
          </a:p>
          <a:p>
            <a:r>
              <a:rPr lang="en-US" dirty="0"/>
              <a:t>BEM in 2010, block element modifier, which tried to make naming systematic. </a:t>
            </a:r>
          </a:p>
          <a:p>
            <a:endParaRPr lang="en-US" dirty="0"/>
          </a:p>
          <a:p>
            <a:r>
              <a:rPr lang="en-US" dirty="0"/>
              <a:t>SMACSS in 2011, scalable and modular architecture. </a:t>
            </a:r>
          </a:p>
          <a:p>
            <a:endParaRPr lang="en-US" dirty="0"/>
          </a:p>
          <a:p>
            <a:r>
              <a:rPr lang="en-US" dirty="0"/>
              <a:t>Atomic CSS in 2013. </a:t>
            </a:r>
          </a:p>
          <a:p>
            <a:endParaRPr lang="en-US" dirty="0"/>
          </a:p>
          <a:p>
            <a:r>
              <a:rPr lang="en-US" dirty="0"/>
              <a:t>CSS Modules in 2015, which scoped names to a file. </a:t>
            </a:r>
          </a:p>
          <a:p>
            <a:endParaRPr lang="en-US" dirty="0"/>
          </a:p>
          <a:p>
            <a:r>
              <a:rPr lang="en-US" dirty="0"/>
              <a:t>CSS in JS in 2016, which put styles back into JavaScript. </a:t>
            </a:r>
          </a:p>
          <a:p>
            <a:endParaRPr lang="en-US" dirty="0"/>
          </a:p>
          <a:p>
            <a:r>
              <a:rPr lang="en-US" dirty="0"/>
              <a:t>Then Tailwind, from 2017 on.</a:t>
            </a:r>
          </a:p>
          <a:p>
            <a:endParaRPr lang="en-US" dirty="0"/>
          </a:p>
          <a:p>
            <a:endParaRPr lang="en-US" dirty="0"/>
          </a:p>
          <a:p>
            <a:r>
              <a:rPr lang="en-US" dirty="0"/>
              <a:t>Every one of these tried to answer the same two questions. Where do styles live? And what do we name them? That is the whole war. Location, and naming.</a:t>
            </a:r>
          </a:p>
          <a:p>
            <a:endParaRPr lang="en-US" dirty="0"/>
          </a:p>
          <a:p>
            <a:r>
              <a:rPr lang="en-US" dirty="0"/>
              <a:t>Most of these methodologies answered those questions with more rules. More naming conventions. More files. More process. </a:t>
            </a:r>
          </a:p>
          <a:p>
            <a:r>
              <a:rPr lang="en-US" dirty="0"/>
              <a:t>Tailwind is interesting because it mostly deletes those questions instead of answering them better. You stop inventing names. You stop splitting the look into another file.</a:t>
            </a:r>
          </a:p>
          <a:p>
            <a:endParaRPr lang="en-US" dirty="0"/>
          </a:p>
        </p:txBody>
      </p:sp>
    </p:spTree>
    <p:extLst>
      <p:ext uri="{BB962C8B-B14F-4D97-AF65-F5344CB8AC3E}">
        <p14:creationId xmlns:p14="http://schemas.microsoft.com/office/powerpoint/2010/main" val="30951229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what happened in the past two years. The machines have voted.</a:t>
            </a:r>
          </a:p>
          <a:p>
            <a:endParaRPr lang="en-US" dirty="0"/>
          </a:p>
          <a:p>
            <a:r>
              <a:rPr lang="en-US" dirty="0"/>
              <a:t>v0 from Vercel generates UI in Tailwind. </a:t>
            </a:r>
          </a:p>
          <a:p>
            <a:endParaRPr lang="en-US" dirty="0"/>
          </a:p>
          <a:p>
            <a:r>
              <a:rPr lang="en-US" dirty="0" err="1"/>
              <a:t>bolt.new</a:t>
            </a:r>
            <a:r>
              <a:rPr lang="en-US" dirty="0"/>
              <a:t> from StackBlitz does the same. </a:t>
            </a:r>
          </a:p>
          <a:p>
            <a:endParaRPr lang="en-US" dirty="0"/>
          </a:p>
          <a:p>
            <a:r>
              <a:rPr lang="en-US" dirty="0"/>
              <a:t>Lovable generates full apps in Tailwind. </a:t>
            </a:r>
          </a:p>
          <a:p>
            <a:endParaRPr lang="en-US" dirty="0"/>
          </a:p>
          <a:p>
            <a:r>
              <a:rPr lang="en-US" dirty="0"/>
              <a:t>Claude Artifacts from Anthropic. </a:t>
            </a:r>
          </a:p>
          <a:p>
            <a:endParaRPr lang="en-US" dirty="0"/>
          </a:p>
          <a:p>
            <a:r>
              <a:rPr lang="en-US" dirty="0" err="1"/>
              <a:t>shadcn</a:t>
            </a:r>
            <a:r>
              <a:rPr lang="en-US" dirty="0"/>
              <a:t> is the default component system the AI tools reach for. </a:t>
            </a:r>
          </a:p>
          <a:p>
            <a:endParaRPr lang="en-US" dirty="0"/>
          </a:p>
          <a:p>
            <a:r>
              <a:rPr lang="en-US" dirty="0"/>
              <a:t>Cursor and Copilot lean Tailwind every time you ask for a component.</a:t>
            </a:r>
          </a:p>
          <a:p>
            <a:endParaRPr lang="en-US" dirty="0"/>
          </a:p>
          <a:p>
            <a:r>
              <a:rPr lang="en-US" dirty="0"/>
              <a:t>Every major AI UI generator defaults to Tailwind. Not because Tailwind won a popularity contest with humans. Because the way Tailwind is shaped matches the way a language model, and a teammate, actually understand code. And for the news flash, </a:t>
            </a:r>
            <a:r>
              <a:rPr lang="en-US" dirty="0" err="1"/>
              <a:t>Tailwindcss</a:t>
            </a:r>
            <a:r>
              <a:rPr lang="en-US" dirty="0"/>
              <a:t> is joining Shopify. The reason is they have a new hydrogen framework that is using React Server Component.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number one. Naming things.</a:t>
            </a:r>
          </a:p>
          <a:p>
            <a:endParaRPr lang="en-US" dirty="0"/>
          </a:p>
          <a:p>
            <a:r>
              <a:rPr lang="en-US" dirty="0"/>
              <a:t>Semantic CSS makes you invent a name for every element, and those names are project-specific. </a:t>
            </a:r>
          </a:p>
          <a:p>
            <a:r>
              <a:rPr lang="en-US" dirty="0"/>
              <a:t>Then they drift. card. Card. cardWrapper. card-box. Four names for the same idea, invented by four people, or by one person on four different days.</a:t>
            </a:r>
          </a:p>
          <a:p>
            <a:endParaRPr lang="en-US" dirty="0"/>
          </a:p>
          <a:p>
            <a:r>
              <a:rPr lang="en-US" dirty="0"/>
              <a:t>Humans invent inconsistently. Models invent inconsistently. </a:t>
            </a:r>
          </a:p>
          <a:p>
            <a:endParaRPr lang="en-US" dirty="0"/>
          </a:p>
          <a:p>
            <a:r>
              <a:rPr lang="en-US" dirty="0"/>
              <a:t>This styling here for example. card header featured. What does featured even mean in this file? Is it a thicker border? A badge? A different button color? You cannot know until you read the CSS.</a:t>
            </a:r>
          </a:p>
          <a:p>
            <a:endParaRPr lang="en-US" dirty="0"/>
          </a:p>
          <a:p>
            <a:r>
              <a:rPr lang="en-US" dirty="0"/>
              <a:t>Tailwind deletes the naming decision. You do not name the thing. You describe the look with a closed vocabulary.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Separation of concerns.</a:t>
            </a:r>
          </a:p>
          <a:p>
            <a:endParaRPr lang="en-US" dirty="0"/>
          </a:p>
          <a:p>
            <a:r>
              <a:rPr lang="en-US" dirty="0"/>
              <a:t>We were taught to keep markup in one file and styles in another. That sounded clean. In practice, the component file has a class name, the stylesheet has the rule, and they are joined only by a magic string. card featured on one side. The same string on the other. A pointer. Not a spec.</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fix is co-location. Tailwind puts markup and style in one place.</a:t>
            </a:r>
          </a:p>
          <a:p>
            <a:r>
              <a:rPr lang="en-US" dirty="0"/>
              <a:t>Look at this button. There is no CSS file. There are no invented class names. There is no cascade to reason about. rounded-lg, px-4, py-3, font-bold. And if it is featured, a background, a text color, and a hover state. Everything about how this button looks is sitting on the button.</a:t>
            </a:r>
          </a:p>
          <a:p>
            <a:endParaRPr lang="en-US" dirty="0"/>
          </a:p>
          <a:p>
            <a:r>
              <a:rPr lang="en-US" dirty="0"/>
              <a:t>An LLM sees the entire spec in one span of tokens. A teammate sees the same thing. You do not open a second tab. You do not search for a class name. You read the component and you are done.</a:t>
            </a:r>
          </a:p>
          <a:p>
            <a:r>
              <a:rPr lang="en-US" dirty="0"/>
              <a:t>That is the whole trick. Markup and style live in one place.</a:t>
            </a:r>
          </a:p>
          <a:p>
            <a:endParaRPr lang="en-US" dirty="0"/>
          </a:p>
          <a:p>
            <a:r>
              <a:rPr lang="en-US" dirty="0"/>
              <a:t>Before </a:t>
            </a:r>
            <a:r>
              <a:rPr lang="en-US" dirty="0" err="1"/>
              <a:t>vibecoding</a:t>
            </a:r>
            <a:r>
              <a:rPr lang="en-US" dirty="0"/>
              <a:t> days, you can say that this is ugly, but using </a:t>
            </a:r>
            <a:r>
              <a:rPr lang="en-US" dirty="0" err="1"/>
              <a:t>shadcn</a:t>
            </a:r>
            <a:r>
              <a:rPr lang="en-US" dirty="0"/>
              <a:t> </a:t>
            </a:r>
            <a:r>
              <a:rPr lang="en-US" dirty="0" err="1"/>
              <a:t>ui</a:t>
            </a:r>
            <a:r>
              <a:rPr lang="en-US" dirty="0"/>
              <a:t> I saw how to write best practice </a:t>
            </a:r>
            <a:r>
              <a:rPr lang="en-US" dirty="0" err="1"/>
              <a:t>tailwindcss</a:t>
            </a:r>
            <a:r>
              <a:rPr lang="en-US" dirty="0"/>
              <a:t> code in components. You will see later how in my demo.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err="1"/>
              <a:t>Tailwindcss</a:t>
            </a:r>
            <a:r>
              <a:rPr lang="en-US" dirty="0"/>
              <a:t> rules in priorities looks like this.</a:t>
            </a:r>
          </a:p>
          <a:p>
            <a:endParaRPr lang="en-US" dirty="0"/>
          </a:p>
          <a:p>
            <a:r>
              <a:rPr lang="en-US" dirty="0"/>
              <a:t>Each box is a place a CSS rule can live, and the arrow tells you which one wins a conflict in styling.</a:t>
            </a:r>
            <a:br>
              <a:rPr lang="en-US" dirty="0"/>
            </a:br>
            <a:br>
              <a:rPr lang="en-US" dirty="0"/>
            </a:br>
            <a:r>
              <a:rPr lang="en-US" dirty="0"/>
              <a:t>The four named layers come from </a:t>
            </a:r>
            <a:r>
              <a:rPr lang="en-US" sz="1200" kern="1200" dirty="0">
                <a:solidFill>
                  <a:schemeClr val="tx1"/>
                </a:solidFill>
                <a:latin typeface="+mn-lt"/>
                <a:ea typeface="+mn-ea"/>
                <a:cs typeface="+mn-cs"/>
              </a:rPr>
              <a:t>@import "</a:t>
            </a:r>
            <a:r>
              <a:rPr lang="en-US" sz="1200" kern="1200" dirty="0" err="1">
                <a:solidFill>
                  <a:schemeClr val="tx1"/>
                </a:solidFill>
                <a:latin typeface="+mn-lt"/>
                <a:ea typeface="+mn-ea"/>
                <a:cs typeface="+mn-cs"/>
              </a:rPr>
              <a:t>tailwindcss</a:t>
            </a:r>
            <a:r>
              <a:rPr lang="en-US" sz="1200" kern="1200" dirty="0">
                <a:solidFill>
                  <a:schemeClr val="tx1"/>
                </a:solidFill>
                <a:latin typeface="+mn-lt"/>
                <a:ea typeface="+mn-ea"/>
                <a:cs typeface="+mn-cs"/>
              </a:rPr>
              <a:t>"</a:t>
            </a:r>
            <a:r>
              <a:rPr lang="en-US" dirty="0"/>
              <a:t>, which declares their order up front. The coral or </a:t>
            </a:r>
            <a:r>
              <a:rPr lang="en-US" dirty="0" err="1"/>
              <a:t>redish</a:t>
            </a:r>
            <a:r>
              <a:rPr lang="en-US" dirty="0"/>
              <a:t> box isn't a layer or unlayered styles means styles are CSS rules written outside of any explicit @layer block, meaning they always take absolute precedence over Tailwind's built-in utility and theme layers</a:t>
            </a:r>
          </a:p>
        </p:txBody>
      </p:sp>
    </p:spTree>
    <p:extLst>
      <p:ext uri="{BB962C8B-B14F-4D97-AF65-F5344CB8AC3E}">
        <p14:creationId xmlns:p14="http://schemas.microsoft.com/office/powerpoint/2010/main" val="29539854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rtl="0"/>
            <a:r>
              <a:rPr lang="en-US" dirty="0"/>
              <a:t>And </a:t>
            </a:r>
            <a:r>
              <a:rPr lang="en-US" dirty="0" err="1"/>
              <a:t>tailwindcss</a:t>
            </a:r>
            <a:r>
              <a:rPr lang="en-US" dirty="0"/>
              <a:t> gives you some solutions to your common </a:t>
            </a:r>
            <a:r>
              <a:rPr lang="en-US" dirty="0" err="1"/>
              <a:t>css</a:t>
            </a:r>
            <a:r>
              <a:rPr lang="en-US" dirty="0"/>
              <a:t> problems.</a:t>
            </a:r>
          </a:p>
        </p:txBody>
      </p:sp>
    </p:spTree>
    <p:extLst>
      <p:ext uri="{BB962C8B-B14F-4D97-AF65-F5344CB8AC3E}">
        <p14:creationId xmlns:p14="http://schemas.microsoft.com/office/powerpoint/2010/main" val="41384000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242628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GB"/>
          </a:p>
        </p:txBody>
      </p:sp>
    </p:spTree>
    <p:extLst>
      <p:ext uri="{BB962C8B-B14F-4D97-AF65-F5344CB8AC3E}">
        <p14:creationId xmlns:p14="http://schemas.microsoft.com/office/powerpoint/2010/main" val="26457331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GB" dirty="0"/>
          </a:p>
        </p:txBody>
      </p:sp>
    </p:spTree>
    <p:extLst>
      <p:ext uri="{BB962C8B-B14F-4D97-AF65-F5344CB8AC3E}">
        <p14:creationId xmlns:p14="http://schemas.microsoft.com/office/powerpoint/2010/main" val="34725002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GB" dirty="0"/>
          </a:p>
        </p:txBody>
      </p:sp>
    </p:spTree>
    <p:extLst>
      <p:ext uri="{BB962C8B-B14F-4D97-AF65-F5344CB8AC3E}">
        <p14:creationId xmlns:p14="http://schemas.microsoft.com/office/powerpoint/2010/main" val="26754506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GB" dirty="0"/>
          </a:p>
        </p:txBody>
      </p:sp>
    </p:spTree>
    <p:extLst>
      <p:ext uri="{BB962C8B-B14F-4D97-AF65-F5344CB8AC3E}">
        <p14:creationId xmlns:p14="http://schemas.microsoft.com/office/powerpoint/2010/main" val="11339007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GB" dirty="0"/>
          </a:p>
        </p:txBody>
      </p:sp>
    </p:spTree>
    <p:extLst>
      <p:ext uri="{BB962C8B-B14F-4D97-AF65-F5344CB8AC3E}">
        <p14:creationId xmlns:p14="http://schemas.microsoft.com/office/powerpoint/2010/main" val="24375886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GB" dirty="0"/>
          </a:p>
        </p:txBody>
      </p:sp>
    </p:spTree>
    <p:extLst>
      <p:ext uri="{BB962C8B-B14F-4D97-AF65-F5344CB8AC3E}">
        <p14:creationId xmlns:p14="http://schemas.microsoft.com/office/powerpoint/2010/main" val="24581102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GB" dirty="0"/>
          </a:p>
        </p:txBody>
      </p:sp>
    </p:spTree>
    <p:extLst>
      <p:ext uri="{BB962C8B-B14F-4D97-AF65-F5344CB8AC3E}">
        <p14:creationId xmlns:p14="http://schemas.microsoft.com/office/powerpoint/2010/main" val="38591227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err="1"/>
              <a:t>shadcn</a:t>
            </a:r>
            <a:r>
              <a:rPr lang="en-US" dirty="0"/>
              <a:t>/</a:t>
            </a:r>
            <a:r>
              <a:rPr lang="en-US" dirty="0" err="1"/>
              <a:t>ui</a:t>
            </a:r>
            <a:r>
              <a:rPr lang="en-US" dirty="0"/>
              <a:t> is not a finished design system; it's a foundation for building your own design system.</a:t>
            </a:r>
            <a:endParaRPr lang="en-GB" dirty="0"/>
          </a:p>
        </p:txBody>
      </p:sp>
    </p:spTree>
    <p:extLst>
      <p:ext uri="{BB962C8B-B14F-4D97-AF65-F5344CB8AC3E}">
        <p14:creationId xmlns:p14="http://schemas.microsoft.com/office/powerpoint/2010/main" val="40663008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err="1"/>
              <a:t>shadcn</a:t>
            </a:r>
            <a:r>
              <a:rPr lang="en-US" dirty="0"/>
              <a:t> distributes code rather than a package: </a:t>
            </a:r>
          </a:p>
          <a:p>
            <a:endParaRPr lang="en-US" dirty="0"/>
          </a:p>
          <a:p>
            <a:r>
              <a:rPr lang="en-US" dirty="0"/>
              <a:t>the registry serves JSON definitions, </a:t>
            </a:r>
          </a:p>
          <a:p>
            <a:endParaRPr lang="en-US" dirty="0"/>
          </a:p>
          <a:p>
            <a:r>
              <a:rPr lang="en-US" dirty="0"/>
              <a:t>the CLI writes real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tsx</a:t>
            </a:r>
            <a:r>
              <a:rPr lang="en-US" dirty="0"/>
              <a:t> files into your repo, </a:t>
            </a:r>
          </a:p>
          <a:p>
            <a:endParaRPr lang="en-US" dirty="0"/>
          </a:p>
          <a:p>
            <a:r>
              <a:rPr lang="en-US" dirty="0"/>
              <a:t>and nothing links back afterward since the component never lands in </a:t>
            </a:r>
            <a:r>
              <a:rPr lang="en-US" sz="1200" kern="1200" dirty="0" err="1">
                <a:solidFill>
                  <a:schemeClr val="tx1"/>
                </a:solidFill>
                <a:latin typeface="+mn-lt"/>
                <a:ea typeface="+mn-ea"/>
                <a:cs typeface="+mn-cs"/>
              </a:rPr>
              <a:t>node_modules</a:t>
            </a:r>
            <a:r>
              <a:rPr lang="en-US" dirty="0"/>
              <a:t>. </a:t>
            </a:r>
          </a:p>
          <a:p>
            <a:endParaRPr lang="en-US" dirty="0"/>
          </a:p>
          <a:p>
            <a:r>
              <a:rPr lang="en-US" dirty="0"/>
              <a:t>The three boxes at the bottom are the layers inside each file. </a:t>
            </a:r>
          </a:p>
          <a:p>
            <a:endParaRPr lang="en-US" dirty="0"/>
          </a:p>
          <a:p>
            <a:r>
              <a:rPr lang="en-US" dirty="0"/>
              <a:t>Base UI handles keyboard, focus, and ARIA, </a:t>
            </a:r>
          </a:p>
          <a:p>
            <a:endParaRPr lang="en-US" dirty="0"/>
          </a:p>
          <a:p>
            <a:r>
              <a:rPr lang="en-US" dirty="0"/>
              <a:t>Tailwind carries every visual decision as editable classes, </a:t>
            </a:r>
          </a:p>
          <a:p>
            <a:endParaRPr lang="en-US" dirty="0"/>
          </a:p>
          <a:p>
            <a:r>
              <a:rPr lang="en-US" dirty="0"/>
              <a:t>and your theme tokens supply the values. That's why customizing means opening the file instead of overriding from outside. </a:t>
            </a:r>
          </a:p>
          <a:p>
            <a:endParaRPr lang="en-US" dirty="0"/>
          </a:p>
          <a:p>
            <a:r>
              <a:rPr lang="en-US" dirty="0"/>
              <a:t>The trade-off is that you own the maintenance, though </a:t>
            </a:r>
            <a:r>
              <a:rPr lang="en-US" sz="1200" kern="1200" dirty="0">
                <a:solidFill>
                  <a:schemeClr val="tx1"/>
                </a:solidFill>
                <a:latin typeface="+mn-lt"/>
                <a:ea typeface="+mn-ea"/>
                <a:cs typeface="+mn-cs"/>
              </a:rPr>
              <a:t>add --diff</a:t>
            </a:r>
            <a:r>
              <a:rPr lang="en-US" dirty="0"/>
              <a:t> will show you what changed upstream so you can merge deliberately.</a:t>
            </a:r>
          </a:p>
        </p:txBody>
      </p:sp>
    </p:spTree>
    <p:extLst>
      <p:ext uri="{BB962C8B-B14F-4D97-AF65-F5344CB8AC3E}">
        <p14:creationId xmlns:p14="http://schemas.microsoft.com/office/powerpoint/2010/main" val="5793285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Rows 1 through 3 all trace back to the same decision — the source lives in your repo, so there's no props API to work around, no foreign CSS to override, and no version to bump. </a:t>
            </a:r>
          </a:p>
          <a:p>
            <a:endParaRPr lang="en-US" dirty="0"/>
          </a:p>
          <a:p>
            <a:r>
              <a:rPr lang="en-US" dirty="0"/>
              <a:t>Row 4 is the separate win: Base UI supplies the keyboard, focus, and ARIA behavior that's genuinely hard to get right by hand.</a:t>
            </a:r>
          </a:p>
          <a:p>
            <a:endParaRPr lang="en-US" dirty="0"/>
          </a:p>
          <a:p>
            <a:r>
              <a:rPr lang="en-US" dirty="0"/>
              <a:t>Being compliant in accessibility is a headache if you will write them manually. Especially in Europe, any public facing app should be accessible by default.</a:t>
            </a:r>
          </a:p>
        </p:txBody>
      </p:sp>
    </p:spTree>
    <p:extLst>
      <p:ext uri="{BB962C8B-B14F-4D97-AF65-F5344CB8AC3E}">
        <p14:creationId xmlns:p14="http://schemas.microsoft.com/office/powerpoint/2010/main" val="11578531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GB" dirty="0"/>
          </a:p>
        </p:txBody>
      </p:sp>
    </p:spTree>
    <p:extLst>
      <p:ext uri="{BB962C8B-B14F-4D97-AF65-F5344CB8AC3E}">
        <p14:creationId xmlns:p14="http://schemas.microsoft.com/office/powerpoint/2010/main" val="7233014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rtl="0"/>
            <a:r>
              <a:rPr lang="en-US" dirty="0"/>
              <a:t>The hardest evidence is </a:t>
            </a:r>
            <a:r>
              <a:rPr lang="en-US" dirty="0" err="1"/>
              <a:t>WebUIBench</a:t>
            </a:r>
            <a:r>
              <a:rPr lang="en-US" dirty="0"/>
              <a:t>: generating the same 100 UI images with and without a Tailwind instruction moved compilation success from 47% to 92%. </a:t>
            </a:r>
          </a:p>
          <a:p>
            <a:pPr rtl="0"/>
            <a:endParaRPr lang="en-US" dirty="0"/>
          </a:p>
          <a:p>
            <a:pPr rtl="0"/>
            <a:r>
              <a:rPr lang="en-US" dirty="0"/>
              <a:t>Adoption backs it up — Bolt, Lovable, v0, and Cursor emit </a:t>
            </a:r>
            <a:r>
              <a:rPr lang="en-US" dirty="0" err="1"/>
              <a:t>shadcn</a:t>
            </a:r>
            <a:r>
              <a:rPr lang="en-US" dirty="0"/>
              <a:t>/</a:t>
            </a:r>
            <a:r>
              <a:rPr lang="en-US" dirty="0" err="1"/>
              <a:t>ui</a:t>
            </a:r>
            <a:r>
              <a:rPr lang="en-US" dirty="0"/>
              <a:t> by default, with v0 restricted to React plus Tailwind plus </a:t>
            </a:r>
            <a:r>
              <a:rPr lang="en-US" dirty="0" err="1"/>
              <a:t>shadcn</a:t>
            </a:r>
            <a:r>
              <a:rPr lang="en-US" dirty="0"/>
              <a:t>, and the reason given is architectural, since visible owned source is easier for a model to read and modify than an opaque library abstraction. </a:t>
            </a:r>
          </a:p>
          <a:p>
            <a:pPr rtl="0"/>
            <a:endParaRPr lang="en-US" dirty="0"/>
          </a:p>
          <a:p>
            <a:pPr rtl="0"/>
            <a:r>
              <a:rPr lang="en-US" dirty="0" err="1"/>
              <a:t>shadcn</a:t>
            </a:r>
            <a:r>
              <a:rPr lang="en-US" dirty="0"/>
              <a:t> passed 109,000 GitHub stars by March 2026, </a:t>
            </a:r>
          </a:p>
          <a:p>
            <a:pPr rtl="0"/>
            <a:endParaRPr lang="en-US" dirty="0"/>
          </a:p>
          <a:p>
            <a:pPr rtl="0"/>
            <a:r>
              <a:rPr lang="en-US" dirty="0"/>
              <a:t>Tailwind ranked first in State of CSS 2025 and </a:t>
            </a:r>
            <a:r>
              <a:rPr lang="en-US" dirty="0" err="1"/>
              <a:t>shadcn</a:t>
            </a:r>
            <a:r>
              <a:rPr lang="en-US" dirty="0"/>
              <a:t> now ships official AI skills for agents.</a:t>
            </a:r>
          </a:p>
        </p:txBody>
      </p:sp>
    </p:spTree>
    <p:extLst>
      <p:ext uri="{BB962C8B-B14F-4D97-AF65-F5344CB8AC3E}">
        <p14:creationId xmlns:p14="http://schemas.microsoft.com/office/powerpoint/2010/main" val="22394399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GB" dirty="0"/>
          </a:p>
        </p:txBody>
      </p:sp>
    </p:spTree>
    <p:extLst>
      <p:ext uri="{BB962C8B-B14F-4D97-AF65-F5344CB8AC3E}">
        <p14:creationId xmlns:p14="http://schemas.microsoft.com/office/powerpoint/2010/main" val="9142551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rtl="0"/>
            <a:r>
              <a:rPr lang="en-US" sz="1200" b="0" i="0" kern="1200" dirty="0">
                <a:solidFill>
                  <a:schemeClr val="tx1"/>
                </a:solidFill>
                <a:effectLst/>
                <a:latin typeface="+mn-lt"/>
                <a:ea typeface="+mn-ea"/>
                <a:cs typeface="+mn-cs"/>
              </a:rPr>
              <a:t>On CC-Bench-V2's frontend suite, generated React projects built successfully 95% of the time for Claude Opus 4.5 and 100% for GLM-5, with check-item pass rates near 71%. </a:t>
            </a:r>
          </a:p>
          <a:p>
            <a:pPr rtl="0"/>
            <a:endParaRPr lang="en-US" sz="1200" b="0" i="0" kern="1200" dirty="0">
              <a:solidFill>
                <a:schemeClr val="tx1"/>
              </a:solidFill>
              <a:effectLst/>
              <a:latin typeface="+mn-lt"/>
              <a:ea typeface="+mn-ea"/>
              <a:cs typeface="+mn-cs"/>
            </a:endParaRPr>
          </a:p>
          <a:p>
            <a:pPr rtl="0"/>
            <a:r>
              <a:rPr lang="en-US" sz="1200" b="0" i="0" kern="1200" dirty="0">
                <a:solidFill>
                  <a:schemeClr val="tx1"/>
                </a:solidFill>
                <a:effectLst/>
                <a:latin typeface="+mn-lt"/>
                <a:ea typeface="+mn-ea"/>
                <a:cs typeface="+mn-cs"/>
              </a:rPr>
              <a:t>TypeScript became GitHub's most-used language in August 2025 at 2,636,006 monthly contributors, up about 1.05 million year over year, which GitHub credits to typed languages being more reliable for agent-assisted coding and frameworks scaffolding TypeScript by default.</a:t>
            </a:r>
          </a:p>
          <a:p>
            <a:pPr rtl="0"/>
            <a:endParaRPr lang="en-US" sz="1200" b="0" i="0" kern="1200" dirty="0">
              <a:solidFill>
                <a:schemeClr val="tx1"/>
              </a:solidFill>
              <a:effectLst/>
              <a:latin typeface="+mn-lt"/>
              <a:ea typeface="+mn-ea"/>
              <a:cs typeface="+mn-cs"/>
            </a:endParaRPr>
          </a:p>
          <a:p>
            <a:pPr rtl="0"/>
            <a:r>
              <a:rPr lang="en-US" sz="1200" b="0" i="0" kern="1200" dirty="0">
                <a:solidFill>
                  <a:schemeClr val="tx1"/>
                </a:solidFill>
                <a:effectLst/>
                <a:latin typeface="+mn-lt"/>
                <a:ea typeface="+mn-ea"/>
                <a:cs typeface="+mn-cs"/>
              </a:rPr>
              <a:t>and package hallucination rates across the 2026 frontier cohort were consistently lower for JavaScript than Python, 2.62% versus 6.63% for Claude Sonnet 4.6.</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br>
              <a:rPr lang="en-US" dirty="0"/>
            </a:br>
            <a:endParaRPr lang="en-US" dirty="0"/>
          </a:p>
        </p:txBody>
      </p:sp>
    </p:spTree>
    <p:extLst>
      <p:ext uri="{BB962C8B-B14F-4D97-AF65-F5344CB8AC3E}">
        <p14:creationId xmlns:p14="http://schemas.microsoft.com/office/powerpoint/2010/main" val="27670194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GB"/>
          </a:p>
        </p:txBody>
      </p:sp>
    </p:spTree>
    <p:extLst>
      <p:ext uri="{BB962C8B-B14F-4D97-AF65-F5344CB8AC3E}">
        <p14:creationId xmlns:p14="http://schemas.microsoft.com/office/powerpoint/2010/main" val="807594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rtl="0"/>
            <a:r>
              <a:rPr lang="en-US" sz="1200" kern="1200" dirty="0" err="1">
                <a:solidFill>
                  <a:schemeClr val="tx1"/>
                </a:solidFill>
                <a:latin typeface="+mn-lt"/>
                <a:ea typeface="+mn-ea"/>
                <a:cs typeface="+mn-cs"/>
              </a:rPr>
              <a:t>AGENTS.md</a:t>
            </a:r>
            <a:r>
              <a:rPr lang="en-US" dirty="0"/>
              <a:t> holds facts that don't change — the pinned version, the import styles. </a:t>
            </a:r>
            <a:endParaRPr lang="en-US" baseline="0" dirty="0"/>
          </a:p>
          <a:p>
            <a:pPr rtl="0"/>
            <a:endParaRPr lang="en-US" baseline="0" dirty="0"/>
          </a:p>
          <a:p>
            <a:pPr rtl="0"/>
            <a:r>
              <a:rPr lang="en-US" dirty="0"/>
              <a:t>An MCP docs server fetching current docs on demand instead of a snapshot that goes stale. </a:t>
            </a:r>
          </a:p>
          <a:p>
            <a:pPr rtl="0"/>
            <a:endParaRPr lang="en-US" dirty="0"/>
          </a:p>
          <a:p>
            <a:pPr rtl="0"/>
            <a:r>
              <a:rPr lang="en-US" dirty="0"/>
              <a:t>A skill packages the procedures: which command, which flags, what to check. </a:t>
            </a:r>
          </a:p>
          <a:p>
            <a:pPr rtl="0"/>
            <a:endParaRPr lang="en-US" dirty="0"/>
          </a:p>
          <a:p>
            <a:pPr rtl="0"/>
            <a:r>
              <a:rPr lang="en-US" dirty="0"/>
              <a:t>Copying and pasting prompt context is gray because it dies with the chat, though it's still the fastest way to try something once.</a:t>
            </a:r>
          </a:p>
        </p:txBody>
      </p:sp>
    </p:spTree>
    <p:extLst>
      <p:ext uri="{BB962C8B-B14F-4D97-AF65-F5344CB8AC3E}">
        <p14:creationId xmlns:p14="http://schemas.microsoft.com/office/powerpoint/2010/main" val="13310409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FA9EC-F1C4-8475-4C34-982AA7BE60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28C641-A123-4973-51FA-0665B28136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824122-D8E6-13A2-EF59-883AC6891774}"/>
              </a:ext>
            </a:extLst>
          </p:cNvPr>
          <p:cNvSpPr>
            <a:spLocks noGrp="1"/>
          </p:cNvSpPr>
          <p:nvPr>
            <p:ph type="body" idx="1"/>
          </p:nvPr>
        </p:nvSpPr>
        <p:spPr/>
        <p:txBody>
          <a:bodyPr/>
          <a:lstStyle/>
          <a:p>
            <a:r>
              <a:rPr lang="en-US" dirty="0"/>
              <a:t>Knowledge atrophy, or cognitive atrophy, is the gradual decline of memory, critical thinking, and problem-solving skills caused by overreliance on AI tools like LLMs for mental work.  </a:t>
            </a:r>
            <a:br>
              <a:rPr lang="en-US" dirty="0"/>
            </a:br>
            <a:br>
              <a:rPr lang="en-US" dirty="0"/>
            </a:br>
            <a:r>
              <a:rPr lang="en-US" dirty="0"/>
              <a:t>Keep learning the technical details of things that you are building. This will help you in the future in guiding agents to the right directions. It will save money because of lesser prompting. And lastly it will improve your skills</a:t>
            </a:r>
          </a:p>
        </p:txBody>
      </p:sp>
      <p:sp>
        <p:nvSpPr>
          <p:cNvPr id="4" name="Slide Number Placeholder 3">
            <a:extLst>
              <a:ext uri="{FF2B5EF4-FFF2-40B4-BE49-F238E27FC236}">
                <a16:creationId xmlns:a16="http://schemas.microsoft.com/office/drawing/2014/main" id="{876E6526-0A27-7059-0E06-088E9428FC92}"/>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34862307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GB" dirty="0" err="1"/>
              <a:t>bodyLimitBytes</a:t>
            </a:r>
            <a:r>
              <a:rPr lang="en-GB" dirty="0"/>
              <a:t>, </a:t>
            </a:r>
            <a:r>
              <a:rPr lang="en-GB" dirty="0" err="1"/>
              <a:t>jsonMaxKeys</a:t>
            </a:r>
            <a:r>
              <a:rPr lang="en-GB" dirty="0"/>
              <a:t>, </a:t>
            </a:r>
            <a:r>
              <a:rPr lang="en-GB" dirty="0" err="1"/>
              <a:t>jsonMaxDepth</a:t>
            </a:r>
            <a:r>
              <a:rPr lang="en-GB" dirty="0"/>
              <a:t>, </a:t>
            </a:r>
            <a:r>
              <a:rPr lang="en-GB" dirty="0" err="1"/>
              <a:t>requestTimeoutMs</a:t>
            </a:r>
            <a:r>
              <a:rPr lang="en-GB" dirty="0"/>
              <a:t>, </a:t>
            </a:r>
            <a:r>
              <a:rPr lang="en-GB" dirty="0" err="1"/>
              <a:t>secureHeaders</a:t>
            </a:r>
            <a:r>
              <a:rPr lang="en-GB" dirty="0"/>
              <a:t> + </a:t>
            </a:r>
            <a:r>
              <a:rPr lang="en-GB" dirty="0" err="1"/>
              <a:t>maxHeaderCount</a:t>
            </a:r>
            <a:r>
              <a:rPr lang="en-GB" dirty="0"/>
              <a:t>, RFC 9457 </a:t>
            </a:r>
            <a:r>
              <a:rPr lang="en-GB" dirty="0" err="1"/>
              <a:t>problem+json</a:t>
            </a:r>
            <a:r>
              <a:rPr lang="en-GB" dirty="0"/>
              <a:t> which is reduction or auto strip detail from 5xx.</a:t>
            </a:r>
          </a:p>
          <a:p>
            <a:endParaRPr lang="en-GB" dirty="0"/>
          </a:p>
          <a:p>
            <a:r>
              <a:rPr lang="en-GB" dirty="0"/>
              <a:t>Server will refuse to run on </a:t>
            </a:r>
          </a:p>
          <a:p>
            <a:r>
              <a:rPr lang="en-GB" dirty="0"/>
              <a:t>wildcard CORS with credentials and anywhere</a:t>
            </a:r>
          </a:p>
          <a:p>
            <a:r>
              <a:rPr lang="en-GB" dirty="0"/>
              <a:t>a session secret under 32 bytes or a default placeholder</a:t>
            </a:r>
          </a:p>
          <a:p>
            <a:r>
              <a:rPr lang="en-GB" dirty="0"/>
              <a:t>sessions, a mutating route, and no CSRF hook</a:t>
            </a:r>
          </a:p>
          <a:p>
            <a:r>
              <a:rPr lang="en-GB" dirty="0"/>
              <a:t>proxy trust left unconfigured in production</a:t>
            </a:r>
          </a:p>
          <a:p>
            <a:r>
              <a:rPr lang="en-GB" dirty="0"/>
              <a:t>a symmetric algorithm handed to a JWKS verifier</a:t>
            </a:r>
          </a:p>
          <a:p>
            <a:r>
              <a:rPr lang="en-GB" dirty="0"/>
              <a:t>auth declared with no auth hook behind it</a:t>
            </a:r>
          </a:p>
          <a:p>
            <a:endParaRPr lang="en-GB" dirty="0"/>
          </a:p>
          <a:p>
            <a:endParaRPr lang="en-GB" dirty="0"/>
          </a:p>
        </p:txBody>
      </p:sp>
    </p:spTree>
    <p:extLst>
      <p:ext uri="{BB962C8B-B14F-4D97-AF65-F5344CB8AC3E}">
        <p14:creationId xmlns:p14="http://schemas.microsoft.com/office/powerpoint/2010/main" val="9226078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091CD-CE40-DE50-BB6F-73EE86E3E6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E217A3-0C6D-E0FB-E8D9-26C54CD953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980ABD-7274-B998-04A2-E3FDD70461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86FBF8-DAE3-786B-F774-C9033F4FA5D1}"/>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32456511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521754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p:spTree>
      <p:nvGrpSpPr>
        <p:cNvPr id="1" name=""/>
        <p:cNvGrpSpPr/>
        <p:nvPr/>
      </p:nvGrpSpPr>
      <p:grpSpPr>
        <a:xfrm>
          <a:off x="0" y="0"/>
          <a:ext cx="0" cy="0"/>
          <a:chOff x="0" y="0"/>
          <a:chExt cx="0" cy="0"/>
        </a:xfrm>
      </p:grpSpPr>
      <p:sp>
        <p:nvSpPr>
          <p:cNvPr id="11" name="Body Level One…"/>
          <p:cNvSpPr txBox="1">
            <a:spLocks noGrp="1"/>
          </p:cNvSpPr>
          <p:nvPr>
            <p:ph type="body" sz="quarter" idx="1"/>
          </p:nvPr>
        </p:nvSpPr>
        <p:spPr>
          <a:xfrm>
            <a:off x="600670" y="5929931"/>
            <a:ext cx="10985502" cy="318490"/>
          </a:xfrm>
          <a:prstGeom prst="rect">
            <a:avLst/>
          </a:prstGeom>
        </p:spPr>
        <p:txBody>
          <a:bodyPr lIns="45699" tIns="45699" rIns="45699" bIns="45699"/>
          <a:lstStyle>
            <a:lvl1pPr marL="114300" indent="0">
              <a:lnSpc>
                <a:spcPct val="100000"/>
              </a:lnSpc>
              <a:spcBef>
                <a:spcPts val="0"/>
              </a:spcBef>
              <a:buClrTx/>
              <a:buSzTx/>
              <a:buFontTx/>
              <a:buNone/>
              <a:defRPr sz="1800" b="1"/>
            </a:lvl1pPr>
            <a:lvl2pPr marL="411051" indent="-138446">
              <a:lnSpc>
                <a:spcPct val="100000"/>
              </a:lnSpc>
              <a:spcBef>
                <a:spcPts val="0"/>
              </a:spcBef>
              <a:buClrTx/>
              <a:buSzPts val="3600"/>
              <a:buFontTx/>
              <a:defRPr sz="1800" b="1"/>
            </a:lvl2pPr>
            <a:lvl3pPr marL="639651" indent="-138446">
              <a:lnSpc>
                <a:spcPct val="100000"/>
              </a:lnSpc>
              <a:spcBef>
                <a:spcPts val="0"/>
              </a:spcBef>
              <a:buClrTx/>
              <a:buSzPts val="3600"/>
              <a:buFontTx/>
              <a:defRPr sz="1800" b="1"/>
            </a:lvl3pPr>
            <a:lvl4pPr marL="868251" indent="-138446">
              <a:lnSpc>
                <a:spcPct val="100000"/>
              </a:lnSpc>
              <a:spcBef>
                <a:spcPts val="0"/>
              </a:spcBef>
              <a:buClrTx/>
              <a:buSzPts val="3600"/>
              <a:buFontTx/>
              <a:defRPr sz="1800" b="1"/>
            </a:lvl4pPr>
            <a:lvl5pPr marL="1096851" indent="-138446">
              <a:lnSpc>
                <a:spcPct val="100000"/>
              </a:lnSpc>
              <a:spcBef>
                <a:spcPts val="0"/>
              </a:spcBef>
              <a:buClrTx/>
              <a:buSzPts val="3600"/>
              <a:buFontTx/>
              <a:defRPr sz="1800" b="1"/>
            </a:lvl5pPr>
          </a:lstStyle>
          <a:p>
            <a:r>
              <a:t>Body Level One</a:t>
            </a:r>
          </a:p>
          <a:p>
            <a:pPr lvl="1"/>
            <a:r>
              <a:t>Body Level Two</a:t>
            </a:r>
          </a:p>
          <a:p>
            <a:pPr lvl="2"/>
            <a:r>
              <a:t>Body Level Three</a:t>
            </a:r>
          </a:p>
          <a:p>
            <a:pPr lvl="3"/>
            <a:r>
              <a:t>Body Level Four</a:t>
            </a:r>
          </a:p>
          <a:p>
            <a:pPr lvl="4"/>
            <a:r>
              <a:t>Body Level Five</a:t>
            </a:r>
          </a:p>
        </p:txBody>
      </p:sp>
      <p:sp>
        <p:nvSpPr>
          <p:cNvPr id="12" name="Title Text"/>
          <p:cNvSpPr txBox="1">
            <a:spLocks noGrp="1"/>
          </p:cNvSpPr>
          <p:nvPr>
            <p:ph type="title"/>
          </p:nvPr>
        </p:nvSpPr>
        <p:spPr>
          <a:xfrm>
            <a:off x="603248" y="1287495"/>
            <a:ext cx="10985503" cy="2324101"/>
          </a:xfrm>
          <a:prstGeom prst="rect">
            <a:avLst/>
          </a:prstGeom>
        </p:spPr>
        <p:txBody>
          <a:bodyPr anchor="b"/>
          <a:lstStyle>
            <a:lvl1pPr>
              <a:defRPr sz="5800"/>
            </a:lvl1pPr>
          </a:lstStyle>
          <a:p>
            <a:r>
              <a:t>Title Text</a:t>
            </a:r>
          </a:p>
        </p:txBody>
      </p:sp>
      <p:sp>
        <p:nvSpPr>
          <p:cNvPr id="13" name="Google Shape;12;p2"/>
          <p:cNvSpPr txBox="1">
            <a:spLocks noGrp="1"/>
          </p:cNvSpPr>
          <p:nvPr>
            <p:ph type="body" sz="quarter" idx="21"/>
          </p:nvPr>
        </p:nvSpPr>
        <p:spPr>
          <a:xfrm>
            <a:off x="600671" y="3611595"/>
            <a:ext cx="10985501" cy="952501"/>
          </a:xfrm>
          <a:prstGeom prst="rect">
            <a:avLst/>
          </a:prstGeom>
        </p:spPr>
        <p:txBody>
          <a:bodyPr/>
          <a:lstStyle>
            <a:lvl1pPr marL="114300" indent="0">
              <a:lnSpc>
                <a:spcPct val="100000"/>
              </a:lnSpc>
              <a:spcBef>
                <a:spcPts val="0"/>
              </a:spcBef>
              <a:buClrTx/>
              <a:buSzTx/>
              <a:buFontTx/>
              <a:buNone/>
              <a:defRPr sz="5500" b="1"/>
            </a:lvl1pPr>
          </a:lstStyle>
          <a:p>
            <a:pPr marL="228600" indent="0">
              <a:lnSpc>
                <a:spcPct val="100000"/>
              </a:lnSpc>
              <a:spcBef>
                <a:spcPts val="0"/>
              </a:spcBef>
              <a:buClrTx/>
              <a:buSzTx/>
              <a:buFontTx/>
              <a:buNone/>
              <a:defRPr sz="5500" b="1"/>
            </a:pPr>
            <a:endParaRPr/>
          </a:p>
        </p:txBody>
      </p:sp>
      <p:sp>
        <p:nvSpPr>
          <p:cNvPr id="1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045209457"/>
      </p:ext>
    </p:extLst>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95A8B3-47D6-02CA-0770-1BFDEA32452D}"/>
              </a:ext>
            </a:extLst>
          </p:cNvPr>
          <p:cNvSpPr txBox="1"/>
          <p:nvPr userDrawn="1">
            <p:extLst>
              <p:ext uri="{1162E1C5-73C7-4A58-AE30-91384D911F3F}">
                <p184:classification xmlns:p184="http://schemas.microsoft.com/office/powerpoint/2018/4/main" val="ftr"/>
              </p:ext>
            </p:extLst>
          </p:nvPr>
        </p:nvSpPr>
        <p:spPr>
          <a:xfrm>
            <a:off x="63500" y="6642100"/>
            <a:ext cx="730250"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Internal Only</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3" Type="http://schemas.openxmlformats.org/officeDocument/2006/relationships/image" Target="../media/image12.png"/><Relationship Id="rId18" Type="http://schemas.openxmlformats.org/officeDocument/2006/relationships/image" Target="../media/image17.png"/><Relationship Id="rId26" Type="http://schemas.openxmlformats.org/officeDocument/2006/relationships/image" Target="../media/image25.png"/><Relationship Id="rId39" Type="http://schemas.openxmlformats.org/officeDocument/2006/relationships/image" Target="../media/image38.png"/><Relationship Id="rId21" Type="http://schemas.openxmlformats.org/officeDocument/2006/relationships/image" Target="../media/image20.png"/><Relationship Id="rId34" Type="http://schemas.openxmlformats.org/officeDocument/2006/relationships/image" Target="../media/image33.png"/><Relationship Id="rId42" Type="http://schemas.openxmlformats.org/officeDocument/2006/relationships/image" Target="../media/image41.png"/><Relationship Id="rId47" Type="http://schemas.openxmlformats.org/officeDocument/2006/relationships/image" Target="../media/image46.png"/><Relationship Id="rId50" Type="http://schemas.openxmlformats.org/officeDocument/2006/relationships/image" Target="../media/image49.png"/><Relationship Id="rId55" Type="http://schemas.openxmlformats.org/officeDocument/2006/relationships/image" Target="../media/image54.png"/><Relationship Id="rId7" Type="http://schemas.openxmlformats.org/officeDocument/2006/relationships/image" Target="../media/image6.png"/><Relationship Id="rId2" Type="http://schemas.openxmlformats.org/officeDocument/2006/relationships/image" Target="../media/image1.png"/><Relationship Id="rId16" Type="http://schemas.openxmlformats.org/officeDocument/2006/relationships/image" Target="../media/image15.png"/><Relationship Id="rId29" Type="http://schemas.openxmlformats.org/officeDocument/2006/relationships/image" Target="../media/image28.png"/><Relationship Id="rId11" Type="http://schemas.openxmlformats.org/officeDocument/2006/relationships/image" Target="../media/image10.png"/><Relationship Id="rId24" Type="http://schemas.openxmlformats.org/officeDocument/2006/relationships/image" Target="../media/image23.png"/><Relationship Id="rId32" Type="http://schemas.openxmlformats.org/officeDocument/2006/relationships/image" Target="../media/image31.png"/><Relationship Id="rId37" Type="http://schemas.openxmlformats.org/officeDocument/2006/relationships/image" Target="../media/image36.png"/><Relationship Id="rId40" Type="http://schemas.openxmlformats.org/officeDocument/2006/relationships/image" Target="../media/image39.png"/><Relationship Id="rId45" Type="http://schemas.openxmlformats.org/officeDocument/2006/relationships/image" Target="../media/image44.png"/><Relationship Id="rId53" Type="http://schemas.openxmlformats.org/officeDocument/2006/relationships/image" Target="../media/image52.png"/><Relationship Id="rId5" Type="http://schemas.openxmlformats.org/officeDocument/2006/relationships/image" Target="../media/image4.png"/><Relationship Id="rId10" Type="http://schemas.openxmlformats.org/officeDocument/2006/relationships/image" Target="../media/image9.png"/><Relationship Id="rId19" Type="http://schemas.openxmlformats.org/officeDocument/2006/relationships/image" Target="../media/image18.png"/><Relationship Id="rId31" Type="http://schemas.openxmlformats.org/officeDocument/2006/relationships/image" Target="../media/image30.png"/><Relationship Id="rId44" Type="http://schemas.openxmlformats.org/officeDocument/2006/relationships/image" Target="../media/image43.png"/><Relationship Id="rId52" Type="http://schemas.openxmlformats.org/officeDocument/2006/relationships/image" Target="../media/image51.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 Id="rId22" Type="http://schemas.openxmlformats.org/officeDocument/2006/relationships/image" Target="../media/image21.png"/><Relationship Id="rId27" Type="http://schemas.openxmlformats.org/officeDocument/2006/relationships/image" Target="../media/image26.png"/><Relationship Id="rId30" Type="http://schemas.openxmlformats.org/officeDocument/2006/relationships/image" Target="../media/image29.png"/><Relationship Id="rId35" Type="http://schemas.openxmlformats.org/officeDocument/2006/relationships/image" Target="../media/image34.png"/><Relationship Id="rId43" Type="http://schemas.openxmlformats.org/officeDocument/2006/relationships/image" Target="../media/image42.png"/><Relationship Id="rId48" Type="http://schemas.openxmlformats.org/officeDocument/2006/relationships/image" Target="../media/image47.png"/><Relationship Id="rId8" Type="http://schemas.openxmlformats.org/officeDocument/2006/relationships/image" Target="../media/image7.png"/><Relationship Id="rId51" Type="http://schemas.openxmlformats.org/officeDocument/2006/relationships/image" Target="../media/image50.png"/><Relationship Id="rId3" Type="http://schemas.openxmlformats.org/officeDocument/2006/relationships/image" Target="../media/image2.png"/><Relationship Id="rId12" Type="http://schemas.openxmlformats.org/officeDocument/2006/relationships/image" Target="../media/image11.png"/><Relationship Id="rId17" Type="http://schemas.openxmlformats.org/officeDocument/2006/relationships/image" Target="../media/image16.png"/><Relationship Id="rId25" Type="http://schemas.openxmlformats.org/officeDocument/2006/relationships/image" Target="../media/image24.png"/><Relationship Id="rId33" Type="http://schemas.openxmlformats.org/officeDocument/2006/relationships/image" Target="../media/image32.png"/><Relationship Id="rId38" Type="http://schemas.openxmlformats.org/officeDocument/2006/relationships/image" Target="../media/image37.png"/><Relationship Id="rId46" Type="http://schemas.openxmlformats.org/officeDocument/2006/relationships/image" Target="../media/image45.png"/><Relationship Id="rId20" Type="http://schemas.openxmlformats.org/officeDocument/2006/relationships/image" Target="../media/image19.png"/><Relationship Id="rId41" Type="http://schemas.openxmlformats.org/officeDocument/2006/relationships/image" Target="../media/image40.png"/><Relationship Id="rId54" Type="http://schemas.openxmlformats.org/officeDocument/2006/relationships/image" Target="../media/image53.png"/><Relationship Id="rId1" Type="http://schemas.openxmlformats.org/officeDocument/2006/relationships/slideLayout" Target="../slideLayouts/slideLayout3.xml"/><Relationship Id="rId6" Type="http://schemas.openxmlformats.org/officeDocument/2006/relationships/image" Target="../media/image5.png"/><Relationship Id="rId15" Type="http://schemas.openxmlformats.org/officeDocument/2006/relationships/image" Target="../media/image14.png"/><Relationship Id="rId23" Type="http://schemas.openxmlformats.org/officeDocument/2006/relationships/image" Target="../media/image22.png"/><Relationship Id="rId28" Type="http://schemas.openxmlformats.org/officeDocument/2006/relationships/image" Target="../media/image27.png"/><Relationship Id="rId36" Type="http://schemas.openxmlformats.org/officeDocument/2006/relationships/image" Target="../media/image35.png"/><Relationship Id="rId49" Type="http://schemas.openxmlformats.org/officeDocument/2006/relationships/image" Target="../media/image48.png"/></Relationships>
</file>

<file path=ppt/slides/_rels/slide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0706852E-5507-9E7B-79DE-72F24FBAA6DF}"/>
              </a:ext>
            </a:extLst>
          </p:cNvPr>
          <p:cNvSpPr/>
          <p:nvPr/>
        </p:nvSpPr>
        <p:spPr>
          <a:xfrm>
            <a:off x="1097280" y="1920240"/>
            <a:ext cx="9997135" cy="2011680"/>
          </a:xfrm>
          <a:prstGeom prst="rect">
            <a:avLst/>
          </a:prstGeom>
          <a:noFill/>
          <a:ln/>
        </p:spPr>
        <p:txBody>
          <a:bodyPr wrap="square" lIns="0" tIns="0" rIns="0" bIns="0" rtlCol="0" anchor="t"/>
          <a:lstStyle/>
          <a:p>
            <a:pPr>
              <a:lnSpc>
                <a:spcPct val="105000"/>
              </a:lnSpc>
            </a:pPr>
            <a:r>
              <a:rPr lang="en-US" sz="4000" b="1" dirty="0">
                <a:solidFill>
                  <a:schemeClr val="tx1">
                    <a:lumMod val="85000"/>
                    <a:lumOff val="15000"/>
                  </a:schemeClr>
                </a:solidFill>
                <a:latin typeface="Arial" pitchFamily="34" charset="0"/>
                <a:ea typeface="Arial" pitchFamily="34" charset="-122"/>
                <a:cs typeface="Arial" pitchFamily="34" charset="-120"/>
              </a:rPr>
              <a:t>Why it feels that CSS is like dating?</a:t>
            </a:r>
            <a:endParaRPr lang="en-US" sz="4000" dirty="0">
              <a:solidFill>
                <a:schemeClr val="tx1">
                  <a:lumMod val="85000"/>
                  <a:lumOff val="15000"/>
                </a:schemeClr>
              </a:solidFill>
            </a:endParaRPr>
          </a:p>
        </p:txBody>
      </p:sp>
      <p:sp>
        <p:nvSpPr>
          <p:cNvPr id="5" name="Text 2">
            <a:extLst>
              <a:ext uri="{FF2B5EF4-FFF2-40B4-BE49-F238E27FC236}">
                <a16:creationId xmlns:a16="http://schemas.microsoft.com/office/drawing/2014/main" id="{8D66257F-9719-6614-AF8F-2F2DA6658338}"/>
              </a:ext>
            </a:extLst>
          </p:cNvPr>
          <p:cNvSpPr/>
          <p:nvPr/>
        </p:nvSpPr>
        <p:spPr>
          <a:xfrm>
            <a:off x="1097280" y="4114800"/>
            <a:ext cx="7315200" cy="548640"/>
          </a:xfrm>
          <a:prstGeom prst="rect">
            <a:avLst/>
          </a:prstGeom>
          <a:noFill/>
          <a:ln/>
        </p:spPr>
        <p:txBody>
          <a:bodyPr wrap="square" lIns="0" tIns="0" rIns="0" bIns="0" rtlCol="0" anchor="ctr"/>
          <a:lstStyle/>
          <a:p>
            <a:pPr marL="0" indent="0" algn="l">
              <a:buNone/>
            </a:pPr>
            <a:r>
              <a:rPr lang="en-US" sz="2400" i="1" dirty="0">
                <a:solidFill>
                  <a:schemeClr val="tx1">
                    <a:lumMod val="85000"/>
                    <a:lumOff val="15000"/>
                  </a:schemeClr>
                </a:solidFill>
                <a:latin typeface="Arial" pitchFamily="34" charset="0"/>
                <a:ea typeface="Arial" pitchFamily="34" charset="-122"/>
                <a:cs typeface="Arial" pitchFamily="34" charset="-120"/>
              </a:rPr>
              <a:t>( wait for it… )</a:t>
            </a:r>
            <a:endParaRPr lang="en-US" sz="2400" dirty="0">
              <a:solidFill>
                <a:schemeClr val="tx1">
                  <a:lumMod val="85000"/>
                  <a:lumOff val="15000"/>
                </a:schemeClr>
              </a:solidFill>
            </a:endParaRPr>
          </a:p>
        </p:txBody>
      </p:sp>
    </p:spTree>
    <p:extLst>
      <p:ext uri="{BB962C8B-B14F-4D97-AF65-F5344CB8AC3E}">
        <p14:creationId xmlns:p14="http://schemas.microsoft.com/office/powerpoint/2010/main" val="33278901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1">
            <a:extLst>
              <a:ext uri="{FF2B5EF4-FFF2-40B4-BE49-F238E27FC236}">
                <a16:creationId xmlns:a16="http://schemas.microsoft.com/office/drawing/2014/main" id="{84594E54-C97D-DD45-4972-EFB8080D7132}"/>
              </a:ext>
            </a:extLst>
          </p:cNvPr>
          <p:cNvSpPr/>
          <p:nvPr/>
        </p:nvSpPr>
        <p:spPr>
          <a:xfrm>
            <a:off x="1097280" y="2697480"/>
            <a:ext cx="9997135" cy="1463040"/>
          </a:xfrm>
          <a:prstGeom prst="rect">
            <a:avLst/>
          </a:prstGeom>
          <a:noFill/>
          <a:ln/>
        </p:spPr>
        <p:txBody>
          <a:bodyPr wrap="square" lIns="0" tIns="0" rIns="0" bIns="0" rtlCol="0" anchor="t"/>
          <a:lstStyle/>
          <a:p>
            <a:pPr>
              <a:lnSpc>
                <a:spcPct val="105000"/>
              </a:lnSpc>
            </a:pPr>
            <a:r>
              <a:rPr lang="en-US" sz="3600" dirty="0">
                <a:solidFill>
                  <a:schemeClr val="tx1">
                    <a:lumMod val="95000"/>
                    <a:lumOff val="5000"/>
                  </a:schemeClr>
                </a:solidFill>
                <a:latin typeface="Arial" pitchFamily="34" charset="0"/>
                <a:ea typeface="Arial" pitchFamily="34" charset="-122"/>
                <a:cs typeface="Arial" pitchFamily="34" charset="-120"/>
              </a:rPr>
              <a:t>You think you've finally found the right one, then </a:t>
            </a:r>
            <a:r>
              <a:rPr lang="en-US" sz="3600" dirty="0">
                <a:solidFill>
                  <a:schemeClr val="tx1">
                    <a:lumMod val="95000"/>
                    <a:lumOff val="5000"/>
                  </a:schemeClr>
                </a:solidFill>
                <a:latin typeface="Cascadia Code" panose="020B0609020000020004" pitchFamily="49" charset="0"/>
                <a:ea typeface="Arial" pitchFamily="34" charset="-122"/>
                <a:cs typeface="Cascadia Code" panose="020B0609020000020004" pitchFamily="49" charset="0"/>
              </a:rPr>
              <a:t>!important </a:t>
            </a:r>
            <a:r>
              <a:rPr lang="en-US" sz="3600" dirty="0">
                <a:solidFill>
                  <a:schemeClr val="tx1">
                    <a:lumMod val="95000"/>
                    <a:lumOff val="5000"/>
                  </a:schemeClr>
                </a:solidFill>
                <a:latin typeface="Arial" pitchFamily="34" charset="0"/>
                <a:ea typeface="Arial" pitchFamily="34" charset="-122"/>
                <a:cs typeface="Arial" pitchFamily="34" charset="-120"/>
              </a:rPr>
              <a:t>shows up.</a:t>
            </a:r>
            <a:endParaRPr lang="en-US" sz="3600" dirty="0">
              <a:solidFill>
                <a:schemeClr val="tx1">
                  <a:lumMod val="95000"/>
                  <a:lumOff val="5000"/>
                </a:schemeClr>
              </a:solidFill>
            </a:endParaRPr>
          </a:p>
        </p:txBody>
      </p:sp>
    </p:spTree>
    <p:extLst>
      <p:ext uri="{BB962C8B-B14F-4D97-AF65-F5344CB8AC3E}">
        <p14:creationId xmlns:p14="http://schemas.microsoft.com/office/powerpoint/2010/main" val="1288318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2ABA5A76-1081-2914-0CEA-5010A114DB88}"/>
              </a:ext>
            </a:extLst>
          </p:cNvPr>
          <p:cNvSpPr/>
          <p:nvPr/>
        </p:nvSpPr>
        <p:spPr>
          <a:xfrm>
            <a:off x="594360" y="1874520"/>
            <a:ext cx="11002975" cy="2194560"/>
          </a:xfrm>
          <a:prstGeom prst="rect">
            <a:avLst/>
          </a:prstGeom>
          <a:noFill/>
          <a:ln/>
        </p:spPr>
        <p:txBody>
          <a:bodyPr wrap="square" lIns="0" tIns="0" rIns="0" bIns="0" rtlCol="0" anchor="t"/>
          <a:lstStyle/>
          <a:p>
            <a:pPr marL="0" indent="0" algn="l">
              <a:lnSpc>
                <a:spcPct val="102000"/>
              </a:lnSpc>
              <a:buNone/>
            </a:pPr>
            <a:r>
              <a:rPr lang="en-US" sz="5200" b="1" dirty="0">
                <a:solidFill>
                  <a:schemeClr val="tx1">
                    <a:lumMod val="75000"/>
                    <a:lumOff val="25000"/>
                  </a:schemeClr>
                </a:solidFill>
                <a:latin typeface="Arial" pitchFamily="34" charset="0"/>
                <a:ea typeface="Arial" pitchFamily="34" charset="-122"/>
                <a:cs typeface="Arial" pitchFamily="34" charset="-120"/>
              </a:rPr>
              <a:t>Why LLMs &amp; JS frameworks
love Tailwind CSS</a:t>
            </a:r>
            <a:endParaRPr lang="en-US" sz="5200" dirty="0">
              <a:solidFill>
                <a:schemeClr val="tx1">
                  <a:lumMod val="75000"/>
                  <a:lumOff val="25000"/>
                </a:schemeClr>
              </a:solidFill>
            </a:endParaRPr>
          </a:p>
        </p:txBody>
      </p:sp>
      <p:sp>
        <p:nvSpPr>
          <p:cNvPr id="5" name="Text 1">
            <a:extLst>
              <a:ext uri="{FF2B5EF4-FFF2-40B4-BE49-F238E27FC236}">
                <a16:creationId xmlns:a16="http://schemas.microsoft.com/office/drawing/2014/main" id="{8D0B2F97-ADC1-64C8-0922-FFC85F3F5319}"/>
              </a:ext>
            </a:extLst>
          </p:cNvPr>
          <p:cNvSpPr/>
          <p:nvPr/>
        </p:nvSpPr>
        <p:spPr>
          <a:xfrm>
            <a:off x="594360" y="3977640"/>
            <a:ext cx="11002975" cy="548640"/>
          </a:xfrm>
          <a:prstGeom prst="rect">
            <a:avLst/>
          </a:prstGeom>
          <a:noFill/>
          <a:ln/>
        </p:spPr>
        <p:txBody>
          <a:bodyPr wrap="square" lIns="0" tIns="0" rIns="0" bIns="0" rtlCol="0" anchor="ctr"/>
          <a:lstStyle/>
          <a:p>
            <a:pPr marL="0" indent="0" algn="l">
              <a:buNone/>
            </a:pPr>
            <a:r>
              <a:rPr lang="en-US" sz="2800" i="1" dirty="0">
                <a:solidFill>
                  <a:srgbClr val="A6A6A6"/>
                </a:solidFill>
                <a:latin typeface="Arial" pitchFamily="34" charset="0"/>
                <a:ea typeface="Arial" pitchFamily="34" charset="-122"/>
                <a:cs typeface="Arial" pitchFamily="34" charset="-120"/>
              </a:rPr>
              <a:t>…and why you should too</a:t>
            </a:r>
            <a:endParaRPr lang="en-US" sz="2800" dirty="0"/>
          </a:p>
        </p:txBody>
      </p:sp>
      <p:sp>
        <p:nvSpPr>
          <p:cNvPr id="7" name="Text 2">
            <a:extLst>
              <a:ext uri="{FF2B5EF4-FFF2-40B4-BE49-F238E27FC236}">
                <a16:creationId xmlns:a16="http://schemas.microsoft.com/office/drawing/2014/main" id="{86804EAF-45AC-F6A9-2492-A03DCE57380B}"/>
              </a:ext>
            </a:extLst>
          </p:cNvPr>
          <p:cNvSpPr/>
          <p:nvPr/>
        </p:nvSpPr>
        <p:spPr>
          <a:xfrm>
            <a:off x="594360" y="4892040"/>
            <a:ext cx="11002975" cy="780972"/>
          </a:xfrm>
          <a:prstGeom prst="rect">
            <a:avLst/>
          </a:prstGeom>
          <a:noFill/>
          <a:ln/>
        </p:spPr>
        <p:txBody>
          <a:bodyPr wrap="square" lIns="0" tIns="0" rIns="0" bIns="0" rtlCol="0" anchor="ctr"/>
          <a:lstStyle/>
          <a:p>
            <a:pPr marL="0" indent="0" algn="l">
              <a:lnSpc>
                <a:spcPct val="150000"/>
              </a:lnSpc>
              <a:buNone/>
            </a:pPr>
            <a:r>
              <a:rPr lang="en-US" sz="1600" b="1" dirty="0">
                <a:solidFill>
                  <a:schemeClr val="tx1">
                    <a:lumMod val="95000"/>
                    <a:lumOff val="5000"/>
                  </a:schemeClr>
                </a:solidFill>
                <a:latin typeface="Arial" pitchFamily="34" charset="0"/>
                <a:ea typeface="Arial" pitchFamily="34" charset="-122"/>
                <a:cs typeface="Arial" pitchFamily="34" charset="-120"/>
              </a:rPr>
              <a:t>@DevlinDuldulao</a:t>
            </a:r>
          </a:p>
          <a:p>
            <a:pPr marL="0" indent="0" algn="l">
              <a:lnSpc>
                <a:spcPct val="150000"/>
              </a:lnSpc>
              <a:buNone/>
            </a:pPr>
            <a:r>
              <a:rPr lang="en-US" sz="1600" b="1" dirty="0">
                <a:solidFill>
                  <a:schemeClr val="tx1">
                    <a:lumMod val="95000"/>
                    <a:lumOff val="5000"/>
                  </a:schemeClr>
                </a:solidFill>
                <a:latin typeface="Arial" pitchFamily="34" charset="0"/>
                <a:ea typeface="Arial" pitchFamily="34" charset="-122"/>
                <a:cs typeface="Arial" pitchFamily="34" charset="-120"/>
              </a:rPr>
              <a:t>Senior consultant at SoftwareOne Norway</a:t>
            </a:r>
          </a:p>
        </p:txBody>
      </p:sp>
    </p:spTree>
    <p:extLst>
      <p:ext uri="{BB962C8B-B14F-4D97-AF65-F5344CB8AC3E}">
        <p14:creationId xmlns:p14="http://schemas.microsoft.com/office/powerpoint/2010/main" val="12714989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Google Shape;86;p19"/>
          <p:cNvSpPr/>
          <p:nvPr/>
        </p:nvSpPr>
        <p:spPr>
          <a:xfrm>
            <a:off x="31750" y="31750"/>
            <a:ext cx="12128551" cy="1220101"/>
          </a:xfrm>
          <a:prstGeom prst="rect">
            <a:avLst/>
          </a:prstGeom>
          <a:ln w="127000">
            <a:solidFill>
              <a:srgbClr val="034D40"/>
            </a:solidFill>
          </a:ln>
        </p:spPr>
        <p:txBody>
          <a:bodyPr lIns="0" tIns="0" rIns="0" bIns="0" anchor="ctr"/>
          <a:lstStyle/>
          <a:p>
            <a:pPr algn="ctr">
              <a:lnSpc>
                <a:spcPct val="90000"/>
              </a:lnSpc>
              <a:defRPr sz="4800">
                <a:latin typeface="Helvetica Neue"/>
                <a:ea typeface="Helvetica Neue"/>
                <a:cs typeface="Helvetica Neue"/>
                <a:sym typeface="Helvetica Neue"/>
              </a:defRPr>
            </a:pPr>
            <a:endParaRPr sz="2400"/>
          </a:p>
        </p:txBody>
      </p:sp>
      <p:sp>
        <p:nvSpPr>
          <p:cNvPr id="172" name="Google Shape;87;p19"/>
          <p:cNvSpPr txBox="1"/>
          <p:nvPr/>
        </p:nvSpPr>
        <p:spPr>
          <a:xfrm>
            <a:off x="106750" y="74076"/>
            <a:ext cx="11978400" cy="27007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lnSpc>
                <a:spcPct val="90000"/>
              </a:lnSpc>
              <a:defRPr sz="3900">
                <a:solidFill>
                  <a:srgbClr val="034D40"/>
                </a:solidFill>
                <a:latin typeface="Arial Black"/>
                <a:ea typeface="Arial Black"/>
                <a:cs typeface="Arial Black"/>
                <a:sym typeface="Arial Black"/>
              </a:defRPr>
            </a:lvl1pPr>
          </a:lstStyle>
          <a:p>
            <a:r>
              <a:rPr sz="1950"/>
              <a:t>Titanium Sponsors</a:t>
            </a:r>
          </a:p>
        </p:txBody>
      </p:sp>
      <p:grpSp>
        <p:nvGrpSpPr>
          <p:cNvPr id="176" name="Google Shape;88;p19"/>
          <p:cNvGrpSpPr/>
          <p:nvPr/>
        </p:nvGrpSpPr>
        <p:grpSpPr>
          <a:xfrm>
            <a:off x="1656137" y="393862"/>
            <a:ext cx="9500364" cy="782324"/>
            <a:chOff x="0" y="0"/>
            <a:chExt cx="19000725" cy="1564645"/>
          </a:xfrm>
        </p:grpSpPr>
        <p:pic>
          <p:nvPicPr>
            <p:cNvPr id="173" name="Google Shape;89;p19" descr="Google Shape;89;p19"/>
            <p:cNvPicPr>
              <a:picLocks noChangeAspect="1"/>
            </p:cNvPicPr>
            <p:nvPr/>
          </p:nvPicPr>
          <p:blipFill>
            <a:blip r:embed="rId2"/>
            <a:stretch>
              <a:fillRect/>
            </a:stretch>
          </p:blipFill>
          <p:spPr>
            <a:xfrm>
              <a:off x="-1" y="0"/>
              <a:ext cx="4629130" cy="1564646"/>
            </a:xfrm>
            <a:prstGeom prst="rect">
              <a:avLst/>
            </a:prstGeom>
            <a:ln w="12700" cap="flat">
              <a:noFill/>
              <a:miter lim="400000"/>
            </a:ln>
            <a:effectLst/>
          </p:spPr>
        </p:pic>
        <p:pic>
          <p:nvPicPr>
            <p:cNvPr id="174" name="Google Shape;90;p19" descr="Google Shape;90;p19"/>
            <p:cNvPicPr>
              <a:picLocks noChangeAspect="1"/>
            </p:cNvPicPr>
            <p:nvPr/>
          </p:nvPicPr>
          <p:blipFill>
            <a:blip r:embed="rId3"/>
            <a:stretch>
              <a:fillRect/>
            </a:stretch>
          </p:blipFill>
          <p:spPr>
            <a:xfrm>
              <a:off x="5091513" y="0"/>
              <a:ext cx="4656681" cy="1564646"/>
            </a:xfrm>
            <a:prstGeom prst="rect">
              <a:avLst/>
            </a:prstGeom>
            <a:ln w="12700" cap="flat">
              <a:noFill/>
              <a:miter lim="400000"/>
            </a:ln>
            <a:effectLst/>
          </p:spPr>
        </p:pic>
        <p:pic>
          <p:nvPicPr>
            <p:cNvPr id="175" name="Google Shape;91;p19" descr="Google Shape;91;p19"/>
            <p:cNvPicPr>
              <a:picLocks noChangeAspect="1"/>
            </p:cNvPicPr>
            <p:nvPr/>
          </p:nvPicPr>
          <p:blipFill>
            <a:blip r:embed="rId4"/>
            <a:stretch>
              <a:fillRect/>
            </a:stretch>
          </p:blipFill>
          <p:spPr>
            <a:xfrm>
              <a:off x="10210582" y="0"/>
              <a:ext cx="8790144" cy="1564646"/>
            </a:xfrm>
            <a:prstGeom prst="rect">
              <a:avLst/>
            </a:prstGeom>
            <a:ln w="12700" cap="flat">
              <a:noFill/>
              <a:miter lim="400000"/>
            </a:ln>
            <a:effectLst/>
          </p:spPr>
        </p:pic>
      </p:grpSp>
      <p:sp>
        <p:nvSpPr>
          <p:cNvPr id="177" name="Google Shape;92;p19"/>
          <p:cNvSpPr/>
          <p:nvPr/>
        </p:nvSpPr>
        <p:spPr>
          <a:xfrm>
            <a:off x="39431" y="1245755"/>
            <a:ext cx="12128551" cy="1625551"/>
          </a:xfrm>
          <a:prstGeom prst="rect">
            <a:avLst/>
          </a:prstGeom>
          <a:ln w="127000">
            <a:solidFill>
              <a:srgbClr val="034D40"/>
            </a:solidFill>
          </a:ln>
        </p:spPr>
        <p:txBody>
          <a:bodyPr lIns="0" tIns="0" rIns="0" bIns="0" anchor="ctr"/>
          <a:lstStyle/>
          <a:p>
            <a:pPr algn="ctr">
              <a:lnSpc>
                <a:spcPct val="90000"/>
              </a:lnSpc>
              <a:defRPr sz="4800">
                <a:latin typeface="Helvetica Neue"/>
                <a:ea typeface="Helvetica Neue"/>
                <a:cs typeface="Helvetica Neue"/>
                <a:sym typeface="Helvetica Neue"/>
              </a:defRPr>
            </a:pPr>
            <a:endParaRPr sz="2400"/>
          </a:p>
        </p:txBody>
      </p:sp>
      <p:sp>
        <p:nvSpPr>
          <p:cNvPr id="178" name="Google Shape;93;p19"/>
          <p:cNvSpPr txBox="1"/>
          <p:nvPr/>
        </p:nvSpPr>
        <p:spPr>
          <a:xfrm rot="16200000">
            <a:off x="10888581" y="1794196"/>
            <a:ext cx="1462951" cy="7104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lgn="ctr">
              <a:lnSpc>
                <a:spcPct val="90000"/>
              </a:lnSpc>
              <a:defRPr sz="3000">
                <a:solidFill>
                  <a:srgbClr val="034D40"/>
                </a:solidFill>
                <a:latin typeface="Arial Black"/>
                <a:ea typeface="Arial Black"/>
                <a:cs typeface="Arial Black"/>
                <a:sym typeface="Arial Black"/>
              </a:defRPr>
            </a:pPr>
            <a:r>
              <a:rPr sz="1500"/>
              <a:t>Platinum</a:t>
            </a:r>
          </a:p>
          <a:p>
            <a:pPr algn="ctr">
              <a:lnSpc>
                <a:spcPct val="90000"/>
              </a:lnSpc>
              <a:spcBef>
                <a:spcPts val="2250"/>
              </a:spcBef>
              <a:defRPr sz="3000">
                <a:solidFill>
                  <a:srgbClr val="034D40"/>
                </a:solidFill>
                <a:latin typeface="Arial Black"/>
                <a:ea typeface="Arial Black"/>
                <a:cs typeface="Arial Black"/>
                <a:sym typeface="Arial Black"/>
              </a:defRPr>
            </a:pPr>
            <a:r>
              <a:rPr sz="1500"/>
              <a:t> Sponsors</a:t>
            </a:r>
          </a:p>
        </p:txBody>
      </p:sp>
      <p:pic>
        <p:nvPicPr>
          <p:cNvPr id="179" name="Google Shape;94;p19" descr="Google Shape;94;p19"/>
          <p:cNvPicPr>
            <a:picLocks noChangeAspect="1"/>
          </p:cNvPicPr>
          <p:nvPr/>
        </p:nvPicPr>
        <p:blipFill>
          <a:blip r:embed="rId5"/>
          <a:stretch>
            <a:fillRect/>
          </a:stretch>
        </p:blipFill>
        <p:spPr>
          <a:xfrm>
            <a:off x="1748549" y="1437907"/>
            <a:ext cx="2059201" cy="696018"/>
          </a:xfrm>
          <a:prstGeom prst="rect">
            <a:avLst/>
          </a:prstGeom>
          <a:ln w="12700">
            <a:miter lim="400000"/>
          </a:ln>
        </p:spPr>
      </p:pic>
      <p:pic>
        <p:nvPicPr>
          <p:cNvPr id="180" name="Google Shape;95;p19" descr="Google Shape;95;p19"/>
          <p:cNvPicPr>
            <a:picLocks noChangeAspect="1"/>
          </p:cNvPicPr>
          <p:nvPr/>
        </p:nvPicPr>
        <p:blipFill>
          <a:blip r:embed="rId6"/>
          <a:stretch>
            <a:fillRect/>
          </a:stretch>
        </p:blipFill>
        <p:spPr>
          <a:xfrm>
            <a:off x="4034196" y="1379038"/>
            <a:ext cx="2198340" cy="650709"/>
          </a:xfrm>
          <a:prstGeom prst="rect">
            <a:avLst/>
          </a:prstGeom>
          <a:ln w="12700">
            <a:miter lim="400000"/>
          </a:ln>
        </p:spPr>
      </p:pic>
      <p:pic>
        <p:nvPicPr>
          <p:cNvPr id="181" name="Google Shape;96;p19" descr="Google Shape;96;p19"/>
          <p:cNvPicPr>
            <a:picLocks noChangeAspect="1"/>
          </p:cNvPicPr>
          <p:nvPr/>
        </p:nvPicPr>
        <p:blipFill>
          <a:blip r:embed="rId7"/>
          <a:stretch>
            <a:fillRect/>
          </a:stretch>
        </p:blipFill>
        <p:spPr>
          <a:xfrm>
            <a:off x="6511506" y="1354887"/>
            <a:ext cx="2314601" cy="699015"/>
          </a:xfrm>
          <a:prstGeom prst="rect">
            <a:avLst/>
          </a:prstGeom>
          <a:ln w="12700">
            <a:miter lim="400000"/>
          </a:ln>
        </p:spPr>
      </p:pic>
      <p:pic>
        <p:nvPicPr>
          <p:cNvPr id="182" name="Google Shape;97;p19" descr="Google Shape;97;p19"/>
          <p:cNvPicPr>
            <a:picLocks noChangeAspect="1"/>
          </p:cNvPicPr>
          <p:nvPr/>
        </p:nvPicPr>
        <p:blipFill>
          <a:blip r:embed="rId8"/>
          <a:stretch>
            <a:fillRect/>
          </a:stretch>
        </p:blipFill>
        <p:spPr>
          <a:xfrm>
            <a:off x="8842569" y="1398637"/>
            <a:ext cx="2059204" cy="650709"/>
          </a:xfrm>
          <a:prstGeom prst="rect">
            <a:avLst/>
          </a:prstGeom>
          <a:ln w="12700">
            <a:miter lim="400000"/>
          </a:ln>
        </p:spPr>
      </p:pic>
      <p:pic>
        <p:nvPicPr>
          <p:cNvPr id="183" name="Google Shape;98;p19" descr="Google Shape;98;p19"/>
          <p:cNvPicPr>
            <a:picLocks noChangeAspect="1"/>
          </p:cNvPicPr>
          <p:nvPr/>
        </p:nvPicPr>
        <p:blipFill>
          <a:blip r:embed="rId9"/>
          <a:stretch>
            <a:fillRect/>
          </a:stretch>
        </p:blipFill>
        <p:spPr>
          <a:xfrm>
            <a:off x="230325" y="1578831"/>
            <a:ext cx="1425813" cy="975263"/>
          </a:xfrm>
          <a:prstGeom prst="rect">
            <a:avLst/>
          </a:prstGeom>
          <a:ln w="12700">
            <a:miter lim="400000"/>
          </a:ln>
        </p:spPr>
      </p:pic>
      <p:pic>
        <p:nvPicPr>
          <p:cNvPr id="184" name="Google Shape;99;p19" descr="Google Shape;99;p19"/>
          <p:cNvPicPr>
            <a:picLocks noChangeAspect="1"/>
          </p:cNvPicPr>
          <p:nvPr/>
        </p:nvPicPr>
        <p:blipFill>
          <a:blip r:embed="rId10"/>
          <a:stretch>
            <a:fillRect/>
          </a:stretch>
        </p:blipFill>
        <p:spPr>
          <a:xfrm>
            <a:off x="1741500" y="2284676"/>
            <a:ext cx="2457381" cy="196591"/>
          </a:xfrm>
          <a:prstGeom prst="rect">
            <a:avLst/>
          </a:prstGeom>
          <a:ln w="12700">
            <a:miter lim="400000"/>
          </a:ln>
        </p:spPr>
      </p:pic>
      <p:pic>
        <p:nvPicPr>
          <p:cNvPr id="185" name="Google Shape;100;p19" descr="Google Shape;100;p19"/>
          <p:cNvPicPr>
            <a:picLocks noChangeAspect="1"/>
          </p:cNvPicPr>
          <p:nvPr/>
        </p:nvPicPr>
        <p:blipFill>
          <a:blip r:embed="rId11"/>
          <a:stretch>
            <a:fillRect/>
          </a:stretch>
        </p:blipFill>
        <p:spPr>
          <a:xfrm>
            <a:off x="6220894" y="2113636"/>
            <a:ext cx="1763244" cy="595968"/>
          </a:xfrm>
          <a:prstGeom prst="rect">
            <a:avLst/>
          </a:prstGeom>
          <a:ln w="12700">
            <a:miter lim="400000"/>
          </a:ln>
        </p:spPr>
      </p:pic>
      <p:sp>
        <p:nvSpPr>
          <p:cNvPr id="186" name="Google Shape;101;p19"/>
          <p:cNvSpPr/>
          <p:nvPr/>
        </p:nvSpPr>
        <p:spPr>
          <a:xfrm>
            <a:off x="31675" y="2876750"/>
            <a:ext cx="12128551" cy="1409101"/>
          </a:xfrm>
          <a:prstGeom prst="rect">
            <a:avLst/>
          </a:prstGeom>
          <a:ln w="127000">
            <a:solidFill>
              <a:srgbClr val="034D40"/>
            </a:solidFill>
          </a:ln>
        </p:spPr>
        <p:txBody>
          <a:bodyPr lIns="0" tIns="0" rIns="0" bIns="0" anchor="ctr"/>
          <a:lstStyle/>
          <a:p>
            <a:pPr algn="ctr">
              <a:lnSpc>
                <a:spcPct val="90000"/>
              </a:lnSpc>
              <a:defRPr sz="4800">
                <a:latin typeface="Helvetica Neue"/>
                <a:ea typeface="Helvetica Neue"/>
                <a:cs typeface="Helvetica Neue"/>
                <a:sym typeface="Helvetica Neue"/>
              </a:defRPr>
            </a:pPr>
            <a:endParaRPr sz="2400"/>
          </a:p>
        </p:txBody>
      </p:sp>
      <p:sp>
        <p:nvSpPr>
          <p:cNvPr id="187" name="Google Shape;102;p19"/>
          <p:cNvSpPr txBox="1"/>
          <p:nvPr/>
        </p:nvSpPr>
        <p:spPr>
          <a:xfrm rot="16200000">
            <a:off x="-111351" y="3162137"/>
            <a:ext cx="1126501" cy="696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lgn="ctr">
              <a:lnSpc>
                <a:spcPct val="90000"/>
              </a:lnSpc>
              <a:defRPr sz="2900">
                <a:solidFill>
                  <a:srgbClr val="034D40"/>
                </a:solidFill>
                <a:latin typeface="Arial Black"/>
                <a:ea typeface="Arial Black"/>
                <a:cs typeface="Arial Black"/>
                <a:sym typeface="Arial Black"/>
              </a:defRPr>
            </a:pPr>
            <a:r>
              <a:rPr sz="1450"/>
              <a:t>Gold</a:t>
            </a:r>
            <a:endParaRPr sz="650"/>
          </a:p>
          <a:p>
            <a:pPr algn="ctr">
              <a:lnSpc>
                <a:spcPct val="90000"/>
              </a:lnSpc>
              <a:spcBef>
                <a:spcPts val="2250"/>
              </a:spcBef>
              <a:defRPr sz="2900">
                <a:solidFill>
                  <a:srgbClr val="034D40"/>
                </a:solidFill>
                <a:latin typeface="Arial Black"/>
                <a:ea typeface="Arial Black"/>
                <a:cs typeface="Arial Black"/>
                <a:sym typeface="Arial Black"/>
              </a:defRPr>
            </a:pPr>
            <a:r>
              <a:rPr sz="1450"/>
              <a:t> Sponsors</a:t>
            </a:r>
          </a:p>
        </p:txBody>
      </p:sp>
      <p:pic>
        <p:nvPicPr>
          <p:cNvPr id="188" name="Google Shape;103;p19" descr="Google Shape;103;p19"/>
          <p:cNvPicPr>
            <a:picLocks noChangeAspect="1"/>
          </p:cNvPicPr>
          <p:nvPr/>
        </p:nvPicPr>
        <p:blipFill>
          <a:blip r:embed="rId12"/>
          <a:stretch>
            <a:fillRect/>
          </a:stretch>
        </p:blipFill>
        <p:spPr>
          <a:xfrm>
            <a:off x="2315477" y="2967946"/>
            <a:ext cx="1527479" cy="452134"/>
          </a:xfrm>
          <a:prstGeom prst="rect">
            <a:avLst/>
          </a:prstGeom>
          <a:ln w="12700">
            <a:miter lim="400000"/>
          </a:ln>
        </p:spPr>
      </p:pic>
      <p:pic>
        <p:nvPicPr>
          <p:cNvPr id="189" name="Google Shape;104;p19" descr="Google Shape;104;p19"/>
          <p:cNvPicPr>
            <a:picLocks noChangeAspect="1"/>
          </p:cNvPicPr>
          <p:nvPr/>
        </p:nvPicPr>
        <p:blipFill>
          <a:blip r:embed="rId13"/>
          <a:stretch>
            <a:fillRect/>
          </a:stretch>
        </p:blipFill>
        <p:spPr>
          <a:xfrm>
            <a:off x="954676" y="3592719"/>
            <a:ext cx="1399708" cy="559884"/>
          </a:xfrm>
          <a:prstGeom prst="rect">
            <a:avLst/>
          </a:prstGeom>
          <a:ln w="12700">
            <a:miter lim="400000"/>
          </a:ln>
        </p:spPr>
      </p:pic>
      <p:pic>
        <p:nvPicPr>
          <p:cNvPr id="190" name="Google Shape;106;p19" descr="Google Shape;106;p19"/>
          <p:cNvPicPr>
            <a:picLocks noChangeAspect="1"/>
          </p:cNvPicPr>
          <p:nvPr/>
        </p:nvPicPr>
        <p:blipFill>
          <a:blip r:embed="rId14"/>
          <a:stretch>
            <a:fillRect/>
          </a:stretch>
        </p:blipFill>
        <p:spPr>
          <a:xfrm>
            <a:off x="7353878" y="3690157"/>
            <a:ext cx="1552842" cy="521755"/>
          </a:xfrm>
          <a:prstGeom prst="rect">
            <a:avLst/>
          </a:prstGeom>
          <a:ln w="12700">
            <a:miter lim="400000"/>
          </a:ln>
        </p:spPr>
      </p:pic>
      <p:pic>
        <p:nvPicPr>
          <p:cNvPr id="191" name="Google Shape;107;p19" descr="Google Shape;107;p19"/>
          <p:cNvPicPr>
            <a:picLocks noChangeAspect="1"/>
          </p:cNvPicPr>
          <p:nvPr/>
        </p:nvPicPr>
        <p:blipFill>
          <a:blip r:embed="rId15"/>
          <a:stretch>
            <a:fillRect/>
          </a:stretch>
        </p:blipFill>
        <p:spPr>
          <a:xfrm>
            <a:off x="821371" y="3017970"/>
            <a:ext cx="1666320" cy="559884"/>
          </a:xfrm>
          <a:prstGeom prst="rect">
            <a:avLst/>
          </a:prstGeom>
          <a:ln w="12700">
            <a:miter lim="400000"/>
          </a:ln>
        </p:spPr>
      </p:pic>
      <p:pic>
        <p:nvPicPr>
          <p:cNvPr id="192" name="Google Shape;108;p19" descr="Google Shape;108;p19"/>
          <p:cNvPicPr>
            <a:picLocks noChangeAspect="1"/>
          </p:cNvPicPr>
          <p:nvPr/>
        </p:nvPicPr>
        <p:blipFill>
          <a:blip r:embed="rId16"/>
          <a:stretch>
            <a:fillRect/>
          </a:stretch>
        </p:blipFill>
        <p:spPr>
          <a:xfrm>
            <a:off x="6059985" y="3004119"/>
            <a:ext cx="1278272" cy="559884"/>
          </a:xfrm>
          <a:prstGeom prst="rect">
            <a:avLst/>
          </a:prstGeom>
          <a:ln w="12700">
            <a:miter lim="400000"/>
          </a:ln>
        </p:spPr>
      </p:pic>
      <p:pic>
        <p:nvPicPr>
          <p:cNvPr id="193" name="Google Shape;109;p19" descr="Google Shape;109;p19"/>
          <p:cNvPicPr>
            <a:picLocks noChangeAspect="1"/>
          </p:cNvPicPr>
          <p:nvPr/>
        </p:nvPicPr>
        <p:blipFill>
          <a:blip r:embed="rId17"/>
          <a:stretch>
            <a:fillRect/>
          </a:stretch>
        </p:blipFill>
        <p:spPr>
          <a:xfrm>
            <a:off x="2195542" y="3611023"/>
            <a:ext cx="1676297" cy="559884"/>
          </a:xfrm>
          <a:prstGeom prst="rect">
            <a:avLst/>
          </a:prstGeom>
          <a:ln w="12700">
            <a:miter lim="400000"/>
          </a:ln>
        </p:spPr>
      </p:pic>
      <p:sp>
        <p:nvSpPr>
          <p:cNvPr id="194" name="Google Shape;110;p19"/>
          <p:cNvSpPr/>
          <p:nvPr/>
        </p:nvSpPr>
        <p:spPr>
          <a:xfrm>
            <a:off x="31750" y="4285850"/>
            <a:ext cx="12128551" cy="1828651"/>
          </a:xfrm>
          <a:prstGeom prst="rect">
            <a:avLst/>
          </a:prstGeom>
          <a:ln w="127000">
            <a:solidFill>
              <a:srgbClr val="034D40"/>
            </a:solidFill>
          </a:ln>
        </p:spPr>
        <p:txBody>
          <a:bodyPr lIns="0" tIns="0" rIns="0" bIns="0" anchor="ctr"/>
          <a:lstStyle/>
          <a:p>
            <a:pPr algn="ctr">
              <a:lnSpc>
                <a:spcPct val="90000"/>
              </a:lnSpc>
              <a:defRPr sz="4800">
                <a:latin typeface="Helvetica Neue"/>
                <a:ea typeface="Helvetica Neue"/>
                <a:cs typeface="Helvetica Neue"/>
                <a:sym typeface="Helvetica Neue"/>
              </a:defRPr>
            </a:pPr>
            <a:endParaRPr sz="2400"/>
          </a:p>
        </p:txBody>
      </p:sp>
      <p:sp>
        <p:nvSpPr>
          <p:cNvPr id="195" name="Google Shape;111;p19"/>
          <p:cNvSpPr txBox="1"/>
          <p:nvPr/>
        </p:nvSpPr>
        <p:spPr>
          <a:xfrm>
            <a:off x="106750" y="4375789"/>
            <a:ext cx="2493300" cy="2492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lnSpc>
                <a:spcPct val="90000"/>
              </a:lnSpc>
              <a:defRPr sz="3600">
                <a:solidFill>
                  <a:srgbClr val="034D40"/>
                </a:solidFill>
                <a:latin typeface="Arial Black"/>
                <a:ea typeface="Arial Black"/>
                <a:cs typeface="Arial Black"/>
                <a:sym typeface="Arial Black"/>
              </a:defRPr>
            </a:lvl1pPr>
          </a:lstStyle>
          <a:p>
            <a:r>
              <a:rPr sz="1800"/>
              <a:t>Friends of KCDC</a:t>
            </a:r>
          </a:p>
        </p:txBody>
      </p:sp>
      <p:pic>
        <p:nvPicPr>
          <p:cNvPr id="196" name="Google Shape;112;p19" descr="Google Shape;112;p19"/>
          <p:cNvPicPr>
            <a:picLocks noChangeAspect="1"/>
          </p:cNvPicPr>
          <p:nvPr/>
        </p:nvPicPr>
        <p:blipFill>
          <a:blip r:embed="rId18"/>
          <a:stretch>
            <a:fillRect/>
          </a:stretch>
        </p:blipFill>
        <p:spPr>
          <a:xfrm>
            <a:off x="2674146" y="4505668"/>
            <a:ext cx="1174160" cy="309979"/>
          </a:xfrm>
          <a:prstGeom prst="rect">
            <a:avLst/>
          </a:prstGeom>
          <a:ln w="12700">
            <a:miter lim="400000"/>
          </a:ln>
        </p:spPr>
      </p:pic>
      <p:pic>
        <p:nvPicPr>
          <p:cNvPr id="197" name="Google Shape;113;p19" descr="Google Shape;113;p19"/>
          <p:cNvPicPr>
            <a:picLocks noChangeAspect="1"/>
          </p:cNvPicPr>
          <p:nvPr/>
        </p:nvPicPr>
        <p:blipFill>
          <a:blip r:embed="rId19"/>
          <a:stretch>
            <a:fillRect/>
          </a:stretch>
        </p:blipFill>
        <p:spPr>
          <a:xfrm>
            <a:off x="4084396" y="4452269"/>
            <a:ext cx="464039" cy="309979"/>
          </a:xfrm>
          <a:prstGeom prst="rect">
            <a:avLst/>
          </a:prstGeom>
          <a:ln w="12700">
            <a:miter lim="400000"/>
          </a:ln>
        </p:spPr>
      </p:pic>
      <p:pic>
        <p:nvPicPr>
          <p:cNvPr id="198" name="Google Shape;114;p19" descr="Google Shape;114;p19"/>
          <p:cNvPicPr>
            <a:picLocks noChangeAspect="1"/>
          </p:cNvPicPr>
          <p:nvPr/>
        </p:nvPicPr>
        <p:blipFill>
          <a:blip r:embed="rId20"/>
          <a:stretch>
            <a:fillRect/>
          </a:stretch>
        </p:blipFill>
        <p:spPr>
          <a:xfrm>
            <a:off x="4784527" y="4439144"/>
            <a:ext cx="742463" cy="309979"/>
          </a:xfrm>
          <a:prstGeom prst="rect">
            <a:avLst/>
          </a:prstGeom>
          <a:ln w="12700">
            <a:miter lim="400000"/>
          </a:ln>
        </p:spPr>
      </p:pic>
      <p:pic>
        <p:nvPicPr>
          <p:cNvPr id="199" name="Google Shape;115;p19" descr="Google Shape;115;p19"/>
          <p:cNvPicPr>
            <a:picLocks noChangeAspect="1"/>
          </p:cNvPicPr>
          <p:nvPr/>
        </p:nvPicPr>
        <p:blipFill>
          <a:blip r:embed="rId21"/>
          <a:stretch>
            <a:fillRect/>
          </a:stretch>
        </p:blipFill>
        <p:spPr>
          <a:xfrm>
            <a:off x="5611726" y="4474661"/>
            <a:ext cx="1342376" cy="238944"/>
          </a:xfrm>
          <a:prstGeom prst="rect">
            <a:avLst/>
          </a:prstGeom>
          <a:ln w="12700">
            <a:miter lim="400000"/>
          </a:ln>
        </p:spPr>
      </p:pic>
      <p:pic>
        <p:nvPicPr>
          <p:cNvPr id="200" name="Google Shape;116;p19" descr="Google Shape;116;p19"/>
          <p:cNvPicPr>
            <a:picLocks noChangeAspect="1"/>
          </p:cNvPicPr>
          <p:nvPr/>
        </p:nvPicPr>
        <p:blipFill>
          <a:blip r:embed="rId22"/>
          <a:stretch>
            <a:fillRect/>
          </a:stretch>
        </p:blipFill>
        <p:spPr>
          <a:xfrm>
            <a:off x="7216898" y="4514219"/>
            <a:ext cx="903809" cy="309979"/>
          </a:xfrm>
          <a:prstGeom prst="rect">
            <a:avLst/>
          </a:prstGeom>
          <a:ln w="12700">
            <a:miter lim="400000"/>
          </a:ln>
        </p:spPr>
      </p:pic>
      <p:pic>
        <p:nvPicPr>
          <p:cNvPr id="201" name="Google Shape;117;p19" descr="Google Shape;117;p19"/>
          <p:cNvPicPr>
            <a:picLocks noChangeAspect="1"/>
          </p:cNvPicPr>
          <p:nvPr/>
        </p:nvPicPr>
        <p:blipFill>
          <a:blip r:embed="rId23"/>
          <a:stretch>
            <a:fillRect/>
          </a:stretch>
        </p:blipFill>
        <p:spPr>
          <a:xfrm>
            <a:off x="9519920" y="4277654"/>
            <a:ext cx="704503" cy="704503"/>
          </a:xfrm>
          <a:prstGeom prst="rect">
            <a:avLst/>
          </a:prstGeom>
          <a:ln w="12700">
            <a:miter lim="400000"/>
          </a:ln>
        </p:spPr>
      </p:pic>
      <p:pic>
        <p:nvPicPr>
          <p:cNvPr id="202" name="Google Shape;118;p19" descr="Google Shape;118;p19"/>
          <p:cNvPicPr>
            <a:picLocks noChangeAspect="1"/>
          </p:cNvPicPr>
          <p:nvPr/>
        </p:nvPicPr>
        <p:blipFill>
          <a:blip r:embed="rId24"/>
          <a:stretch>
            <a:fillRect/>
          </a:stretch>
        </p:blipFill>
        <p:spPr>
          <a:xfrm>
            <a:off x="10431909" y="4476015"/>
            <a:ext cx="704496" cy="309979"/>
          </a:xfrm>
          <a:prstGeom prst="rect">
            <a:avLst/>
          </a:prstGeom>
          <a:ln w="12700">
            <a:miter lim="400000"/>
          </a:ln>
        </p:spPr>
      </p:pic>
      <p:pic>
        <p:nvPicPr>
          <p:cNvPr id="203" name="Google Shape;119;p19" descr="Google Shape;119;p19"/>
          <p:cNvPicPr>
            <a:picLocks noChangeAspect="1"/>
          </p:cNvPicPr>
          <p:nvPr/>
        </p:nvPicPr>
        <p:blipFill>
          <a:blip r:embed="rId25"/>
          <a:stretch>
            <a:fillRect/>
          </a:stretch>
        </p:blipFill>
        <p:spPr>
          <a:xfrm>
            <a:off x="572428" y="4990690"/>
            <a:ext cx="917095" cy="309979"/>
          </a:xfrm>
          <a:prstGeom prst="rect">
            <a:avLst/>
          </a:prstGeom>
          <a:ln w="12700">
            <a:miter lim="400000"/>
          </a:ln>
        </p:spPr>
      </p:pic>
      <p:pic>
        <p:nvPicPr>
          <p:cNvPr id="204" name="Google Shape;120;p19" descr="Google Shape;120;p19"/>
          <p:cNvPicPr>
            <a:picLocks noChangeAspect="1"/>
          </p:cNvPicPr>
          <p:nvPr/>
        </p:nvPicPr>
        <p:blipFill>
          <a:blip r:embed="rId26"/>
          <a:stretch>
            <a:fillRect/>
          </a:stretch>
        </p:blipFill>
        <p:spPr>
          <a:xfrm>
            <a:off x="1858922" y="5035469"/>
            <a:ext cx="1342376" cy="232783"/>
          </a:xfrm>
          <a:prstGeom prst="rect">
            <a:avLst/>
          </a:prstGeom>
          <a:ln w="12700">
            <a:miter lim="400000"/>
          </a:ln>
        </p:spPr>
      </p:pic>
      <p:pic>
        <p:nvPicPr>
          <p:cNvPr id="205" name="Google Shape;121;p19" descr="Google Shape;121;p19"/>
          <p:cNvPicPr>
            <a:picLocks noChangeAspect="1"/>
          </p:cNvPicPr>
          <p:nvPr/>
        </p:nvPicPr>
        <p:blipFill>
          <a:blip r:embed="rId27"/>
          <a:stretch>
            <a:fillRect/>
          </a:stretch>
        </p:blipFill>
        <p:spPr>
          <a:xfrm>
            <a:off x="3425801" y="4995421"/>
            <a:ext cx="1230072" cy="309979"/>
          </a:xfrm>
          <a:prstGeom prst="rect">
            <a:avLst/>
          </a:prstGeom>
          <a:ln w="12700">
            <a:miter lim="400000"/>
          </a:ln>
        </p:spPr>
      </p:pic>
      <p:pic>
        <p:nvPicPr>
          <p:cNvPr id="206" name="Google Shape;122;p19" descr="Google Shape;122;p19"/>
          <p:cNvPicPr>
            <a:picLocks noChangeAspect="1"/>
          </p:cNvPicPr>
          <p:nvPr/>
        </p:nvPicPr>
        <p:blipFill>
          <a:blip r:embed="rId28"/>
          <a:stretch>
            <a:fillRect/>
          </a:stretch>
        </p:blipFill>
        <p:spPr>
          <a:xfrm>
            <a:off x="5002749" y="4988864"/>
            <a:ext cx="794816" cy="309979"/>
          </a:xfrm>
          <a:prstGeom prst="rect">
            <a:avLst/>
          </a:prstGeom>
          <a:ln w="12700">
            <a:miter lim="400000"/>
          </a:ln>
        </p:spPr>
      </p:pic>
      <p:pic>
        <p:nvPicPr>
          <p:cNvPr id="207" name="Google Shape;123;p19" descr="Google Shape;123;p19"/>
          <p:cNvPicPr>
            <a:picLocks noChangeAspect="1"/>
          </p:cNvPicPr>
          <p:nvPr/>
        </p:nvPicPr>
        <p:blipFill>
          <a:blip r:embed="rId29"/>
          <a:stretch>
            <a:fillRect/>
          </a:stretch>
        </p:blipFill>
        <p:spPr>
          <a:xfrm>
            <a:off x="7256027" y="5052575"/>
            <a:ext cx="1342377" cy="177194"/>
          </a:xfrm>
          <a:prstGeom prst="rect">
            <a:avLst/>
          </a:prstGeom>
          <a:ln w="12700">
            <a:miter lim="400000"/>
          </a:ln>
        </p:spPr>
      </p:pic>
      <p:pic>
        <p:nvPicPr>
          <p:cNvPr id="208" name="Google Shape;124;p19" descr="Google Shape;124;p19"/>
          <p:cNvPicPr>
            <a:picLocks noChangeAspect="1"/>
          </p:cNvPicPr>
          <p:nvPr/>
        </p:nvPicPr>
        <p:blipFill>
          <a:blip r:embed="rId30"/>
          <a:stretch>
            <a:fillRect/>
          </a:stretch>
        </p:blipFill>
        <p:spPr>
          <a:xfrm>
            <a:off x="9231119" y="5045191"/>
            <a:ext cx="939328" cy="309979"/>
          </a:xfrm>
          <a:prstGeom prst="rect">
            <a:avLst/>
          </a:prstGeom>
          <a:ln w="12700">
            <a:miter lim="400000"/>
          </a:ln>
        </p:spPr>
      </p:pic>
      <p:pic>
        <p:nvPicPr>
          <p:cNvPr id="209" name="Google Shape;125;p19" descr="Google Shape;125;p19"/>
          <p:cNvPicPr>
            <a:picLocks noChangeAspect="1"/>
          </p:cNvPicPr>
          <p:nvPr/>
        </p:nvPicPr>
        <p:blipFill>
          <a:blip r:embed="rId31"/>
          <a:stretch>
            <a:fillRect/>
          </a:stretch>
        </p:blipFill>
        <p:spPr>
          <a:xfrm>
            <a:off x="10627572" y="4990826"/>
            <a:ext cx="1342378" cy="300693"/>
          </a:xfrm>
          <a:prstGeom prst="rect">
            <a:avLst/>
          </a:prstGeom>
          <a:ln w="12700">
            <a:miter lim="400000"/>
          </a:ln>
        </p:spPr>
      </p:pic>
      <p:pic>
        <p:nvPicPr>
          <p:cNvPr id="210" name="Google Shape;126;p19" descr="Google Shape;126;p19"/>
          <p:cNvPicPr>
            <a:picLocks noChangeAspect="1"/>
          </p:cNvPicPr>
          <p:nvPr/>
        </p:nvPicPr>
        <p:blipFill>
          <a:blip r:embed="rId32"/>
          <a:stretch>
            <a:fillRect/>
          </a:stretch>
        </p:blipFill>
        <p:spPr>
          <a:xfrm>
            <a:off x="230319" y="5666274"/>
            <a:ext cx="1522354" cy="274024"/>
          </a:xfrm>
          <a:prstGeom prst="rect">
            <a:avLst/>
          </a:prstGeom>
          <a:ln w="12700">
            <a:miter lim="400000"/>
          </a:ln>
        </p:spPr>
      </p:pic>
      <p:pic>
        <p:nvPicPr>
          <p:cNvPr id="211" name="Google Shape;127;p19" descr="Google Shape;127;p19"/>
          <p:cNvPicPr>
            <a:picLocks noChangeAspect="1"/>
          </p:cNvPicPr>
          <p:nvPr/>
        </p:nvPicPr>
        <p:blipFill>
          <a:blip r:embed="rId33"/>
          <a:stretch>
            <a:fillRect/>
          </a:stretch>
        </p:blipFill>
        <p:spPr>
          <a:xfrm>
            <a:off x="2476614" y="5498672"/>
            <a:ext cx="603071" cy="309979"/>
          </a:xfrm>
          <a:prstGeom prst="rect">
            <a:avLst/>
          </a:prstGeom>
          <a:ln w="12700">
            <a:miter lim="400000"/>
          </a:ln>
        </p:spPr>
      </p:pic>
      <p:pic>
        <p:nvPicPr>
          <p:cNvPr id="212" name="Google Shape;128;p19" descr="Google Shape;128;p19"/>
          <p:cNvPicPr>
            <a:picLocks noChangeAspect="1"/>
          </p:cNvPicPr>
          <p:nvPr/>
        </p:nvPicPr>
        <p:blipFill>
          <a:blip r:embed="rId34"/>
          <a:stretch>
            <a:fillRect/>
          </a:stretch>
        </p:blipFill>
        <p:spPr>
          <a:xfrm>
            <a:off x="3930870" y="5538579"/>
            <a:ext cx="1210852" cy="309979"/>
          </a:xfrm>
          <a:prstGeom prst="rect">
            <a:avLst/>
          </a:prstGeom>
          <a:ln w="12700">
            <a:miter lim="400000"/>
          </a:ln>
        </p:spPr>
      </p:pic>
      <p:pic>
        <p:nvPicPr>
          <p:cNvPr id="213" name="Google Shape;129;p19" descr="Google Shape;129;p19"/>
          <p:cNvPicPr>
            <a:picLocks noChangeAspect="1"/>
          </p:cNvPicPr>
          <p:nvPr/>
        </p:nvPicPr>
        <p:blipFill>
          <a:blip r:embed="rId35"/>
          <a:stretch>
            <a:fillRect/>
          </a:stretch>
        </p:blipFill>
        <p:spPr>
          <a:xfrm>
            <a:off x="5635477" y="5453326"/>
            <a:ext cx="603076" cy="521755"/>
          </a:xfrm>
          <a:prstGeom prst="rect">
            <a:avLst/>
          </a:prstGeom>
          <a:ln w="12700">
            <a:miter lim="400000"/>
          </a:ln>
        </p:spPr>
      </p:pic>
      <p:pic>
        <p:nvPicPr>
          <p:cNvPr id="214" name="Google Shape;130;p19" descr="Google Shape;130;p19"/>
          <p:cNvPicPr>
            <a:picLocks noChangeAspect="1"/>
          </p:cNvPicPr>
          <p:nvPr/>
        </p:nvPicPr>
        <p:blipFill>
          <a:blip r:embed="rId36"/>
          <a:stretch>
            <a:fillRect/>
          </a:stretch>
        </p:blipFill>
        <p:spPr>
          <a:xfrm>
            <a:off x="6832344" y="5564520"/>
            <a:ext cx="1522355" cy="247383"/>
          </a:xfrm>
          <a:prstGeom prst="rect">
            <a:avLst/>
          </a:prstGeom>
          <a:ln w="12700">
            <a:miter lim="400000"/>
          </a:ln>
        </p:spPr>
      </p:pic>
      <p:pic>
        <p:nvPicPr>
          <p:cNvPr id="215" name="Google Shape;131;p19" descr="Google Shape;131;p19"/>
          <p:cNvPicPr>
            <a:picLocks noChangeAspect="1"/>
          </p:cNvPicPr>
          <p:nvPr/>
        </p:nvPicPr>
        <p:blipFill>
          <a:blip r:embed="rId37"/>
          <a:stretch>
            <a:fillRect/>
          </a:stretch>
        </p:blipFill>
        <p:spPr>
          <a:xfrm>
            <a:off x="8690644" y="5524657"/>
            <a:ext cx="1220386" cy="309979"/>
          </a:xfrm>
          <a:prstGeom prst="rect">
            <a:avLst/>
          </a:prstGeom>
          <a:ln w="12700">
            <a:miter lim="400000"/>
          </a:ln>
        </p:spPr>
      </p:pic>
      <p:pic>
        <p:nvPicPr>
          <p:cNvPr id="216" name="Google Shape;132;p19" descr="Google Shape;132;p19"/>
          <p:cNvPicPr>
            <a:picLocks noChangeAspect="1"/>
          </p:cNvPicPr>
          <p:nvPr/>
        </p:nvPicPr>
        <p:blipFill>
          <a:blip r:embed="rId38"/>
          <a:stretch>
            <a:fillRect/>
          </a:stretch>
        </p:blipFill>
        <p:spPr>
          <a:xfrm>
            <a:off x="10535969" y="5494370"/>
            <a:ext cx="1408991" cy="309979"/>
          </a:xfrm>
          <a:prstGeom prst="rect">
            <a:avLst/>
          </a:prstGeom>
          <a:ln w="12700">
            <a:miter lim="400000"/>
          </a:ln>
        </p:spPr>
      </p:pic>
      <p:sp>
        <p:nvSpPr>
          <p:cNvPr id="217" name="Google Shape;133;p19"/>
          <p:cNvSpPr/>
          <p:nvPr/>
        </p:nvSpPr>
        <p:spPr>
          <a:xfrm>
            <a:off x="31750" y="6129577"/>
            <a:ext cx="12128500" cy="696673"/>
          </a:xfrm>
          <a:prstGeom prst="rect">
            <a:avLst/>
          </a:prstGeom>
          <a:ln w="127000">
            <a:solidFill>
              <a:srgbClr val="034D40"/>
            </a:solidFill>
          </a:ln>
        </p:spPr>
        <p:txBody>
          <a:bodyPr lIns="0" tIns="0" rIns="0" bIns="0" anchor="ctr"/>
          <a:lstStyle/>
          <a:p>
            <a:pPr algn="ctr">
              <a:lnSpc>
                <a:spcPct val="90000"/>
              </a:lnSpc>
              <a:defRPr sz="4800">
                <a:latin typeface="Helvetica Neue"/>
                <a:ea typeface="Helvetica Neue"/>
                <a:cs typeface="Helvetica Neue"/>
                <a:sym typeface="Helvetica Neue"/>
              </a:defRPr>
            </a:pPr>
            <a:endParaRPr sz="2400"/>
          </a:p>
        </p:txBody>
      </p:sp>
      <p:sp>
        <p:nvSpPr>
          <p:cNvPr id="218" name="Google Shape;134;p19"/>
          <p:cNvSpPr txBox="1"/>
          <p:nvPr/>
        </p:nvSpPr>
        <p:spPr>
          <a:xfrm>
            <a:off x="1808625" y="6244009"/>
            <a:ext cx="2905201" cy="3877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lnSpc>
                <a:spcPct val="90000"/>
              </a:lnSpc>
              <a:defRPr sz="2800">
                <a:solidFill>
                  <a:srgbClr val="034D40"/>
                </a:solidFill>
                <a:latin typeface="Arial Black"/>
                <a:ea typeface="Arial Black"/>
                <a:cs typeface="Arial Black"/>
                <a:sym typeface="Arial Black"/>
              </a:defRPr>
            </a:lvl1pPr>
          </a:lstStyle>
          <a:p>
            <a:r>
              <a:rPr sz="1400"/>
              <a:t>Other Awesome Organizations</a:t>
            </a:r>
          </a:p>
        </p:txBody>
      </p:sp>
      <p:pic>
        <p:nvPicPr>
          <p:cNvPr id="219" name="Google Shape;135;p19" descr="Google Shape;135;p19"/>
          <p:cNvPicPr>
            <a:picLocks noChangeAspect="1"/>
          </p:cNvPicPr>
          <p:nvPr/>
        </p:nvPicPr>
        <p:blipFill>
          <a:blip r:embed="rId39"/>
          <a:stretch>
            <a:fillRect/>
          </a:stretch>
        </p:blipFill>
        <p:spPr>
          <a:xfrm>
            <a:off x="4608376" y="6343646"/>
            <a:ext cx="937555" cy="280088"/>
          </a:xfrm>
          <a:prstGeom prst="rect">
            <a:avLst/>
          </a:prstGeom>
          <a:ln w="12700">
            <a:miter lim="400000"/>
          </a:ln>
        </p:spPr>
      </p:pic>
      <p:pic>
        <p:nvPicPr>
          <p:cNvPr id="220" name="Google Shape;136;p19" descr="Google Shape;136;p19"/>
          <p:cNvPicPr>
            <a:picLocks noChangeAspect="1"/>
          </p:cNvPicPr>
          <p:nvPr/>
        </p:nvPicPr>
        <p:blipFill>
          <a:blip r:embed="rId40"/>
          <a:stretch>
            <a:fillRect/>
          </a:stretch>
        </p:blipFill>
        <p:spPr>
          <a:xfrm>
            <a:off x="5797567" y="6231822"/>
            <a:ext cx="503751" cy="503751"/>
          </a:xfrm>
          <a:prstGeom prst="rect">
            <a:avLst/>
          </a:prstGeom>
          <a:ln w="12700">
            <a:miter lim="400000"/>
          </a:ln>
        </p:spPr>
      </p:pic>
      <p:pic>
        <p:nvPicPr>
          <p:cNvPr id="221" name="Google Shape;137;p19" descr="Google Shape;137;p19"/>
          <p:cNvPicPr>
            <a:picLocks noChangeAspect="1"/>
          </p:cNvPicPr>
          <p:nvPr/>
        </p:nvPicPr>
        <p:blipFill>
          <a:blip r:embed="rId41"/>
          <a:stretch>
            <a:fillRect/>
          </a:stretch>
        </p:blipFill>
        <p:spPr>
          <a:xfrm>
            <a:off x="6552953" y="6319526"/>
            <a:ext cx="748288" cy="416052"/>
          </a:xfrm>
          <a:prstGeom prst="rect">
            <a:avLst/>
          </a:prstGeom>
          <a:ln w="12700">
            <a:miter lim="400000"/>
          </a:ln>
        </p:spPr>
      </p:pic>
      <p:pic>
        <p:nvPicPr>
          <p:cNvPr id="222" name="Google Shape;138;p19" descr="Google Shape;138;p19"/>
          <p:cNvPicPr>
            <a:picLocks noChangeAspect="1"/>
          </p:cNvPicPr>
          <p:nvPr/>
        </p:nvPicPr>
        <p:blipFill>
          <a:blip r:embed="rId42"/>
          <a:stretch>
            <a:fillRect/>
          </a:stretch>
        </p:blipFill>
        <p:spPr>
          <a:xfrm>
            <a:off x="11145928" y="4105837"/>
            <a:ext cx="939321" cy="939321"/>
          </a:xfrm>
          <a:prstGeom prst="rect">
            <a:avLst/>
          </a:prstGeom>
          <a:ln w="12700">
            <a:miter lim="400000"/>
          </a:ln>
        </p:spPr>
      </p:pic>
      <p:pic>
        <p:nvPicPr>
          <p:cNvPr id="223" name="Google Shape;140;p19" descr="Google Shape;140;p19"/>
          <p:cNvPicPr>
            <a:picLocks noChangeAspect="1"/>
          </p:cNvPicPr>
          <p:nvPr/>
        </p:nvPicPr>
        <p:blipFill>
          <a:blip r:embed="rId43"/>
          <a:srcRect l="35271" t="34580" r="36799" b="43508"/>
          <a:stretch>
            <a:fillRect/>
          </a:stretch>
        </p:blipFill>
        <p:spPr>
          <a:xfrm>
            <a:off x="5859977" y="4934100"/>
            <a:ext cx="1278263" cy="334251"/>
          </a:xfrm>
          <a:prstGeom prst="rect">
            <a:avLst/>
          </a:prstGeom>
          <a:ln w="12700">
            <a:miter lim="400000"/>
          </a:ln>
        </p:spPr>
      </p:pic>
      <p:pic>
        <p:nvPicPr>
          <p:cNvPr id="224" name="Screenshot 2026-09-07 at 2.39.10 PM.pngGoogle Shape;141;p19" descr="Screenshot 2026-09-07 at 2.39.10 PM.pngGoogle Shape;141;p19"/>
          <p:cNvPicPr>
            <a:picLocks noChangeAspect="1"/>
          </p:cNvPicPr>
          <p:nvPr/>
        </p:nvPicPr>
        <p:blipFill>
          <a:blip r:embed="rId44"/>
          <a:stretch>
            <a:fillRect/>
          </a:stretch>
        </p:blipFill>
        <p:spPr>
          <a:xfrm>
            <a:off x="8272787" y="4475262"/>
            <a:ext cx="1175687" cy="387901"/>
          </a:xfrm>
          <a:prstGeom prst="rect">
            <a:avLst/>
          </a:prstGeom>
          <a:ln w="12700">
            <a:miter lim="400000"/>
          </a:ln>
        </p:spPr>
      </p:pic>
      <p:pic>
        <p:nvPicPr>
          <p:cNvPr id="225" name="Kestra.full.logo.dark.png" descr="Kestra.full.logo.dark.png"/>
          <p:cNvPicPr>
            <a:picLocks noChangeAspect="1"/>
          </p:cNvPicPr>
          <p:nvPr/>
        </p:nvPicPr>
        <p:blipFill>
          <a:blip r:embed="rId45"/>
          <a:stretch>
            <a:fillRect/>
          </a:stretch>
        </p:blipFill>
        <p:spPr>
          <a:xfrm>
            <a:off x="9578292" y="2227400"/>
            <a:ext cx="1529475" cy="349251"/>
          </a:xfrm>
          <a:prstGeom prst="rect">
            <a:avLst/>
          </a:prstGeom>
          <a:ln w="12700">
            <a:miter lim="400000"/>
          </a:ln>
        </p:spPr>
      </p:pic>
      <p:pic>
        <p:nvPicPr>
          <p:cNvPr id="226" name="pasted-movie.png" descr="pasted-movie.png"/>
          <p:cNvPicPr>
            <a:picLocks noChangeAspect="1"/>
          </p:cNvPicPr>
          <p:nvPr/>
        </p:nvPicPr>
        <p:blipFill>
          <a:blip r:embed="rId46"/>
          <a:stretch>
            <a:fillRect/>
          </a:stretch>
        </p:blipFill>
        <p:spPr>
          <a:xfrm>
            <a:off x="7931429" y="2137018"/>
            <a:ext cx="1700075" cy="572586"/>
          </a:xfrm>
          <a:prstGeom prst="rect">
            <a:avLst/>
          </a:prstGeom>
          <a:ln w="12700">
            <a:miter lim="400000"/>
          </a:ln>
        </p:spPr>
      </p:pic>
      <p:pic>
        <p:nvPicPr>
          <p:cNvPr id="227" name="pasted-movie.png" descr="pasted-movie.png"/>
          <p:cNvPicPr>
            <a:picLocks noChangeAspect="1"/>
          </p:cNvPicPr>
          <p:nvPr/>
        </p:nvPicPr>
        <p:blipFill>
          <a:blip r:embed="rId47"/>
          <a:stretch>
            <a:fillRect/>
          </a:stretch>
        </p:blipFill>
        <p:spPr>
          <a:xfrm>
            <a:off x="4239792" y="2181250"/>
            <a:ext cx="1884033" cy="437583"/>
          </a:xfrm>
          <a:prstGeom prst="rect">
            <a:avLst/>
          </a:prstGeom>
          <a:ln w="12700">
            <a:miter lim="400000"/>
          </a:ln>
        </p:spPr>
      </p:pic>
      <p:pic>
        <p:nvPicPr>
          <p:cNvPr id="228" name="pasted-movie.png" descr="pasted-movie.png"/>
          <p:cNvPicPr>
            <a:picLocks noChangeAspect="1"/>
          </p:cNvPicPr>
          <p:nvPr/>
        </p:nvPicPr>
        <p:blipFill>
          <a:blip r:embed="rId48"/>
          <a:stretch>
            <a:fillRect/>
          </a:stretch>
        </p:blipFill>
        <p:spPr>
          <a:xfrm>
            <a:off x="7749448" y="2849304"/>
            <a:ext cx="1230072" cy="922554"/>
          </a:xfrm>
          <a:prstGeom prst="rect">
            <a:avLst/>
          </a:prstGeom>
          <a:ln w="12700">
            <a:miter lim="400000"/>
          </a:ln>
        </p:spPr>
      </p:pic>
      <p:pic>
        <p:nvPicPr>
          <p:cNvPr id="229" name="pasted-movie.png" descr="pasted-movie.png"/>
          <p:cNvPicPr>
            <a:picLocks noChangeAspect="1"/>
          </p:cNvPicPr>
          <p:nvPr/>
        </p:nvPicPr>
        <p:blipFill>
          <a:blip r:embed="rId49"/>
          <a:stretch>
            <a:fillRect/>
          </a:stretch>
        </p:blipFill>
        <p:spPr>
          <a:xfrm>
            <a:off x="5888951" y="3749467"/>
            <a:ext cx="1220386" cy="403136"/>
          </a:xfrm>
          <a:prstGeom prst="rect">
            <a:avLst/>
          </a:prstGeom>
          <a:ln w="12700">
            <a:miter lim="400000"/>
          </a:ln>
        </p:spPr>
      </p:pic>
      <p:pic>
        <p:nvPicPr>
          <p:cNvPr id="230" name="DPL-full-color-2-o.svg" descr="DPL-full-color-2-o.svg"/>
          <p:cNvPicPr>
            <a:picLocks noChangeAspect="1"/>
          </p:cNvPicPr>
          <p:nvPr/>
        </p:nvPicPr>
        <p:blipFill>
          <a:blip r:embed="rId50"/>
          <a:stretch>
            <a:fillRect/>
          </a:stretch>
        </p:blipFill>
        <p:spPr>
          <a:xfrm>
            <a:off x="9242306" y="2984962"/>
            <a:ext cx="1344241" cy="696018"/>
          </a:xfrm>
          <a:prstGeom prst="rect">
            <a:avLst/>
          </a:prstGeom>
          <a:ln w="12700">
            <a:miter lim="400000"/>
          </a:ln>
        </p:spPr>
      </p:pic>
      <p:pic>
        <p:nvPicPr>
          <p:cNvPr id="231" name="pasted-movie.png" descr="pasted-movie.png"/>
          <p:cNvPicPr>
            <a:picLocks noChangeAspect="1"/>
          </p:cNvPicPr>
          <p:nvPr/>
        </p:nvPicPr>
        <p:blipFill>
          <a:blip r:embed="rId51"/>
          <a:srcRect l="10454" t="19945" r="7619"/>
          <a:stretch>
            <a:fillRect/>
          </a:stretch>
        </p:blipFill>
        <p:spPr>
          <a:xfrm>
            <a:off x="10667730" y="3004119"/>
            <a:ext cx="1262049" cy="625054"/>
          </a:xfrm>
          <a:prstGeom prst="rect">
            <a:avLst/>
          </a:prstGeom>
          <a:ln w="12700">
            <a:miter lim="400000"/>
          </a:ln>
        </p:spPr>
      </p:pic>
      <p:pic>
        <p:nvPicPr>
          <p:cNvPr id="232" name="pasted-movie.png" descr="pasted-movie.png"/>
          <p:cNvPicPr>
            <a:picLocks noChangeAspect="1"/>
          </p:cNvPicPr>
          <p:nvPr/>
        </p:nvPicPr>
        <p:blipFill>
          <a:blip r:embed="rId52"/>
          <a:srcRect t="22160" b="22160"/>
          <a:stretch>
            <a:fillRect/>
          </a:stretch>
        </p:blipFill>
        <p:spPr>
          <a:xfrm>
            <a:off x="9005214" y="3686306"/>
            <a:ext cx="1547419" cy="487512"/>
          </a:xfrm>
          <a:prstGeom prst="rect">
            <a:avLst/>
          </a:prstGeom>
          <a:ln w="12700">
            <a:miter lim="400000"/>
          </a:ln>
        </p:spPr>
      </p:pic>
      <p:pic>
        <p:nvPicPr>
          <p:cNvPr id="233" name="pasted-movie.png" descr="pasted-movie.png"/>
          <p:cNvPicPr>
            <a:picLocks noChangeAspect="1"/>
          </p:cNvPicPr>
          <p:nvPr/>
        </p:nvPicPr>
        <p:blipFill>
          <a:blip r:embed="rId53"/>
          <a:stretch>
            <a:fillRect/>
          </a:stretch>
        </p:blipFill>
        <p:spPr>
          <a:xfrm>
            <a:off x="10567265" y="3776466"/>
            <a:ext cx="1346337" cy="387901"/>
          </a:xfrm>
          <a:prstGeom prst="rect">
            <a:avLst/>
          </a:prstGeom>
          <a:ln w="12700">
            <a:miter lim="400000"/>
          </a:ln>
        </p:spPr>
      </p:pic>
      <p:pic>
        <p:nvPicPr>
          <p:cNvPr id="234" name="pasted-movie.png" descr="pasted-movie.png"/>
          <p:cNvPicPr>
            <a:picLocks noChangeAspect="1"/>
          </p:cNvPicPr>
          <p:nvPr/>
        </p:nvPicPr>
        <p:blipFill>
          <a:blip r:embed="rId54"/>
          <a:srcRect t="19950" b="19950"/>
          <a:stretch>
            <a:fillRect/>
          </a:stretch>
        </p:blipFill>
        <p:spPr>
          <a:xfrm>
            <a:off x="3990829" y="3652175"/>
            <a:ext cx="1653671" cy="521760"/>
          </a:xfrm>
          <a:prstGeom prst="rect">
            <a:avLst/>
          </a:prstGeom>
          <a:ln w="12700">
            <a:miter lim="400000"/>
          </a:ln>
        </p:spPr>
      </p:pic>
      <p:pic>
        <p:nvPicPr>
          <p:cNvPr id="235" name="pasted-movie.png" descr="pasted-movie.png"/>
          <p:cNvPicPr>
            <a:picLocks noChangeAspect="1"/>
          </p:cNvPicPr>
          <p:nvPr/>
        </p:nvPicPr>
        <p:blipFill>
          <a:blip r:embed="rId55"/>
          <a:stretch>
            <a:fillRect/>
          </a:stretch>
        </p:blipFill>
        <p:spPr>
          <a:xfrm>
            <a:off x="3986446" y="3085793"/>
            <a:ext cx="1662348" cy="309979"/>
          </a:xfrm>
          <a:prstGeom prst="rect">
            <a:avLst/>
          </a:prstGeom>
          <a:ln w="12700">
            <a:miter lim="400000"/>
          </a:ln>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FB71C00-2A0F-52B9-7571-DF6FB0B264F7}"/>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1299750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9A376A-3636-76E5-D24F-AF8C7DF7CA35}"/>
              </a:ext>
            </a:extLst>
          </p:cNvPr>
          <p:cNvPicPr>
            <a:picLocks noChangeAspect="1"/>
          </p:cNvPicPr>
          <p:nvPr/>
        </p:nvPicPr>
        <p:blipFill>
          <a:blip r:embed="rId3"/>
          <a:stretch>
            <a:fillRect/>
          </a:stretch>
        </p:blipFill>
        <p:spPr>
          <a:xfrm>
            <a:off x="49006" y="30186"/>
            <a:ext cx="12093988" cy="6797629"/>
          </a:xfrm>
          <a:prstGeom prst="rect">
            <a:avLst/>
          </a:prstGeom>
        </p:spPr>
      </p:pic>
      <p:pic>
        <p:nvPicPr>
          <p:cNvPr id="5" name="Picture 4">
            <a:extLst>
              <a:ext uri="{FF2B5EF4-FFF2-40B4-BE49-F238E27FC236}">
                <a16:creationId xmlns:a16="http://schemas.microsoft.com/office/drawing/2014/main" id="{538E6DFA-D017-C2D3-DD79-3073AC4B07D2}"/>
              </a:ext>
            </a:extLst>
          </p:cNvPr>
          <p:cNvPicPr>
            <a:picLocks noChangeAspect="1"/>
          </p:cNvPicPr>
          <p:nvPr/>
        </p:nvPicPr>
        <p:blipFill>
          <a:blip r:embed="rId4"/>
          <a:stretch>
            <a:fillRect/>
          </a:stretch>
        </p:blipFill>
        <p:spPr>
          <a:xfrm>
            <a:off x="7432902" y="4198348"/>
            <a:ext cx="4372594" cy="2629466"/>
          </a:xfrm>
          <a:prstGeom prst="rect">
            <a:avLst/>
          </a:prstGeom>
        </p:spPr>
      </p:pic>
    </p:spTree>
    <p:extLst>
      <p:ext uri="{BB962C8B-B14F-4D97-AF65-F5344CB8AC3E}">
        <p14:creationId xmlns:p14="http://schemas.microsoft.com/office/powerpoint/2010/main" val="10700079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BB011052-0B56-59B0-E718-EBA992077E07}"/>
              </a:ext>
            </a:extLst>
          </p:cNvPr>
          <p:cNvSpPr/>
          <p:nvPr/>
        </p:nvSpPr>
        <p:spPr>
          <a:xfrm>
            <a:off x="594360" y="868680"/>
            <a:ext cx="11002975" cy="1005840"/>
          </a:xfrm>
          <a:prstGeom prst="rect">
            <a:avLst/>
          </a:prstGeom>
          <a:noFill/>
          <a:ln/>
        </p:spPr>
        <p:txBody>
          <a:bodyPr wrap="square" lIns="0" tIns="0" rIns="0" bIns="0" rtlCol="0" anchor="t"/>
          <a:lstStyle/>
          <a:p>
            <a:pPr marL="0" indent="0" algn="l">
              <a:lnSpc>
                <a:spcPct val="102000"/>
              </a:lnSpc>
              <a:buNone/>
            </a:pPr>
            <a:r>
              <a:rPr lang="en-US" sz="3400" b="1" dirty="0">
                <a:solidFill>
                  <a:schemeClr val="tx1">
                    <a:lumMod val="95000"/>
                    <a:lumOff val="5000"/>
                  </a:schemeClr>
                </a:solidFill>
                <a:latin typeface="Arial" pitchFamily="34" charset="0"/>
                <a:ea typeface="Arial" pitchFamily="34" charset="-122"/>
                <a:cs typeface="Arial" pitchFamily="34" charset="-120"/>
              </a:rPr>
              <a:t>15 years of methodology wars</a:t>
            </a:r>
            <a:endParaRPr lang="en-US" sz="3400" dirty="0">
              <a:solidFill>
                <a:schemeClr val="tx1">
                  <a:lumMod val="95000"/>
                  <a:lumOff val="5000"/>
                </a:schemeClr>
              </a:solidFill>
            </a:endParaRPr>
          </a:p>
        </p:txBody>
      </p:sp>
      <p:sp>
        <p:nvSpPr>
          <p:cNvPr id="5" name="Shape 2">
            <a:extLst>
              <a:ext uri="{FF2B5EF4-FFF2-40B4-BE49-F238E27FC236}">
                <a16:creationId xmlns:a16="http://schemas.microsoft.com/office/drawing/2014/main" id="{50DC7FBD-9BAB-D4E5-9792-DEA061F0458E}"/>
              </a:ext>
            </a:extLst>
          </p:cNvPr>
          <p:cNvSpPr/>
          <p:nvPr/>
        </p:nvSpPr>
        <p:spPr>
          <a:xfrm>
            <a:off x="594360" y="2743200"/>
            <a:ext cx="1151344" cy="1371600"/>
          </a:xfrm>
          <a:prstGeom prst="roundRect">
            <a:avLst>
              <a:gd name="adj" fmla="val 9530"/>
            </a:avLst>
          </a:prstGeom>
          <a:solidFill>
            <a:srgbClr val="222121"/>
          </a:solidFill>
          <a:ln w="12700">
            <a:solidFill>
              <a:srgbClr val="3A3A3A"/>
            </a:solidFill>
            <a:prstDash val="solid"/>
          </a:ln>
        </p:spPr>
        <p:txBody>
          <a:bodyPr/>
          <a:lstStyle/>
          <a:p>
            <a:endParaRPr lang="en-US" sz="2400"/>
          </a:p>
        </p:txBody>
      </p:sp>
      <p:sp>
        <p:nvSpPr>
          <p:cNvPr id="7" name="Text 3">
            <a:extLst>
              <a:ext uri="{FF2B5EF4-FFF2-40B4-BE49-F238E27FC236}">
                <a16:creationId xmlns:a16="http://schemas.microsoft.com/office/drawing/2014/main" id="{285160DB-9432-0595-B29D-AE38841B3245}"/>
              </a:ext>
            </a:extLst>
          </p:cNvPr>
          <p:cNvSpPr/>
          <p:nvPr/>
        </p:nvSpPr>
        <p:spPr>
          <a:xfrm>
            <a:off x="594360" y="2999232"/>
            <a:ext cx="1151344" cy="457200"/>
          </a:xfrm>
          <a:prstGeom prst="rect">
            <a:avLst/>
          </a:prstGeom>
          <a:noFill/>
          <a:ln/>
        </p:spPr>
        <p:txBody>
          <a:bodyPr wrap="square" lIns="0" tIns="0" rIns="0" bIns="0" rtlCol="0" anchor="ctr"/>
          <a:lstStyle/>
          <a:p>
            <a:pPr marL="0" indent="0" algn="ctr">
              <a:buNone/>
            </a:pPr>
            <a:r>
              <a:rPr lang="en-US" b="1" dirty="0">
                <a:solidFill>
                  <a:srgbClr val="FFFFFF"/>
                </a:solidFill>
                <a:latin typeface="Arial" pitchFamily="34" charset="0"/>
                <a:ea typeface="Arial" pitchFamily="34" charset="-122"/>
                <a:cs typeface="Arial" pitchFamily="34" charset="-120"/>
              </a:rPr>
              <a:t>Vanilla</a:t>
            </a:r>
            <a:endParaRPr lang="en-US" dirty="0"/>
          </a:p>
        </p:txBody>
      </p:sp>
      <p:sp>
        <p:nvSpPr>
          <p:cNvPr id="9" name="Text 4">
            <a:extLst>
              <a:ext uri="{FF2B5EF4-FFF2-40B4-BE49-F238E27FC236}">
                <a16:creationId xmlns:a16="http://schemas.microsoft.com/office/drawing/2014/main" id="{CE7FFF5E-A89A-77A0-C040-B529C81D2FF0}"/>
              </a:ext>
            </a:extLst>
          </p:cNvPr>
          <p:cNvSpPr/>
          <p:nvPr/>
        </p:nvSpPr>
        <p:spPr>
          <a:xfrm>
            <a:off x="594360" y="3520440"/>
            <a:ext cx="1151344" cy="365760"/>
          </a:xfrm>
          <a:prstGeom prst="rect">
            <a:avLst/>
          </a:prstGeom>
          <a:noFill/>
          <a:ln/>
        </p:spPr>
        <p:txBody>
          <a:bodyPr wrap="square" lIns="0" tIns="0" rIns="0" bIns="0" rtlCol="0" anchor="ctr"/>
          <a:lstStyle/>
          <a:p>
            <a:pPr marL="0" indent="0" algn="ctr">
              <a:buNone/>
            </a:pPr>
            <a:r>
              <a:rPr lang="en-US" sz="1600" dirty="0">
                <a:solidFill>
                  <a:schemeClr val="bg1">
                    <a:lumMod val="75000"/>
                  </a:schemeClr>
                </a:solidFill>
                <a:latin typeface="Courier New" pitchFamily="34" charset="0"/>
                <a:ea typeface="Courier New" pitchFamily="34" charset="-122"/>
                <a:cs typeface="Courier New" pitchFamily="34" charset="-120"/>
              </a:rPr>
              <a:t>2005</a:t>
            </a:r>
            <a:endParaRPr lang="en-US" sz="1600" dirty="0">
              <a:solidFill>
                <a:schemeClr val="bg1">
                  <a:lumMod val="75000"/>
                </a:schemeClr>
              </a:solidFill>
            </a:endParaRPr>
          </a:p>
        </p:txBody>
      </p:sp>
      <p:sp>
        <p:nvSpPr>
          <p:cNvPr id="11" name="Shape 5">
            <a:extLst>
              <a:ext uri="{FF2B5EF4-FFF2-40B4-BE49-F238E27FC236}">
                <a16:creationId xmlns:a16="http://schemas.microsoft.com/office/drawing/2014/main" id="{AC4B3742-73FF-C1BA-6A4A-EA7A2B15D136}"/>
              </a:ext>
            </a:extLst>
          </p:cNvPr>
          <p:cNvSpPr/>
          <p:nvPr/>
        </p:nvSpPr>
        <p:spPr>
          <a:xfrm>
            <a:off x="2001736" y="2743200"/>
            <a:ext cx="1151344" cy="1371600"/>
          </a:xfrm>
          <a:prstGeom prst="roundRect">
            <a:avLst>
              <a:gd name="adj" fmla="val 9530"/>
            </a:avLst>
          </a:prstGeom>
          <a:solidFill>
            <a:srgbClr val="222121"/>
          </a:solidFill>
          <a:ln w="12700">
            <a:solidFill>
              <a:srgbClr val="3A3A3A"/>
            </a:solidFill>
            <a:prstDash val="solid"/>
          </a:ln>
        </p:spPr>
        <p:txBody>
          <a:bodyPr/>
          <a:lstStyle/>
          <a:p>
            <a:endParaRPr lang="en-US" sz="2400"/>
          </a:p>
        </p:txBody>
      </p:sp>
      <p:sp>
        <p:nvSpPr>
          <p:cNvPr id="13" name="Text 6">
            <a:extLst>
              <a:ext uri="{FF2B5EF4-FFF2-40B4-BE49-F238E27FC236}">
                <a16:creationId xmlns:a16="http://schemas.microsoft.com/office/drawing/2014/main" id="{2465B0CB-24C9-BBE7-FD52-6D8D7618BCF7}"/>
              </a:ext>
            </a:extLst>
          </p:cNvPr>
          <p:cNvSpPr/>
          <p:nvPr/>
        </p:nvSpPr>
        <p:spPr>
          <a:xfrm>
            <a:off x="2001736" y="2999232"/>
            <a:ext cx="1151344" cy="457200"/>
          </a:xfrm>
          <a:prstGeom prst="rect">
            <a:avLst/>
          </a:prstGeom>
          <a:noFill/>
          <a:ln/>
        </p:spPr>
        <p:txBody>
          <a:bodyPr wrap="square" lIns="0" tIns="0" rIns="0" bIns="0" rtlCol="0" anchor="ctr"/>
          <a:lstStyle/>
          <a:p>
            <a:pPr marL="0" indent="0" algn="ctr">
              <a:buNone/>
            </a:pPr>
            <a:r>
              <a:rPr lang="en-US" b="1" dirty="0">
                <a:solidFill>
                  <a:srgbClr val="FFFFFF"/>
                </a:solidFill>
                <a:latin typeface="Arial" pitchFamily="34" charset="0"/>
                <a:ea typeface="Arial" pitchFamily="34" charset="-122"/>
                <a:cs typeface="Arial" pitchFamily="34" charset="-120"/>
              </a:rPr>
              <a:t>OOCSS</a:t>
            </a:r>
            <a:endParaRPr lang="en-US" dirty="0"/>
          </a:p>
        </p:txBody>
      </p:sp>
      <p:sp>
        <p:nvSpPr>
          <p:cNvPr id="15" name="Text 7">
            <a:extLst>
              <a:ext uri="{FF2B5EF4-FFF2-40B4-BE49-F238E27FC236}">
                <a16:creationId xmlns:a16="http://schemas.microsoft.com/office/drawing/2014/main" id="{E633C04A-B3B8-6C0A-5650-25B632C6735E}"/>
              </a:ext>
            </a:extLst>
          </p:cNvPr>
          <p:cNvSpPr/>
          <p:nvPr/>
        </p:nvSpPr>
        <p:spPr>
          <a:xfrm>
            <a:off x="2001736" y="3520440"/>
            <a:ext cx="1151344" cy="365760"/>
          </a:xfrm>
          <a:prstGeom prst="rect">
            <a:avLst/>
          </a:prstGeom>
          <a:noFill/>
          <a:ln/>
        </p:spPr>
        <p:txBody>
          <a:bodyPr wrap="square" lIns="0" tIns="0" rIns="0" bIns="0" rtlCol="0" anchor="ctr"/>
          <a:lstStyle/>
          <a:p>
            <a:pPr marL="0" indent="0" algn="ctr">
              <a:buNone/>
            </a:pPr>
            <a:r>
              <a:rPr lang="en-US" sz="1600" dirty="0">
                <a:solidFill>
                  <a:schemeClr val="bg1">
                    <a:lumMod val="75000"/>
                  </a:schemeClr>
                </a:solidFill>
                <a:latin typeface="Courier New" pitchFamily="34" charset="0"/>
                <a:ea typeface="Courier New" pitchFamily="34" charset="-122"/>
                <a:cs typeface="Courier New" pitchFamily="34" charset="-120"/>
              </a:rPr>
              <a:t>2009</a:t>
            </a:r>
            <a:endParaRPr lang="en-US" sz="1600" dirty="0">
              <a:solidFill>
                <a:schemeClr val="bg1">
                  <a:lumMod val="75000"/>
                </a:schemeClr>
              </a:solidFill>
            </a:endParaRPr>
          </a:p>
        </p:txBody>
      </p:sp>
      <p:sp>
        <p:nvSpPr>
          <p:cNvPr id="17" name="Shape 8">
            <a:extLst>
              <a:ext uri="{FF2B5EF4-FFF2-40B4-BE49-F238E27FC236}">
                <a16:creationId xmlns:a16="http://schemas.microsoft.com/office/drawing/2014/main" id="{D5886CBD-1C4E-D79F-543F-81F286D67CDC}"/>
              </a:ext>
            </a:extLst>
          </p:cNvPr>
          <p:cNvSpPr/>
          <p:nvPr/>
        </p:nvSpPr>
        <p:spPr>
          <a:xfrm>
            <a:off x="3409112" y="2743200"/>
            <a:ext cx="1151344" cy="1371600"/>
          </a:xfrm>
          <a:prstGeom prst="roundRect">
            <a:avLst>
              <a:gd name="adj" fmla="val 9530"/>
            </a:avLst>
          </a:prstGeom>
          <a:solidFill>
            <a:srgbClr val="222121"/>
          </a:solidFill>
          <a:ln w="12700">
            <a:solidFill>
              <a:srgbClr val="3A3A3A"/>
            </a:solidFill>
            <a:prstDash val="solid"/>
          </a:ln>
        </p:spPr>
        <p:txBody>
          <a:bodyPr/>
          <a:lstStyle/>
          <a:p>
            <a:endParaRPr lang="en-US" sz="2400"/>
          </a:p>
        </p:txBody>
      </p:sp>
      <p:sp>
        <p:nvSpPr>
          <p:cNvPr id="19" name="Text 9">
            <a:extLst>
              <a:ext uri="{FF2B5EF4-FFF2-40B4-BE49-F238E27FC236}">
                <a16:creationId xmlns:a16="http://schemas.microsoft.com/office/drawing/2014/main" id="{07CD2121-6FF8-628C-1EC2-44AC32CC0435}"/>
              </a:ext>
            </a:extLst>
          </p:cNvPr>
          <p:cNvSpPr/>
          <p:nvPr/>
        </p:nvSpPr>
        <p:spPr>
          <a:xfrm>
            <a:off x="3409112" y="2999232"/>
            <a:ext cx="1151344" cy="457200"/>
          </a:xfrm>
          <a:prstGeom prst="rect">
            <a:avLst/>
          </a:prstGeom>
          <a:noFill/>
          <a:ln/>
        </p:spPr>
        <p:txBody>
          <a:bodyPr wrap="square" lIns="0" tIns="0" rIns="0" bIns="0" rtlCol="0" anchor="ctr"/>
          <a:lstStyle/>
          <a:p>
            <a:pPr marL="0" indent="0" algn="ctr">
              <a:buNone/>
            </a:pPr>
            <a:r>
              <a:rPr lang="en-US" b="1" dirty="0">
                <a:solidFill>
                  <a:srgbClr val="FFFFFF"/>
                </a:solidFill>
                <a:latin typeface="Arial" pitchFamily="34" charset="0"/>
                <a:ea typeface="Arial" pitchFamily="34" charset="-122"/>
                <a:cs typeface="Arial" pitchFamily="34" charset="-120"/>
              </a:rPr>
              <a:t>BEM</a:t>
            </a:r>
            <a:endParaRPr lang="en-US" dirty="0"/>
          </a:p>
        </p:txBody>
      </p:sp>
      <p:sp>
        <p:nvSpPr>
          <p:cNvPr id="21" name="Text 10">
            <a:extLst>
              <a:ext uri="{FF2B5EF4-FFF2-40B4-BE49-F238E27FC236}">
                <a16:creationId xmlns:a16="http://schemas.microsoft.com/office/drawing/2014/main" id="{598E4960-336A-07CF-AD14-1D176AEE0EFB}"/>
              </a:ext>
            </a:extLst>
          </p:cNvPr>
          <p:cNvSpPr/>
          <p:nvPr/>
        </p:nvSpPr>
        <p:spPr>
          <a:xfrm>
            <a:off x="3409112" y="3520440"/>
            <a:ext cx="1151344" cy="365760"/>
          </a:xfrm>
          <a:prstGeom prst="rect">
            <a:avLst/>
          </a:prstGeom>
          <a:noFill/>
          <a:ln/>
        </p:spPr>
        <p:txBody>
          <a:bodyPr wrap="square" lIns="0" tIns="0" rIns="0" bIns="0" rtlCol="0" anchor="ctr"/>
          <a:lstStyle/>
          <a:p>
            <a:pPr marL="0" indent="0" algn="ctr">
              <a:buNone/>
            </a:pPr>
            <a:r>
              <a:rPr lang="en-US" sz="1600" dirty="0">
                <a:solidFill>
                  <a:schemeClr val="bg1">
                    <a:lumMod val="75000"/>
                  </a:schemeClr>
                </a:solidFill>
                <a:latin typeface="Courier New" pitchFamily="34" charset="0"/>
                <a:ea typeface="Courier New" pitchFamily="34" charset="-122"/>
                <a:cs typeface="Courier New" pitchFamily="34" charset="-120"/>
              </a:rPr>
              <a:t>2010</a:t>
            </a:r>
            <a:endParaRPr lang="en-US" sz="1600" dirty="0">
              <a:solidFill>
                <a:schemeClr val="bg1">
                  <a:lumMod val="75000"/>
                </a:schemeClr>
              </a:solidFill>
            </a:endParaRPr>
          </a:p>
        </p:txBody>
      </p:sp>
      <p:sp>
        <p:nvSpPr>
          <p:cNvPr id="23" name="Shape 11">
            <a:extLst>
              <a:ext uri="{FF2B5EF4-FFF2-40B4-BE49-F238E27FC236}">
                <a16:creationId xmlns:a16="http://schemas.microsoft.com/office/drawing/2014/main" id="{BE4163CF-2F22-907B-2D61-DA392718AFA8}"/>
              </a:ext>
            </a:extLst>
          </p:cNvPr>
          <p:cNvSpPr/>
          <p:nvPr/>
        </p:nvSpPr>
        <p:spPr>
          <a:xfrm>
            <a:off x="4816488" y="2743200"/>
            <a:ext cx="1151344" cy="1371600"/>
          </a:xfrm>
          <a:prstGeom prst="roundRect">
            <a:avLst>
              <a:gd name="adj" fmla="val 9530"/>
            </a:avLst>
          </a:prstGeom>
          <a:solidFill>
            <a:srgbClr val="222121"/>
          </a:solidFill>
          <a:ln w="12700">
            <a:solidFill>
              <a:srgbClr val="3A3A3A"/>
            </a:solidFill>
            <a:prstDash val="solid"/>
          </a:ln>
        </p:spPr>
        <p:txBody>
          <a:bodyPr/>
          <a:lstStyle/>
          <a:p>
            <a:endParaRPr lang="en-US" sz="2400"/>
          </a:p>
        </p:txBody>
      </p:sp>
      <p:sp>
        <p:nvSpPr>
          <p:cNvPr id="25" name="Text 12">
            <a:extLst>
              <a:ext uri="{FF2B5EF4-FFF2-40B4-BE49-F238E27FC236}">
                <a16:creationId xmlns:a16="http://schemas.microsoft.com/office/drawing/2014/main" id="{5D489014-E7F6-3F6D-E6E7-75213352FD67}"/>
              </a:ext>
            </a:extLst>
          </p:cNvPr>
          <p:cNvSpPr/>
          <p:nvPr/>
        </p:nvSpPr>
        <p:spPr>
          <a:xfrm>
            <a:off x="4816488" y="2999232"/>
            <a:ext cx="1151344" cy="457200"/>
          </a:xfrm>
          <a:prstGeom prst="rect">
            <a:avLst/>
          </a:prstGeom>
          <a:noFill/>
          <a:ln/>
        </p:spPr>
        <p:txBody>
          <a:bodyPr wrap="square" lIns="0" tIns="0" rIns="0" bIns="0" rtlCol="0" anchor="ctr"/>
          <a:lstStyle/>
          <a:p>
            <a:pPr marL="0" indent="0" algn="ctr">
              <a:buNone/>
            </a:pPr>
            <a:r>
              <a:rPr lang="en-US" b="1" dirty="0">
                <a:solidFill>
                  <a:srgbClr val="FFFFFF"/>
                </a:solidFill>
                <a:latin typeface="Arial" pitchFamily="34" charset="0"/>
                <a:ea typeface="Arial" pitchFamily="34" charset="-122"/>
                <a:cs typeface="Arial" pitchFamily="34" charset="-120"/>
              </a:rPr>
              <a:t>SMACSS</a:t>
            </a:r>
            <a:endParaRPr lang="en-US" dirty="0"/>
          </a:p>
        </p:txBody>
      </p:sp>
      <p:sp>
        <p:nvSpPr>
          <p:cNvPr id="27" name="Text 13">
            <a:extLst>
              <a:ext uri="{FF2B5EF4-FFF2-40B4-BE49-F238E27FC236}">
                <a16:creationId xmlns:a16="http://schemas.microsoft.com/office/drawing/2014/main" id="{1054AFA5-A7B9-CFE4-0225-7756BCF5FEC9}"/>
              </a:ext>
            </a:extLst>
          </p:cNvPr>
          <p:cNvSpPr/>
          <p:nvPr/>
        </p:nvSpPr>
        <p:spPr>
          <a:xfrm>
            <a:off x="4816488" y="3520440"/>
            <a:ext cx="1151344" cy="365760"/>
          </a:xfrm>
          <a:prstGeom prst="rect">
            <a:avLst/>
          </a:prstGeom>
          <a:noFill/>
          <a:ln/>
        </p:spPr>
        <p:txBody>
          <a:bodyPr wrap="square" lIns="0" tIns="0" rIns="0" bIns="0" rtlCol="0" anchor="ctr"/>
          <a:lstStyle/>
          <a:p>
            <a:pPr marL="0" indent="0" algn="ctr">
              <a:buNone/>
            </a:pPr>
            <a:r>
              <a:rPr lang="en-US" sz="1600" dirty="0">
                <a:solidFill>
                  <a:schemeClr val="bg1">
                    <a:lumMod val="75000"/>
                  </a:schemeClr>
                </a:solidFill>
                <a:latin typeface="Courier New" pitchFamily="34" charset="0"/>
                <a:ea typeface="Courier New" pitchFamily="34" charset="-122"/>
                <a:cs typeface="Courier New" pitchFamily="34" charset="-120"/>
              </a:rPr>
              <a:t>2011</a:t>
            </a:r>
            <a:endParaRPr lang="en-US" sz="1600" dirty="0">
              <a:solidFill>
                <a:schemeClr val="bg1">
                  <a:lumMod val="75000"/>
                </a:schemeClr>
              </a:solidFill>
            </a:endParaRPr>
          </a:p>
        </p:txBody>
      </p:sp>
      <p:sp>
        <p:nvSpPr>
          <p:cNvPr id="29" name="Shape 14">
            <a:extLst>
              <a:ext uri="{FF2B5EF4-FFF2-40B4-BE49-F238E27FC236}">
                <a16:creationId xmlns:a16="http://schemas.microsoft.com/office/drawing/2014/main" id="{B823822A-0CEB-6FA6-2D74-71E4DB3A6584}"/>
              </a:ext>
            </a:extLst>
          </p:cNvPr>
          <p:cNvSpPr/>
          <p:nvPr/>
        </p:nvSpPr>
        <p:spPr>
          <a:xfrm>
            <a:off x="6223864" y="2743200"/>
            <a:ext cx="1151344" cy="1371600"/>
          </a:xfrm>
          <a:prstGeom prst="roundRect">
            <a:avLst>
              <a:gd name="adj" fmla="val 9530"/>
            </a:avLst>
          </a:prstGeom>
          <a:solidFill>
            <a:srgbClr val="222121"/>
          </a:solidFill>
          <a:ln w="12700">
            <a:solidFill>
              <a:srgbClr val="3A3A3A"/>
            </a:solidFill>
            <a:prstDash val="solid"/>
          </a:ln>
        </p:spPr>
        <p:txBody>
          <a:bodyPr/>
          <a:lstStyle/>
          <a:p>
            <a:endParaRPr lang="en-US" sz="2400"/>
          </a:p>
        </p:txBody>
      </p:sp>
      <p:sp>
        <p:nvSpPr>
          <p:cNvPr id="31" name="Text 15">
            <a:extLst>
              <a:ext uri="{FF2B5EF4-FFF2-40B4-BE49-F238E27FC236}">
                <a16:creationId xmlns:a16="http://schemas.microsoft.com/office/drawing/2014/main" id="{ACED6B06-5F28-EC3B-51CA-23E870FEAF8F}"/>
              </a:ext>
            </a:extLst>
          </p:cNvPr>
          <p:cNvSpPr/>
          <p:nvPr/>
        </p:nvSpPr>
        <p:spPr>
          <a:xfrm>
            <a:off x="6223864" y="2999232"/>
            <a:ext cx="1151344" cy="457200"/>
          </a:xfrm>
          <a:prstGeom prst="rect">
            <a:avLst/>
          </a:prstGeom>
          <a:noFill/>
          <a:ln/>
        </p:spPr>
        <p:txBody>
          <a:bodyPr wrap="square" lIns="0" tIns="0" rIns="0" bIns="0" rtlCol="0" anchor="ctr"/>
          <a:lstStyle/>
          <a:p>
            <a:pPr marL="0" indent="0" algn="ctr">
              <a:buNone/>
            </a:pPr>
            <a:r>
              <a:rPr lang="en-US" b="1" dirty="0">
                <a:solidFill>
                  <a:srgbClr val="FFFFFF"/>
                </a:solidFill>
                <a:latin typeface="Arial" pitchFamily="34" charset="0"/>
                <a:ea typeface="Arial" pitchFamily="34" charset="-122"/>
                <a:cs typeface="Arial" pitchFamily="34" charset="-120"/>
              </a:rPr>
              <a:t>Atomic</a:t>
            </a:r>
            <a:endParaRPr lang="en-US" dirty="0"/>
          </a:p>
        </p:txBody>
      </p:sp>
      <p:sp>
        <p:nvSpPr>
          <p:cNvPr id="33" name="Text 16">
            <a:extLst>
              <a:ext uri="{FF2B5EF4-FFF2-40B4-BE49-F238E27FC236}">
                <a16:creationId xmlns:a16="http://schemas.microsoft.com/office/drawing/2014/main" id="{CDE9EA28-7760-D1EA-F4F1-C0A980BD5EE1}"/>
              </a:ext>
            </a:extLst>
          </p:cNvPr>
          <p:cNvSpPr/>
          <p:nvPr/>
        </p:nvSpPr>
        <p:spPr>
          <a:xfrm>
            <a:off x="6223864" y="3520440"/>
            <a:ext cx="1151344" cy="365760"/>
          </a:xfrm>
          <a:prstGeom prst="rect">
            <a:avLst/>
          </a:prstGeom>
          <a:noFill/>
          <a:ln/>
        </p:spPr>
        <p:txBody>
          <a:bodyPr wrap="square" lIns="0" tIns="0" rIns="0" bIns="0" rtlCol="0" anchor="ctr"/>
          <a:lstStyle/>
          <a:p>
            <a:pPr marL="0" indent="0" algn="ctr">
              <a:buNone/>
            </a:pPr>
            <a:r>
              <a:rPr lang="en-US" sz="1600" dirty="0">
                <a:solidFill>
                  <a:schemeClr val="bg1">
                    <a:lumMod val="75000"/>
                  </a:schemeClr>
                </a:solidFill>
                <a:latin typeface="Courier New" pitchFamily="34" charset="0"/>
                <a:ea typeface="Courier New" pitchFamily="34" charset="-122"/>
                <a:cs typeface="Courier New" pitchFamily="34" charset="-120"/>
              </a:rPr>
              <a:t>2013</a:t>
            </a:r>
            <a:endParaRPr lang="en-US" sz="1600" dirty="0">
              <a:solidFill>
                <a:schemeClr val="bg1">
                  <a:lumMod val="75000"/>
                </a:schemeClr>
              </a:solidFill>
            </a:endParaRPr>
          </a:p>
        </p:txBody>
      </p:sp>
      <p:sp>
        <p:nvSpPr>
          <p:cNvPr id="35" name="Shape 17">
            <a:extLst>
              <a:ext uri="{FF2B5EF4-FFF2-40B4-BE49-F238E27FC236}">
                <a16:creationId xmlns:a16="http://schemas.microsoft.com/office/drawing/2014/main" id="{74044E17-809D-96CB-F791-62D750AB7628}"/>
              </a:ext>
            </a:extLst>
          </p:cNvPr>
          <p:cNvSpPr/>
          <p:nvPr/>
        </p:nvSpPr>
        <p:spPr>
          <a:xfrm>
            <a:off x="7631240" y="2743200"/>
            <a:ext cx="1151344" cy="1371600"/>
          </a:xfrm>
          <a:prstGeom prst="roundRect">
            <a:avLst>
              <a:gd name="adj" fmla="val 9530"/>
            </a:avLst>
          </a:prstGeom>
          <a:solidFill>
            <a:srgbClr val="222121"/>
          </a:solidFill>
          <a:ln w="12700">
            <a:solidFill>
              <a:srgbClr val="3A3A3A"/>
            </a:solidFill>
            <a:prstDash val="solid"/>
          </a:ln>
        </p:spPr>
        <p:txBody>
          <a:bodyPr/>
          <a:lstStyle/>
          <a:p>
            <a:endParaRPr lang="en-US" sz="2400"/>
          </a:p>
        </p:txBody>
      </p:sp>
      <p:sp>
        <p:nvSpPr>
          <p:cNvPr id="37" name="Text 18">
            <a:extLst>
              <a:ext uri="{FF2B5EF4-FFF2-40B4-BE49-F238E27FC236}">
                <a16:creationId xmlns:a16="http://schemas.microsoft.com/office/drawing/2014/main" id="{9B7C33E6-D57D-45A1-9874-40FEC57D1CF7}"/>
              </a:ext>
            </a:extLst>
          </p:cNvPr>
          <p:cNvSpPr/>
          <p:nvPr/>
        </p:nvSpPr>
        <p:spPr>
          <a:xfrm>
            <a:off x="7631240" y="2999232"/>
            <a:ext cx="1151344" cy="457200"/>
          </a:xfrm>
          <a:prstGeom prst="rect">
            <a:avLst/>
          </a:prstGeom>
          <a:noFill/>
          <a:ln/>
        </p:spPr>
        <p:txBody>
          <a:bodyPr wrap="square" lIns="0" tIns="0" rIns="0" bIns="0" rtlCol="0" anchor="ctr"/>
          <a:lstStyle/>
          <a:p>
            <a:pPr marL="0" indent="0" algn="ctr">
              <a:buNone/>
            </a:pPr>
            <a:r>
              <a:rPr lang="en-US" b="1" dirty="0">
                <a:solidFill>
                  <a:srgbClr val="FFFFFF"/>
                </a:solidFill>
                <a:latin typeface="Arial" pitchFamily="34" charset="0"/>
                <a:ea typeface="Arial" pitchFamily="34" charset="-122"/>
                <a:cs typeface="Arial" pitchFamily="34" charset="-120"/>
              </a:rPr>
              <a:t>CSS Modules</a:t>
            </a:r>
            <a:endParaRPr lang="en-US" dirty="0"/>
          </a:p>
        </p:txBody>
      </p:sp>
      <p:sp>
        <p:nvSpPr>
          <p:cNvPr id="39" name="Text 19">
            <a:extLst>
              <a:ext uri="{FF2B5EF4-FFF2-40B4-BE49-F238E27FC236}">
                <a16:creationId xmlns:a16="http://schemas.microsoft.com/office/drawing/2014/main" id="{A04568C9-356C-8C65-7F40-84EA7C9098EA}"/>
              </a:ext>
            </a:extLst>
          </p:cNvPr>
          <p:cNvSpPr/>
          <p:nvPr/>
        </p:nvSpPr>
        <p:spPr>
          <a:xfrm>
            <a:off x="7631240" y="3520440"/>
            <a:ext cx="1151344" cy="365760"/>
          </a:xfrm>
          <a:prstGeom prst="rect">
            <a:avLst/>
          </a:prstGeom>
          <a:noFill/>
          <a:ln/>
        </p:spPr>
        <p:txBody>
          <a:bodyPr wrap="square" lIns="0" tIns="0" rIns="0" bIns="0" rtlCol="0" anchor="ctr"/>
          <a:lstStyle/>
          <a:p>
            <a:pPr marL="0" indent="0" algn="ctr">
              <a:buNone/>
            </a:pPr>
            <a:r>
              <a:rPr lang="en-US" sz="1600" dirty="0">
                <a:solidFill>
                  <a:schemeClr val="bg1">
                    <a:lumMod val="75000"/>
                  </a:schemeClr>
                </a:solidFill>
                <a:latin typeface="Courier New" pitchFamily="34" charset="0"/>
                <a:ea typeface="Courier New" pitchFamily="34" charset="-122"/>
                <a:cs typeface="Courier New" pitchFamily="34" charset="-120"/>
              </a:rPr>
              <a:t>2015</a:t>
            </a:r>
            <a:endParaRPr lang="en-US" sz="1600" dirty="0">
              <a:solidFill>
                <a:schemeClr val="bg1">
                  <a:lumMod val="75000"/>
                </a:schemeClr>
              </a:solidFill>
            </a:endParaRPr>
          </a:p>
        </p:txBody>
      </p:sp>
      <p:sp>
        <p:nvSpPr>
          <p:cNvPr id="41" name="Shape 20">
            <a:extLst>
              <a:ext uri="{FF2B5EF4-FFF2-40B4-BE49-F238E27FC236}">
                <a16:creationId xmlns:a16="http://schemas.microsoft.com/office/drawing/2014/main" id="{4504358F-A082-C1C8-3C66-C67D0925457C}"/>
              </a:ext>
            </a:extLst>
          </p:cNvPr>
          <p:cNvSpPr/>
          <p:nvPr/>
        </p:nvSpPr>
        <p:spPr>
          <a:xfrm>
            <a:off x="9038615" y="2743200"/>
            <a:ext cx="1151344" cy="1371600"/>
          </a:xfrm>
          <a:prstGeom prst="roundRect">
            <a:avLst>
              <a:gd name="adj" fmla="val 9530"/>
            </a:avLst>
          </a:prstGeom>
          <a:solidFill>
            <a:srgbClr val="222121"/>
          </a:solidFill>
          <a:ln w="12700">
            <a:solidFill>
              <a:srgbClr val="3A3A3A"/>
            </a:solidFill>
            <a:prstDash val="solid"/>
          </a:ln>
        </p:spPr>
        <p:txBody>
          <a:bodyPr/>
          <a:lstStyle/>
          <a:p>
            <a:endParaRPr lang="en-US" sz="2400"/>
          </a:p>
        </p:txBody>
      </p:sp>
      <p:sp>
        <p:nvSpPr>
          <p:cNvPr id="43" name="Text 21">
            <a:extLst>
              <a:ext uri="{FF2B5EF4-FFF2-40B4-BE49-F238E27FC236}">
                <a16:creationId xmlns:a16="http://schemas.microsoft.com/office/drawing/2014/main" id="{C0E9110E-9460-9DC5-1478-797AFB518583}"/>
              </a:ext>
            </a:extLst>
          </p:cNvPr>
          <p:cNvSpPr/>
          <p:nvPr/>
        </p:nvSpPr>
        <p:spPr>
          <a:xfrm>
            <a:off x="9038615" y="2999232"/>
            <a:ext cx="1151344" cy="457200"/>
          </a:xfrm>
          <a:prstGeom prst="rect">
            <a:avLst/>
          </a:prstGeom>
          <a:noFill/>
          <a:ln/>
        </p:spPr>
        <p:txBody>
          <a:bodyPr wrap="square" lIns="0" tIns="0" rIns="0" bIns="0" rtlCol="0" anchor="ctr"/>
          <a:lstStyle/>
          <a:p>
            <a:pPr marL="0" indent="0" algn="ctr">
              <a:buNone/>
            </a:pPr>
            <a:r>
              <a:rPr lang="en-US" b="1" dirty="0">
                <a:solidFill>
                  <a:srgbClr val="FFFFFF"/>
                </a:solidFill>
                <a:latin typeface="Arial" pitchFamily="34" charset="0"/>
                <a:ea typeface="Arial" pitchFamily="34" charset="-122"/>
                <a:cs typeface="Arial" pitchFamily="34" charset="-120"/>
              </a:rPr>
              <a:t>CSS-in-JS</a:t>
            </a:r>
            <a:endParaRPr lang="en-US" dirty="0"/>
          </a:p>
        </p:txBody>
      </p:sp>
      <p:sp>
        <p:nvSpPr>
          <p:cNvPr id="45" name="Text 22">
            <a:extLst>
              <a:ext uri="{FF2B5EF4-FFF2-40B4-BE49-F238E27FC236}">
                <a16:creationId xmlns:a16="http://schemas.microsoft.com/office/drawing/2014/main" id="{ACA9714D-10D4-BA1F-895D-3B55B97276AC}"/>
              </a:ext>
            </a:extLst>
          </p:cNvPr>
          <p:cNvSpPr/>
          <p:nvPr/>
        </p:nvSpPr>
        <p:spPr>
          <a:xfrm>
            <a:off x="9038615" y="3520440"/>
            <a:ext cx="1151344" cy="365760"/>
          </a:xfrm>
          <a:prstGeom prst="rect">
            <a:avLst/>
          </a:prstGeom>
          <a:noFill/>
          <a:ln/>
        </p:spPr>
        <p:txBody>
          <a:bodyPr wrap="square" lIns="0" tIns="0" rIns="0" bIns="0" rtlCol="0" anchor="ctr"/>
          <a:lstStyle/>
          <a:p>
            <a:pPr marL="0" indent="0" algn="ctr">
              <a:buNone/>
            </a:pPr>
            <a:r>
              <a:rPr lang="en-US" sz="1600" dirty="0">
                <a:solidFill>
                  <a:schemeClr val="bg1">
                    <a:lumMod val="75000"/>
                  </a:schemeClr>
                </a:solidFill>
                <a:latin typeface="Courier New" pitchFamily="34" charset="0"/>
                <a:ea typeface="Courier New" pitchFamily="34" charset="-122"/>
                <a:cs typeface="Courier New" pitchFamily="34" charset="-120"/>
              </a:rPr>
              <a:t>2016</a:t>
            </a:r>
            <a:endParaRPr lang="en-US" sz="1600" dirty="0">
              <a:solidFill>
                <a:schemeClr val="bg1">
                  <a:lumMod val="75000"/>
                </a:schemeClr>
              </a:solidFill>
            </a:endParaRPr>
          </a:p>
        </p:txBody>
      </p:sp>
      <p:sp>
        <p:nvSpPr>
          <p:cNvPr id="47" name="Shape 23">
            <a:extLst>
              <a:ext uri="{FF2B5EF4-FFF2-40B4-BE49-F238E27FC236}">
                <a16:creationId xmlns:a16="http://schemas.microsoft.com/office/drawing/2014/main" id="{34C644E8-CF66-9437-72C4-30C3CCBE6CE3}"/>
              </a:ext>
            </a:extLst>
          </p:cNvPr>
          <p:cNvSpPr/>
          <p:nvPr/>
        </p:nvSpPr>
        <p:spPr>
          <a:xfrm>
            <a:off x="10445991" y="2743200"/>
            <a:ext cx="1151344" cy="1371600"/>
          </a:xfrm>
          <a:prstGeom prst="roundRect">
            <a:avLst>
              <a:gd name="adj" fmla="val 9530"/>
            </a:avLst>
          </a:prstGeom>
          <a:solidFill>
            <a:srgbClr val="2C2B2B"/>
          </a:solidFill>
          <a:ln w="12700">
            <a:solidFill>
              <a:srgbClr val="00B0F0"/>
            </a:solidFill>
            <a:prstDash val="solid"/>
          </a:ln>
        </p:spPr>
        <p:txBody>
          <a:bodyPr/>
          <a:lstStyle/>
          <a:p>
            <a:endParaRPr lang="en-US" sz="2400">
              <a:solidFill>
                <a:srgbClr val="00B0F0"/>
              </a:solidFill>
            </a:endParaRPr>
          </a:p>
        </p:txBody>
      </p:sp>
      <p:sp>
        <p:nvSpPr>
          <p:cNvPr id="49" name="Text 24">
            <a:extLst>
              <a:ext uri="{FF2B5EF4-FFF2-40B4-BE49-F238E27FC236}">
                <a16:creationId xmlns:a16="http://schemas.microsoft.com/office/drawing/2014/main" id="{ADF8D1E7-9E75-D5F6-A9CE-19EDEA015C53}"/>
              </a:ext>
            </a:extLst>
          </p:cNvPr>
          <p:cNvSpPr/>
          <p:nvPr/>
        </p:nvSpPr>
        <p:spPr>
          <a:xfrm>
            <a:off x="10445991" y="2999232"/>
            <a:ext cx="1151344" cy="457200"/>
          </a:xfrm>
          <a:prstGeom prst="rect">
            <a:avLst/>
          </a:prstGeom>
          <a:noFill/>
          <a:ln/>
        </p:spPr>
        <p:txBody>
          <a:bodyPr wrap="square" lIns="0" tIns="0" rIns="0" bIns="0" rtlCol="0" anchor="ctr"/>
          <a:lstStyle/>
          <a:p>
            <a:pPr marL="0" indent="0" algn="ctr">
              <a:buNone/>
            </a:pPr>
            <a:r>
              <a:rPr lang="en-US" b="1" dirty="0">
                <a:solidFill>
                  <a:srgbClr val="00B0F0"/>
                </a:solidFill>
                <a:latin typeface="Arial" pitchFamily="34" charset="0"/>
                <a:ea typeface="Arial" pitchFamily="34" charset="-122"/>
                <a:cs typeface="Arial" pitchFamily="34" charset="-120"/>
              </a:rPr>
              <a:t>Tailwind</a:t>
            </a:r>
            <a:endParaRPr lang="en-US" dirty="0">
              <a:solidFill>
                <a:srgbClr val="00B0F0"/>
              </a:solidFill>
            </a:endParaRPr>
          </a:p>
        </p:txBody>
      </p:sp>
      <p:sp>
        <p:nvSpPr>
          <p:cNvPr id="51" name="Text 25">
            <a:extLst>
              <a:ext uri="{FF2B5EF4-FFF2-40B4-BE49-F238E27FC236}">
                <a16:creationId xmlns:a16="http://schemas.microsoft.com/office/drawing/2014/main" id="{EBD3968A-2DF8-9D6F-C207-591A5065D5AA}"/>
              </a:ext>
            </a:extLst>
          </p:cNvPr>
          <p:cNvSpPr/>
          <p:nvPr/>
        </p:nvSpPr>
        <p:spPr>
          <a:xfrm>
            <a:off x="10445991" y="3520440"/>
            <a:ext cx="1151344" cy="365760"/>
          </a:xfrm>
          <a:prstGeom prst="rect">
            <a:avLst/>
          </a:prstGeom>
          <a:noFill/>
          <a:ln/>
        </p:spPr>
        <p:txBody>
          <a:bodyPr wrap="square" lIns="0" tIns="0" rIns="0" bIns="0" rtlCol="0" anchor="ctr"/>
          <a:lstStyle/>
          <a:p>
            <a:pPr marL="0" indent="0" algn="ctr">
              <a:buNone/>
            </a:pPr>
            <a:r>
              <a:rPr lang="en-US" sz="1600" dirty="0">
                <a:solidFill>
                  <a:schemeClr val="bg1"/>
                </a:solidFill>
                <a:latin typeface="Courier New" pitchFamily="34" charset="0"/>
                <a:ea typeface="Courier New" pitchFamily="34" charset="-122"/>
                <a:cs typeface="Courier New" pitchFamily="34" charset="-120"/>
              </a:rPr>
              <a:t>2017→</a:t>
            </a:r>
            <a:endParaRPr lang="en-US" sz="1600" dirty="0">
              <a:solidFill>
                <a:schemeClr val="bg1"/>
              </a:solidFill>
            </a:endParaRPr>
          </a:p>
        </p:txBody>
      </p:sp>
    </p:spTree>
    <p:extLst>
      <p:ext uri="{BB962C8B-B14F-4D97-AF65-F5344CB8AC3E}">
        <p14:creationId xmlns:p14="http://schemas.microsoft.com/office/powerpoint/2010/main" val="33375996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94360" y="868680"/>
            <a:ext cx="11002975" cy="1005840"/>
          </a:xfrm>
          <a:prstGeom prst="rect">
            <a:avLst/>
          </a:prstGeom>
          <a:noFill/>
          <a:ln/>
        </p:spPr>
        <p:txBody>
          <a:bodyPr wrap="square" lIns="0" tIns="0" rIns="0" bIns="0" rtlCol="0" anchor="t"/>
          <a:lstStyle/>
          <a:p>
            <a:pPr marL="0" indent="0" algn="l">
              <a:lnSpc>
                <a:spcPct val="102000"/>
              </a:lnSpc>
              <a:buNone/>
            </a:pPr>
            <a:r>
              <a:rPr lang="en-US" sz="4000" b="1" dirty="0">
                <a:solidFill>
                  <a:schemeClr val="tx1">
                    <a:lumMod val="95000"/>
                    <a:lumOff val="5000"/>
                  </a:schemeClr>
                </a:solidFill>
                <a:latin typeface="Arial" pitchFamily="34" charset="0"/>
                <a:ea typeface="Arial" pitchFamily="34" charset="-122"/>
                <a:cs typeface="Arial" pitchFamily="34" charset="-120"/>
              </a:rPr>
              <a:t>The machines have voted.</a:t>
            </a:r>
            <a:endParaRPr lang="en-US" sz="4000" dirty="0">
              <a:solidFill>
                <a:schemeClr val="tx1">
                  <a:lumMod val="95000"/>
                  <a:lumOff val="5000"/>
                </a:schemeClr>
              </a:solidFill>
            </a:endParaRPr>
          </a:p>
        </p:txBody>
      </p:sp>
      <p:sp>
        <p:nvSpPr>
          <p:cNvPr id="4" name="Shape 2"/>
          <p:cNvSpPr/>
          <p:nvPr/>
        </p:nvSpPr>
        <p:spPr>
          <a:xfrm>
            <a:off x="594360" y="2377440"/>
            <a:ext cx="3454298" cy="1234440"/>
          </a:xfrm>
          <a:prstGeom prst="roundRect">
            <a:avLst>
              <a:gd name="adj" fmla="val 8889"/>
            </a:avLst>
          </a:prstGeom>
          <a:solidFill>
            <a:srgbClr val="2C2B2B"/>
          </a:solidFill>
          <a:ln w="12700">
            <a:solidFill>
              <a:srgbClr val="3A3A3A"/>
            </a:solidFill>
            <a:prstDash val="solid"/>
          </a:ln>
        </p:spPr>
        <p:txBody>
          <a:bodyPr/>
          <a:lstStyle/>
          <a:p>
            <a:endParaRPr lang="en-US"/>
          </a:p>
        </p:txBody>
      </p:sp>
      <p:sp>
        <p:nvSpPr>
          <p:cNvPr id="5" name="Text 3"/>
          <p:cNvSpPr/>
          <p:nvPr/>
        </p:nvSpPr>
        <p:spPr>
          <a:xfrm>
            <a:off x="868680" y="2633472"/>
            <a:ext cx="2905658" cy="457200"/>
          </a:xfrm>
          <a:prstGeom prst="rect">
            <a:avLst/>
          </a:prstGeom>
          <a:noFill/>
          <a:ln/>
        </p:spPr>
        <p:txBody>
          <a:bodyPr wrap="square" lIns="0" tIns="0" rIns="0" bIns="0" rtlCol="0" anchor="ctr"/>
          <a:lstStyle/>
          <a:p>
            <a:pPr marL="0" indent="0" algn="l">
              <a:buNone/>
            </a:pPr>
            <a:r>
              <a:rPr lang="en-US" sz="2000" b="1" dirty="0">
                <a:solidFill>
                  <a:srgbClr val="FFC000"/>
                </a:solidFill>
                <a:latin typeface="Arial" pitchFamily="34" charset="0"/>
                <a:ea typeface="Arial" pitchFamily="34" charset="-122"/>
                <a:cs typeface="Arial" pitchFamily="34" charset="-120"/>
              </a:rPr>
              <a:t>v0</a:t>
            </a:r>
            <a:endParaRPr lang="en-US" sz="2000" dirty="0">
              <a:solidFill>
                <a:srgbClr val="FFC000"/>
              </a:solidFill>
            </a:endParaRPr>
          </a:p>
        </p:txBody>
      </p:sp>
      <p:sp>
        <p:nvSpPr>
          <p:cNvPr id="6" name="Text 4"/>
          <p:cNvSpPr/>
          <p:nvPr/>
        </p:nvSpPr>
        <p:spPr>
          <a:xfrm>
            <a:off x="868680" y="3127248"/>
            <a:ext cx="2905658" cy="365760"/>
          </a:xfrm>
          <a:prstGeom prst="rect">
            <a:avLst/>
          </a:prstGeom>
          <a:noFill/>
          <a:ln/>
        </p:spPr>
        <p:txBody>
          <a:bodyPr wrap="square" lIns="0" tIns="0" rIns="0" bIns="0" rtlCol="0" anchor="ctr"/>
          <a:lstStyle/>
          <a:p>
            <a:pPr marL="0" indent="0" algn="l">
              <a:buNone/>
            </a:pPr>
            <a:r>
              <a:rPr lang="en-US" dirty="0">
                <a:solidFill>
                  <a:schemeClr val="bg1">
                    <a:lumMod val="85000"/>
                  </a:schemeClr>
                </a:solidFill>
                <a:latin typeface="Arial" pitchFamily="34" charset="0"/>
                <a:ea typeface="Arial" pitchFamily="34" charset="-122"/>
                <a:cs typeface="Arial" pitchFamily="34" charset="-120"/>
              </a:rPr>
              <a:t>Vercel</a:t>
            </a:r>
            <a:endParaRPr lang="en-US" dirty="0">
              <a:solidFill>
                <a:schemeClr val="bg1">
                  <a:lumMod val="85000"/>
                </a:schemeClr>
              </a:solidFill>
            </a:endParaRPr>
          </a:p>
        </p:txBody>
      </p:sp>
      <p:sp>
        <p:nvSpPr>
          <p:cNvPr id="7" name="Shape 5"/>
          <p:cNvSpPr/>
          <p:nvPr/>
        </p:nvSpPr>
        <p:spPr>
          <a:xfrm>
            <a:off x="4368698" y="2377440"/>
            <a:ext cx="3454298" cy="1234440"/>
          </a:xfrm>
          <a:prstGeom prst="roundRect">
            <a:avLst>
              <a:gd name="adj" fmla="val 8889"/>
            </a:avLst>
          </a:prstGeom>
          <a:solidFill>
            <a:srgbClr val="2C2B2B"/>
          </a:solidFill>
          <a:ln w="12700">
            <a:solidFill>
              <a:srgbClr val="3A3A3A"/>
            </a:solidFill>
            <a:prstDash val="solid"/>
          </a:ln>
        </p:spPr>
        <p:txBody>
          <a:bodyPr/>
          <a:lstStyle/>
          <a:p>
            <a:endParaRPr lang="en-US"/>
          </a:p>
        </p:txBody>
      </p:sp>
      <p:sp>
        <p:nvSpPr>
          <p:cNvPr id="8" name="Text 6"/>
          <p:cNvSpPr/>
          <p:nvPr/>
        </p:nvSpPr>
        <p:spPr>
          <a:xfrm>
            <a:off x="4643018" y="2633472"/>
            <a:ext cx="2905658" cy="457200"/>
          </a:xfrm>
          <a:prstGeom prst="rect">
            <a:avLst/>
          </a:prstGeom>
          <a:noFill/>
          <a:ln/>
        </p:spPr>
        <p:txBody>
          <a:bodyPr wrap="square" lIns="0" tIns="0" rIns="0" bIns="0" rtlCol="0" anchor="ctr"/>
          <a:lstStyle/>
          <a:p>
            <a:pPr marL="0" indent="0" algn="l">
              <a:buNone/>
            </a:pPr>
            <a:r>
              <a:rPr lang="en-US" sz="2000" b="1" dirty="0">
                <a:solidFill>
                  <a:srgbClr val="FFC000"/>
                </a:solidFill>
                <a:latin typeface="Arial" pitchFamily="34" charset="0"/>
                <a:ea typeface="Arial" pitchFamily="34" charset="-122"/>
                <a:cs typeface="Arial" pitchFamily="34" charset="-120"/>
              </a:rPr>
              <a:t>bolt.new</a:t>
            </a:r>
            <a:endParaRPr lang="en-US" sz="2000" dirty="0">
              <a:solidFill>
                <a:srgbClr val="FFC000"/>
              </a:solidFill>
            </a:endParaRPr>
          </a:p>
        </p:txBody>
      </p:sp>
      <p:sp>
        <p:nvSpPr>
          <p:cNvPr id="9" name="Text 7"/>
          <p:cNvSpPr/>
          <p:nvPr/>
        </p:nvSpPr>
        <p:spPr>
          <a:xfrm>
            <a:off x="4643018" y="3127248"/>
            <a:ext cx="2905658" cy="365760"/>
          </a:xfrm>
          <a:prstGeom prst="rect">
            <a:avLst/>
          </a:prstGeom>
          <a:noFill/>
          <a:ln/>
        </p:spPr>
        <p:txBody>
          <a:bodyPr wrap="square" lIns="0" tIns="0" rIns="0" bIns="0" rtlCol="0" anchor="ctr"/>
          <a:lstStyle/>
          <a:p>
            <a:pPr marL="0" indent="0" algn="l">
              <a:buNone/>
            </a:pPr>
            <a:r>
              <a:rPr lang="en-US" sz="1600" dirty="0">
                <a:solidFill>
                  <a:schemeClr val="bg1">
                    <a:lumMod val="85000"/>
                  </a:schemeClr>
                </a:solidFill>
                <a:latin typeface="Arial" pitchFamily="34" charset="0"/>
                <a:ea typeface="Arial" pitchFamily="34" charset="-122"/>
                <a:cs typeface="Arial" pitchFamily="34" charset="-120"/>
              </a:rPr>
              <a:t>StackBlitz</a:t>
            </a:r>
            <a:endParaRPr lang="en-US" sz="1600" dirty="0">
              <a:solidFill>
                <a:schemeClr val="bg1">
                  <a:lumMod val="85000"/>
                </a:schemeClr>
              </a:solidFill>
            </a:endParaRPr>
          </a:p>
        </p:txBody>
      </p:sp>
      <p:sp>
        <p:nvSpPr>
          <p:cNvPr id="10" name="Shape 8"/>
          <p:cNvSpPr/>
          <p:nvPr/>
        </p:nvSpPr>
        <p:spPr>
          <a:xfrm>
            <a:off x="8143037" y="2377440"/>
            <a:ext cx="3454298" cy="1234440"/>
          </a:xfrm>
          <a:prstGeom prst="roundRect">
            <a:avLst>
              <a:gd name="adj" fmla="val 8889"/>
            </a:avLst>
          </a:prstGeom>
          <a:solidFill>
            <a:srgbClr val="2C2B2B"/>
          </a:solidFill>
          <a:ln w="12700">
            <a:solidFill>
              <a:srgbClr val="3A3A3A"/>
            </a:solidFill>
            <a:prstDash val="solid"/>
          </a:ln>
        </p:spPr>
        <p:txBody>
          <a:bodyPr/>
          <a:lstStyle/>
          <a:p>
            <a:endParaRPr lang="en-US"/>
          </a:p>
        </p:txBody>
      </p:sp>
      <p:sp>
        <p:nvSpPr>
          <p:cNvPr id="11" name="Text 9"/>
          <p:cNvSpPr/>
          <p:nvPr/>
        </p:nvSpPr>
        <p:spPr>
          <a:xfrm>
            <a:off x="8417357" y="2633472"/>
            <a:ext cx="2905658" cy="457200"/>
          </a:xfrm>
          <a:prstGeom prst="rect">
            <a:avLst/>
          </a:prstGeom>
          <a:noFill/>
          <a:ln/>
        </p:spPr>
        <p:txBody>
          <a:bodyPr wrap="square" lIns="0" tIns="0" rIns="0" bIns="0" rtlCol="0" anchor="ctr"/>
          <a:lstStyle/>
          <a:p>
            <a:pPr marL="0" indent="0" algn="l">
              <a:buNone/>
            </a:pPr>
            <a:r>
              <a:rPr lang="en-US" sz="2000" b="1" dirty="0">
                <a:solidFill>
                  <a:srgbClr val="FFC000"/>
                </a:solidFill>
                <a:latin typeface="Arial" pitchFamily="34" charset="0"/>
                <a:ea typeface="Arial" pitchFamily="34" charset="-122"/>
                <a:cs typeface="Arial" pitchFamily="34" charset="-120"/>
              </a:rPr>
              <a:t>Lovable</a:t>
            </a:r>
            <a:endParaRPr lang="en-US" sz="2000" dirty="0">
              <a:solidFill>
                <a:srgbClr val="FFC000"/>
              </a:solidFill>
            </a:endParaRPr>
          </a:p>
        </p:txBody>
      </p:sp>
      <p:sp>
        <p:nvSpPr>
          <p:cNvPr id="12" name="Text 10"/>
          <p:cNvSpPr/>
          <p:nvPr/>
        </p:nvSpPr>
        <p:spPr>
          <a:xfrm>
            <a:off x="8417357" y="3127248"/>
            <a:ext cx="2905658" cy="365760"/>
          </a:xfrm>
          <a:prstGeom prst="rect">
            <a:avLst/>
          </a:prstGeom>
          <a:noFill/>
          <a:ln/>
        </p:spPr>
        <p:txBody>
          <a:bodyPr wrap="square" lIns="0" tIns="0" rIns="0" bIns="0" rtlCol="0" anchor="ctr"/>
          <a:lstStyle/>
          <a:p>
            <a:pPr marL="0" indent="0" algn="l">
              <a:buNone/>
            </a:pPr>
            <a:r>
              <a:rPr lang="en-US" sz="1600" dirty="0">
                <a:solidFill>
                  <a:schemeClr val="bg1">
                    <a:lumMod val="85000"/>
                  </a:schemeClr>
                </a:solidFill>
                <a:latin typeface="Arial" pitchFamily="34" charset="0"/>
                <a:ea typeface="Arial" pitchFamily="34" charset="-122"/>
                <a:cs typeface="Arial" pitchFamily="34" charset="-120"/>
              </a:rPr>
              <a:t>full-app gen</a:t>
            </a:r>
            <a:endParaRPr lang="en-US" sz="1600" dirty="0">
              <a:solidFill>
                <a:schemeClr val="bg1">
                  <a:lumMod val="85000"/>
                </a:schemeClr>
              </a:solidFill>
            </a:endParaRPr>
          </a:p>
        </p:txBody>
      </p:sp>
      <p:sp>
        <p:nvSpPr>
          <p:cNvPr id="13" name="Shape 11"/>
          <p:cNvSpPr/>
          <p:nvPr/>
        </p:nvSpPr>
        <p:spPr>
          <a:xfrm>
            <a:off x="594360" y="3931920"/>
            <a:ext cx="3454298" cy="1234440"/>
          </a:xfrm>
          <a:prstGeom prst="roundRect">
            <a:avLst>
              <a:gd name="adj" fmla="val 8889"/>
            </a:avLst>
          </a:prstGeom>
          <a:solidFill>
            <a:srgbClr val="2C2B2B"/>
          </a:solidFill>
          <a:ln w="12700">
            <a:solidFill>
              <a:srgbClr val="3A3A3A"/>
            </a:solidFill>
            <a:prstDash val="solid"/>
          </a:ln>
        </p:spPr>
        <p:txBody>
          <a:bodyPr/>
          <a:lstStyle/>
          <a:p>
            <a:endParaRPr lang="en-US"/>
          </a:p>
        </p:txBody>
      </p:sp>
      <p:sp>
        <p:nvSpPr>
          <p:cNvPr id="14" name="Text 12"/>
          <p:cNvSpPr/>
          <p:nvPr/>
        </p:nvSpPr>
        <p:spPr>
          <a:xfrm>
            <a:off x="868680" y="4187952"/>
            <a:ext cx="2905658" cy="457200"/>
          </a:xfrm>
          <a:prstGeom prst="rect">
            <a:avLst/>
          </a:prstGeom>
          <a:noFill/>
          <a:ln/>
        </p:spPr>
        <p:txBody>
          <a:bodyPr wrap="square" lIns="0" tIns="0" rIns="0" bIns="0" rtlCol="0" anchor="ctr"/>
          <a:lstStyle/>
          <a:p>
            <a:pPr marL="0" indent="0" algn="l">
              <a:buNone/>
            </a:pPr>
            <a:r>
              <a:rPr lang="en-US" sz="2000" b="1" dirty="0">
                <a:solidFill>
                  <a:srgbClr val="FFC000"/>
                </a:solidFill>
                <a:latin typeface="Arial" pitchFamily="34" charset="0"/>
                <a:ea typeface="Arial" pitchFamily="34" charset="-122"/>
                <a:cs typeface="Arial" pitchFamily="34" charset="-120"/>
              </a:rPr>
              <a:t>Claude Artifacts</a:t>
            </a:r>
            <a:endParaRPr lang="en-US" sz="2000" dirty="0">
              <a:solidFill>
                <a:srgbClr val="FFC000"/>
              </a:solidFill>
            </a:endParaRPr>
          </a:p>
        </p:txBody>
      </p:sp>
      <p:sp>
        <p:nvSpPr>
          <p:cNvPr id="15" name="Text 13"/>
          <p:cNvSpPr/>
          <p:nvPr/>
        </p:nvSpPr>
        <p:spPr>
          <a:xfrm>
            <a:off x="868680" y="4681728"/>
            <a:ext cx="2905658" cy="365760"/>
          </a:xfrm>
          <a:prstGeom prst="rect">
            <a:avLst/>
          </a:prstGeom>
          <a:noFill/>
          <a:ln/>
        </p:spPr>
        <p:txBody>
          <a:bodyPr wrap="square" lIns="0" tIns="0" rIns="0" bIns="0" rtlCol="0" anchor="ctr"/>
          <a:lstStyle/>
          <a:p>
            <a:pPr marL="0" indent="0" algn="l">
              <a:buNone/>
            </a:pPr>
            <a:r>
              <a:rPr lang="en-US" sz="1600" dirty="0">
                <a:solidFill>
                  <a:schemeClr val="bg1">
                    <a:lumMod val="85000"/>
                  </a:schemeClr>
                </a:solidFill>
                <a:latin typeface="Arial" pitchFamily="34" charset="0"/>
                <a:ea typeface="Arial" pitchFamily="34" charset="-122"/>
                <a:cs typeface="Arial" pitchFamily="34" charset="-120"/>
              </a:rPr>
              <a:t>Anthropic</a:t>
            </a:r>
            <a:endParaRPr lang="en-US" sz="1600" dirty="0">
              <a:solidFill>
                <a:schemeClr val="bg1">
                  <a:lumMod val="85000"/>
                </a:schemeClr>
              </a:solidFill>
            </a:endParaRPr>
          </a:p>
        </p:txBody>
      </p:sp>
      <p:sp>
        <p:nvSpPr>
          <p:cNvPr id="16" name="Shape 14"/>
          <p:cNvSpPr/>
          <p:nvPr/>
        </p:nvSpPr>
        <p:spPr>
          <a:xfrm>
            <a:off x="4368698" y="3931920"/>
            <a:ext cx="3454298" cy="1234440"/>
          </a:xfrm>
          <a:prstGeom prst="roundRect">
            <a:avLst>
              <a:gd name="adj" fmla="val 8889"/>
            </a:avLst>
          </a:prstGeom>
          <a:solidFill>
            <a:srgbClr val="2C2B2B"/>
          </a:solidFill>
          <a:ln w="12700">
            <a:solidFill>
              <a:srgbClr val="3A3A3A"/>
            </a:solidFill>
            <a:prstDash val="solid"/>
          </a:ln>
        </p:spPr>
        <p:txBody>
          <a:bodyPr/>
          <a:lstStyle/>
          <a:p>
            <a:endParaRPr lang="en-US"/>
          </a:p>
        </p:txBody>
      </p:sp>
      <p:sp>
        <p:nvSpPr>
          <p:cNvPr id="17" name="Text 15"/>
          <p:cNvSpPr/>
          <p:nvPr/>
        </p:nvSpPr>
        <p:spPr>
          <a:xfrm>
            <a:off x="4643018" y="4187952"/>
            <a:ext cx="2905658" cy="457200"/>
          </a:xfrm>
          <a:prstGeom prst="rect">
            <a:avLst/>
          </a:prstGeom>
          <a:noFill/>
          <a:ln/>
        </p:spPr>
        <p:txBody>
          <a:bodyPr wrap="square" lIns="0" tIns="0" rIns="0" bIns="0" rtlCol="0" anchor="ctr"/>
          <a:lstStyle/>
          <a:p>
            <a:pPr marL="0" indent="0" algn="l">
              <a:buNone/>
            </a:pPr>
            <a:r>
              <a:rPr lang="en-US" sz="2000" b="1" dirty="0">
                <a:solidFill>
                  <a:srgbClr val="FFC000"/>
                </a:solidFill>
                <a:latin typeface="Arial" pitchFamily="34" charset="0"/>
                <a:ea typeface="Arial" pitchFamily="34" charset="-122"/>
                <a:cs typeface="Arial" pitchFamily="34" charset="-120"/>
              </a:rPr>
              <a:t>shadcn/ui</a:t>
            </a:r>
            <a:endParaRPr lang="en-US" sz="2000" dirty="0">
              <a:solidFill>
                <a:srgbClr val="FFC000"/>
              </a:solidFill>
            </a:endParaRPr>
          </a:p>
        </p:txBody>
      </p:sp>
      <p:sp>
        <p:nvSpPr>
          <p:cNvPr id="18" name="Text 16"/>
          <p:cNvSpPr/>
          <p:nvPr/>
        </p:nvSpPr>
        <p:spPr>
          <a:xfrm>
            <a:off x="4643018" y="4681728"/>
            <a:ext cx="2905658" cy="365760"/>
          </a:xfrm>
          <a:prstGeom prst="rect">
            <a:avLst/>
          </a:prstGeom>
          <a:noFill/>
          <a:ln/>
        </p:spPr>
        <p:txBody>
          <a:bodyPr wrap="square" lIns="0" tIns="0" rIns="0" bIns="0" rtlCol="0" anchor="ctr"/>
          <a:lstStyle/>
          <a:p>
            <a:pPr marL="0" indent="0" algn="l">
              <a:buNone/>
            </a:pPr>
            <a:r>
              <a:rPr lang="en-US" sz="1600" dirty="0">
                <a:solidFill>
                  <a:schemeClr val="bg1">
                    <a:lumMod val="85000"/>
                  </a:schemeClr>
                </a:solidFill>
                <a:latin typeface="Arial" pitchFamily="34" charset="0"/>
                <a:ea typeface="Arial" pitchFamily="34" charset="-122"/>
                <a:cs typeface="Arial" pitchFamily="34" charset="-120"/>
              </a:rPr>
              <a:t>default for AI tools</a:t>
            </a:r>
            <a:endParaRPr lang="en-US" sz="1600" dirty="0">
              <a:solidFill>
                <a:schemeClr val="bg1">
                  <a:lumMod val="85000"/>
                </a:schemeClr>
              </a:solidFill>
            </a:endParaRPr>
          </a:p>
        </p:txBody>
      </p:sp>
      <p:sp>
        <p:nvSpPr>
          <p:cNvPr id="19" name="Shape 17"/>
          <p:cNvSpPr/>
          <p:nvPr/>
        </p:nvSpPr>
        <p:spPr>
          <a:xfrm>
            <a:off x="8143037" y="3931920"/>
            <a:ext cx="3454298" cy="1234440"/>
          </a:xfrm>
          <a:prstGeom prst="roundRect">
            <a:avLst>
              <a:gd name="adj" fmla="val 8889"/>
            </a:avLst>
          </a:prstGeom>
          <a:solidFill>
            <a:srgbClr val="2C2B2B"/>
          </a:solidFill>
          <a:ln w="12700">
            <a:solidFill>
              <a:srgbClr val="3A3A3A"/>
            </a:solidFill>
            <a:prstDash val="solid"/>
          </a:ln>
        </p:spPr>
        <p:txBody>
          <a:bodyPr/>
          <a:lstStyle/>
          <a:p>
            <a:endParaRPr lang="en-US"/>
          </a:p>
        </p:txBody>
      </p:sp>
      <p:sp>
        <p:nvSpPr>
          <p:cNvPr id="20" name="Text 18"/>
          <p:cNvSpPr/>
          <p:nvPr/>
        </p:nvSpPr>
        <p:spPr>
          <a:xfrm>
            <a:off x="8417357" y="4187952"/>
            <a:ext cx="2905658" cy="457200"/>
          </a:xfrm>
          <a:prstGeom prst="rect">
            <a:avLst/>
          </a:prstGeom>
          <a:noFill/>
          <a:ln/>
        </p:spPr>
        <p:txBody>
          <a:bodyPr wrap="square" lIns="0" tIns="0" rIns="0" bIns="0" rtlCol="0" anchor="ctr"/>
          <a:lstStyle/>
          <a:p>
            <a:pPr marL="0" indent="0" algn="l">
              <a:buNone/>
            </a:pPr>
            <a:r>
              <a:rPr lang="en-US" sz="2000" b="1" dirty="0">
                <a:solidFill>
                  <a:srgbClr val="FFC000"/>
                </a:solidFill>
                <a:latin typeface="Arial" pitchFamily="34" charset="0"/>
                <a:ea typeface="Arial" pitchFamily="34" charset="-122"/>
                <a:cs typeface="Arial" pitchFamily="34" charset="-120"/>
              </a:rPr>
              <a:t>Cursor, Copilot</a:t>
            </a:r>
            <a:endParaRPr lang="en-US" sz="2000" dirty="0">
              <a:solidFill>
                <a:srgbClr val="FFC000"/>
              </a:solidFill>
            </a:endParaRPr>
          </a:p>
        </p:txBody>
      </p:sp>
      <p:sp>
        <p:nvSpPr>
          <p:cNvPr id="21" name="Text 19"/>
          <p:cNvSpPr/>
          <p:nvPr/>
        </p:nvSpPr>
        <p:spPr>
          <a:xfrm>
            <a:off x="8417357" y="4681728"/>
            <a:ext cx="2905658" cy="365760"/>
          </a:xfrm>
          <a:prstGeom prst="rect">
            <a:avLst/>
          </a:prstGeom>
          <a:noFill/>
          <a:ln/>
        </p:spPr>
        <p:txBody>
          <a:bodyPr wrap="square" lIns="0" tIns="0" rIns="0" bIns="0" rtlCol="0" anchor="ctr"/>
          <a:lstStyle/>
          <a:p>
            <a:pPr marL="0" indent="0" algn="l">
              <a:buNone/>
            </a:pPr>
            <a:r>
              <a:rPr lang="en-US" sz="1600" dirty="0">
                <a:solidFill>
                  <a:schemeClr val="bg1">
                    <a:lumMod val="85000"/>
                  </a:schemeClr>
                </a:solidFill>
                <a:latin typeface="Arial" pitchFamily="34" charset="0"/>
                <a:ea typeface="Arial" pitchFamily="34" charset="-122"/>
                <a:cs typeface="Arial" pitchFamily="34" charset="-120"/>
              </a:rPr>
              <a:t>lean Tailwind</a:t>
            </a:r>
            <a:endParaRPr lang="en-US" sz="1600" dirty="0">
              <a:solidFill>
                <a:schemeClr val="bg1">
                  <a:lumMod val="85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94360" y="142024"/>
            <a:ext cx="11002975" cy="1005840"/>
          </a:xfrm>
          <a:prstGeom prst="rect">
            <a:avLst/>
          </a:prstGeom>
          <a:noFill/>
          <a:ln/>
        </p:spPr>
        <p:txBody>
          <a:bodyPr wrap="square" lIns="0" tIns="0" rIns="0" bIns="0" rtlCol="0" anchor="t"/>
          <a:lstStyle/>
          <a:p>
            <a:pPr marL="0" indent="0" algn="l">
              <a:lnSpc>
                <a:spcPct val="102000"/>
              </a:lnSpc>
              <a:buNone/>
            </a:pPr>
            <a:r>
              <a:rPr lang="en-US" sz="3400" b="1" dirty="0">
                <a:solidFill>
                  <a:schemeClr val="tx1">
                    <a:lumMod val="95000"/>
                    <a:lumOff val="5000"/>
                  </a:schemeClr>
                </a:solidFill>
                <a:latin typeface="Arial" pitchFamily="34" charset="0"/>
                <a:ea typeface="Arial" pitchFamily="34" charset="-122"/>
                <a:cs typeface="Arial" pitchFamily="34" charset="-120"/>
              </a:rPr>
              <a:t>Naming things</a:t>
            </a:r>
            <a:endParaRPr lang="en-US" sz="3400" dirty="0">
              <a:solidFill>
                <a:schemeClr val="tx1">
                  <a:lumMod val="95000"/>
                  <a:lumOff val="5000"/>
                </a:schemeClr>
              </a:solidFill>
            </a:endParaRPr>
          </a:p>
        </p:txBody>
      </p:sp>
      <p:sp>
        <p:nvSpPr>
          <p:cNvPr id="4" name="Text 2"/>
          <p:cNvSpPr/>
          <p:nvPr/>
        </p:nvSpPr>
        <p:spPr>
          <a:xfrm>
            <a:off x="6849687" y="310150"/>
            <a:ext cx="4438574" cy="1280160"/>
          </a:xfrm>
          <a:prstGeom prst="rect">
            <a:avLst/>
          </a:prstGeom>
          <a:noFill/>
          <a:ln/>
        </p:spPr>
        <p:txBody>
          <a:bodyPr wrap="square" lIns="0" tIns="0" rIns="0" bIns="0" rtlCol="0" anchor="t"/>
          <a:lstStyle/>
          <a:p>
            <a:pPr marL="0" indent="0" algn="l">
              <a:lnSpc>
                <a:spcPct val="110000"/>
              </a:lnSpc>
              <a:buNone/>
            </a:pPr>
            <a:r>
              <a:rPr lang="en-US" sz="2000" i="1" dirty="0">
                <a:solidFill>
                  <a:schemeClr val="tx1">
                    <a:lumMod val="95000"/>
                    <a:lumOff val="5000"/>
                  </a:schemeClr>
                </a:solidFill>
                <a:latin typeface="Arial" pitchFamily="34" charset="0"/>
                <a:ea typeface="Arial" pitchFamily="34" charset="-122"/>
                <a:cs typeface="Arial" pitchFamily="34" charset="-120"/>
              </a:rPr>
              <a:t>“There are only two hard things in computer science: cache invalidation and naming things.”</a:t>
            </a:r>
            <a:endParaRPr lang="en-US" sz="2000" dirty="0">
              <a:solidFill>
                <a:schemeClr val="tx1">
                  <a:lumMod val="95000"/>
                  <a:lumOff val="5000"/>
                </a:schemeClr>
              </a:solidFill>
            </a:endParaRPr>
          </a:p>
        </p:txBody>
      </p:sp>
      <p:sp>
        <p:nvSpPr>
          <p:cNvPr id="6" name="Text 4"/>
          <p:cNvSpPr/>
          <p:nvPr/>
        </p:nvSpPr>
        <p:spPr>
          <a:xfrm>
            <a:off x="609043" y="1147864"/>
            <a:ext cx="4523276" cy="5267690"/>
          </a:xfrm>
          <a:prstGeom prst="rect">
            <a:avLst/>
          </a:prstGeom>
          <a:noFill/>
          <a:ln/>
        </p:spPr>
        <p:txBody>
          <a:bodyPr wrap="square" lIns="0" tIns="0" rIns="0" bIns="0" rtlCol="0" anchor="t"/>
          <a:lstStyle/>
          <a:p>
            <a:pPr marL="342900" indent="-342900" algn="l">
              <a:lnSpc>
                <a:spcPct val="150000"/>
              </a:lnSpc>
              <a:buFont typeface="Arial" panose="020B0604020202020204" pitchFamily="34" charset="0"/>
              <a:buChar char="•"/>
            </a:pPr>
            <a:r>
              <a:rPr lang="en-US" sz="2400" dirty="0">
                <a:solidFill>
                  <a:schemeClr val="tx1">
                    <a:lumMod val="95000"/>
                    <a:lumOff val="5000"/>
                  </a:schemeClr>
                </a:solidFill>
                <a:latin typeface="Arial" pitchFamily="34" charset="0"/>
                <a:ea typeface="Arial" pitchFamily="34" charset="-122"/>
                <a:cs typeface="Arial" pitchFamily="34" charset="-120"/>
              </a:rPr>
              <a:t>Every element needs an invented, project-specific name</a:t>
            </a:r>
          </a:p>
          <a:p>
            <a:pPr marL="342900" indent="-342900">
              <a:lnSpc>
                <a:spcPct val="150000"/>
              </a:lnSpc>
              <a:buFont typeface="Arial" panose="020B0604020202020204" pitchFamily="34" charset="0"/>
              <a:buChar char="•"/>
            </a:pPr>
            <a:r>
              <a:rPr lang="en-US" sz="2400" dirty="0">
                <a:solidFill>
                  <a:schemeClr val="tx1">
                    <a:lumMod val="95000"/>
                    <a:lumOff val="5000"/>
                  </a:schemeClr>
                </a:solidFill>
                <a:latin typeface="Arial" pitchFamily="34" charset="0"/>
                <a:ea typeface="Arial" pitchFamily="34" charset="-122"/>
                <a:cs typeface="Arial" pitchFamily="34" charset="-120"/>
              </a:rPr>
              <a:t>Names drift: card / Card / </a:t>
            </a:r>
            <a:r>
              <a:rPr lang="en-US" sz="2400" dirty="0" err="1">
                <a:solidFill>
                  <a:schemeClr val="tx1">
                    <a:lumMod val="95000"/>
                    <a:lumOff val="5000"/>
                  </a:schemeClr>
                </a:solidFill>
                <a:latin typeface="Arial" pitchFamily="34" charset="0"/>
                <a:ea typeface="Arial" pitchFamily="34" charset="-122"/>
                <a:cs typeface="Arial" pitchFamily="34" charset="-120"/>
              </a:rPr>
              <a:t>cardWrapper</a:t>
            </a:r>
            <a:r>
              <a:rPr lang="en-US" sz="2400" dirty="0">
                <a:solidFill>
                  <a:schemeClr val="tx1">
                    <a:lumMod val="95000"/>
                    <a:lumOff val="5000"/>
                  </a:schemeClr>
                </a:solidFill>
                <a:latin typeface="Arial" pitchFamily="34" charset="0"/>
                <a:ea typeface="Arial" pitchFamily="34" charset="-122"/>
                <a:cs typeface="Arial" pitchFamily="34" charset="-120"/>
              </a:rPr>
              <a:t> / card-box</a:t>
            </a:r>
          </a:p>
          <a:p>
            <a:pPr marL="342900" indent="-342900">
              <a:lnSpc>
                <a:spcPct val="150000"/>
              </a:lnSpc>
              <a:buFont typeface="Arial" panose="020B0604020202020204" pitchFamily="34" charset="0"/>
              <a:buChar char="•"/>
            </a:pPr>
            <a:r>
              <a:rPr lang="en-US" sz="2400" dirty="0">
                <a:solidFill>
                  <a:schemeClr val="tx1">
                    <a:lumMod val="95000"/>
                    <a:lumOff val="5000"/>
                  </a:schemeClr>
                </a:solidFill>
                <a:latin typeface="Arial" pitchFamily="34" charset="0"/>
                <a:ea typeface="Arial" pitchFamily="34" charset="-122"/>
                <a:cs typeface="Arial" pitchFamily="34" charset="-120"/>
              </a:rPr>
              <a:t>Humans AND ai agents invent inconsistently across a session</a:t>
            </a:r>
            <a:endParaRPr lang="en-US" sz="2400" dirty="0">
              <a:solidFill>
                <a:schemeClr val="tx1">
                  <a:lumMod val="95000"/>
                  <a:lumOff val="5000"/>
                </a:schemeClr>
              </a:solidFill>
            </a:endParaRPr>
          </a:p>
          <a:p>
            <a:pPr marL="342900" indent="-342900">
              <a:lnSpc>
                <a:spcPct val="150000"/>
              </a:lnSpc>
              <a:buFont typeface="Arial" panose="020B0604020202020204" pitchFamily="34" charset="0"/>
              <a:buChar char="•"/>
            </a:pPr>
            <a:endParaRPr lang="en-US" sz="2400" dirty="0">
              <a:solidFill>
                <a:schemeClr val="tx1">
                  <a:lumMod val="95000"/>
                  <a:lumOff val="5000"/>
                </a:schemeClr>
              </a:solidFill>
            </a:endParaRPr>
          </a:p>
          <a:p>
            <a:pPr marL="342900" indent="-342900" algn="l">
              <a:lnSpc>
                <a:spcPct val="150000"/>
              </a:lnSpc>
              <a:buFont typeface="Arial" panose="020B0604020202020204" pitchFamily="34" charset="0"/>
              <a:buChar char="•"/>
            </a:pPr>
            <a:endParaRPr lang="en-US" sz="2400" dirty="0">
              <a:solidFill>
                <a:schemeClr val="tx1">
                  <a:lumMod val="95000"/>
                  <a:lumOff val="5000"/>
                </a:schemeClr>
              </a:solidFill>
            </a:endParaRPr>
          </a:p>
        </p:txBody>
      </p:sp>
      <p:sp>
        <p:nvSpPr>
          <p:cNvPr id="8" name="Text 6"/>
          <p:cNvSpPr/>
          <p:nvPr/>
        </p:nvSpPr>
        <p:spPr>
          <a:xfrm>
            <a:off x="729756" y="2934478"/>
            <a:ext cx="3622144" cy="457200"/>
          </a:xfrm>
          <a:prstGeom prst="rect">
            <a:avLst/>
          </a:prstGeom>
          <a:noFill/>
          <a:ln/>
        </p:spPr>
        <p:txBody>
          <a:bodyPr wrap="square" lIns="0" tIns="0" rIns="0" bIns="0" rtlCol="0" anchor="t"/>
          <a:lstStyle/>
          <a:p>
            <a:pPr marL="0" indent="0" algn="l">
              <a:lnSpc>
                <a:spcPct val="105000"/>
              </a:lnSpc>
              <a:buNone/>
            </a:pPr>
            <a:endParaRPr lang="en-US" sz="2400" dirty="0">
              <a:solidFill>
                <a:schemeClr val="tx1">
                  <a:lumMod val="95000"/>
                  <a:lumOff val="5000"/>
                </a:schemeClr>
              </a:solidFill>
            </a:endParaRPr>
          </a:p>
        </p:txBody>
      </p:sp>
      <p:sp>
        <p:nvSpPr>
          <p:cNvPr id="10" name="Text 8"/>
          <p:cNvSpPr/>
          <p:nvPr/>
        </p:nvSpPr>
        <p:spPr>
          <a:xfrm>
            <a:off x="729756" y="3851407"/>
            <a:ext cx="4483612" cy="457200"/>
          </a:xfrm>
          <a:prstGeom prst="rect">
            <a:avLst/>
          </a:prstGeom>
          <a:noFill/>
          <a:ln/>
        </p:spPr>
        <p:txBody>
          <a:bodyPr wrap="square" lIns="0" tIns="0" rIns="0" bIns="0" rtlCol="0" anchor="t"/>
          <a:lstStyle/>
          <a:p>
            <a:pPr marL="0" indent="0" algn="l">
              <a:lnSpc>
                <a:spcPct val="105000"/>
              </a:lnSpc>
              <a:buNone/>
            </a:pPr>
            <a:endParaRPr lang="en-US" sz="2400" dirty="0">
              <a:solidFill>
                <a:schemeClr val="tx1">
                  <a:lumMod val="95000"/>
                  <a:lumOff val="5000"/>
                </a:schemeClr>
              </a:solidFill>
            </a:endParaRPr>
          </a:p>
        </p:txBody>
      </p:sp>
      <p:sp>
        <p:nvSpPr>
          <p:cNvPr id="11" name="Shape 9"/>
          <p:cNvSpPr/>
          <p:nvPr/>
        </p:nvSpPr>
        <p:spPr>
          <a:xfrm>
            <a:off x="5696841" y="1754155"/>
            <a:ext cx="6181027" cy="4344893"/>
          </a:xfrm>
          <a:prstGeom prst="roundRect">
            <a:avLst>
              <a:gd name="adj" fmla="val 2222"/>
            </a:avLst>
          </a:prstGeom>
          <a:solidFill>
            <a:srgbClr val="171717"/>
          </a:solidFill>
          <a:ln w="12700">
            <a:solidFill>
              <a:srgbClr val="3A3A3A"/>
            </a:solidFill>
            <a:prstDash val="solid"/>
          </a:ln>
        </p:spPr>
        <p:txBody>
          <a:bodyPr/>
          <a:lstStyle/>
          <a:p>
            <a:endParaRPr lang="en-US"/>
          </a:p>
        </p:txBody>
      </p:sp>
      <p:sp>
        <p:nvSpPr>
          <p:cNvPr id="15" name="Text 13"/>
          <p:cNvSpPr/>
          <p:nvPr/>
        </p:nvSpPr>
        <p:spPr>
          <a:xfrm>
            <a:off x="6095847" y="1919494"/>
            <a:ext cx="3730752" cy="292608"/>
          </a:xfrm>
          <a:prstGeom prst="rect">
            <a:avLst/>
          </a:prstGeom>
          <a:noFill/>
          <a:ln/>
        </p:spPr>
        <p:txBody>
          <a:bodyPr wrap="square" lIns="0" tIns="0" rIns="0" bIns="0" rtlCol="0" anchor="ctr"/>
          <a:lstStyle/>
          <a:p>
            <a:pPr marL="0" indent="0" algn="l">
              <a:buNone/>
            </a:pPr>
            <a:r>
              <a:rPr lang="en-US" dirty="0">
                <a:solidFill>
                  <a:schemeClr val="bg1"/>
                </a:solidFill>
                <a:latin typeface="Courier New" pitchFamily="34" charset="0"/>
                <a:ea typeface="Courier New" pitchFamily="34" charset="-122"/>
                <a:cs typeface="Courier New" pitchFamily="34" charset="-120"/>
              </a:rPr>
              <a:t>styles.css</a:t>
            </a:r>
            <a:endParaRPr lang="en-US" dirty="0">
              <a:solidFill>
                <a:schemeClr val="bg1"/>
              </a:solidFill>
            </a:endParaRPr>
          </a:p>
        </p:txBody>
      </p:sp>
      <p:sp>
        <p:nvSpPr>
          <p:cNvPr id="16" name="Text 14"/>
          <p:cNvSpPr/>
          <p:nvPr/>
        </p:nvSpPr>
        <p:spPr>
          <a:xfrm>
            <a:off x="5927962" y="2699238"/>
            <a:ext cx="5721810" cy="3010898"/>
          </a:xfrm>
          <a:prstGeom prst="rect">
            <a:avLst/>
          </a:prstGeom>
          <a:noFill/>
          <a:ln/>
        </p:spPr>
        <p:txBody>
          <a:bodyPr wrap="square" lIns="0" tIns="0" rIns="0" bIns="0" rtlCol="0" anchor="t"/>
          <a:lstStyle/>
          <a:p>
            <a:pPr marL="0" indent="0" algn="l">
              <a:lnSpc>
                <a:spcPct val="115000"/>
              </a:lnSpc>
              <a:buNone/>
            </a:pPr>
            <a:r>
              <a:rPr lang="en-US" sz="2400" dirty="0">
                <a:solidFill>
                  <a:srgbClr val="75DFBC"/>
                </a:solidFill>
                <a:latin typeface="Cascadia Code" panose="020B0609020000020004" pitchFamily="34" charset="0"/>
                <a:ea typeface="Cascadia Code" panose="020B0609020000020004" pitchFamily="34" charset="0"/>
                <a:cs typeface="Cascadia Code" panose="020B0609020000020004" pitchFamily="34" charset="0"/>
              </a:rPr>
              <a:t>.card</a:t>
            </a:r>
            <a:r>
              <a:rPr lang="en-US" sz="2400" dirty="0">
                <a:solidFill>
                  <a:srgbClr val="F1CF25"/>
                </a:solidFill>
                <a:latin typeface="Cascadia Code" panose="020B0609020000020004" pitchFamily="34" charset="0"/>
                <a:ea typeface="Cascadia Code" panose="020B0609020000020004" pitchFamily="34" charset="0"/>
                <a:cs typeface="Cascadia Code" panose="020B0609020000020004" pitchFamily="34" charset="0"/>
              </a:rPr>
              <a:t>__header</a:t>
            </a:r>
            <a:r>
              <a:rPr lang="en-US" sz="2400" dirty="0">
                <a:solidFill>
                  <a:srgbClr val="FF6A4C"/>
                </a:solidFill>
                <a:latin typeface="Cascadia Code" panose="020B0609020000020004" pitchFamily="34" charset="0"/>
                <a:ea typeface="Cascadia Code" panose="020B0609020000020004" pitchFamily="34" charset="0"/>
                <a:cs typeface="Cascadia Code" panose="020B0609020000020004" pitchFamily="34" charset="0"/>
              </a:rPr>
              <a:t>--featured</a:t>
            </a:r>
            <a:r>
              <a:rPr lang="en-US" sz="2400" dirty="0">
                <a:solidFill>
                  <a:srgbClr val="D8D8D8"/>
                </a:solidFill>
                <a:latin typeface="Cascadia Code" panose="020B0609020000020004" pitchFamily="34" charset="0"/>
                <a:ea typeface="Cascadia Code" panose="020B0609020000020004" pitchFamily="34" charset="0"/>
                <a:cs typeface="Cascadia Code" panose="020B0609020000020004" pitchFamily="34" charset="0"/>
              </a:rPr>
              <a:t> {</a:t>
            </a:r>
            <a:endParaRPr lang="en-US" sz="2400" dirty="0">
              <a:latin typeface="Cascadia Code" panose="020B0609020000020004" pitchFamily="34" charset="0"/>
              <a:ea typeface="Cascadia Code" panose="020B0609020000020004" pitchFamily="34" charset="0"/>
              <a:cs typeface="Cascadia Code" panose="020B0609020000020004" pitchFamily="34" charset="0"/>
            </a:endParaRPr>
          </a:p>
          <a:p>
            <a:pPr marL="0" indent="0" algn="l">
              <a:lnSpc>
                <a:spcPct val="115000"/>
              </a:lnSpc>
              <a:buNone/>
            </a:pPr>
            <a:r>
              <a:rPr lang="en-US" sz="2400" dirty="0">
                <a:solidFill>
                  <a:srgbClr val="9CDCFE"/>
                </a:solidFill>
                <a:latin typeface="Cascadia Code" panose="020B0609020000020004" pitchFamily="34" charset="0"/>
                <a:ea typeface="Cascadia Code" panose="020B0609020000020004" pitchFamily="34" charset="0"/>
                <a:cs typeface="Cascadia Code" panose="020B0609020000020004" pitchFamily="34" charset="0"/>
              </a:rPr>
              <a:t>  border-color</a:t>
            </a:r>
            <a:r>
              <a:rPr lang="en-US" sz="2400" dirty="0">
                <a:solidFill>
                  <a:srgbClr val="D8D8D8"/>
                </a:solidFill>
                <a:latin typeface="Cascadia Code" panose="020B0609020000020004" pitchFamily="34" charset="0"/>
                <a:ea typeface="Cascadia Code" panose="020B0609020000020004" pitchFamily="34" charset="0"/>
                <a:cs typeface="Cascadia Code" panose="020B0609020000020004" pitchFamily="34" charset="0"/>
              </a:rPr>
              <a:t>: </a:t>
            </a:r>
            <a:r>
              <a:rPr lang="en-US" sz="2400" dirty="0">
                <a:solidFill>
                  <a:srgbClr val="F1CF25"/>
                </a:solidFill>
                <a:latin typeface="Cascadia Code" panose="020B0609020000020004" pitchFamily="34" charset="0"/>
                <a:ea typeface="Cascadia Code" panose="020B0609020000020004" pitchFamily="34" charset="0"/>
                <a:cs typeface="Cascadia Code" panose="020B0609020000020004" pitchFamily="34" charset="0"/>
              </a:rPr>
              <a:t>#75dfbc;</a:t>
            </a:r>
            <a:endParaRPr lang="en-US" sz="2400" dirty="0">
              <a:latin typeface="Cascadia Code" panose="020B0609020000020004" pitchFamily="34" charset="0"/>
              <a:ea typeface="Cascadia Code" panose="020B0609020000020004" pitchFamily="34" charset="0"/>
              <a:cs typeface="Cascadia Code" panose="020B0609020000020004" pitchFamily="34" charset="0"/>
            </a:endParaRPr>
          </a:p>
          <a:p>
            <a:pPr marL="0" indent="0" algn="l">
              <a:lnSpc>
                <a:spcPct val="115000"/>
              </a:lnSpc>
              <a:buNone/>
            </a:pPr>
            <a:r>
              <a:rPr lang="en-US" sz="2400" dirty="0">
                <a:solidFill>
                  <a:srgbClr val="D8D8D8"/>
                </a:solidFill>
                <a:latin typeface="Cascadia Code" panose="020B0609020000020004" pitchFamily="34" charset="0"/>
                <a:ea typeface="Cascadia Code" panose="020B0609020000020004" pitchFamily="34" charset="0"/>
                <a:cs typeface="Cascadia Code" panose="020B0609020000020004" pitchFamily="34" charset="0"/>
              </a:rPr>
              <a:t>}</a:t>
            </a:r>
            <a:endParaRPr lang="en-US" sz="2400" dirty="0">
              <a:latin typeface="Cascadia Code" panose="020B0609020000020004" pitchFamily="34" charset="0"/>
              <a:ea typeface="Cascadia Code" panose="020B0609020000020004" pitchFamily="34" charset="0"/>
              <a:cs typeface="Cascadia Code" panose="020B0609020000020004" pitchFamily="34" charset="0"/>
            </a:endParaRPr>
          </a:p>
          <a:p>
            <a:pPr marL="0" indent="0" algn="l">
              <a:lnSpc>
                <a:spcPct val="115000"/>
              </a:lnSpc>
              <a:buNone/>
            </a:pPr>
            <a:endParaRPr lang="en-US" sz="2400" dirty="0">
              <a:latin typeface="Cascadia Code" panose="020B0609020000020004" pitchFamily="34" charset="0"/>
              <a:ea typeface="Cascadia Code" panose="020B0609020000020004" pitchFamily="34" charset="0"/>
              <a:cs typeface="Cascadia Code" panose="020B0609020000020004" pitchFamily="34" charset="0"/>
            </a:endParaRPr>
          </a:p>
          <a:p>
            <a:pPr marL="0" indent="0" algn="l">
              <a:lnSpc>
                <a:spcPct val="115000"/>
              </a:lnSpc>
              <a:buNone/>
            </a:pPr>
            <a:r>
              <a:rPr lang="en-US" sz="2400" dirty="0">
                <a:solidFill>
                  <a:srgbClr val="75DFBC"/>
                </a:solidFill>
                <a:latin typeface="Cascadia Code" panose="020B0609020000020004" pitchFamily="34" charset="0"/>
                <a:ea typeface="Cascadia Code" panose="020B0609020000020004" pitchFamily="34" charset="0"/>
                <a:cs typeface="Cascadia Code" panose="020B0609020000020004" pitchFamily="34" charset="0"/>
              </a:rPr>
              <a:t>.card</a:t>
            </a:r>
            <a:r>
              <a:rPr lang="en-US" sz="2400" dirty="0">
                <a:solidFill>
                  <a:srgbClr val="F1CF25"/>
                </a:solidFill>
                <a:latin typeface="Cascadia Code" panose="020B0609020000020004" pitchFamily="34" charset="0"/>
                <a:ea typeface="Cascadia Code" panose="020B0609020000020004" pitchFamily="34" charset="0"/>
                <a:cs typeface="Cascadia Code" panose="020B0609020000020004" pitchFamily="34" charset="0"/>
              </a:rPr>
              <a:t>__cta</a:t>
            </a:r>
            <a:r>
              <a:rPr lang="en-US" sz="2400" dirty="0">
                <a:solidFill>
                  <a:srgbClr val="D8D8D8"/>
                </a:solidFill>
                <a:latin typeface="Cascadia Code" panose="020B0609020000020004" pitchFamily="34" charset="0"/>
                <a:ea typeface="Cascadia Code" panose="020B0609020000020004" pitchFamily="34" charset="0"/>
                <a:cs typeface="Cascadia Code" panose="020B0609020000020004" pitchFamily="34" charset="0"/>
              </a:rPr>
              <a:t> { … }</a:t>
            </a:r>
            <a:endParaRPr lang="en-US" sz="2400" dirty="0">
              <a:latin typeface="Cascadia Code" panose="020B0609020000020004" pitchFamily="34" charset="0"/>
              <a:ea typeface="Cascadia Code" panose="020B0609020000020004" pitchFamily="34" charset="0"/>
              <a:cs typeface="Cascadia Code" panose="020B0609020000020004" pitchFamily="34" charset="0"/>
            </a:endParaRPr>
          </a:p>
          <a:p>
            <a:pPr marL="0" indent="0" algn="l">
              <a:lnSpc>
                <a:spcPct val="115000"/>
              </a:lnSpc>
              <a:buNone/>
            </a:pPr>
            <a:r>
              <a:rPr lang="en-US" sz="2400" dirty="0">
                <a:solidFill>
                  <a:srgbClr val="75DFBC"/>
                </a:solidFill>
                <a:latin typeface="Cascadia Code" panose="020B0609020000020004" pitchFamily="34" charset="0"/>
                <a:ea typeface="Cascadia Code" panose="020B0609020000020004" pitchFamily="34" charset="0"/>
                <a:cs typeface="Cascadia Code" panose="020B0609020000020004" pitchFamily="34" charset="0"/>
              </a:rPr>
              <a:t>.card</a:t>
            </a:r>
            <a:r>
              <a:rPr lang="en-US" sz="2400" dirty="0">
                <a:solidFill>
                  <a:srgbClr val="F1CF25"/>
                </a:solidFill>
                <a:latin typeface="Cascadia Code" panose="020B0609020000020004" pitchFamily="34" charset="0"/>
                <a:ea typeface="Cascadia Code" panose="020B0609020000020004" pitchFamily="34" charset="0"/>
                <a:cs typeface="Cascadia Code" panose="020B0609020000020004" pitchFamily="34" charset="0"/>
              </a:rPr>
              <a:t>__badge</a:t>
            </a:r>
            <a:r>
              <a:rPr lang="en-US" sz="2400" dirty="0">
                <a:solidFill>
                  <a:srgbClr val="D8D8D8"/>
                </a:solidFill>
                <a:latin typeface="Cascadia Code" panose="020B0609020000020004" pitchFamily="34" charset="0"/>
                <a:ea typeface="Cascadia Code" panose="020B0609020000020004" pitchFamily="34" charset="0"/>
                <a:cs typeface="Cascadia Code" panose="020B0609020000020004" pitchFamily="34" charset="0"/>
              </a:rPr>
              <a:t> { … }</a:t>
            </a:r>
            <a:endParaRPr lang="en-US" sz="2400" dirty="0">
              <a:latin typeface="Cascadia Code" panose="020B0609020000020004" pitchFamily="34" charset="0"/>
              <a:ea typeface="Cascadia Code" panose="020B0609020000020004" pitchFamily="34" charset="0"/>
              <a:cs typeface="Cascadia Code" panose="020B06090200000200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94360" y="868680"/>
            <a:ext cx="11002975" cy="1463040"/>
          </a:xfrm>
          <a:prstGeom prst="rect">
            <a:avLst/>
          </a:prstGeom>
          <a:noFill/>
          <a:ln/>
        </p:spPr>
        <p:txBody>
          <a:bodyPr wrap="square" lIns="0" tIns="0" rIns="0" bIns="0" rtlCol="0" anchor="t"/>
          <a:lstStyle/>
          <a:p>
            <a:pPr marL="0" indent="0" algn="l">
              <a:lnSpc>
                <a:spcPct val="102000"/>
              </a:lnSpc>
              <a:buNone/>
            </a:pPr>
            <a:r>
              <a:rPr lang="en-US" sz="3000" b="1" dirty="0">
                <a:solidFill>
                  <a:schemeClr val="bg2">
                    <a:lumMod val="25000"/>
                  </a:schemeClr>
                </a:solidFill>
                <a:latin typeface="Arial" pitchFamily="34" charset="0"/>
                <a:ea typeface="Arial" pitchFamily="34" charset="-122"/>
                <a:cs typeface="Arial" pitchFamily="34" charset="-120"/>
              </a:rPr>
              <a:t>Separation of concerns</a:t>
            </a:r>
          </a:p>
        </p:txBody>
      </p:sp>
      <p:sp>
        <p:nvSpPr>
          <p:cNvPr id="4" name="Shape 2"/>
          <p:cNvSpPr/>
          <p:nvPr/>
        </p:nvSpPr>
        <p:spPr>
          <a:xfrm>
            <a:off x="594359" y="2651760"/>
            <a:ext cx="5028227" cy="2194560"/>
          </a:xfrm>
          <a:prstGeom prst="roundRect">
            <a:avLst>
              <a:gd name="adj" fmla="val 5000"/>
            </a:avLst>
          </a:prstGeom>
          <a:solidFill>
            <a:srgbClr val="2C2B2B"/>
          </a:solidFill>
          <a:ln w="12700">
            <a:solidFill>
              <a:srgbClr val="3A3A3A"/>
            </a:solidFill>
            <a:prstDash val="solid"/>
          </a:ln>
        </p:spPr>
        <p:txBody>
          <a:bodyPr/>
          <a:lstStyle/>
          <a:p>
            <a:endParaRPr lang="en-US" sz="2400"/>
          </a:p>
        </p:txBody>
      </p:sp>
      <p:sp>
        <p:nvSpPr>
          <p:cNvPr id="5" name="Text 3"/>
          <p:cNvSpPr/>
          <p:nvPr/>
        </p:nvSpPr>
        <p:spPr>
          <a:xfrm>
            <a:off x="868680" y="2834640"/>
            <a:ext cx="4297680" cy="365760"/>
          </a:xfrm>
          <a:prstGeom prst="rect">
            <a:avLst/>
          </a:prstGeom>
          <a:noFill/>
          <a:ln/>
        </p:spPr>
        <p:txBody>
          <a:bodyPr wrap="square" lIns="0" tIns="0" rIns="0" bIns="0" rtlCol="0" anchor="ctr"/>
          <a:lstStyle/>
          <a:p>
            <a:pPr marL="0" indent="0" algn="l">
              <a:buNone/>
            </a:pPr>
            <a:r>
              <a:rPr lang="en-US" b="1" dirty="0">
                <a:solidFill>
                  <a:srgbClr val="75DFBC"/>
                </a:solidFill>
                <a:latin typeface="Courier New" pitchFamily="34" charset="0"/>
                <a:ea typeface="Courier New" pitchFamily="34" charset="-122"/>
                <a:cs typeface="Courier New" pitchFamily="34" charset="-120"/>
              </a:rPr>
              <a:t>Component.tsx</a:t>
            </a:r>
            <a:endParaRPr lang="en-US" dirty="0"/>
          </a:p>
        </p:txBody>
      </p:sp>
      <p:sp>
        <p:nvSpPr>
          <p:cNvPr id="6" name="Text 4"/>
          <p:cNvSpPr/>
          <p:nvPr/>
        </p:nvSpPr>
        <p:spPr>
          <a:xfrm>
            <a:off x="868680" y="3383280"/>
            <a:ext cx="4500988" cy="731520"/>
          </a:xfrm>
          <a:prstGeom prst="rect">
            <a:avLst/>
          </a:prstGeom>
          <a:noFill/>
          <a:ln/>
        </p:spPr>
        <p:txBody>
          <a:bodyPr wrap="square" lIns="0" tIns="0" rIns="0" bIns="0" rtlCol="0" anchor="t"/>
          <a:lstStyle/>
          <a:p>
            <a:pPr marL="0" indent="0" algn="l">
              <a:buNone/>
            </a:pPr>
            <a:r>
              <a:rPr lang="en-US" sz="2400" dirty="0">
                <a:solidFill>
                  <a:srgbClr val="D8D8D8"/>
                </a:solidFill>
                <a:latin typeface="Cascadia Code" panose="020B0609020000020004" pitchFamily="34" charset="0"/>
                <a:ea typeface="Cascadia Code" panose="020B0609020000020004" pitchFamily="34" charset="0"/>
                <a:cs typeface="Cascadia Code" panose="020B0609020000020004" pitchFamily="34" charset="0"/>
              </a:rPr>
              <a:t>&lt;div className=</a:t>
            </a:r>
            <a:r>
              <a:rPr lang="en-US" sz="2400" dirty="0">
                <a:solidFill>
                  <a:srgbClr val="F1CF25"/>
                </a:solidFill>
                <a:latin typeface="Cascadia Code" panose="020B0609020000020004" pitchFamily="34" charset="0"/>
                <a:ea typeface="Cascadia Code" panose="020B0609020000020004" pitchFamily="34" charset="0"/>
                <a:cs typeface="Cascadia Code" panose="020B0609020000020004" pitchFamily="34" charset="0"/>
              </a:rPr>
              <a:t>"card--featured"</a:t>
            </a:r>
            <a:r>
              <a:rPr lang="en-US" sz="2400" dirty="0">
                <a:solidFill>
                  <a:srgbClr val="D8D8D8"/>
                </a:solidFill>
                <a:latin typeface="Cascadia Code" panose="020B0609020000020004" pitchFamily="34" charset="0"/>
                <a:ea typeface="Cascadia Code" panose="020B0609020000020004" pitchFamily="34" charset="0"/>
                <a:cs typeface="Cascadia Code" panose="020B0609020000020004" pitchFamily="34" charset="0"/>
              </a:rPr>
              <a:t>&gt;</a:t>
            </a:r>
            <a:endParaRPr lang="en-US" sz="2400" dirty="0">
              <a:latin typeface="Cascadia Code" panose="020B0609020000020004" pitchFamily="34" charset="0"/>
              <a:ea typeface="Cascadia Code" panose="020B0609020000020004" pitchFamily="34" charset="0"/>
              <a:cs typeface="Cascadia Code" panose="020B0609020000020004" pitchFamily="34" charset="0"/>
            </a:endParaRPr>
          </a:p>
        </p:txBody>
      </p:sp>
      <p:sp>
        <p:nvSpPr>
          <p:cNvPr id="7" name="Text 5"/>
          <p:cNvSpPr/>
          <p:nvPr/>
        </p:nvSpPr>
        <p:spPr>
          <a:xfrm>
            <a:off x="5486400" y="3383280"/>
            <a:ext cx="1188720" cy="640080"/>
          </a:xfrm>
          <a:prstGeom prst="rect">
            <a:avLst/>
          </a:prstGeom>
          <a:noFill/>
          <a:ln/>
        </p:spPr>
        <p:txBody>
          <a:bodyPr wrap="square" lIns="0" tIns="0" rIns="0" bIns="0" rtlCol="0" anchor="ctr"/>
          <a:lstStyle/>
          <a:p>
            <a:pPr marL="0" indent="0" algn="ctr">
              <a:buNone/>
            </a:pPr>
            <a:r>
              <a:rPr lang="en-US" sz="3600" dirty="0">
                <a:solidFill>
                  <a:srgbClr val="000000"/>
                </a:solidFill>
                <a:latin typeface="Arial" pitchFamily="34" charset="0"/>
                <a:ea typeface="Arial" pitchFamily="34" charset="-122"/>
                <a:cs typeface="Arial" pitchFamily="34" charset="-120"/>
              </a:rPr>
              <a:t>🔗</a:t>
            </a:r>
            <a:endParaRPr lang="en-US" sz="3600" dirty="0"/>
          </a:p>
        </p:txBody>
      </p:sp>
      <p:sp>
        <p:nvSpPr>
          <p:cNvPr id="8" name="Shape 6"/>
          <p:cNvSpPr/>
          <p:nvPr/>
        </p:nvSpPr>
        <p:spPr>
          <a:xfrm>
            <a:off x="6566365" y="2651760"/>
            <a:ext cx="5028227" cy="2194560"/>
          </a:xfrm>
          <a:prstGeom prst="roundRect">
            <a:avLst>
              <a:gd name="adj" fmla="val 5000"/>
            </a:avLst>
          </a:prstGeom>
          <a:solidFill>
            <a:srgbClr val="2C2B2B"/>
          </a:solidFill>
          <a:ln w="12700">
            <a:solidFill>
              <a:srgbClr val="3A3A3A"/>
            </a:solidFill>
            <a:prstDash val="solid"/>
          </a:ln>
        </p:spPr>
        <p:txBody>
          <a:bodyPr/>
          <a:lstStyle/>
          <a:p>
            <a:endParaRPr lang="en-US" sz="2400"/>
          </a:p>
        </p:txBody>
      </p:sp>
      <p:sp>
        <p:nvSpPr>
          <p:cNvPr id="9" name="Text 7"/>
          <p:cNvSpPr/>
          <p:nvPr/>
        </p:nvSpPr>
        <p:spPr>
          <a:xfrm>
            <a:off x="7040880" y="2834640"/>
            <a:ext cx="4297680" cy="365760"/>
          </a:xfrm>
          <a:prstGeom prst="rect">
            <a:avLst/>
          </a:prstGeom>
          <a:noFill/>
          <a:ln/>
        </p:spPr>
        <p:txBody>
          <a:bodyPr wrap="square" lIns="0" tIns="0" rIns="0" bIns="0" rtlCol="0" anchor="ctr"/>
          <a:lstStyle/>
          <a:p>
            <a:pPr marL="0" indent="0" algn="l">
              <a:buNone/>
            </a:pPr>
            <a:r>
              <a:rPr lang="en-US" b="1" dirty="0">
                <a:solidFill>
                  <a:srgbClr val="F1CF25"/>
                </a:solidFill>
                <a:latin typeface="Courier New" pitchFamily="34" charset="0"/>
                <a:ea typeface="Courier New" pitchFamily="34" charset="-122"/>
                <a:cs typeface="Courier New" pitchFamily="34" charset="-120"/>
              </a:rPr>
              <a:t>styles.css</a:t>
            </a:r>
            <a:endParaRPr lang="en-US" dirty="0"/>
          </a:p>
        </p:txBody>
      </p:sp>
      <p:sp>
        <p:nvSpPr>
          <p:cNvPr id="10" name="Text 8"/>
          <p:cNvSpPr/>
          <p:nvPr/>
        </p:nvSpPr>
        <p:spPr>
          <a:xfrm>
            <a:off x="7040880" y="3383280"/>
            <a:ext cx="4297680" cy="731520"/>
          </a:xfrm>
          <a:prstGeom prst="rect">
            <a:avLst/>
          </a:prstGeom>
          <a:noFill/>
          <a:ln/>
        </p:spPr>
        <p:txBody>
          <a:bodyPr wrap="square" lIns="0" tIns="0" rIns="0" bIns="0" rtlCol="0" anchor="t"/>
          <a:lstStyle/>
          <a:p>
            <a:pPr marL="0" indent="0" algn="l">
              <a:buNone/>
            </a:pPr>
            <a:r>
              <a:rPr lang="en-US" sz="2400" dirty="0">
                <a:solidFill>
                  <a:srgbClr val="F1CF25"/>
                </a:solidFill>
                <a:latin typeface="Cascadia Code" panose="020B0609020000020004" pitchFamily="34" charset="0"/>
                <a:ea typeface="Cascadia Code" panose="020B0609020000020004" pitchFamily="34" charset="0"/>
                <a:cs typeface="Cascadia Code" panose="020B0609020000020004" pitchFamily="34" charset="0"/>
              </a:rPr>
              <a:t>.card--featured</a:t>
            </a:r>
            <a:r>
              <a:rPr lang="en-US" sz="2400" dirty="0">
                <a:solidFill>
                  <a:srgbClr val="D8D8D8"/>
                </a:solidFill>
                <a:latin typeface="Cascadia Code" panose="020B0609020000020004" pitchFamily="34" charset="0"/>
                <a:ea typeface="Cascadia Code" panose="020B0609020000020004" pitchFamily="34" charset="0"/>
                <a:cs typeface="Cascadia Code" panose="020B0609020000020004" pitchFamily="34" charset="0"/>
              </a:rPr>
              <a:t> { … }</a:t>
            </a:r>
            <a:endParaRPr lang="en-US" sz="2400" dirty="0">
              <a:latin typeface="Cascadia Code" panose="020B0609020000020004" pitchFamily="34" charset="0"/>
              <a:ea typeface="Cascadia Code" panose="020B0609020000020004" pitchFamily="34" charset="0"/>
              <a:cs typeface="Cascadia Code" panose="020B06090200000200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94360" y="432940"/>
            <a:ext cx="11002975" cy="1005840"/>
          </a:xfrm>
          <a:prstGeom prst="rect">
            <a:avLst/>
          </a:prstGeom>
          <a:noFill/>
          <a:ln/>
        </p:spPr>
        <p:txBody>
          <a:bodyPr wrap="square" lIns="0" tIns="0" rIns="0" bIns="0" rtlCol="0" anchor="t"/>
          <a:lstStyle/>
          <a:p>
            <a:pPr marL="0" indent="0" algn="l">
              <a:lnSpc>
                <a:spcPct val="102000"/>
              </a:lnSpc>
              <a:buNone/>
            </a:pPr>
            <a:r>
              <a:rPr lang="en-US" sz="3400" b="1" dirty="0">
                <a:solidFill>
                  <a:schemeClr val="tx1">
                    <a:lumMod val="95000"/>
                    <a:lumOff val="5000"/>
                  </a:schemeClr>
                </a:solidFill>
                <a:latin typeface="Arial" pitchFamily="34" charset="0"/>
                <a:ea typeface="Arial" pitchFamily="34" charset="-122"/>
                <a:cs typeface="Arial" pitchFamily="34" charset="-120"/>
              </a:rPr>
              <a:t>Tailwind = co-location</a:t>
            </a:r>
            <a:endParaRPr lang="en-US" sz="3400" dirty="0">
              <a:solidFill>
                <a:schemeClr val="tx1">
                  <a:lumMod val="95000"/>
                  <a:lumOff val="5000"/>
                </a:schemeClr>
              </a:solidFill>
            </a:endParaRPr>
          </a:p>
        </p:txBody>
      </p:sp>
      <p:sp>
        <p:nvSpPr>
          <p:cNvPr id="4" name="Text 2"/>
          <p:cNvSpPr/>
          <p:nvPr/>
        </p:nvSpPr>
        <p:spPr>
          <a:xfrm>
            <a:off x="594360" y="1347340"/>
            <a:ext cx="11002975" cy="457200"/>
          </a:xfrm>
          <a:prstGeom prst="rect">
            <a:avLst/>
          </a:prstGeom>
          <a:noFill/>
          <a:ln/>
        </p:spPr>
        <p:txBody>
          <a:bodyPr wrap="square" lIns="0" tIns="0" rIns="0" bIns="0" rtlCol="0" anchor="ctr"/>
          <a:lstStyle/>
          <a:p>
            <a:pPr marL="0" indent="0" algn="l">
              <a:buNone/>
            </a:pPr>
            <a:r>
              <a:rPr lang="en-US" sz="2000" dirty="0">
                <a:solidFill>
                  <a:schemeClr val="tx1">
                    <a:lumMod val="95000"/>
                    <a:lumOff val="5000"/>
                  </a:schemeClr>
                </a:solidFill>
                <a:latin typeface="Arial" pitchFamily="34" charset="0"/>
                <a:ea typeface="Arial" pitchFamily="34" charset="-122"/>
                <a:cs typeface="Arial" pitchFamily="34" charset="-120"/>
              </a:rPr>
              <a:t>Everything about the component, in one place.</a:t>
            </a:r>
            <a:endParaRPr lang="en-US" sz="2000" dirty="0">
              <a:solidFill>
                <a:schemeClr val="tx1">
                  <a:lumMod val="95000"/>
                  <a:lumOff val="5000"/>
                </a:schemeClr>
              </a:solidFill>
            </a:endParaRPr>
          </a:p>
        </p:txBody>
      </p:sp>
      <p:sp>
        <p:nvSpPr>
          <p:cNvPr id="5" name="Shape 3"/>
          <p:cNvSpPr/>
          <p:nvPr/>
        </p:nvSpPr>
        <p:spPr>
          <a:xfrm>
            <a:off x="594360" y="2033140"/>
            <a:ext cx="11002975" cy="4391920"/>
          </a:xfrm>
          <a:prstGeom prst="roundRect">
            <a:avLst>
              <a:gd name="adj" fmla="val 2759"/>
            </a:avLst>
          </a:prstGeom>
          <a:solidFill>
            <a:srgbClr val="171717"/>
          </a:solidFill>
          <a:ln w="12700">
            <a:solidFill>
              <a:srgbClr val="3A3A3A"/>
            </a:solidFill>
            <a:prstDash val="solid"/>
          </a:ln>
        </p:spPr>
        <p:txBody>
          <a:bodyPr/>
          <a:lstStyle/>
          <a:p>
            <a:endParaRPr lang="en-US" dirty="0"/>
          </a:p>
        </p:txBody>
      </p:sp>
      <p:sp>
        <p:nvSpPr>
          <p:cNvPr id="9" name="Text 7"/>
          <p:cNvSpPr/>
          <p:nvPr/>
        </p:nvSpPr>
        <p:spPr>
          <a:xfrm>
            <a:off x="1508760" y="2106292"/>
            <a:ext cx="9905695" cy="292608"/>
          </a:xfrm>
          <a:prstGeom prst="rect">
            <a:avLst/>
          </a:prstGeom>
          <a:noFill/>
          <a:ln/>
        </p:spPr>
        <p:txBody>
          <a:bodyPr wrap="square" lIns="0" tIns="0" rIns="0" bIns="0" rtlCol="0" anchor="ctr"/>
          <a:lstStyle/>
          <a:p>
            <a:pPr marL="0" indent="0" algn="l">
              <a:buNone/>
            </a:pPr>
            <a:r>
              <a:rPr lang="en-US" sz="1600" dirty="0">
                <a:solidFill>
                  <a:schemeClr val="bg1"/>
                </a:solidFill>
                <a:latin typeface="Courier New" pitchFamily="34" charset="0"/>
                <a:ea typeface="Courier New" pitchFamily="34" charset="-122"/>
                <a:cs typeface="Courier New" pitchFamily="34" charset="-120"/>
              </a:rPr>
              <a:t>PricingCard.tsx (the whole component)</a:t>
            </a:r>
            <a:endParaRPr lang="en-US" sz="1600" dirty="0">
              <a:solidFill>
                <a:schemeClr val="bg1"/>
              </a:solidFill>
            </a:endParaRPr>
          </a:p>
        </p:txBody>
      </p:sp>
      <p:sp>
        <p:nvSpPr>
          <p:cNvPr id="10" name="Text 8"/>
          <p:cNvSpPr/>
          <p:nvPr/>
        </p:nvSpPr>
        <p:spPr>
          <a:xfrm>
            <a:off x="886968" y="2581779"/>
            <a:ext cx="10417759" cy="3595086"/>
          </a:xfrm>
          <a:prstGeom prst="rect">
            <a:avLst/>
          </a:prstGeom>
          <a:noFill/>
          <a:ln/>
        </p:spPr>
        <p:txBody>
          <a:bodyPr wrap="square" lIns="0" tIns="0" rIns="0" bIns="0" rtlCol="0" anchor="t"/>
          <a:lstStyle/>
          <a:p>
            <a:pPr marL="0" indent="0" algn="l">
              <a:lnSpc>
                <a:spcPct val="115000"/>
              </a:lnSpc>
              <a:buNone/>
            </a:pPr>
            <a:r>
              <a:rPr lang="en-US" sz="2400" dirty="0">
                <a:solidFill>
                  <a:schemeClr val="bg1">
                    <a:lumMod val="75000"/>
                  </a:schemeClr>
                </a:solidFill>
                <a:latin typeface="Courier New" pitchFamily="34" charset="0"/>
                <a:ea typeface="Courier New" pitchFamily="34" charset="-122"/>
                <a:cs typeface="Courier New" pitchFamily="34" charset="-120"/>
              </a:rPr>
              <a:t>// no CSS file. no class names. no cascade.</a:t>
            </a:r>
            <a:endParaRPr lang="en-US" sz="2400" dirty="0">
              <a:solidFill>
                <a:schemeClr val="bg1">
                  <a:lumMod val="75000"/>
                </a:schemeClr>
              </a:solidFill>
            </a:endParaRPr>
          </a:p>
          <a:p>
            <a:pPr marL="0" indent="0" algn="l">
              <a:lnSpc>
                <a:spcPct val="115000"/>
              </a:lnSpc>
              <a:buNone/>
            </a:pPr>
            <a:endParaRPr lang="en-US" sz="2400" dirty="0"/>
          </a:p>
          <a:p>
            <a:pPr marL="0" indent="0" algn="l">
              <a:lnSpc>
                <a:spcPct val="115000"/>
              </a:lnSpc>
              <a:buNone/>
            </a:pPr>
            <a:r>
              <a:rPr lang="en-US" sz="2400" dirty="0">
                <a:solidFill>
                  <a:srgbClr val="9CDCFE"/>
                </a:solidFill>
                <a:latin typeface="Cascadia Code" panose="020B0609020000020004" pitchFamily="34" charset="0"/>
                <a:ea typeface="Cascadia Code" panose="020B0609020000020004" pitchFamily="34" charset="0"/>
                <a:cs typeface="Cascadia Code" panose="020B0609020000020004" pitchFamily="34" charset="0"/>
              </a:rPr>
              <a:t>&lt;button</a:t>
            </a:r>
            <a:r>
              <a:rPr lang="en-US" sz="2400" dirty="0">
                <a:solidFill>
                  <a:srgbClr val="D8D8D8"/>
                </a:solidFill>
                <a:latin typeface="Cascadia Code" panose="020B0609020000020004" pitchFamily="34" charset="0"/>
                <a:ea typeface="Cascadia Code" panose="020B0609020000020004" pitchFamily="34" charset="0"/>
                <a:cs typeface="Cascadia Code" panose="020B0609020000020004" pitchFamily="34" charset="0"/>
              </a:rPr>
              <a:t> className=</a:t>
            </a:r>
            <a:r>
              <a:rPr lang="en-US" sz="2400" dirty="0">
                <a:solidFill>
                  <a:srgbClr val="75DFBC"/>
                </a:solidFill>
                <a:latin typeface="Cascadia Code" panose="020B0609020000020004" pitchFamily="34" charset="0"/>
                <a:ea typeface="Cascadia Code" panose="020B0609020000020004" pitchFamily="34" charset="0"/>
                <a:cs typeface="Cascadia Code" panose="020B0609020000020004" pitchFamily="34" charset="0"/>
              </a:rPr>
              <a:t>{cn(</a:t>
            </a:r>
            <a:endParaRPr lang="en-US" sz="2400" dirty="0">
              <a:latin typeface="Cascadia Code" panose="020B0609020000020004" pitchFamily="34" charset="0"/>
              <a:ea typeface="Cascadia Code" panose="020B0609020000020004" pitchFamily="34" charset="0"/>
              <a:cs typeface="Cascadia Code" panose="020B0609020000020004" pitchFamily="34" charset="0"/>
            </a:endParaRPr>
          </a:p>
          <a:p>
            <a:pPr marL="0" indent="0" algn="l">
              <a:lnSpc>
                <a:spcPct val="115000"/>
              </a:lnSpc>
              <a:buNone/>
            </a:pPr>
            <a:r>
              <a:rPr lang="en-US" sz="2400" dirty="0">
                <a:solidFill>
                  <a:srgbClr val="F1CF25"/>
                </a:solidFill>
                <a:latin typeface="Cascadia Code" panose="020B0609020000020004" pitchFamily="34" charset="0"/>
                <a:ea typeface="Cascadia Code" panose="020B0609020000020004" pitchFamily="34" charset="0"/>
                <a:cs typeface="Cascadia Code" panose="020B0609020000020004" pitchFamily="34" charset="0"/>
              </a:rPr>
              <a:t>  "rounded-lg px-4 py-3 font-bold"</a:t>
            </a:r>
            <a:r>
              <a:rPr lang="en-US" sz="2400" dirty="0">
                <a:solidFill>
                  <a:srgbClr val="D8D8D8"/>
                </a:solidFill>
                <a:latin typeface="Cascadia Code" panose="020B0609020000020004" pitchFamily="34" charset="0"/>
                <a:ea typeface="Cascadia Code" panose="020B0609020000020004" pitchFamily="34" charset="0"/>
                <a:cs typeface="Cascadia Code" panose="020B0609020000020004" pitchFamily="34" charset="0"/>
              </a:rPr>
              <a:t>,</a:t>
            </a:r>
            <a:endParaRPr lang="en-US" sz="2400" dirty="0">
              <a:latin typeface="Cascadia Code" panose="020B0609020000020004" pitchFamily="34" charset="0"/>
              <a:ea typeface="Cascadia Code" panose="020B0609020000020004" pitchFamily="34" charset="0"/>
              <a:cs typeface="Cascadia Code" panose="020B0609020000020004" pitchFamily="34" charset="0"/>
            </a:endParaRPr>
          </a:p>
          <a:p>
            <a:pPr marL="0" indent="0" algn="l">
              <a:lnSpc>
                <a:spcPct val="115000"/>
              </a:lnSpc>
              <a:buNone/>
            </a:pPr>
            <a:r>
              <a:rPr lang="en-US" sz="2400" dirty="0">
                <a:solidFill>
                  <a:srgbClr val="9CDCFE"/>
                </a:solidFill>
                <a:latin typeface="Cascadia Code" panose="020B0609020000020004" pitchFamily="34" charset="0"/>
                <a:ea typeface="Cascadia Code" panose="020B0609020000020004" pitchFamily="34" charset="0"/>
                <a:cs typeface="Cascadia Code" panose="020B0609020000020004" pitchFamily="34" charset="0"/>
              </a:rPr>
              <a:t>  featured</a:t>
            </a:r>
            <a:r>
              <a:rPr lang="en-US" sz="2400" dirty="0">
                <a:solidFill>
                  <a:srgbClr val="D8D8D8"/>
                </a:solidFill>
                <a:latin typeface="Cascadia Code" panose="020B0609020000020004" pitchFamily="34" charset="0"/>
                <a:ea typeface="Cascadia Code" panose="020B0609020000020004" pitchFamily="34" charset="0"/>
                <a:cs typeface="Cascadia Code" panose="020B0609020000020004" pitchFamily="34" charset="0"/>
              </a:rPr>
              <a:t> &amp;&amp; </a:t>
            </a:r>
            <a:r>
              <a:rPr lang="en-US" sz="2400" dirty="0">
                <a:solidFill>
                  <a:srgbClr val="F1CF25"/>
                </a:solidFill>
                <a:latin typeface="Cascadia Code" panose="020B0609020000020004" pitchFamily="34" charset="0"/>
                <a:ea typeface="Cascadia Code" panose="020B0609020000020004" pitchFamily="34" charset="0"/>
                <a:cs typeface="Cascadia Code" panose="020B0609020000020004" pitchFamily="34" charset="0"/>
              </a:rPr>
              <a:t>"bg-mint text-ink hover:bg-mint/80"</a:t>
            </a:r>
            <a:endParaRPr lang="en-US" sz="2400" dirty="0">
              <a:latin typeface="Cascadia Code" panose="020B0609020000020004" pitchFamily="34" charset="0"/>
              <a:ea typeface="Cascadia Code" panose="020B0609020000020004" pitchFamily="34" charset="0"/>
              <a:cs typeface="Cascadia Code" panose="020B0609020000020004" pitchFamily="34" charset="0"/>
            </a:endParaRPr>
          </a:p>
          <a:p>
            <a:pPr marL="0" indent="0" algn="l">
              <a:lnSpc>
                <a:spcPct val="115000"/>
              </a:lnSpc>
              <a:buNone/>
            </a:pPr>
            <a:r>
              <a:rPr lang="en-US" sz="2400" dirty="0">
                <a:solidFill>
                  <a:srgbClr val="75DFBC"/>
                </a:solidFill>
                <a:latin typeface="Cascadia Code" panose="020B0609020000020004" pitchFamily="34" charset="0"/>
                <a:ea typeface="Cascadia Code" panose="020B0609020000020004" pitchFamily="34" charset="0"/>
                <a:cs typeface="Cascadia Code" panose="020B0609020000020004" pitchFamily="34" charset="0"/>
              </a:rPr>
              <a:t>)}&gt;</a:t>
            </a:r>
            <a:endParaRPr lang="en-US" sz="2400" dirty="0">
              <a:latin typeface="Cascadia Code" panose="020B0609020000020004" pitchFamily="34" charset="0"/>
              <a:ea typeface="Cascadia Code" panose="020B0609020000020004" pitchFamily="34" charset="0"/>
              <a:cs typeface="Cascadia Code" panose="020B0609020000020004" pitchFamily="34" charset="0"/>
            </a:endParaRPr>
          </a:p>
          <a:p>
            <a:pPr marL="0" indent="0" algn="l">
              <a:lnSpc>
                <a:spcPct val="115000"/>
              </a:lnSpc>
              <a:buNone/>
            </a:pPr>
            <a:r>
              <a:rPr lang="en-US" sz="2400" dirty="0">
                <a:solidFill>
                  <a:srgbClr val="D8D8D8"/>
                </a:solidFill>
                <a:latin typeface="Cascadia Code" panose="020B0609020000020004" pitchFamily="34" charset="0"/>
                <a:ea typeface="Cascadia Code" panose="020B0609020000020004" pitchFamily="34" charset="0"/>
                <a:cs typeface="Cascadia Code" panose="020B0609020000020004" pitchFamily="34" charset="0"/>
              </a:rPr>
              <a:t>  Choose plan</a:t>
            </a:r>
            <a:endParaRPr lang="en-US" sz="2400" dirty="0">
              <a:latin typeface="Cascadia Code" panose="020B0609020000020004" pitchFamily="34" charset="0"/>
              <a:ea typeface="Cascadia Code" panose="020B0609020000020004" pitchFamily="34" charset="0"/>
              <a:cs typeface="Cascadia Code" panose="020B0609020000020004" pitchFamily="34" charset="0"/>
            </a:endParaRPr>
          </a:p>
          <a:p>
            <a:pPr marL="0" indent="0" algn="l">
              <a:lnSpc>
                <a:spcPct val="115000"/>
              </a:lnSpc>
              <a:buNone/>
            </a:pPr>
            <a:r>
              <a:rPr lang="en-US" sz="2400" dirty="0">
                <a:solidFill>
                  <a:srgbClr val="9CDCFE"/>
                </a:solidFill>
                <a:latin typeface="Cascadia Code" panose="020B0609020000020004" pitchFamily="34" charset="0"/>
                <a:ea typeface="Cascadia Code" panose="020B0609020000020004" pitchFamily="34" charset="0"/>
                <a:cs typeface="Cascadia Code" panose="020B0609020000020004" pitchFamily="34" charset="0"/>
              </a:rPr>
              <a:t>&lt;/button&gt;</a:t>
            </a:r>
            <a:endParaRPr lang="en-US" sz="2400" dirty="0">
              <a:latin typeface="Cascadia Code" panose="020B0609020000020004" pitchFamily="34" charset="0"/>
              <a:ea typeface="Cascadia Code" panose="020B0609020000020004" pitchFamily="34" charset="0"/>
              <a:cs typeface="Cascadia Code" panose="020B06090200000200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72CFE6E-2D96-E374-D839-2D11AEB8B6AB}"/>
              </a:ext>
            </a:extLst>
          </p:cNvPr>
          <p:cNvPicPr>
            <a:picLocks noChangeAspect="1"/>
          </p:cNvPicPr>
          <p:nvPr/>
        </p:nvPicPr>
        <p:blipFill>
          <a:blip r:embed="rId3"/>
          <a:stretch>
            <a:fillRect/>
          </a:stretch>
        </p:blipFill>
        <p:spPr>
          <a:xfrm>
            <a:off x="7958" y="0"/>
            <a:ext cx="12184042" cy="6862481"/>
          </a:xfrm>
          <a:prstGeom prst="rect">
            <a:avLst/>
          </a:prstGeom>
        </p:spPr>
      </p:pic>
    </p:spTree>
    <p:extLst>
      <p:ext uri="{BB962C8B-B14F-4D97-AF65-F5344CB8AC3E}">
        <p14:creationId xmlns:p14="http://schemas.microsoft.com/office/powerpoint/2010/main" val="35108922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E5BEBF-A442-4C34-7379-A29507C3EA44}"/>
              </a:ext>
            </a:extLst>
          </p:cNvPr>
          <p:cNvPicPr>
            <a:picLocks noChangeAspect="1"/>
          </p:cNvPicPr>
          <p:nvPr/>
        </p:nvPicPr>
        <p:blipFill>
          <a:blip r:embed="rId3"/>
          <a:stretch>
            <a:fillRect/>
          </a:stretch>
        </p:blipFill>
        <p:spPr>
          <a:xfrm>
            <a:off x="7958" y="0"/>
            <a:ext cx="12176086" cy="6858000"/>
          </a:xfrm>
          <a:prstGeom prst="rect">
            <a:avLst/>
          </a:prstGeom>
        </p:spPr>
      </p:pic>
    </p:spTree>
    <p:extLst>
      <p:ext uri="{BB962C8B-B14F-4D97-AF65-F5344CB8AC3E}">
        <p14:creationId xmlns:p14="http://schemas.microsoft.com/office/powerpoint/2010/main" val="37009075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a:extLst>
              <a:ext uri="{FF2B5EF4-FFF2-40B4-BE49-F238E27FC236}">
                <a16:creationId xmlns:a16="http://schemas.microsoft.com/office/drawing/2014/main" id="{34C7A45E-08C0-E00F-69B5-3F1E1D4D79A7}"/>
              </a:ext>
            </a:extLst>
          </p:cNvPr>
          <p:cNvPicPr>
            <a:picLocks noChangeAspect="1"/>
          </p:cNvPicPr>
          <p:nvPr/>
        </p:nvPicPr>
        <p:blipFill>
          <a:blip r:embed="rId3"/>
          <a:stretch>
            <a:fillRect/>
          </a:stretch>
        </p:blipFill>
        <p:spPr>
          <a:xfrm>
            <a:off x="1" y="0"/>
            <a:ext cx="12191998" cy="6857999"/>
          </a:xfrm>
          <a:prstGeom prst="rect">
            <a:avLst/>
          </a:prstGeom>
        </p:spPr>
      </p:pic>
    </p:spTree>
    <p:extLst>
      <p:ext uri="{BB962C8B-B14F-4D97-AF65-F5344CB8AC3E}">
        <p14:creationId xmlns:p14="http://schemas.microsoft.com/office/powerpoint/2010/main" val="36920956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6439F-C0E0-1553-6BC7-B3DFA96B0B6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E28E763-238C-BB4D-A0BB-06B244B081A1}"/>
              </a:ext>
            </a:extLst>
          </p:cNvPr>
          <p:cNvSpPr txBox="1"/>
          <p:nvPr/>
        </p:nvSpPr>
        <p:spPr>
          <a:xfrm>
            <a:off x="782053" y="902368"/>
            <a:ext cx="10744200" cy="646331"/>
          </a:xfrm>
          <a:prstGeom prst="rect">
            <a:avLst/>
          </a:prstGeom>
          <a:noFill/>
        </p:spPr>
        <p:txBody>
          <a:bodyPr wrap="square" rtlCol="0">
            <a:spAutoFit/>
          </a:bodyPr>
          <a:lstStyle/>
          <a:p>
            <a:r>
              <a:rPr lang="en-GB" sz="3600" dirty="0" err="1"/>
              <a:t>Vibecoding</a:t>
            </a:r>
            <a:r>
              <a:rPr lang="en-GB" sz="3600" dirty="0"/>
              <a:t> without design system</a:t>
            </a:r>
          </a:p>
        </p:txBody>
      </p:sp>
    </p:spTree>
    <p:extLst>
      <p:ext uri="{BB962C8B-B14F-4D97-AF65-F5344CB8AC3E}">
        <p14:creationId xmlns:p14="http://schemas.microsoft.com/office/powerpoint/2010/main" val="1734746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AE36DE5-BB33-D354-63EF-9448DC12A931}"/>
              </a:ext>
            </a:extLst>
          </p:cNvPr>
          <p:cNvPicPr>
            <a:picLocks noChangeAspect="1"/>
          </p:cNvPicPr>
          <p:nvPr/>
        </p:nvPicPr>
        <p:blipFill>
          <a:blip r:embed="rId3"/>
          <a:stretch>
            <a:fillRect/>
          </a:stretch>
        </p:blipFill>
        <p:spPr>
          <a:xfrm>
            <a:off x="0" y="156411"/>
            <a:ext cx="12107701" cy="6591068"/>
          </a:xfrm>
          <a:prstGeom prst="rect">
            <a:avLst/>
          </a:prstGeom>
        </p:spPr>
      </p:pic>
    </p:spTree>
    <p:extLst>
      <p:ext uri="{BB962C8B-B14F-4D97-AF65-F5344CB8AC3E}">
        <p14:creationId xmlns:p14="http://schemas.microsoft.com/office/powerpoint/2010/main" val="34805980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31C8D49-AEF8-2514-AAF0-8B3DE0AC8F6C}"/>
              </a:ext>
            </a:extLst>
          </p:cNvPr>
          <p:cNvPicPr>
            <a:picLocks noChangeAspect="1"/>
          </p:cNvPicPr>
          <p:nvPr/>
        </p:nvPicPr>
        <p:blipFill>
          <a:blip r:embed="rId3"/>
          <a:stretch>
            <a:fillRect/>
          </a:stretch>
        </p:blipFill>
        <p:spPr>
          <a:xfrm>
            <a:off x="105885" y="0"/>
            <a:ext cx="11980230" cy="6858000"/>
          </a:xfrm>
          <a:prstGeom prst="rect">
            <a:avLst/>
          </a:prstGeom>
        </p:spPr>
      </p:pic>
    </p:spTree>
    <p:extLst>
      <p:ext uri="{BB962C8B-B14F-4D97-AF65-F5344CB8AC3E}">
        <p14:creationId xmlns:p14="http://schemas.microsoft.com/office/powerpoint/2010/main" val="9073588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D079E95-6CF3-4A50-DF05-2608ADCE957C}"/>
              </a:ext>
            </a:extLst>
          </p:cNvPr>
          <p:cNvPicPr>
            <a:picLocks noChangeAspect="1"/>
          </p:cNvPicPr>
          <p:nvPr/>
        </p:nvPicPr>
        <p:blipFill>
          <a:blip r:embed="rId3"/>
          <a:stretch>
            <a:fillRect/>
          </a:stretch>
        </p:blipFill>
        <p:spPr>
          <a:xfrm>
            <a:off x="0" y="87570"/>
            <a:ext cx="12192000" cy="6682859"/>
          </a:xfrm>
          <a:prstGeom prst="rect">
            <a:avLst/>
          </a:prstGeom>
        </p:spPr>
      </p:pic>
    </p:spTree>
    <p:extLst>
      <p:ext uri="{BB962C8B-B14F-4D97-AF65-F5344CB8AC3E}">
        <p14:creationId xmlns:p14="http://schemas.microsoft.com/office/powerpoint/2010/main" val="26047055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E22681-241E-6398-9AC4-3A51D8C10E6E}"/>
              </a:ext>
            </a:extLst>
          </p:cNvPr>
          <p:cNvPicPr>
            <a:picLocks noChangeAspect="1"/>
          </p:cNvPicPr>
          <p:nvPr/>
        </p:nvPicPr>
        <p:blipFill>
          <a:blip r:embed="rId3"/>
          <a:stretch>
            <a:fillRect/>
          </a:stretch>
        </p:blipFill>
        <p:spPr>
          <a:xfrm>
            <a:off x="0" y="-2188"/>
            <a:ext cx="12192000" cy="6862376"/>
          </a:xfrm>
          <a:prstGeom prst="rect">
            <a:avLst/>
          </a:prstGeom>
        </p:spPr>
      </p:pic>
    </p:spTree>
    <p:extLst>
      <p:ext uri="{BB962C8B-B14F-4D97-AF65-F5344CB8AC3E}">
        <p14:creationId xmlns:p14="http://schemas.microsoft.com/office/powerpoint/2010/main" val="13465355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032D8FB-4F60-4AF4-158D-962AEC147F0A}"/>
              </a:ext>
            </a:extLst>
          </p:cNvPr>
          <p:cNvPicPr>
            <a:picLocks noChangeAspect="1"/>
          </p:cNvPicPr>
          <p:nvPr/>
        </p:nvPicPr>
        <p:blipFill>
          <a:blip r:embed="rId3"/>
          <a:stretch>
            <a:fillRect/>
          </a:stretch>
        </p:blipFill>
        <p:spPr>
          <a:xfrm>
            <a:off x="117880" y="0"/>
            <a:ext cx="11956239" cy="6858000"/>
          </a:xfrm>
          <a:prstGeom prst="rect">
            <a:avLst/>
          </a:prstGeom>
        </p:spPr>
      </p:pic>
    </p:spTree>
    <p:extLst>
      <p:ext uri="{BB962C8B-B14F-4D97-AF65-F5344CB8AC3E}">
        <p14:creationId xmlns:p14="http://schemas.microsoft.com/office/powerpoint/2010/main" val="6373069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E1CAD1-B15B-A2D8-35D6-83B9D6BE0862}"/>
              </a:ext>
            </a:extLst>
          </p:cNvPr>
          <p:cNvSpPr txBox="1"/>
          <p:nvPr/>
        </p:nvSpPr>
        <p:spPr>
          <a:xfrm>
            <a:off x="3248594" y="2921168"/>
            <a:ext cx="5694829" cy="1446550"/>
          </a:xfrm>
          <a:prstGeom prst="rect">
            <a:avLst/>
          </a:prstGeom>
          <a:noFill/>
        </p:spPr>
        <p:txBody>
          <a:bodyPr wrap="none" rtlCol="0">
            <a:spAutoFit/>
          </a:bodyPr>
          <a:lstStyle/>
          <a:p>
            <a:pPr algn="ctr"/>
            <a:r>
              <a:rPr lang="en-GB" sz="4400" dirty="0"/>
              <a:t>ui.shadcn.com/create</a:t>
            </a:r>
          </a:p>
          <a:p>
            <a:pPr algn="ctr"/>
            <a:r>
              <a:rPr lang="en-GB" sz="4400" dirty="0"/>
              <a:t>and a real-world project</a:t>
            </a:r>
          </a:p>
        </p:txBody>
      </p:sp>
      <p:sp>
        <p:nvSpPr>
          <p:cNvPr id="4" name="TextBox 3">
            <a:extLst>
              <a:ext uri="{FF2B5EF4-FFF2-40B4-BE49-F238E27FC236}">
                <a16:creationId xmlns:a16="http://schemas.microsoft.com/office/drawing/2014/main" id="{FF09DC34-3988-202A-4626-3F602CA75663}"/>
              </a:ext>
            </a:extLst>
          </p:cNvPr>
          <p:cNvSpPr txBox="1"/>
          <p:nvPr/>
        </p:nvSpPr>
        <p:spPr>
          <a:xfrm>
            <a:off x="817832" y="510741"/>
            <a:ext cx="6105644" cy="1015663"/>
          </a:xfrm>
          <a:prstGeom prst="rect">
            <a:avLst/>
          </a:prstGeom>
          <a:noFill/>
        </p:spPr>
        <p:txBody>
          <a:bodyPr wrap="square">
            <a:spAutoFit/>
          </a:bodyPr>
          <a:lstStyle/>
          <a:p>
            <a:r>
              <a:rPr lang="en-GB" sz="6000" dirty="0"/>
              <a:t>Demo</a:t>
            </a:r>
            <a:endParaRPr lang="en-GB" dirty="0"/>
          </a:p>
        </p:txBody>
      </p:sp>
    </p:spTree>
    <p:extLst>
      <p:ext uri="{BB962C8B-B14F-4D97-AF65-F5344CB8AC3E}">
        <p14:creationId xmlns:p14="http://schemas.microsoft.com/office/powerpoint/2010/main" val="2457681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0512FB9-33C7-FDEF-7973-3F9D98ADB3D4}"/>
              </a:ext>
            </a:extLst>
          </p:cNvPr>
          <p:cNvPicPr>
            <a:picLocks noChangeAspect="1"/>
          </p:cNvPicPr>
          <p:nvPr/>
        </p:nvPicPr>
        <p:blipFill>
          <a:blip r:embed="rId3"/>
          <a:stretch>
            <a:fillRect/>
          </a:stretch>
        </p:blipFill>
        <p:spPr>
          <a:xfrm>
            <a:off x="2833" y="0"/>
            <a:ext cx="12186334" cy="6858000"/>
          </a:xfrm>
          <a:prstGeom prst="rect">
            <a:avLst/>
          </a:prstGeom>
        </p:spPr>
      </p:pic>
    </p:spTree>
    <p:extLst>
      <p:ext uri="{BB962C8B-B14F-4D97-AF65-F5344CB8AC3E}">
        <p14:creationId xmlns:p14="http://schemas.microsoft.com/office/powerpoint/2010/main" val="30560165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F8CF84-E836-6661-06CC-0231A3914E6F}"/>
              </a:ext>
            </a:extLst>
          </p:cNvPr>
          <p:cNvPicPr>
            <a:picLocks noChangeAspect="1"/>
          </p:cNvPicPr>
          <p:nvPr/>
        </p:nvPicPr>
        <p:blipFill>
          <a:blip r:embed="rId3"/>
          <a:stretch>
            <a:fillRect/>
          </a:stretch>
        </p:blipFill>
        <p:spPr>
          <a:xfrm>
            <a:off x="0" y="0"/>
            <a:ext cx="12176086" cy="6858000"/>
          </a:xfrm>
          <a:prstGeom prst="rect">
            <a:avLst/>
          </a:prstGeom>
        </p:spPr>
      </p:pic>
    </p:spTree>
    <p:extLst>
      <p:ext uri="{BB962C8B-B14F-4D97-AF65-F5344CB8AC3E}">
        <p14:creationId xmlns:p14="http://schemas.microsoft.com/office/powerpoint/2010/main" val="18571711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7C662D4-81AB-FBA5-45A0-517D98F31995}"/>
              </a:ext>
            </a:extLst>
          </p:cNvPr>
          <p:cNvPicPr>
            <a:picLocks noChangeAspect="1"/>
          </p:cNvPicPr>
          <p:nvPr/>
        </p:nvPicPr>
        <p:blipFill>
          <a:blip r:embed="rId3"/>
          <a:stretch>
            <a:fillRect/>
          </a:stretch>
        </p:blipFill>
        <p:spPr>
          <a:xfrm>
            <a:off x="0" y="0"/>
            <a:ext cx="12176086" cy="6858000"/>
          </a:xfrm>
          <a:prstGeom prst="rect">
            <a:avLst/>
          </a:prstGeom>
        </p:spPr>
      </p:pic>
    </p:spTree>
    <p:extLst>
      <p:ext uri="{BB962C8B-B14F-4D97-AF65-F5344CB8AC3E}">
        <p14:creationId xmlns:p14="http://schemas.microsoft.com/office/powerpoint/2010/main" val="4899086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5D137A-3031-1D81-D4B4-006CDC262D66}"/>
              </a:ext>
            </a:extLst>
          </p:cNvPr>
          <p:cNvSpPr txBox="1"/>
          <p:nvPr/>
        </p:nvSpPr>
        <p:spPr>
          <a:xfrm>
            <a:off x="782053" y="902368"/>
            <a:ext cx="10744200" cy="646331"/>
          </a:xfrm>
          <a:prstGeom prst="rect">
            <a:avLst/>
          </a:prstGeom>
          <a:noFill/>
        </p:spPr>
        <p:txBody>
          <a:bodyPr wrap="square" rtlCol="0">
            <a:spAutoFit/>
          </a:bodyPr>
          <a:lstStyle/>
          <a:p>
            <a:r>
              <a:rPr lang="en-GB" sz="3600" dirty="0"/>
              <a:t>Why coding models love tailwind </a:t>
            </a:r>
            <a:r>
              <a:rPr lang="en-GB" sz="3600" dirty="0" err="1"/>
              <a:t>css</a:t>
            </a:r>
            <a:r>
              <a:rPr lang="en-GB" sz="3600" dirty="0"/>
              <a:t> and </a:t>
            </a:r>
            <a:r>
              <a:rPr lang="en-GB" sz="3600" dirty="0" err="1"/>
              <a:t>shadcn-ui</a:t>
            </a:r>
            <a:r>
              <a:rPr lang="en-GB" sz="3600" dirty="0"/>
              <a:t>?</a:t>
            </a:r>
          </a:p>
        </p:txBody>
      </p:sp>
    </p:spTree>
    <p:extLst>
      <p:ext uri="{BB962C8B-B14F-4D97-AF65-F5344CB8AC3E}">
        <p14:creationId xmlns:p14="http://schemas.microsoft.com/office/powerpoint/2010/main" val="17682992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AE848A-25C4-8311-2069-02E7DECB339D}"/>
              </a:ext>
            </a:extLst>
          </p:cNvPr>
          <p:cNvPicPr>
            <a:picLocks noChangeAspect="1"/>
          </p:cNvPicPr>
          <p:nvPr/>
        </p:nvPicPr>
        <p:blipFill>
          <a:blip r:embed="rId3"/>
          <a:stretch>
            <a:fillRect/>
          </a:stretch>
        </p:blipFill>
        <p:spPr>
          <a:xfrm>
            <a:off x="7958" y="0"/>
            <a:ext cx="12176084" cy="6858000"/>
          </a:xfrm>
          <a:prstGeom prst="rect">
            <a:avLst/>
          </a:prstGeom>
        </p:spPr>
      </p:pic>
    </p:spTree>
    <p:extLst>
      <p:ext uri="{BB962C8B-B14F-4D97-AF65-F5344CB8AC3E}">
        <p14:creationId xmlns:p14="http://schemas.microsoft.com/office/powerpoint/2010/main" val="16438162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290B4-C7A0-0A6E-87CD-25321C23A6A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D7A7AA4-B48F-70CD-1365-ECA09787C432}"/>
              </a:ext>
            </a:extLst>
          </p:cNvPr>
          <p:cNvSpPr txBox="1"/>
          <p:nvPr/>
        </p:nvSpPr>
        <p:spPr>
          <a:xfrm>
            <a:off x="782053" y="902368"/>
            <a:ext cx="10744200" cy="1200329"/>
          </a:xfrm>
          <a:prstGeom prst="rect">
            <a:avLst/>
          </a:prstGeom>
          <a:noFill/>
        </p:spPr>
        <p:txBody>
          <a:bodyPr wrap="square" rtlCol="0">
            <a:spAutoFit/>
          </a:bodyPr>
          <a:lstStyle/>
          <a:p>
            <a:r>
              <a:rPr lang="en-GB" sz="3600" dirty="0"/>
              <a:t>Why coding models love JavaScript and TypeScript libraries and frameworks?</a:t>
            </a:r>
          </a:p>
        </p:txBody>
      </p:sp>
    </p:spTree>
    <p:extLst>
      <p:ext uri="{BB962C8B-B14F-4D97-AF65-F5344CB8AC3E}">
        <p14:creationId xmlns:p14="http://schemas.microsoft.com/office/powerpoint/2010/main" val="38246790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CC80DE-7755-5061-1741-249B3F9177FA}"/>
              </a:ext>
            </a:extLst>
          </p:cNvPr>
          <p:cNvPicPr>
            <a:picLocks noChangeAspect="1"/>
          </p:cNvPicPr>
          <p:nvPr/>
        </p:nvPicPr>
        <p:blipFill>
          <a:blip r:embed="rId3"/>
          <a:stretch>
            <a:fillRect/>
          </a:stretch>
        </p:blipFill>
        <p:spPr>
          <a:xfrm>
            <a:off x="7958" y="0"/>
            <a:ext cx="12176084" cy="6858000"/>
          </a:xfrm>
          <a:prstGeom prst="rect">
            <a:avLst/>
          </a:prstGeom>
        </p:spPr>
      </p:pic>
    </p:spTree>
    <p:extLst>
      <p:ext uri="{BB962C8B-B14F-4D97-AF65-F5344CB8AC3E}">
        <p14:creationId xmlns:p14="http://schemas.microsoft.com/office/powerpoint/2010/main" val="17646037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35FF5-FB37-6F4D-2E22-4A232A5ED8F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6AB1FD6-8748-0CBA-C1EA-F512936A2ADC}"/>
              </a:ext>
            </a:extLst>
          </p:cNvPr>
          <p:cNvSpPr txBox="1"/>
          <p:nvPr/>
        </p:nvSpPr>
        <p:spPr>
          <a:xfrm>
            <a:off x="782053" y="902368"/>
            <a:ext cx="10744200" cy="1200329"/>
          </a:xfrm>
          <a:prstGeom prst="rect">
            <a:avLst/>
          </a:prstGeom>
          <a:noFill/>
        </p:spPr>
        <p:txBody>
          <a:bodyPr wrap="square" rtlCol="0">
            <a:spAutoFit/>
          </a:bodyPr>
          <a:lstStyle/>
          <a:p>
            <a:r>
              <a:rPr lang="en-GB" sz="3600" dirty="0"/>
              <a:t>What to do if you want to use a newly release framework?</a:t>
            </a:r>
          </a:p>
        </p:txBody>
      </p:sp>
    </p:spTree>
    <p:extLst>
      <p:ext uri="{BB962C8B-B14F-4D97-AF65-F5344CB8AC3E}">
        <p14:creationId xmlns:p14="http://schemas.microsoft.com/office/powerpoint/2010/main" val="2421859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AED699-1E71-1EF9-795A-E643C671B25F}"/>
              </a:ext>
            </a:extLst>
          </p:cNvPr>
          <p:cNvPicPr>
            <a:picLocks noChangeAspect="1"/>
          </p:cNvPicPr>
          <p:nvPr/>
        </p:nvPicPr>
        <p:blipFill>
          <a:blip r:embed="rId3"/>
          <a:stretch>
            <a:fillRect/>
          </a:stretch>
        </p:blipFill>
        <p:spPr>
          <a:xfrm>
            <a:off x="7958" y="0"/>
            <a:ext cx="12176086" cy="6858000"/>
          </a:xfrm>
          <a:prstGeom prst="rect">
            <a:avLst/>
          </a:prstGeom>
        </p:spPr>
      </p:pic>
    </p:spTree>
    <p:extLst>
      <p:ext uri="{BB962C8B-B14F-4D97-AF65-F5344CB8AC3E}">
        <p14:creationId xmlns:p14="http://schemas.microsoft.com/office/powerpoint/2010/main" val="22621386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1A212-8E57-6816-E45C-C202E54FFB1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DFC6324-4D3C-F263-D3FB-B7304428462B}"/>
              </a:ext>
            </a:extLst>
          </p:cNvPr>
          <p:cNvSpPr txBox="1"/>
          <p:nvPr/>
        </p:nvSpPr>
        <p:spPr>
          <a:xfrm>
            <a:off x="1119674" y="2736502"/>
            <a:ext cx="10030408" cy="1384995"/>
          </a:xfrm>
          <a:prstGeom prst="rect">
            <a:avLst/>
          </a:prstGeom>
          <a:noFill/>
        </p:spPr>
        <p:txBody>
          <a:bodyPr wrap="square">
            <a:spAutoFit/>
          </a:bodyPr>
          <a:lstStyle/>
          <a:p>
            <a:r>
              <a:rPr lang="en-GB" sz="2800" b="1" dirty="0">
                <a:solidFill>
                  <a:schemeClr val="tx1">
                    <a:lumMod val="95000"/>
                    <a:lumOff val="5000"/>
                  </a:schemeClr>
                </a:solidFill>
              </a:rPr>
              <a:t>Knowledge atrophy </a:t>
            </a:r>
            <a:r>
              <a:rPr lang="en-GB" sz="2800" dirty="0">
                <a:solidFill>
                  <a:schemeClr val="bg2">
                    <a:lumMod val="25000"/>
                  </a:schemeClr>
                </a:solidFill>
              </a:rPr>
              <a:t>is the gradual weakening of human thinking and problem-solving skills through overreliance on AI to do our mental work.</a:t>
            </a:r>
          </a:p>
        </p:txBody>
      </p:sp>
    </p:spTree>
    <p:extLst>
      <p:ext uri="{BB962C8B-B14F-4D97-AF65-F5344CB8AC3E}">
        <p14:creationId xmlns:p14="http://schemas.microsoft.com/office/powerpoint/2010/main" val="17713808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C10217-0EAC-9F13-AEFC-6AB11AA41BCD}"/>
              </a:ext>
            </a:extLst>
          </p:cNvPr>
          <p:cNvPicPr>
            <a:picLocks noChangeAspect="1"/>
          </p:cNvPicPr>
          <p:nvPr/>
        </p:nvPicPr>
        <p:blipFill>
          <a:blip r:embed="rId3"/>
          <a:stretch>
            <a:fillRect/>
          </a:stretch>
        </p:blipFill>
        <p:spPr>
          <a:xfrm>
            <a:off x="1" y="137160"/>
            <a:ext cx="12191650" cy="6720840"/>
          </a:xfrm>
          <a:prstGeom prst="rect">
            <a:avLst/>
          </a:prstGeom>
        </p:spPr>
      </p:pic>
    </p:spTree>
    <p:extLst>
      <p:ext uri="{BB962C8B-B14F-4D97-AF65-F5344CB8AC3E}">
        <p14:creationId xmlns:p14="http://schemas.microsoft.com/office/powerpoint/2010/main" val="34702411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54D12-4E9A-71CB-5C67-19EDAFF6C74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7E8910F-9301-47EA-017F-9BDA2A325682}"/>
              </a:ext>
            </a:extLst>
          </p:cNvPr>
          <p:cNvSpPr txBox="1"/>
          <p:nvPr/>
        </p:nvSpPr>
        <p:spPr>
          <a:xfrm>
            <a:off x="1377244" y="3075057"/>
            <a:ext cx="4616071" cy="1938992"/>
          </a:xfrm>
          <a:prstGeom prst="rect">
            <a:avLst/>
          </a:prstGeom>
          <a:noFill/>
        </p:spPr>
        <p:txBody>
          <a:bodyPr wrap="square" rtlCol="0">
            <a:spAutoFit/>
          </a:bodyPr>
          <a:lstStyle/>
          <a:p>
            <a:pPr algn="ctr"/>
            <a:r>
              <a:rPr lang="en-US" sz="4000" dirty="0">
                <a:solidFill>
                  <a:schemeClr val="tx1">
                    <a:lumMod val="95000"/>
                    <a:lumOff val="5000"/>
                  </a:schemeClr>
                </a:solidFill>
              </a:rPr>
              <a:t>Thank you!</a:t>
            </a:r>
          </a:p>
          <a:p>
            <a:pPr algn="ctr"/>
            <a:endParaRPr lang="en-US" sz="4000" dirty="0">
              <a:solidFill>
                <a:schemeClr val="tx1">
                  <a:lumMod val="95000"/>
                  <a:lumOff val="5000"/>
                </a:schemeClr>
              </a:solidFill>
            </a:endParaRPr>
          </a:p>
          <a:p>
            <a:pPr algn="ctr"/>
            <a:r>
              <a:rPr lang="en-US" sz="4000" dirty="0">
                <a:solidFill>
                  <a:schemeClr val="tx1">
                    <a:lumMod val="95000"/>
                    <a:lumOff val="5000"/>
                  </a:schemeClr>
                </a:solidFill>
              </a:rPr>
              <a:t>@DevlinDuldulao</a:t>
            </a:r>
          </a:p>
        </p:txBody>
      </p:sp>
      <p:sp>
        <p:nvSpPr>
          <p:cNvPr id="3" name="TextBox 2">
            <a:extLst>
              <a:ext uri="{FF2B5EF4-FFF2-40B4-BE49-F238E27FC236}">
                <a16:creationId xmlns:a16="http://schemas.microsoft.com/office/drawing/2014/main" id="{3A45CE5F-A1C0-EBE2-5D6A-C4DF7A99D10F}"/>
              </a:ext>
            </a:extLst>
          </p:cNvPr>
          <p:cNvSpPr txBox="1"/>
          <p:nvPr/>
        </p:nvSpPr>
        <p:spPr>
          <a:xfrm>
            <a:off x="8136190" y="5852011"/>
            <a:ext cx="1959428" cy="369332"/>
          </a:xfrm>
          <a:prstGeom prst="rect">
            <a:avLst/>
          </a:prstGeom>
          <a:noFill/>
        </p:spPr>
        <p:txBody>
          <a:bodyPr wrap="square" rtlCol="0">
            <a:spAutoFit/>
          </a:bodyPr>
          <a:lstStyle/>
          <a:p>
            <a:pPr algn="ctr"/>
            <a:r>
              <a:rPr lang="en-US" dirty="0">
                <a:solidFill>
                  <a:schemeClr val="tx1">
                    <a:lumMod val="95000"/>
                    <a:lumOff val="5000"/>
                  </a:schemeClr>
                </a:solidFill>
                <a:latin typeface="Brush Script MT" panose="03060802040406070304" pitchFamily="66" charset="0"/>
              </a:rPr>
              <a:t>Social Links</a:t>
            </a:r>
          </a:p>
        </p:txBody>
      </p:sp>
      <p:pic>
        <p:nvPicPr>
          <p:cNvPr id="4" name="Picture 3">
            <a:extLst>
              <a:ext uri="{FF2B5EF4-FFF2-40B4-BE49-F238E27FC236}">
                <a16:creationId xmlns:a16="http://schemas.microsoft.com/office/drawing/2014/main" id="{61B6DF07-7C49-CE6F-718A-1E7FE35848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77809" y="886733"/>
            <a:ext cx="4876190" cy="4876190"/>
          </a:xfrm>
          <a:prstGeom prst="rect">
            <a:avLst/>
          </a:prstGeom>
        </p:spPr>
      </p:pic>
    </p:spTree>
    <p:extLst>
      <p:ext uri="{BB962C8B-B14F-4D97-AF65-F5344CB8AC3E}">
        <p14:creationId xmlns:p14="http://schemas.microsoft.com/office/powerpoint/2010/main" val="3939952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6" presetClass="entr" presetSubtype="0" fill="hold" nodeType="clickEffect">
                                  <p:stCondLst>
                                    <p:cond delay="0"/>
                                  </p:stCondLst>
                                  <p:iterate type="lt">
                                    <p:tmPct val="10000"/>
                                  </p:iterate>
                                  <p:childTnLst>
                                    <p:set>
                                      <p:cBhvr>
                                        <p:cTn id="6" dur="1" fill="hold">
                                          <p:stCondLst>
                                            <p:cond delay="0"/>
                                          </p:stCondLst>
                                        </p:cTn>
                                        <p:tgtEl>
                                          <p:spTgt spid="2">
                                            <p:txEl>
                                              <p:pRg st="0" end="0"/>
                                            </p:txEl>
                                          </p:spTgt>
                                        </p:tgtEl>
                                        <p:attrNameLst>
                                          <p:attrName>style.visibility</p:attrName>
                                        </p:attrNameLst>
                                      </p:cBhvr>
                                      <p:to>
                                        <p:strVal val="visible"/>
                                      </p:to>
                                    </p:set>
                                    <p:anim by="(-#ppt_w*2)" calcmode="lin" valueType="num">
                                      <p:cBhvr rctx="PPT">
                                        <p:cTn id="7" dur="500" autoRev="1" fill="hold">
                                          <p:stCondLst>
                                            <p:cond delay="0"/>
                                          </p:stCondLst>
                                        </p:cTn>
                                        <p:tgtEl>
                                          <p:spTgt spid="2">
                                            <p:txEl>
                                              <p:pRg st="0" end="0"/>
                                            </p:txEl>
                                          </p:spTgt>
                                        </p:tgtEl>
                                        <p:attrNameLst>
                                          <p:attrName>ppt_w</p:attrName>
                                        </p:attrNameLst>
                                      </p:cBhvr>
                                    </p:anim>
                                    <p:anim by="(#ppt_w*0.50)" calcmode="lin" valueType="num">
                                      <p:cBhvr>
                                        <p:cTn id="8" dur="500" decel="50000" autoRev="1" fill="hold">
                                          <p:stCondLst>
                                            <p:cond delay="0"/>
                                          </p:stCondLst>
                                        </p:cTn>
                                        <p:tgtEl>
                                          <p:spTgt spid="2">
                                            <p:txEl>
                                              <p:pRg st="0" end="0"/>
                                            </p:txEl>
                                          </p:spTgt>
                                        </p:tgtEl>
                                        <p:attrNameLst>
                                          <p:attrName>ppt_x</p:attrName>
                                        </p:attrNameLst>
                                      </p:cBhvr>
                                    </p:anim>
                                    <p:anim from="(-#ppt_h/2)" to="(#ppt_y)" calcmode="lin" valueType="num">
                                      <p:cBhvr>
                                        <p:cTn id="9" dur="1000" fill="hold">
                                          <p:stCondLst>
                                            <p:cond delay="0"/>
                                          </p:stCondLst>
                                        </p:cTn>
                                        <p:tgtEl>
                                          <p:spTgt spid="2">
                                            <p:txEl>
                                              <p:pRg st="0" end="0"/>
                                            </p:txEl>
                                          </p:spTgt>
                                        </p:tgtEl>
                                        <p:attrNameLst>
                                          <p:attrName>ppt_y</p:attrName>
                                        </p:attrNameLst>
                                      </p:cBhvr>
                                    </p:anim>
                                    <p:animRot by="21600000">
                                      <p:cBhvr>
                                        <p:cTn id="10" dur="1000" fill="hold">
                                          <p:stCondLst>
                                            <p:cond delay="0"/>
                                          </p:stCondLst>
                                        </p:cTn>
                                        <p:tgtEl>
                                          <p:spTgt spid="2">
                                            <p:txEl>
                                              <p:pRg st="0" end="0"/>
                                            </p:txEl>
                                          </p:spTgt>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56" presetClass="entr" presetSubtype="0" fill="hold" nodeType="clickEffect">
                                  <p:stCondLst>
                                    <p:cond delay="0"/>
                                  </p:stCondLst>
                                  <p:iterate type="lt">
                                    <p:tmPct val="10000"/>
                                  </p:iterate>
                                  <p:childTnLst>
                                    <p:set>
                                      <p:cBhvr>
                                        <p:cTn id="14" dur="1" fill="hold">
                                          <p:stCondLst>
                                            <p:cond delay="0"/>
                                          </p:stCondLst>
                                        </p:cTn>
                                        <p:tgtEl>
                                          <p:spTgt spid="2">
                                            <p:txEl>
                                              <p:pRg st="2" end="2"/>
                                            </p:txEl>
                                          </p:spTgt>
                                        </p:tgtEl>
                                        <p:attrNameLst>
                                          <p:attrName>style.visibility</p:attrName>
                                        </p:attrNameLst>
                                      </p:cBhvr>
                                      <p:to>
                                        <p:strVal val="visible"/>
                                      </p:to>
                                    </p:set>
                                    <p:anim by="(-#ppt_w*2)" calcmode="lin" valueType="num">
                                      <p:cBhvr rctx="PPT">
                                        <p:cTn id="15" dur="500" autoRev="1" fill="hold">
                                          <p:stCondLst>
                                            <p:cond delay="0"/>
                                          </p:stCondLst>
                                        </p:cTn>
                                        <p:tgtEl>
                                          <p:spTgt spid="2">
                                            <p:txEl>
                                              <p:pRg st="2" end="2"/>
                                            </p:txEl>
                                          </p:spTgt>
                                        </p:tgtEl>
                                        <p:attrNameLst>
                                          <p:attrName>ppt_w</p:attrName>
                                        </p:attrNameLst>
                                      </p:cBhvr>
                                    </p:anim>
                                    <p:anim by="(#ppt_w*0.50)" calcmode="lin" valueType="num">
                                      <p:cBhvr>
                                        <p:cTn id="16" dur="500" decel="50000" autoRev="1" fill="hold">
                                          <p:stCondLst>
                                            <p:cond delay="0"/>
                                          </p:stCondLst>
                                        </p:cTn>
                                        <p:tgtEl>
                                          <p:spTgt spid="2">
                                            <p:txEl>
                                              <p:pRg st="2" end="2"/>
                                            </p:txEl>
                                          </p:spTgt>
                                        </p:tgtEl>
                                        <p:attrNameLst>
                                          <p:attrName>ppt_x</p:attrName>
                                        </p:attrNameLst>
                                      </p:cBhvr>
                                    </p:anim>
                                    <p:anim from="(-#ppt_h/2)" to="(#ppt_y)" calcmode="lin" valueType="num">
                                      <p:cBhvr>
                                        <p:cTn id="17" dur="1000" fill="hold">
                                          <p:stCondLst>
                                            <p:cond delay="0"/>
                                          </p:stCondLst>
                                        </p:cTn>
                                        <p:tgtEl>
                                          <p:spTgt spid="2">
                                            <p:txEl>
                                              <p:pRg st="2" end="2"/>
                                            </p:txEl>
                                          </p:spTgt>
                                        </p:tgtEl>
                                        <p:attrNameLst>
                                          <p:attrName>ppt_y</p:attrName>
                                        </p:attrNameLst>
                                      </p:cBhvr>
                                    </p:anim>
                                    <p:animRot by="21600000">
                                      <p:cBhvr>
                                        <p:cTn id="18" dur="1000" fill="hold">
                                          <p:stCondLst>
                                            <p:cond delay="0"/>
                                          </p:stCondLst>
                                        </p:cTn>
                                        <p:tgtEl>
                                          <p:spTgt spid="2">
                                            <p:txEl>
                                              <p:pRg st="2" end="2"/>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48141450-2387-4aca-b41f-19cd6be9dd3c}" enabled="1" method="Standard" siteId="{adf10e2b-b6e9-41d6-be2f-c12bb566019c}" contentBits="0" removed="0"/>
</clbl:labelList>
</file>

<file path=docProps/app.xml><?xml version="1.0" encoding="utf-8"?>
<Properties xmlns="http://schemas.openxmlformats.org/officeDocument/2006/extended-properties" xmlns:vt="http://schemas.openxmlformats.org/officeDocument/2006/docPropsVTypes">
  <TotalTime>1367</TotalTime>
  <Words>1866</Words>
  <Application>Microsoft Macintosh PowerPoint</Application>
  <PresentationFormat>Widescreen</PresentationFormat>
  <Paragraphs>209</Paragraphs>
  <Slides>33</Slides>
  <Notes>32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Brush Script MT</vt:lpstr>
      <vt:lpstr>Aptos</vt:lpstr>
      <vt:lpstr>Arial</vt:lpstr>
      <vt:lpstr>Cascadia Code</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LLMs &amp; JS frameworks love Tailwind CSS</dc:title>
  <dc:subject>PptxGenJS Presentation</dc:subject>
  <dc:creator>Devlin Duldulao</dc:creator>
  <cp:lastModifiedBy>Devlin Duldulao</cp:lastModifiedBy>
  <cp:revision>171</cp:revision>
  <dcterms:created xsi:type="dcterms:W3CDTF">2026-07-14T15:54:22Z</dcterms:created>
  <dcterms:modified xsi:type="dcterms:W3CDTF">2026-09-11T15:46:20Z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78c0f71-65dc-41d1-a799-91080a268621_Enabled">
    <vt:lpwstr>true</vt:lpwstr>
  </property>
  <property fmtid="{D5CDD505-2E9C-101B-9397-08002B2CF9AE}" pid="3" name="MSIP_Label_178c0f71-65dc-41d1-a799-91080a268621_SetDate">
    <vt:lpwstr>2026-07-14T16:34:20Z</vt:lpwstr>
  </property>
  <property fmtid="{D5CDD505-2E9C-101B-9397-08002B2CF9AE}" pid="4" name="MSIP_Label_178c0f71-65dc-41d1-a799-91080a268621_Method">
    <vt:lpwstr>Standard</vt:lpwstr>
  </property>
  <property fmtid="{D5CDD505-2E9C-101B-9397-08002B2CF9AE}" pid="5" name="MSIP_Label_178c0f71-65dc-41d1-a799-91080a268621_Name">
    <vt:lpwstr>Internal - Crayon Group Only</vt:lpwstr>
  </property>
  <property fmtid="{D5CDD505-2E9C-101B-9397-08002B2CF9AE}" pid="6" name="MSIP_Label_178c0f71-65dc-41d1-a799-91080a268621_SiteId">
    <vt:lpwstr>8f47ad71-44ca-48bf-afe3-56b9360a4495</vt:lpwstr>
  </property>
  <property fmtid="{D5CDD505-2E9C-101B-9397-08002B2CF9AE}" pid="7" name="MSIP_Label_178c0f71-65dc-41d1-a799-91080a268621_ActionId">
    <vt:lpwstr>005b6897-af3e-4122-9270-827420e2aab7</vt:lpwstr>
  </property>
  <property fmtid="{D5CDD505-2E9C-101B-9397-08002B2CF9AE}" pid="8" name="MSIP_Label_178c0f71-65dc-41d1-a799-91080a268621_ContentBits">
    <vt:lpwstr>2</vt:lpwstr>
  </property>
  <property fmtid="{D5CDD505-2E9C-101B-9397-08002B2CF9AE}" pid="9" name="MSIP_Label_178c0f71-65dc-41d1-a799-91080a268621_Tag">
    <vt:lpwstr>50, 3, 0, 1</vt:lpwstr>
  </property>
  <property fmtid="{D5CDD505-2E9C-101B-9397-08002B2CF9AE}" pid="10" name="ClassificationContentMarkingFooterLocations">
    <vt:lpwstr>Office Theme:3</vt:lpwstr>
  </property>
  <property fmtid="{D5CDD505-2E9C-101B-9397-08002B2CF9AE}" pid="11" name="ClassificationContentMarkingFooterText">
    <vt:lpwstr>Internal Only</vt:lpwstr>
  </property>
  <property fmtid="{D5CDD505-2E9C-101B-9397-08002B2CF9AE}" pid="12" name="DocumentInfoFinished">
    <vt:lpwstr>True</vt:lpwstr>
  </property>
</Properties>
</file>
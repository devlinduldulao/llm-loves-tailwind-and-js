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13"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8" autoAdjust="0"/>
    <p:restoredTop sz="86441" autoAdjust="0"/>
  </p:normalViewPr>
  <p:slideViewPr>
    <p:cSldViewPr snapToGrid="0" snapToObjects="1">
      <p:cViewPr varScale="1">
        <p:scale>
          <a:sx n="82" d="100"/>
          <a:sy n="82" d="100"/>
        </p:scale>
        <p:origin x="55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 want to start with a question.</a:t>
            </a:r>
          </a:p>
          <a:p>
            <a:r>
              <a:rPr lang="en-US" dirty="0"/>
              <a:t>How many CSS developers does it take to change a lightbulb?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seconds about me. I am a full-stack developer from Oslo, Norway. I work across the stack, and I created DaloyJS.</a:t>
            </a:r>
          </a:p>
          <a:p>
            <a:r>
              <a:rPr lang="en-US" dirty="0"/>
              <a:t>I have spent a lot of years arguing about CSS with other humans. Lately I have been arguing about it with models. They have an opinion. That is enough about me. Let's talk about CSS.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reframe this, because this is not a Tailwind versus CSS fight, and it is not a taste fight.</a:t>
            </a:r>
          </a:p>
          <a:p>
            <a:r>
              <a:rPr lang="en-US" dirty="0"/>
              <a:t>This is about how code is understood. By a teammate. And by a next-token predictor.</a:t>
            </a:r>
          </a:p>
          <a:p>
            <a:r>
              <a:rPr lang="en-US" dirty="0"/>
              <a:t>A language model is not magic. It is a next-token predictor with a bounded context window. It can only see so much at once, and it does not remember your whole repository. Your teammate is the same. They can only hold so much in their head, and they have not memorized every stylesheet.</a:t>
            </a:r>
          </a:p>
          <a:p>
            <a:r>
              <a:rPr lang="en-US" dirty="0"/>
              <a:t>When the information you need is in another file, both of them fail. Same friction. Same fix. Locality.</a:t>
            </a:r>
          </a:p>
          <a:p>
            <a:r>
              <a:rPr lang="en-US" dirty="0"/>
              <a:t>If you remember one word from this talk, make it locality. Everything after this slide is a variation on that word.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two. The cascade.</a:t>
            </a:r>
          </a:p>
          <a:p>
            <a:r>
              <a:rPr lang="en-US" dirty="0"/>
              <a:t>The C in CSS is global, and it is order-dependent. That is not a bug in your project. That is the language.</a:t>
            </a:r>
          </a:p>
          <a:p>
            <a:r>
              <a:rPr lang="en-US" dirty="0"/>
              <a:t>Look at the chain. Reset sets margin to zero. Buttons sets padding to eight pixels. The card file relies on both. The card does not own its look. It borrows it, in order, from files it does not control.</a:t>
            </a:r>
          </a:p>
          <a:p>
            <a:r>
              <a:rPr lang="en-US" dirty="0"/>
              <a:t>You edit one rule here, and you break a component three files away. That is the lightbulb joke in production form. You did not change the card. You changed something around it, and you hoped it cascaded correctly.</a:t>
            </a:r>
          </a:p>
          <a:p>
            <a:r>
              <a:rPr lang="en-US" dirty="0"/>
              <a:t>Non-local effects are the worst case for a human. They are also the worst case for a model with a bounded context window, because the cause of the bug is not in the file it is looking at. The model cannot fix what it cannot see.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demo. Same pricing card, two ways. The prompt is the one on the slide. Build a pricing card with a featured tier.</a:t>
            </a:r>
          </a:p>
          <a:p>
            <a:r>
              <a:rPr lang="en-US" dirty="0"/>
              <a:t>Look at these two cards. They are pixel identical. Left is semantic CSS. Two files, invented names, the cascade. Right is Tailwind. One file, zero names, zero config. The only difference is how many files you, or a model, have to open to understand the look.</a:t>
            </a:r>
          </a:p>
          <a:p>
            <a:r>
              <a:rPr lang="en-US" dirty="0"/>
              <a:t>I am going to click Compare source files.</a:t>
            </a:r>
          </a:p>
          <a:p>
            <a:r>
              <a:rPr lang="en-US" dirty="0"/>
              <a:t>On the left, two files. A TSX file full of invented names, and a CSS file with a cascade. pricing-card. pricing-card featured. badge, name, price, price suffix, features, feature, check, CTA. About ten invented names, plus cascade overrides so the featured card's button is dark instead of grey. Spacing is ad-hoc. Fourteen pixels here, sixteen there. Twenty-eight pixels of padding with no shared scale. To change the look, you join those two files in your head through string class names.</a:t>
            </a:r>
          </a:p>
          <a:p>
            <a:r>
              <a:rPr lang="en-US" dirty="0"/>
              <a:t>On the right, one file. That is the whole component. No invented names. No second file. Values come from the token scale. The featured state is a condition in the same function, not a modifier class in another document.</a:t>
            </a:r>
          </a:p>
          <a:p>
            <a:r>
              <a:rPr lang="en-US" dirty="0"/>
              <a:t>This is what the model has to hold in its head. One of these fits in a single glance. The other one does not. Same pixels. Completely different cost of change.</a:t>
            </a:r>
          </a:p>
          <a:p>
            <a:r>
              <a:rPr lang="en-US" dirty="0"/>
              <a:t>I am going back to the slides. Next I want to walk six reasons this is not an accident.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works. Reason one. Co-location is context locality.</a:t>
            </a:r>
          </a:p>
          <a:p>
            <a:r>
              <a:rPr lang="en-US" dirty="0"/>
              <a:t>LLMs have a bounded context and no project memory. The answer has to be in front of the model, or the model will invent it. That is not a criticism of the model. That is how a next-token predictor works. It completes from what it can see.</a:t>
            </a:r>
          </a:p>
          <a:p>
            <a:r>
              <a:rPr lang="en-US" dirty="0"/>
              <a:t>Co-located styling means the whole spec is in one token span. Semantic CSS means a second file it may never have read. If that file is not in the prompt, the model is generating a hero class and hoping a hero rule exists somewhere. Sometimes it invents the rule. Sometimes it invents a different name than the one in your stylesheet. Both are expensive.</a:t>
            </a:r>
          </a:p>
          <a:p>
            <a:r>
              <a:rPr lang="en-US" dirty="0"/>
              <a:t>Look at the contrast on the slide. A hero class that points at forty lines somewhere else, versus a div that says grid, gap-6, p-8. With Tailwind, it is all right here. The model does not need project memory, because the project put the answer in the span.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two. A closed vocabulary is predictability.</a:t>
            </a:r>
          </a:p>
          <a:p>
            <a:r>
              <a:rPr lang="en-US" dirty="0"/>
              <a:t>An LLM is a next-token predictor. flex items-center justify-between is a fixed phrase. The model has seen it millions of times, in that order, in public repos, in docs, in Stack Overflow, in shadcn. Low perplexity, high accuracy. Low perplexity means the model is not surprised. The next token is easy, so the next token is right.</a:t>
            </a:r>
          </a:p>
          <a:p>
            <a:r>
              <a:rPr lang="en-US" dirty="0"/>
              <a:t>Arbitrary CSS is infinite names, infinite orders, infinite units. That is drift. You can write display flex a hundred different ways. You can name a centered row a hundred different things. The model has to invent, not complete.</a:t>
            </a:r>
          </a:p>
          <a:p>
            <a:r>
              <a:rPr lang="en-US" dirty="0"/>
              <a:t>Look at the contrast. Tailwind says flex items-center. Semantic CSS says hero-banner-x. One of those is a phrase the model has finished a million times. The other is a coin flip. The model is completing a phrase it already knows. It is not inventing a name for your project.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three. Design tokens are constrained values.</a:t>
            </a:r>
          </a:p>
          <a:p>
            <a:r>
              <a:rPr lang="en-US" dirty="0"/>
              <a:t>Spacing, color, and radius all come from a fixed scale. p-1, p-2, p-3, p-4, p-6, p-8. A small, safe menu. The model picks p-4 from that menu, instead of hallucinating padding thirteen pixels.</a:t>
            </a:r>
          </a:p>
          <a:p>
            <a:r>
              <a:rPr lang="en-US" dirty="0"/>
              <a:t>Freeform CSS drifts. Thirteen pixels here, fourteen pixels there, twenty-eight on the next card. A human will spend a review pass cleaning that up. A model will keep drifting, because nothing in the language told it the legal values.</a:t>
            </a:r>
          </a:p>
          <a:p>
            <a:r>
              <a:rPr lang="en-US" dirty="0"/>
              <a:t>The token scale keeps generations consistent without that cleanup pass. Constraints do not make the model dumber. Constraints guide the model. A small, safe menu beats an infinite one every time, for humans and for machines.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four. A deterministic, global mapping.</a:t>
            </a:r>
          </a:p>
          <a:p>
            <a:r>
              <a:rPr lang="en-US" dirty="0"/>
              <a:t>mt-4 means margin-top one rem in every repo on earth. flex means display flex. gap-6 means gap one and a half rem. That mapping does not change when you change jobs. It does not change when you open a new repository. It does not change when the model was trained.</a:t>
            </a:r>
          </a:p>
          <a:p>
            <a:r>
              <a:rPr lang="en-US" dirty="0"/>
              <a:t>There is no, what does spacer mean in this project. Spacer means nothing until you read this repo. It might be a margin. It might be a flex gap. It might be an empty div with a height. The name does not carry the meaning. The utility does.</a:t>
            </a:r>
          </a:p>
          <a:p>
            <a:r>
              <a:rPr lang="en-US" dirty="0"/>
              <a:t>Training generalizes across the entire corpus because the mapping is stable. Bespoke class names are project-local. They do not transfer. Utilities do. That is why a model that has never seen your codebase can still style a button correctly on the first try.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five. The training-data flywheel.</a:t>
            </a:r>
          </a:p>
          <a:p>
            <a:r>
              <a:rPr lang="en-US" dirty="0"/>
              <a:t>Tailwind saturates modern training data. Next.js apps. shadcn components. Millions of public repositories. Docs that read like a dictionary of the same tokens. The model has been to this neighborhood.</a:t>
            </a:r>
          </a:p>
          <a:p>
            <a:r>
              <a:rPr lang="en-US" dirty="0"/>
              <a:t>Utilities generalize across the corpus. Project names do not. Every time someone publishes another Tailwind component, the next model gets better at Tailwind. Every time someone publishes another BEM block named card wrapper featured, the next model learns a name it will never see again.</a:t>
            </a:r>
          </a:p>
          <a:p>
            <a:r>
              <a:rPr lang="en-US" dirty="0"/>
              <a:t>More usage produces more data. More data produces better generation. Better generation produces more trust, and more usage. That loop is already running. The gap widens over time. This is not a temporary fashion. It is a compounding advantage. That is the flywheel on the slide.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six. Self-documenting means verifiable.</a:t>
            </a:r>
          </a:p>
          <a:p>
            <a:r>
              <a:rPr lang="en-US" dirty="0"/>
              <a:t>The class list is the spec. Read bg-coral, hover bg-coral at eighty percent, px-4 py-2, rounded-lg, and you know exactly what it does without running it. A coral button. It darkens on hover. Comfortable padding. Soft corners. You did not have to open a browser. You did not have to open a stylesheet. You read it.</a:t>
            </a:r>
          </a:p>
          <a:p>
            <a:r>
              <a:rPr lang="en-US" dirty="0"/>
              <a:t>You verify by reading, not by spinning up the app. That makes review faster, and faster review means a tighter loop between the human and the AI. You accept the generation, or you edit one class, in place, in the same span.</a:t>
            </a:r>
          </a:p>
          <a:p>
            <a:r>
              <a:rPr lang="en-US" dirty="0"/>
              <a:t>That is six reasons. Co-location. Closed vocabulary. Tokens. Deterministic mapping. The flywheel. And a spec you can read. Now I want to talk about why JavaScript frameworks were already halfway there.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JavaScript frameworks already work this way for template and logic.</a:t>
            </a:r>
          </a:p>
          <a:p>
            <a:r>
              <a:rPr lang="en-US" dirty="0"/>
              <a:t>React, Vue, Svelte, Solid, Angular. A component is one unit. The markup and the behavior live together. You do not open a template file and a controller file to understand a button. That war is over, and components won.</a:t>
            </a:r>
          </a:p>
          <a:p>
            <a:r>
              <a:rPr lang="en-US" dirty="0"/>
              <a:t>Tailwind adds style to that same unit. Template plus logic plus style. One component. One file. One mental model. The look is not the exception that still lives in a global stylesheet. The look joins the rest of the component.</a:t>
            </a:r>
          </a:p>
          <a:p>
            <a:r>
              <a:rPr lang="en-US" dirty="0"/>
              <a:t>Component encapsulation and utility-first both apply locality, at different layers. Frameworks localized the markup and the behavior. Tailwind localizes the look. Once you see it that way, the JS-framework love story is not a coincidence. It is the same idea, applied one more time.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Tailwind was built for the JavaScript toolchain. Two reasons.</a:t>
            </a:r>
          </a:p>
          <a:p>
            <a:r>
              <a:rPr lang="en-US" dirty="0"/>
              <a:t>First, dynamic composition is trivial. In React, className equals cn of base, and if active, bg-mint. In Vue, a class binding with opacity fifty when loading. In Svelte, class selected equals isSelected. JSX and template bindings make class composition a one-liner. You already write conditions in the component. Tailwind lets the look use those same conditions.</a:t>
            </a:r>
          </a:p>
          <a:p>
            <a:r>
              <a:rPr lang="en-US" dirty="0"/>
              <a:t>Second, the build step is already there. Vite, PostCSS, bundlers. That is Tailwind's native home. A just-in-time compiler. Content scanning, so it knows which utilities you actually used. Tree-shaking, so you ship only those utilities.</a:t>
            </a:r>
          </a:p>
          <a:p>
            <a:r>
              <a:rPr lang="en-US" dirty="0"/>
              <a:t>Tailwind is a build-tool-native idea. It belongs to the JavaScript ecosystem. That is why the fit is so tight. It is not a CSS framework that happens to work in React. It is a styling system that assumes you already have a bundler, and you already have components.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TypeScript angle. TypeScript loves Tailwind because they are the same philosophy. A constrained, named vocabulary that catches mistakes early.</a:t>
            </a:r>
          </a:p>
          <a:p>
            <a:r>
              <a:rPr lang="en-US" dirty="0"/>
              <a:t>Look at this button. CVA, class-variance-authority, turns utilities into a typed contract. A base of rounded-lg and font-bold. Then variants. Primary is bg-mint text-ink. Destructive is bg-coral text-ink. Size small is h-8 px-3. Size large is h-12 px-6. Those variants are now type-checked and autocompleted.</a:t>
            </a:r>
          </a:p>
          <a:p>
            <a:r>
              <a:rPr lang="en-US" dirty="0"/>
              <a:t>If you pass a variant that does not exist, TypeScript fails at compile time. You do not discover it in production. You do not discover it when a model invents a name. The contract is sitting in the file.</a:t>
            </a:r>
          </a:p>
          <a:p>
            <a:r>
              <a:rPr lang="en-US" dirty="0"/>
              <a:t>The tools on this slide are the whole stack. CVA. tailwind-variants. tailwind-merge. clsx, or the cn helper. TypeScript constrains the values. Tailwind constrains the styles. Same idea, two layers. I want to show you that live.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back to the demo. Demo two. Typed variants, live.</a:t>
            </a:r>
          </a:p>
          <a:p>
            <a:r>
              <a:rPr lang="en-US" dirty="0"/>
              <a:t>This is a real shadcn button, official base-maia, sitting on Base UI. I am going to toggle variant and size.</a:t>
            </a:r>
          </a:p>
          <a:p>
            <a:r>
              <a:rPr lang="en-US" dirty="0"/>
              <a:t>Watch the class string under the button. It updates from one typed contract. Default, secondary, outline, ghost, destructive. Small, default, large. That string is not guessed. It is generated from a closed set. CVA is doing the mapping you just saw on the last slide.</a:t>
            </a:r>
          </a:p>
          <a:p>
            <a:r>
              <a:rPr lang="en-US" dirty="0"/>
              <a:t>If I type Button variant equals, in the editor, IntelliSense lists the set. A wrong variant is a red squiggle at compile time, not a two a.m. incident. The model sees the same contract. When you ask it to add a success variant, it has one place to edit, and TypeScript will check the result.</a:t>
            </a:r>
          </a:p>
          <a:p>
            <a:r>
              <a:rPr lang="en-US" dirty="0"/>
              <a:t>TypeScript constrains the values. Tailwind constrains the styles. One constrained, checkable vocabulary. Stay in the demo. Demo three is the payoff.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I am scrolling down to Demo three. Watch it edit one file.</a:t>
            </a:r>
          </a:p>
          <a:p>
            <a:r>
              <a:rPr lang="en-US" dirty="0"/>
              <a:t>The prompt on the slide is add a success variant, then a loading state with a spinner. I am going to send three prompts against this button, one at a time, and I want you to watch two things. The live component on the left, and the diff on the right. The diff is always the same file. button.tsx.</a:t>
            </a:r>
          </a:p>
          <a:p>
            <a:r>
              <a:rPr lang="en-US" dirty="0"/>
              <a:t>First prompt. Add a success variant, green. A green Saved button appears. The diff lands in button.tsx. One line. success, bg-emerald-600.</a:t>
            </a:r>
          </a:p>
          <a:p>
            <a:r>
              <a:rPr lang="en-US" dirty="0"/>
              <a:t>Second prompt. Add a loading state with a spinner. A Saving button appears with a spinner. The diff still lands in the same file. A loading prop. Disabled while loading. A spinner in the markup.</a:t>
            </a:r>
          </a:p>
          <a:p>
            <a:r>
              <a:rPr lang="en-US" dirty="0"/>
              <a:t>Third prompt. Add a fullWidth prop. A full-width CTA appears. One more line. fullWidth, true, w-full.</a:t>
            </a:r>
          </a:p>
          <a:p>
            <a:r>
              <a:rPr lang="en-US" dirty="0"/>
              <a:t>Three prompts. Five lines. Zero other files touched. No cascade to chase. No stylesheet to hunt down.</a:t>
            </a:r>
          </a:p>
          <a:p>
            <a:r>
              <a:rPr lang="en-US" dirty="0"/>
              <a:t>Because the component is co-located, the model's edit is local. And a local edit is a safe edit. That is the entire talk in one demo. That is the payoff of everything before it. I am going back to the slides.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proof, shipped as a product. shadcn is the thesis.</a:t>
            </a:r>
          </a:p>
          <a:p>
            <a:r>
              <a:rPr lang="en-US" dirty="0"/>
              <a:t>Copy-paste components. Tailwind plus TypeScript plus CVA. You do not install a black box. You paste the source into your repo, and you own it. It exists because developers and LLMs both read it and modify it trivially. That is the product, and that is the talk.</a:t>
            </a:r>
          </a:p>
          <a:p>
            <a:r>
              <a:rPr lang="en-US" dirty="0"/>
              <a:t>v0, bolt, Lovable, Cursor, Artifacts all target it by default. The tools did not pick shadcn by accident. They picked the stack a model can read in one span and edit in one file. Copy, paste, prompt, ship.</a:t>
            </a:r>
          </a:p>
          <a:p>
            <a:r>
              <a:rPr lang="en-US" dirty="0"/>
              <a:t>One stack. Tailwind plus TypeScript. If you have been waiting for a canonical answer, this is it. The ecosystem already shipped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take the three objections I hear every time.</a:t>
            </a:r>
          </a:p>
          <a:p>
            <a:r>
              <a:rPr lang="en-US" dirty="0"/>
              <a:t>Ugly class soup. Extract a component in your framework. Do not reach for at-apply. The soup lives in one place, and you rarely re-read it, because the component name is now the API. You do not read rounded-lg px-4 py-3 every morning. You read Button. The classes are an implementation detail of one file.</a:t>
            </a:r>
          </a:p>
          <a:p>
            <a:r>
              <a:rPr lang="en-US" dirty="0"/>
              <a:t>A steep learning curve. It is a closed set plus IntelliSense. You learn it once, and it transfers to every project and every model. You are not learning a new naming scheme per codebase. You are learning one vocabulary.</a:t>
            </a:r>
          </a:p>
          <a:p>
            <a:r>
              <a:rPr lang="en-US" dirty="0"/>
              <a:t>Just inline styles. No. Design tokens. Hover, md, and dark variants. And purge, so unused utilities never ship. Inline styles cannot do any of that. They have no scale, no variants, no purge, and no shared vocabulary for a model to complete. That third objection is the most common pushback, and it is the weakest.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morning. How to adopt this, and how to convince the team.</a:t>
            </a:r>
          </a:p>
          <a:p>
            <a:r>
              <a:rPr lang="en-US" dirty="0"/>
              <a:t>One. Start in new components. No big-bang rewrite. You do not convert the whole app. You start where new work happens, and you let the old styles die of attrition.</a:t>
            </a:r>
          </a:p>
          <a:p>
            <a:r>
              <a:rPr lang="en-US" dirty="0"/>
              <a:t>Two. Add the Tailwind IntelliSense plugin and the Prettier class-sorter plugin. The first one makes the vocabulary visible. The second one makes the class lists readable in review.</a:t>
            </a:r>
          </a:p>
          <a:p>
            <a:r>
              <a:rPr lang="en-US" dirty="0"/>
              <a:t>Three. Adopt cn and CVA for anything with variants. That is the TypeScript contract from earlier. Four. Steal shamelessly from shadcn. Do not invent a design system on Friday afternoon. Five. Let the LLM speed compound. Measure pull-request velocity. Velocity is the receipt for the skeptics. When the team sees the same card land in one file, first try, the argument is over.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a:t>
            </a:r>
          </a:p>
          <a:p>
            <a:r>
              <a:rPr lang="en-US" dirty="0"/>
              <a:t>One. The friction was locality. Not taste. Not class soup. Locality. Naming, the cascade, and two-file context are all locality failures.</a:t>
            </a:r>
          </a:p>
          <a:p>
            <a:r>
              <a:rPr lang="en-US" dirty="0"/>
              <a:t>Two. LLMs love Tailwind because it is co-located, closed-vocabulary, deterministic, and everywhere in training data. Those are reasons one through five. They would still be true even if the training-data flywheel did not exist. The flywheel just makes the gap wider.</a:t>
            </a:r>
          </a:p>
          <a:p>
            <a:r>
              <a:rPr lang="en-US" dirty="0"/>
              <a:t>Three. Components, utilities, and TypeScript types. Locality at three layers. Frameworks, Tailwind, and CVA are the same idea applied three times.</a:t>
            </a:r>
          </a:p>
          <a:p>
            <a:r>
              <a:rPr lang="en-US" dirty="0"/>
              <a:t>Four. The machines already voted. Now you have the ammunition. If you keep one word, keep locality.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go deeper, the links are on the slide.</a:t>
            </a:r>
          </a:p>
          <a:p>
            <a:r>
              <a:rPr lang="en-US" dirty="0"/>
              <a:t>tailwindcss.com is the docs and the engine. ui.shadcn.com is the copy-paste component standard. cva.style is class-variance-authority. github.com slash dcastil slash tailwind-merge is conflict-safe class merging, which is what the cn helper sits on.</a:t>
            </a:r>
          </a:p>
          <a:p>
            <a:r>
              <a:rPr lang="en-US" dirty="0"/>
              <a:t>I want to call out two in particular. The Locality of Behaviour essay by Carson Gross, on the htmx site. That is the idea this whole talk is built on. And v0.dev. If you want to watch the machines vote live, go generate a UI and see what comes out.</a:t>
            </a:r>
          </a:p>
          <a:p>
            <a:r>
              <a:rPr lang="en-US" dirty="0"/>
              <a:t>The demo repo is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p>
          <a:p>
            <a:r>
              <a:rPr lang="en-US" dirty="0"/>
              <a:t>The demo repo is github.com slash </a:t>
            </a:r>
            <a:r>
              <a:rPr lang="en-US" dirty="0" err="1"/>
              <a:t>devlinduldulao</a:t>
            </a:r>
            <a:r>
              <a:rPr lang="en-US" dirty="0"/>
              <a:t> slash </a:t>
            </a:r>
            <a:r>
              <a:rPr lang="en-US" dirty="0" err="1"/>
              <a:t>llm</a:t>
            </a:r>
            <a:r>
              <a:rPr lang="en-US" dirty="0"/>
              <a:t>-loves-tailwind-and-</a:t>
            </a:r>
            <a:r>
              <a:rPr lang="en-US" dirty="0" err="1"/>
              <a:t>js</a:t>
            </a:r>
            <a:r>
              <a:rPr lang="en-US" dirty="0"/>
              <a:t>. You can scan the QR code. You can find me at </a:t>
            </a:r>
            <a:r>
              <a:rPr lang="en-US" dirty="0" err="1"/>
              <a:t>devlinduldulao</a:t>
            </a:r>
            <a:r>
              <a:rPr lang="en-US" dirty="0"/>
              <a:t> on socials, and on LinkedIn at linkedin.com slash in slash </a:t>
            </a:r>
            <a:r>
              <a:rPr lang="en-US" dirty="0" err="1"/>
              <a:t>devlinduldulao</a:t>
            </a:r>
            <a:r>
              <a:rPr lang="en-US" dirty="0"/>
              <a:t>.</a:t>
            </a:r>
          </a:p>
          <a:p>
            <a:r>
              <a:rPr lang="en-US" dirty="0"/>
              <a:t>I would love to hear your Tailwind hot takes. Come find me after. Thank you.</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5981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1097280" y="137160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WARM-UP</a:t>
            </a:r>
            <a:endParaRPr lang="en-US" sz="1200" dirty="0"/>
          </a:p>
        </p:txBody>
      </p:sp>
      <p:sp>
        <p:nvSpPr>
          <p:cNvPr id="3" name="Text 1"/>
          <p:cNvSpPr/>
          <p:nvPr/>
        </p:nvSpPr>
        <p:spPr>
          <a:xfrm>
            <a:off x="1097280" y="1920240"/>
            <a:ext cx="9997135" cy="2011680"/>
          </a:xfrm>
          <a:prstGeom prst="rect">
            <a:avLst/>
          </a:prstGeom>
          <a:noFill/>
          <a:ln/>
        </p:spPr>
        <p:txBody>
          <a:bodyPr wrap="square" lIns="0" tIns="0" rIns="0" bIns="0" rtlCol="0" anchor="t"/>
          <a:lstStyle/>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How many CSS developers does it take</a:t>
            </a:r>
            <a:endParaRPr lang="en-US" sz="4000" dirty="0"/>
          </a:p>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to change a lightbulb?</a:t>
            </a:r>
            <a:endParaRPr lang="en-US" sz="4000" dirty="0"/>
          </a:p>
        </p:txBody>
      </p:sp>
      <p:sp>
        <p:nvSpPr>
          <p:cNvPr id="4" name="Text 2"/>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rgbClr val="A6A6A6"/>
                </a:solidFill>
                <a:latin typeface="Arial" pitchFamily="34" charset="0"/>
                <a:ea typeface="Arial" pitchFamily="34" charset="-122"/>
                <a:cs typeface="Arial" pitchFamily="34" charset="-120"/>
              </a:rPr>
              <a:t>( wait for it… )</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1097280" y="1554480"/>
            <a:ext cx="7315200" cy="1097280"/>
          </a:xfrm>
          <a:prstGeom prst="rect">
            <a:avLst/>
          </a:prstGeom>
          <a:noFill/>
          <a:ln/>
        </p:spPr>
        <p:txBody>
          <a:bodyPr wrap="square" lIns="0" tIns="0" rIns="0" bIns="0" rtlCol="0" anchor="ctr"/>
          <a:lstStyle/>
          <a:p>
            <a:pPr marL="0" indent="0" algn="l">
              <a:buNone/>
            </a:pPr>
            <a:r>
              <a:rPr lang="en-US" sz="6400" b="1" dirty="0">
                <a:solidFill>
                  <a:srgbClr val="75DFBC"/>
                </a:solidFill>
                <a:latin typeface="Arial" pitchFamily="34" charset="0"/>
                <a:ea typeface="Arial" pitchFamily="34" charset="-122"/>
                <a:cs typeface="Arial" pitchFamily="34" charset="-120"/>
              </a:rPr>
              <a:t>None.</a:t>
            </a:r>
            <a:endParaRPr lang="en-US" sz="6400" dirty="0"/>
          </a:p>
        </p:txBody>
      </p:sp>
      <p:sp>
        <p:nvSpPr>
          <p:cNvPr id="3" name="Text 1"/>
          <p:cNvSpPr/>
          <p:nvPr/>
        </p:nvSpPr>
        <p:spPr>
          <a:xfrm>
            <a:off x="1097280" y="2743200"/>
            <a:ext cx="9997135" cy="1463040"/>
          </a:xfrm>
          <a:prstGeom prst="rect">
            <a:avLst/>
          </a:prstGeom>
          <a:noFill/>
          <a:ln/>
        </p:spPr>
        <p:txBody>
          <a:bodyPr wrap="square" lIns="0" tIns="0" rIns="0" bIns="0" rtlCol="0" anchor="t"/>
          <a:lstStyle/>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They change everything around it,</a:t>
            </a:r>
            <a:endParaRPr lang="en-US" sz="3000" dirty="0"/>
          </a:p>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and hope it cascades.</a:t>
            </a:r>
            <a:endParaRPr lang="en-US" sz="3000" dirty="0"/>
          </a:p>
        </p:txBody>
      </p:sp>
      <p:sp>
        <p:nvSpPr>
          <p:cNvPr id="4" name="Text 2"/>
          <p:cNvSpPr/>
          <p:nvPr/>
        </p:nvSpPr>
        <p:spPr>
          <a:xfrm>
            <a:off x="1097280" y="4480560"/>
            <a:ext cx="9997135" cy="640080"/>
          </a:xfrm>
          <a:prstGeom prst="rect">
            <a:avLst/>
          </a:prstGeom>
          <a:noFill/>
          <a:ln/>
        </p:spPr>
        <p:txBody>
          <a:bodyPr wrap="square" lIns="0" tIns="0" rIns="0" bIns="0" rtlCol="0" anchor="ctr"/>
          <a:lstStyle/>
          <a:p>
            <a:pPr marL="0" indent="0" algn="l">
              <a:buNone/>
            </a:pPr>
            <a:r>
              <a:rPr lang="en-US" sz="2400" i="1" dirty="0">
                <a:solidFill>
                  <a:srgbClr val="A6A6A6"/>
                </a:solidFill>
                <a:latin typeface="Arial" pitchFamily="34" charset="0"/>
                <a:ea typeface="Arial" pitchFamily="34" charset="-122"/>
                <a:cs typeface="Arial" pitchFamily="34" charset="-120"/>
              </a:rPr>
              <a:t>Today: why that joke is the problem for humans and for machines.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rgbClr val="FFFFFF"/>
                </a:solidFill>
                <a:latin typeface="Arial" pitchFamily="34" charset="0"/>
                <a:ea typeface="Arial" pitchFamily="34" charset="-122"/>
                <a:cs typeface="Arial" pitchFamily="34" charset="-120"/>
              </a:rPr>
              <a:t>Why LLMs &amp; JS frameworks
</a:t>
            </a:r>
            <a:r>
              <a:rPr lang="en-US" sz="5200" b="1" dirty="0">
                <a:solidFill>
                  <a:srgbClr val="75DFBC"/>
                </a:solidFill>
                <a:latin typeface="Arial" pitchFamily="34" charset="0"/>
                <a:ea typeface="Arial" pitchFamily="34" charset="-122"/>
                <a:cs typeface="Arial" pitchFamily="34" charset="-120"/>
              </a:rPr>
              <a:t>love Tailwind CSS</a:t>
            </a:r>
            <a:endParaRPr lang="en-US" sz="5200" dirty="0"/>
          </a:p>
        </p:txBody>
      </p:sp>
      <p:sp>
        <p:nvSpPr>
          <p:cNvPr id="3" name="Text 1"/>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4" name="Text 2"/>
          <p:cNvSpPr/>
          <p:nvPr/>
        </p:nvSpPr>
        <p:spPr>
          <a:xfrm>
            <a:off x="594360" y="4892040"/>
            <a:ext cx="11002975" cy="457200"/>
          </a:xfrm>
          <a:prstGeom prst="rect">
            <a:avLst/>
          </a:prstGeom>
          <a:noFill/>
          <a:ln/>
        </p:spPr>
        <p:txBody>
          <a:bodyPr wrap="square" lIns="0" tIns="0" rIns="0" bIns="0" rtlCol="0" anchor="ctr"/>
          <a:lstStyle/>
          <a:p>
            <a:pPr marL="0" indent="0" algn="l">
              <a:buNone/>
            </a:pPr>
            <a:r>
              <a:rPr lang="en-US" sz="1600" b="1" dirty="0">
                <a:solidFill>
                  <a:srgbClr val="FFFFFF"/>
                </a:solidFill>
                <a:latin typeface="Arial" pitchFamily="34" charset="0"/>
                <a:ea typeface="Arial" pitchFamily="34" charset="-122"/>
                <a:cs typeface="Arial" pitchFamily="34" charset="-120"/>
              </a:rPr>
              <a:t>Devlin Duldulao</a:t>
            </a:r>
            <a:endParaRPr lang="en-US" sz="1600" dirty="0"/>
          </a:p>
        </p:txBody>
      </p:sp>
      <p:sp>
        <p:nvSpPr>
          <p:cNvPr id="15" name="Text 13"/>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6" name="Text 14"/>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3 / 29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WHOAMI</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Devlin Duldulao</a:t>
            </a:r>
            <a:endParaRPr lang="en-US" sz="4000" dirty="0"/>
          </a:p>
        </p:txBody>
      </p:sp>
      <p:sp>
        <p:nvSpPr>
          <p:cNvPr id="4" name="Shape 2"/>
          <p:cNvSpPr/>
          <p:nvPr/>
        </p:nvSpPr>
        <p:spPr>
          <a:xfrm>
            <a:off x="594360" y="2276856"/>
            <a:ext cx="118872" cy="118872"/>
          </a:xfrm>
          <a:prstGeom prst="rect">
            <a:avLst/>
          </a:prstGeom>
          <a:solidFill>
            <a:srgbClr val="75DFBC"/>
          </a:solidFill>
          <a:ln/>
        </p:spPr>
        <p:txBody>
          <a:bodyPr/>
          <a:lstStyle/>
          <a:p>
            <a:endParaRPr lang="en-US" sz="2000"/>
          </a:p>
        </p:txBody>
      </p:sp>
      <p:sp>
        <p:nvSpPr>
          <p:cNvPr id="5" name="Text 3"/>
          <p:cNvSpPr/>
          <p:nvPr/>
        </p:nvSpPr>
        <p:spPr>
          <a:xfrm>
            <a:off x="886968" y="2194560"/>
            <a:ext cx="6656832" cy="457200"/>
          </a:xfrm>
          <a:prstGeom prst="rect">
            <a:avLst/>
          </a:prstGeom>
          <a:noFill/>
          <a:ln/>
        </p:spPr>
        <p:txBody>
          <a:bodyPr wrap="square" lIns="0" tIns="0" rIns="0" bIns="0" rtlCol="0" anchor="t"/>
          <a:lstStyle/>
          <a:p>
            <a:pPr>
              <a:lnSpc>
                <a:spcPct val="105000"/>
              </a:lnSpc>
            </a:pPr>
            <a:r>
              <a:rPr lang="en-US" dirty="0">
                <a:solidFill>
                  <a:srgbClr val="FFFFFF"/>
                </a:solidFill>
                <a:latin typeface="Arial" pitchFamily="34" charset="0"/>
                <a:ea typeface="Arial" pitchFamily="34" charset="-122"/>
                <a:cs typeface="Arial" pitchFamily="34" charset="-120"/>
              </a:rPr>
              <a:t>Full-stack developer from Oslo Norway</a:t>
            </a:r>
            <a:endParaRPr lang="en-US"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66568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Creator of </a:t>
            </a:r>
            <a:r>
              <a:rPr lang="en-US" dirty="0" err="1">
                <a:solidFill>
                  <a:srgbClr val="FFFFFF"/>
                </a:solidFill>
                <a:latin typeface="Arial" pitchFamily="34" charset="0"/>
                <a:ea typeface="Arial" pitchFamily="34" charset="-122"/>
                <a:cs typeface="Arial" pitchFamily="34" charset="-120"/>
              </a:rPr>
              <a:t>DaloyJS</a:t>
            </a:r>
            <a:endParaRPr lang="en-US" dirty="0"/>
          </a:p>
        </p:txBody>
      </p:sp>
      <p:sp>
        <p:nvSpPr>
          <p:cNvPr id="11" name="Text 9"/>
          <p:cNvSpPr/>
          <p:nvPr/>
        </p:nvSpPr>
        <p:spPr>
          <a:xfrm>
            <a:off x="886968" y="4251960"/>
            <a:ext cx="6656832" cy="457200"/>
          </a:xfrm>
          <a:prstGeom prst="rect">
            <a:avLst/>
          </a:prstGeom>
          <a:noFill/>
          <a:ln/>
        </p:spPr>
        <p:txBody>
          <a:bodyPr wrap="square" lIns="0" tIns="0" rIns="0" bIns="0" rtlCol="0" anchor="t"/>
          <a:lstStyle/>
          <a:p>
            <a:pPr marL="0" indent="0" algn="l">
              <a:lnSpc>
                <a:spcPct val="105000"/>
              </a:lnSpc>
              <a:buNone/>
            </a:pPr>
            <a:endParaRPr lang="en-US" sz="1700" dirty="0"/>
          </a:p>
        </p:txBody>
      </p:sp>
      <p:sp>
        <p:nvSpPr>
          <p:cNvPr id="15" name="Text 13"/>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6" name="Text 14"/>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4 / 29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THE SETUP</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15 years of methodology wars</a:t>
            </a:r>
            <a:endParaRPr lang="en-US" sz="3400" dirty="0"/>
          </a:p>
        </p:txBody>
      </p:sp>
      <p:sp>
        <p:nvSpPr>
          <p:cNvPr id="4" name="Shape 2"/>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5" name="Text 3"/>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6" name="Text 4"/>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7" name="Shape 5"/>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8" name="Text 6"/>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9" name="Text 7"/>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0" name="Shape 8"/>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1" name="Text 9"/>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12" name="Text 10"/>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13" name="Shape 11"/>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4" name="Text 12"/>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15" name="Text 13"/>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16" name="Shape 14"/>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7" name="Text 15"/>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18" name="Text 16"/>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19" name="Shape 17"/>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0" name="Text 18"/>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21" name="Text 19"/>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22" name="Shape 20"/>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3" name="Text 21"/>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24" name="Text 22"/>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25" name="Shape 23"/>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26" name="Text 24"/>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27" name="Text 25"/>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
        <p:nvSpPr>
          <p:cNvPr id="28" name="Text 26"/>
          <p:cNvSpPr/>
          <p:nvPr/>
        </p:nvSpPr>
        <p:spPr>
          <a:xfrm>
            <a:off x="595333" y="5120640"/>
            <a:ext cx="11002975" cy="640080"/>
          </a:xfrm>
          <a:prstGeom prst="rect">
            <a:avLst/>
          </a:prstGeom>
          <a:noFill/>
          <a:ln/>
        </p:spPr>
        <p:txBody>
          <a:bodyPr wrap="square" lIns="0" tIns="0" rIns="0" bIns="0" rtlCol="0" anchor="ctr"/>
          <a:lstStyle/>
          <a:p>
            <a:pPr marL="0" indent="0" algn="l">
              <a:lnSpc>
                <a:spcPct val="105000"/>
              </a:lnSpc>
              <a:buNone/>
            </a:pPr>
            <a:r>
              <a:rPr lang="en-US" sz="2000" dirty="0">
                <a:solidFill>
                  <a:srgbClr val="A6A6A6"/>
                </a:solidFill>
                <a:latin typeface="Arial" pitchFamily="34" charset="0"/>
                <a:ea typeface="Arial" pitchFamily="34" charset="-122"/>
                <a:cs typeface="Arial" pitchFamily="34" charset="-120"/>
              </a:rPr>
              <a:t>Every one of these tried to answer the same two questions: where do styles live, and what do we name them?</a:t>
            </a:r>
            <a:endParaRPr lang="en-US" sz="2000" dirty="0"/>
          </a:p>
        </p:txBody>
      </p:sp>
      <p:sp>
        <p:nvSpPr>
          <p:cNvPr id="29" name="Text 27"/>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30" name="Text 28"/>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5 / 29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THESIS</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The machines have voted.</a:t>
            </a:r>
            <a:endParaRPr lang="en-US" sz="4000" dirty="0"/>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
        <p:nvSpPr>
          <p:cNvPr id="22" name="Text 20"/>
          <p:cNvSpPr/>
          <p:nvPr/>
        </p:nvSpPr>
        <p:spPr>
          <a:xfrm>
            <a:off x="594360" y="5715000"/>
            <a:ext cx="11002975" cy="548640"/>
          </a:xfrm>
          <a:prstGeom prst="rect">
            <a:avLst/>
          </a:prstGeom>
          <a:noFill/>
          <a:ln/>
        </p:spPr>
        <p:txBody>
          <a:bodyPr wrap="square" lIns="0" tIns="0" rIns="0" bIns="0" rtlCol="0" anchor="ctr"/>
          <a:lstStyle/>
          <a:p>
            <a:pPr marL="0" indent="0" algn="l">
              <a:buNone/>
            </a:pPr>
            <a:r>
              <a:rPr lang="en-US" i="1" dirty="0">
                <a:solidFill>
                  <a:srgbClr val="FFFFFF"/>
                </a:solidFill>
                <a:latin typeface="Arial" pitchFamily="34" charset="0"/>
                <a:ea typeface="Arial" pitchFamily="34" charset="-122"/>
                <a:cs typeface="Arial" pitchFamily="34" charset="-120"/>
              </a:rPr>
              <a:t>Every major AI UI generator defaults to Tailwind. That's revealed preference.</a:t>
            </a:r>
            <a:endParaRPr lang="en-US" dirty="0"/>
          </a:p>
        </p:txBody>
      </p:sp>
      <p:sp>
        <p:nvSpPr>
          <p:cNvPr id="23" name="Text 21"/>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4" name="Text 22"/>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6 / 29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REFRAME</a:t>
            </a:r>
            <a:endParaRPr lang="en-US" sz="1200" dirty="0"/>
          </a:p>
        </p:txBody>
      </p:sp>
      <p:sp>
        <p:nvSpPr>
          <p:cNvPr id="3" name="Text 1"/>
          <p:cNvSpPr/>
          <p:nvPr/>
        </p:nvSpPr>
        <p:spPr>
          <a:xfrm>
            <a:off x="594360" y="1371600"/>
            <a:ext cx="11002975" cy="914400"/>
          </a:xfrm>
          <a:prstGeom prst="rect">
            <a:avLst/>
          </a:prstGeom>
          <a:noFill/>
          <a:ln/>
        </p:spPr>
        <p:txBody>
          <a:bodyPr wrap="square" lIns="0" tIns="0" rIns="0" bIns="0" rtlCol="0" anchor="t"/>
          <a:lstStyle/>
          <a:p>
            <a:pPr marL="0" indent="0" algn="l">
              <a:buNone/>
            </a:pPr>
            <a:r>
              <a:rPr lang="en-US" sz="3800" b="1" dirty="0">
                <a:solidFill>
                  <a:srgbClr val="FFFFFF"/>
                </a:solidFill>
                <a:latin typeface="Arial" pitchFamily="34" charset="0"/>
                <a:ea typeface="Arial" pitchFamily="34" charset="-122"/>
                <a:cs typeface="Arial" pitchFamily="34" charset="-120"/>
              </a:rPr>
              <a:t>How code is </a:t>
            </a:r>
            <a:r>
              <a:rPr lang="en-US" sz="3800" b="1" dirty="0">
                <a:solidFill>
                  <a:srgbClr val="FF6A4C"/>
                </a:solidFill>
                <a:latin typeface="Arial" pitchFamily="34" charset="0"/>
                <a:ea typeface="Arial" pitchFamily="34" charset="-122"/>
                <a:cs typeface="Arial" pitchFamily="34" charset="-120"/>
              </a:rPr>
              <a:t>understood</a:t>
            </a:r>
            <a:r>
              <a:rPr lang="en-US" sz="3800" b="1" dirty="0">
                <a:solidFill>
                  <a:srgbClr val="FFFFFF"/>
                </a:solidFill>
                <a:latin typeface="Arial" pitchFamily="34" charset="0"/>
                <a:ea typeface="Arial" pitchFamily="34" charset="-122"/>
                <a:cs typeface="Arial" pitchFamily="34" charset="-120"/>
              </a:rPr>
              <a:t>.</a:t>
            </a:r>
            <a:endParaRPr lang="en-US" sz="3800" dirty="0"/>
          </a:p>
        </p:txBody>
      </p:sp>
      <p:sp>
        <p:nvSpPr>
          <p:cNvPr id="4" name="Text 2"/>
          <p:cNvSpPr/>
          <p:nvPr/>
        </p:nvSpPr>
        <p:spPr>
          <a:xfrm>
            <a:off x="594360" y="2651760"/>
            <a:ext cx="11002975" cy="1463040"/>
          </a:xfrm>
          <a:prstGeom prst="rect">
            <a:avLst/>
          </a:prstGeom>
          <a:noFill/>
          <a:ln/>
        </p:spPr>
        <p:txBody>
          <a:bodyPr wrap="square" lIns="0" tIns="0" rIns="0" bIns="0" rtlCol="0" anchor="t"/>
          <a:lstStyle/>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By a </a:t>
            </a:r>
            <a:r>
              <a:rPr lang="en-US" sz="3000" b="1" dirty="0">
                <a:solidFill>
                  <a:srgbClr val="75DFBC"/>
                </a:solidFill>
                <a:latin typeface="Arial" pitchFamily="34" charset="0"/>
                <a:ea typeface="Arial" pitchFamily="34" charset="-122"/>
                <a:cs typeface="Arial" pitchFamily="34" charset="-120"/>
              </a:rPr>
              <a:t>teammate</a:t>
            </a:r>
            <a:r>
              <a:rPr lang="en-US" sz="3000" b="1" dirty="0">
                <a:solidFill>
                  <a:srgbClr val="FFFFFF"/>
                </a:solidFill>
                <a:latin typeface="Arial" pitchFamily="34" charset="0"/>
                <a:ea typeface="Arial" pitchFamily="34" charset="-122"/>
                <a:cs typeface="Arial" pitchFamily="34" charset="-120"/>
              </a:rPr>
              <a:t>,</a:t>
            </a:r>
            <a:endParaRPr lang="en-US" sz="3000" dirty="0"/>
          </a:p>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 and by a next-token predictor.</a:t>
            </a:r>
            <a:endParaRPr lang="en-US" sz="3000" dirty="0"/>
          </a:p>
        </p:txBody>
      </p:sp>
      <p:sp>
        <p:nvSpPr>
          <p:cNvPr id="5" name="Shape 3"/>
          <p:cNvSpPr/>
          <p:nvPr/>
        </p:nvSpPr>
        <p:spPr>
          <a:xfrm>
            <a:off x="594360" y="4663440"/>
            <a:ext cx="6035040" cy="54864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6" name="Text 4"/>
          <p:cNvSpPr/>
          <p:nvPr/>
        </p:nvSpPr>
        <p:spPr>
          <a:xfrm>
            <a:off x="594360" y="4663440"/>
            <a:ext cx="6035040" cy="548640"/>
          </a:xfrm>
          <a:prstGeom prst="rect">
            <a:avLst/>
          </a:prstGeom>
          <a:noFill/>
          <a:ln/>
        </p:spPr>
        <p:txBody>
          <a:bodyPr wrap="square" lIns="0" tIns="0" rIns="0" bIns="0" rtlCol="0" anchor="ctr"/>
          <a:lstStyle/>
          <a:p>
            <a:pPr marL="0" indent="0" algn="ctr">
              <a:buNone/>
            </a:pPr>
            <a:r>
              <a:rPr lang="en-US" sz="1800" b="1" dirty="0">
                <a:solidFill>
                  <a:srgbClr val="75DFBC"/>
                </a:solidFill>
                <a:latin typeface="Arial" pitchFamily="34" charset="0"/>
                <a:ea typeface="Arial" pitchFamily="34" charset="-122"/>
                <a:cs typeface="Arial" pitchFamily="34" charset="-120"/>
              </a:rPr>
              <a:t>Same friction, same fix: locality.</a:t>
            </a:r>
            <a:endParaRPr lang="en-US" sz="1800" dirty="0"/>
          </a:p>
        </p:txBody>
      </p:sp>
      <p:sp>
        <p:nvSpPr>
          <p:cNvPr id="7" name="Text 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8" name="Text 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7 / 29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#1</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Naming things</a:t>
            </a:r>
            <a:endParaRPr lang="en-US" sz="3400" dirty="0"/>
          </a:p>
        </p:txBody>
      </p:sp>
      <p:sp>
        <p:nvSpPr>
          <p:cNvPr id="4" name="Text 2"/>
          <p:cNvSpPr/>
          <p:nvPr/>
        </p:nvSpPr>
        <p:spPr>
          <a:xfrm>
            <a:off x="594360" y="1828800"/>
            <a:ext cx="5760720" cy="1280160"/>
          </a:xfrm>
          <a:prstGeom prst="rect">
            <a:avLst/>
          </a:prstGeom>
          <a:noFill/>
          <a:ln/>
        </p:spPr>
        <p:txBody>
          <a:bodyPr wrap="square" lIns="0" tIns="0" rIns="0" bIns="0" rtlCol="0" anchor="t"/>
          <a:lstStyle/>
          <a:p>
            <a:pPr marL="0" indent="0" algn="l">
              <a:lnSpc>
                <a:spcPct val="110000"/>
              </a:lnSpc>
              <a:buNone/>
            </a:pPr>
            <a:r>
              <a:rPr lang="en-US" sz="2000" i="1" dirty="0">
                <a:solidFill>
                  <a:srgbClr val="FFFFFF"/>
                </a:solidFill>
                <a:latin typeface="Arial" pitchFamily="34" charset="0"/>
                <a:ea typeface="Arial" pitchFamily="34" charset="-122"/>
                <a:cs typeface="Arial" pitchFamily="34" charset="-120"/>
              </a:rPr>
              <a:t>“There are only two hard things in computer science: cache invalidation and naming things.”</a:t>
            </a:r>
            <a:endParaRPr lang="en-US" sz="2000" dirty="0"/>
          </a:p>
        </p:txBody>
      </p:sp>
      <p:sp>
        <p:nvSpPr>
          <p:cNvPr id="5" name="Shape 3"/>
          <p:cNvSpPr/>
          <p:nvPr/>
        </p:nvSpPr>
        <p:spPr>
          <a:xfrm>
            <a:off x="594360" y="3465576"/>
            <a:ext cx="118872" cy="118872"/>
          </a:xfrm>
          <a:prstGeom prst="rect">
            <a:avLst/>
          </a:prstGeom>
          <a:solidFill>
            <a:srgbClr val="FF6A4C"/>
          </a:solidFill>
          <a:ln/>
        </p:spPr>
        <p:txBody>
          <a:bodyPr/>
          <a:lstStyle/>
          <a:p>
            <a:endParaRPr lang="en-US" sz="2400"/>
          </a:p>
        </p:txBody>
      </p:sp>
      <p:sp>
        <p:nvSpPr>
          <p:cNvPr id="6" name="Text 4"/>
          <p:cNvSpPr/>
          <p:nvPr/>
        </p:nvSpPr>
        <p:spPr>
          <a:xfrm>
            <a:off x="886967" y="3383280"/>
            <a:ext cx="5760719"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Every element needs an invented, project-specific name</a:t>
            </a:r>
            <a:endParaRPr lang="en-US" dirty="0"/>
          </a:p>
        </p:txBody>
      </p:sp>
      <p:sp>
        <p:nvSpPr>
          <p:cNvPr id="7" name="Shape 5"/>
          <p:cNvSpPr/>
          <p:nvPr/>
        </p:nvSpPr>
        <p:spPr>
          <a:xfrm>
            <a:off x="594360" y="4352544"/>
            <a:ext cx="118872" cy="118872"/>
          </a:xfrm>
          <a:prstGeom prst="rect">
            <a:avLst/>
          </a:prstGeom>
          <a:solidFill>
            <a:srgbClr val="FF6A4C"/>
          </a:solidFill>
          <a:ln/>
        </p:spPr>
        <p:txBody>
          <a:bodyPr/>
          <a:lstStyle/>
          <a:p>
            <a:endParaRPr lang="en-US" sz="2400"/>
          </a:p>
        </p:txBody>
      </p:sp>
      <p:sp>
        <p:nvSpPr>
          <p:cNvPr id="8" name="Text 6"/>
          <p:cNvSpPr/>
          <p:nvPr/>
        </p:nvSpPr>
        <p:spPr>
          <a:xfrm>
            <a:off x="886968" y="4270248"/>
            <a:ext cx="546811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Names drift: card / Card / cardWrapper / card-box</a:t>
            </a:r>
            <a:endParaRPr lang="en-US" dirty="0"/>
          </a:p>
        </p:txBody>
      </p:sp>
      <p:sp>
        <p:nvSpPr>
          <p:cNvPr id="9" name="Shape 7"/>
          <p:cNvSpPr/>
          <p:nvPr/>
        </p:nvSpPr>
        <p:spPr>
          <a:xfrm>
            <a:off x="594360" y="5269473"/>
            <a:ext cx="118872" cy="118872"/>
          </a:xfrm>
          <a:prstGeom prst="rect">
            <a:avLst/>
          </a:prstGeom>
          <a:solidFill>
            <a:srgbClr val="FF6A4C"/>
          </a:solidFill>
          <a:ln/>
        </p:spPr>
        <p:txBody>
          <a:bodyPr/>
          <a:lstStyle/>
          <a:p>
            <a:endParaRPr lang="en-US" sz="2400"/>
          </a:p>
        </p:txBody>
      </p:sp>
      <p:sp>
        <p:nvSpPr>
          <p:cNvPr id="10" name="Text 8"/>
          <p:cNvSpPr/>
          <p:nvPr/>
        </p:nvSpPr>
        <p:spPr>
          <a:xfrm>
            <a:off x="886968" y="5187177"/>
            <a:ext cx="546811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Humans AND models invent inconsistently across a session</a:t>
            </a:r>
            <a:endParaRPr lang="en-US" dirty="0"/>
          </a:p>
        </p:txBody>
      </p:sp>
      <p:sp>
        <p:nvSpPr>
          <p:cNvPr id="11" name="Shape 9"/>
          <p:cNvSpPr/>
          <p:nvPr/>
        </p:nvSpPr>
        <p:spPr>
          <a:xfrm>
            <a:off x="6821421" y="1828800"/>
            <a:ext cx="4773170" cy="4270248"/>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2" name="Shape 10"/>
          <p:cNvSpPr/>
          <p:nvPr/>
        </p:nvSpPr>
        <p:spPr>
          <a:xfrm>
            <a:off x="6986016" y="2011680"/>
            <a:ext cx="100584" cy="100584"/>
          </a:xfrm>
          <a:prstGeom prst="ellipse">
            <a:avLst/>
          </a:prstGeom>
          <a:solidFill>
            <a:srgbClr val="FF6A4C"/>
          </a:solidFill>
          <a:ln/>
        </p:spPr>
        <p:txBody>
          <a:bodyPr/>
          <a:lstStyle/>
          <a:p>
            <a:endParaRPr lang="en-US"/>
          </a:p>
        </p:txBody>
      </p:sp>
      <p:sp>
        <p:nvSpPr>
          <p:cNvPr id="13" name="Shape 11"/>
          <p:cNvSpPr/>
          <p:nvPr/>
        </p:nvSpPr>
        <p:spPr>
          <a:xfrm>
            <a:off x="7187184" y="2011680"/>
            <a:ext cx="100584" cy="100584"/>
          </a:xfrm>
          <a:prstGeom prst="ellipse">
            <a:avLst/>
          </a:prstGeom>
          <a:solidFill>
            <a:srgbClr val="F1CF25"/>
          </a:solidFill>
          <a:ln/>
        </p:spPr>
        <p:txBody>
          <a:bodyPr/>
          <a:lstStyle/>
          <a:p>
            <a:endParaRPr lang="en-US"/>
          </a:p>
        </p:txBody>
      </p:sp>
      <p:sp>
        <p:nvSpPr>
          <p:cNvPr id="14" name="Shape 12"/>
          <p:cNvSpPr/>
          <p:nvPr/>
        </p:nvSpPr>
        <p:spPr>
          <a:xfrm>
            <a:off x="7388352" y="2011680"/>
            <a:ext cx="100584" cy="100584"/>
          </a:xfrm>
          <a:prstGeom prst="ellipse">
            <a:avLst/>
          </a:prstGeom>
          <a:solidFill>
            <a:srgbClr val="75DFBC"/>
          </a:solidFill>
          <a:ln/>
        </p:spPr>
        <p:txBody>
          <a:bodyPr/>
          <a:lstStyle/>
          <a:p>
            <a:endParaRPr lang="en-US"/>
          </a:p>
        </p:txBody>
      </p:sp>
      <p:sp>
        <p:nvSpPr>
          <p:cNvPr id="15" name="Text 13"/>
          <p:cNvSpPr/>
          <p:nvPr/>
        </p:nvSpPr>
        <p:spPr>
          <a:xfrm>
            <a:off x="7680960" y="190195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styles.css</a:t>
            </a:r>
            <a:endParaRPr lang="en-US" dirty="0"/>
          </a:p>
        </p:txBody>
      </p:sp>
      <p:sp>
        <p:nvSpPr>
          <p:cNvPr id="16" name="Text 14"/>
          <p:cNvSpPr/>
          <p:nvPr/>
        </p:nvSpPr>
        <p:spPr>
          <a:xfrm>
            <a:off x="7187184" y="2377440"/>
            <a:ext cx="4114800" cy="3332696"/>
          </a:xfrm>
          <a:prstGeom prst="rect">
            <a:avLst/>
          </a:prstGeom>
          <a:noFill/>
          <a:ln/>
        </p:spPr>
        <p:txBody>
          <a:bodyPr wrap="square" lIns="0" tIns="0" rIns="0" bIns="0" rtlCol="0" anchor="t"/>
          <a:lstStyle/>
          <a:p>
            <a:pPr marL="0" indent="0" algn="l">
              <a:lnSpc>
                <a:spcPct val="115000"/>
              </a:lnSpc>
              <a:buNone/>
            </a:pPr>
            <a:r>
              <a:rPr lang="en-US" dirty="0">
                <a:solidFill>
                  <a:srgbClr val="6E6E6E"/>
                </a:solidFill>
                <a:latin typeface="Courier New" pitchFamily="34" charset="0"/>
                <a:ea typeface="Courier New" pitchFamily="34" charset="-122"/>
                <a:cs typeface="Courier New" pitchFamily="34" charset="-120"/>
              </a:rPr>
              <a:t>/* what does 'featured' even mean? */</a:t>
            </a: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.card</a:t>
            </a:r>
            <a:r>
              <a:rPr lang="en-US" dirty="0">
                <a:solidFill>
                  <a:srgbClr val="F1CF25"/>
                </a:solidFill>
                <a:latin typeface="Courier New" pitchFamily="34" charset="0"/>
                <a:ea typeface="Courier New" pitchFamily="34" charset="-122"/>
                <a:cs typeface="Courier New" pitchFamily="34" charset="-120"/>
              </a:rPr>
              <a:t>__header</a:t>
            </a:r>
            <a:r>
              <a:rPr lang="en-US" dirty="0">
                <a:solidFill>
                  <a:srgbClr val="FF6A4C"/>
                </a:solidFill>
                <a:latin typeface="Courier New" pitchFamily="34" charset="0"/>
                <a:ea typeface="Courier New" pitchFamily="34" charset="-122"/>
                <a:cs typeface="Courier New" pitchFamily="34" charset="-120"/>
              </a:rPr>
              <a:t>--featured</a:t>
            </a:r>
            <a:r>
              <a:rPr lang="en-US" dirty="0">
                <a:solidFill>
                  <a:srgbClr val="D8D8D8"/>
                </a:solidFill>
                <a:latin typeface="Courier New" pitchFamily="34" charset="0"/>
                <a:ea typeface="Courier New" pitchFamily="34" charset="-122"/>
                <a:cs typeface="Courier New" pitchFamily="34" charset="-120"/>
              </a:rPr>
              <a:t> {</a:t>
            </a: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  border-color</a:t>
            </a:r>
            <a:r>
              <a:rPr lang="en-US" dirty="0">
                <a:solidFill>
                  <a:srgbClr val="D8D8D8"/>
                </a:solidFill>
                <a:latin typeface="Courier New" pitchFamily="34" charset="0"/>
                <a:ea typeface="Courier New" pitchFamily="34" charset="-122"/>
                <a:cs typeface="Courier New" pitchFamily="34" charset="-120"/>
              </a:rPr>
              <a:t>: </a:t>
            </a:r>
            <a:r>
              <a:rPr lang="en-US" dirty="0">
                <a:solidFill>
                  <a:srgbClr val="F1CF25"/>
                </a:solidFill>
                <a:latin typeface="Courier New" pitchFamily="34" charset="0"/>
                <a:ea typeface="Courier New" pitchFamily="34" charset="-122"/>
                <a:cs typeface="Courier New" pitchFamily="34" charset="-120"/>
              </a:rPr>
              <a:t>#75dfbc;</a:t>
            </a:r>
            <a:endParaRPr lang="en-US" dirty="0"/>
          </a:p>
          <a:p>
            <a:pPr marL="0" indent="0" algn="l">
              <a:lnSpc>
                <a:spcPct val="115000"/>
              </a:lnSpc>
              <a:buNone/>
            </a:pPr>
            <a:r>
              <a:rPr lang="en-US" dirty="0">
                <a:solidFill>
                  <a:srgbClr val="D8D8D8"/>
                </a:solidFill>
                <a:latin typeface="Courier New" pitchFamily="34" charset="0"/>
                <a:ea typeface="Courier New" pitchFamily="34" charset="-122"/>
                <a:cs typeface="Courier New" pitchFamily="34" charset="-120"/>
              </a:rPr>
              <a:t>}</a:t>
            </a:r>
            <a:endParaRPr lang="en-US" dirty="0"/>
          </a:p>
          <a:p>
            <a:pPr marL="0" indent="0" algn="l">
              <a:lnSpc>
                <a:spcPct val="115000"/>
              </a:lnSpc>
              <a:buNone/>
            </a:pP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.card</a:t>
            </a:r>
            <a:r>
              <a:rPr lang="en-US" dirty="0">
                <a:solidFill>
                  <a:srgbClr val="F1CF25"/>
                </a:solidFill>
                <a:latin typeface="Courier New" pitchFamily="34" charset="0"/>
                <a:ea typeface="Courier New" pitchFamily="34" charset="-122"/>
                <a:cs typeface="Courier New" pitchFamily="34" charset="-120"/>
              </a:rPr>
              <a:t>__cta</a:t>
            </a:r>
            <a:r>
              <a:rPr lang="en-US" dirty="0">
                <a:solidFill>
                  <a:srgbClr val="D8D8D8"/>
                </a:solidFill>
                <a:latin typeface="Courier New" pitchFamily="34" charset="0"/>
                <a:ea typeface="Courier New" pitchFamily="34" charset="-122"/>
                <a:cs typeface="Courier New" pitchFamily="34" charset="-120"/>
              </a:rPr>
              <a:t> { … }</a:t>
            </a: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.card</a:t>
            </a:r>
            <a:r>
              <a:rPr lang="en-US" dirty="0">
                <a:solidFill>
                  <a:srgbClr val="F1CF25"/>
                </a:solidFill>
                <a:latin typeface="Courier New" pitchFamily="34" charset="0"/>
                <a:ea typeface="Courier New" pitchFamily="34" charset="-122"/>
                <a:cs typeface="Courier New" pitchFamily="34" charset="-120"/>
              </a:rPr>
              <a:t>__badge</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
        <p:nvSpPr>
          <p:cNvPr id="17" name="Text 1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8" name="Text 1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8 / 29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#2</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The cascade</a:t>
            </a:r>
            <a:endParaRPr lang="en-US" sz="3400" dirty="0"/>
          </a:p>
        </p:txBody>
      </p:sp>
      <p:sp>
        <p:nvSpPr>
          <p:cNvPr id="4" name="Text 2"/>
          <p:cNvSpPr/>
          <p:nvPr/>
        </p:nvSpPr>
        <p:spPr>
          <a:xfrm>
            <a:off x="594360" y="1783080"/>
            <a:ext cx="11002975" cy="548640"/>
          </a:xfrm>
          <a:prstGeom prst="rect">
            <a:avLst/>
          </a:prstGeom>
          <a:noFill/>
          <a:ln/>
        </p:spPr>
        <p:txBody>
          <a:bodyPr wrap="square" lIns="0" tIns="0" rIns="0" bIns="0" rtlCol="0" anchor="ctr"/>
          <a:lstStyle/>
          <a:p>
            <a:pPr marL="0" indent="0" algn="l">
              <a:buNone/>
            </a:pPr>
            <a:r>
              <a:rPr lang="en-US" sz="2200" b="1" dirty="0">
                <a:solidFill>
                  <a:srgbClr val="FFFFFF"/>
                </a:solidFill>
                <a:latin typeface="Arial" pitchFamily="34" charset="0"/>
                <a:ea typeface="Arial" pitchFamily="34" charset="-122"/>
                <a:cs typeface="Arial" pitchFamily="34" charset="-120"/>
              </a:rPr>
              <a:t>The </a:t>
            </a:r>
            <a:r>
              <a:rPr lang="en-US" sz="2200" b="1" dirty="0">
                <a:solidFill>
                  <a:srgbClr val="FF6A4C"/>
                </a:solidFill>
                <a:latin typeface="Arial" pitchFamily="34" charset="0"/>
                <a:ea typeface="Arial" pitchFamily="34" charset="-122"/>
                <a:cs typeface="Arial" pitchFamily="34" charset="-120"/>
              </a:rPr>
              <a:t>C</a:t>
            </a:r>
            <a:r>
              <a:rPr lang="en-US" sz="2200" b="1" dirty="0">
                <a:solidFill>
                  <a:srgbClr val="FFFFFF"/>
                </a:solidFill>
                <a:latin typeface="Arial" pitchFamily="34" charset="0"/>
                <a:ea typeface="Arial" pitchFamily="34" charset="-122"/>
                <a:cs typeface="Arial" pitchFamily="34" charset="-120"/>
              </a:rPr>
              <a:t> in CSS is global and order-dependent.</a:t>
            </a:r>
            <a:endParaRPr lang="en-US" sz="2200" dirty="0"/>
          </a:p>
        </p:txBody>
      </p:sp>
      <p:sp>
        <p:nvSpPr>
          <p:cNvPr id="5" name="Shape 3"/>
          <p:cNvSpPr/>
          <p:nvPr/>
        </p:nvSpPr>
        <p:spPr>
          <a:xfrm>
            <a:off x="594360" y="2867714"/>
            <a:ext cx="3200400" cy="1554480"/>
          </a:xfrm>
          <a:prstGeom prst="roundRect">
            <a:avLst>
              <a:gd name="adj" fmla="val 7059"/>
            </a:avLst>
          </a:prstGeom>
          <a:solidFill>
            <a:srgbClr val="2C2B2B"/>
          </a:solidFill>
          <a:ln w="12700">
            <a:solidFill>
              <a:srgbClr val="75DFBC"/>
            </a:solidFill>
            <a:prstDash val="solid"/>
          </a:ln>
        </p:spPr>
        <p:txBody>
          <a:bodyPr/>
          <a:lstStyle/>
          <a:p>
            <a:endParaRPr lang="en-US" sz="2800"/>
          </a:p>
        </p:txBody>
      </p:sp>
      <p:sp>
        <p:nvSpPr>
          <p:cNvPr id="6" name="Text 4"/>
          <p:cNvSpPr/>
          <p:nvPr/>
        </p:nvSpPr>
        <p:spPr>
          <a:xfrm>
            <a:off x="822960" y="3050594"/>
            <a:ext cx="274320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reset.css</a:t>
            </a:r>
            <a:endParaRPr lang="en-US" dirty="0"/>
          </a:p>
        </p:txBody>
      </p:sp>
      <p:sp>
        <p:nvSpPr>
          <p:cNvPr id="7" name="Text 5"/>
          <p:cNvSpPr/>
          <p:nvPr/>
        </p:nvSpPr>
        <p:spPr>
          <a:xfrm>
            <a:off x="8229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 { margin: 0 }</a:t>
            </a:r>
            <a:endParaRPr lang="en-US" dirty="0"/>
          </a:p>
        </p:txBody>
      </p:sp>
      <p:sp>
        <p:nvSpPr>
          <p:cNvPr id="8" name="Text 6"/>
          <p:cNvSpPr/>
          <p:nvPr/>
        </p:nvSpPr>
        <p:spPr>
          <a:xfrm>
            <a:off x="38130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9" name="Shape 7"/>
          <p:cNvSpPr/>
          <p:nvPr/>
        </p:nvSpPr>
        <p:spPr>
          <a:xfrm>
            <a:off x="4251960" y="2867714"/>
            <a:ext cx="3200400" cy="1554480"/>
          </a:xfrm>
          <a:prstGeom prst="roundRect">
            <a:avLst>
              <a:gd name="adj" fmla="val 7059"/>
            </a:avLst>
          </a:prstGeom>
          <a:solidFill>
            <a:srgbClr val="2C2B2B"/>
          </a:solidFill>
          <a:ln w="12700">
            <a:solidFill>
              <a:srgbClr val="F1CF25"/>
            </a:solidFill>
            <a:prstDash val="solid"/>
          </a:ln>
        </p:spPr>
        <p:txBody>
          <a:bodyPr/>
          <a:lstStyle/>
          <a:p>
            <a:endParaRPr lang="en-US" sz="2800"/>
          </a:p>
        </p:txBody>
      </p:sp>
      <p:sp>
        <p:nvSpPr>
          <p:cNvPr id="10" name="Text 8"/>
          <p:cNvSpPr/>
          <p:nvPr/>
        </p:nvSpPr>
        <p:spPr>
          <a:xfrm>
            <a:off x="4480560" y="3050594"/>
            <a:ext cx="274320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buttons.css</a:t>
            </a:r>
            <a:endParaRPr lang="en-US" dirty="0"/>
          </a:p>
        </p:txBody>
      </p:sp>
      <p:sp>
        <p:nvSpPr>
          <p:cNvPr id="11" name="Text 9"/>
          <p:cNvSpPr/>
          <p:nvPr/>
        </p:nvSpPr>
        <p:spPr>
          <a:xfrm>
            <a:off x="44805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button { padding: 8px }</a:t>
            </a:r>
            <a:endParaRPr lang="en-US" dirty="0"/>
          </a:p>
        </p:txBody>
      </p:sp>
      <p:sp>
        <p:nvSpPr>
          <p:cNvPr id="12" name="Text 10"/>
          <p:cNvSpPr/>
          <p:nvPr/>
        </p:nvSpPr>
        <p:spPr>
          <a:xfrm>
            <a:off x="74706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13" name="Shape 11"/>
          <p:cNvSpPr/>
          <p:nvPr/>
        </p:nvSpPr>
        <p:spPr>
          <a:xfrm>
            <a:off x="7909560" y="2867714"/>
            <a:ext cx="3200400" cy="1554480"/>
          </a:xfrm>
          <a:prstGeom prst="roundRect">
            <a:avLst>
              <a:gd name="adj" fmla="val 7059"/>
            </a:avLst>
          </a:prstGeom>
          <a:solidFill>
            <a:srgbClr val="2C2B2B"/>
          </a:solidFill>
          <a:ln w="12700">
            <a:solidFill>
              <a:srgbClr val="FF6A4C"/>
            </a:solidFill>
            <a:prstDash val="solid"/>
          </a:ln>
        </p:spPr>
        <p:txBody>
          <a:bodyPr/>
          <a:lstStyle/>
          <a:p>
            <a:endParaRPr lang="en-US" sz="2800"/>
          </a:p>
        </p:txBody>
      </p:sp>
      <p:sp>
        <p:nvSpPr>
          <p:cNvPr id="14" name="Text 12"/>
          <p:cNvSpPr/>
          <p:nvPr/>
        </p:nvSpPr>
        <p:spPr>
          <a:xfrm>
            <a:off x="8138160" y="3050594"/>
            <a:ext cx="274320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card.css</a:t>
            </a:r>
            <a:endParaRPr lang="en-US" dirty="0"/>
          </a:p>
        </p:txBody>
      </p:sp>
      <p:sp>
        <p:nvSpPr>
          <p:cNvPr id="15" name="Text 13"/>
          <p:cNvSpPr/>
          <p:nvPr/>
        </p:nvSpPr>
        <p:spPr>
          <a:xfrm>
            <a:off x="81381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…relies on both 👆</a:t>
            </a:r>
            <a:endParaRPr lang="en-US" dirty="0"/>
          </a:p>
        </p:txBody>
      </p:sp>
      <p:sp>
        <p:nvSpPr>
          <p:cNvPr id="16" name="Text 14"/>
          <p:cNvSpPr/>
          <p:nvPr/>
        </p:nvSpPr>
        <p:spPr>
          <a:xfrm>
            <a:off x="594512" y="5047488"/>
            <a:ext cx="11002975" cy="731520"/>
          </a:xfrm>
          <a:prstGeom prst="rect">
            <a:avLst/>
          </a:prstGeom>
          <a:noFill/>
          <a:ln/>
        </p:spPr>
        <p:txBody>
          <a:bodyPr wrap="square" lIns="0" tIns="0" rIns="0" bIns="0" rtlCol="0" anchor="ctr"/>
          <a:lstStyle/>
          <a:p>
            <a:pPr marL="0" indent="0" algn="l">
              <a:lnSpc>
                <a:spcPct val="105000"/>
              </a:lnSpc>
              <a:buNone/>
            </a:pPr>
            <a:r>
              <a:rPr lang="en-US" sz="1700" dirty="0">
                <a:solidFill>
                  <a:srgbClr val="A6A6A6"/>
                </a:solidFill>
                <a:latin typeface="Arial" pitchFamily="34" charset="0"/>
                <a:ea typeface="Arial" pitchFamily="34" charset="-122"/>
                <a:cs typeface="Arial" pitchFamily="34" charset="-120"/>
              </a:rPr>
              <a:t>Edit one rule here → break a component three files away. Non-local effects are the worst case for a bounded context window.</a:t>
            </a:r>
            <a:endParaRPr lang="en-US" sz="1700" dirty="0"/>
          </a:p>
        </p:txBody>
      </p:sp>
      <p:sp>
        <p:nvSpPr>
          <p:cNvPr id="17" name="Text 1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8" name="Text 1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9 / 29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#3</a:t>
            </a:r>
            <a:endParaRPr lang="en-US" sz="1200" dirty="0"/>
          </a:p>
        </p:txBody>
      </p:sp>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Separation of concerns</a:t>
            </a:r>
            <a:endParaRPr lang="en-US" sz="3000" dirty="0"/>
          </a:p>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became separation of context</a:t>
            </a:r>
            <a:endParaRPr lang="en-US" sz="3000" dirty="0"/>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
        <p:nvSpPr>
          <p:cNvPr id="11" name="Text 9"/>
          <p:cNvSpPr/>
          <p:nvPr/>
        </p:nvSpPr>
        <p:spPr>
          <a:xfrm>
            <a:off x="594360" y="5532120"/>
            <a:ext cx="11002975" cy="731520"/>
          </a:xfrm>
          <a:prstGeom prst="rect">
            <a:avLst/>
          </a:prstGeom>
          <a:noFill/>
          <a:ln/>
        </p:spPr>
        <p:txBody>
          <a:bodyPr wrap="square" lIns="0" tIns="0" rIns="0" bIns="0" rtlCol="0" anchor="ctr"/>
          <a:lstStyle/>
          <a:p>
            <a:pPr marL="0" indent="0" algn="l">
              <a:lnSpc>
                <a:spcPct val="105000"/>
              </a:lnSpc>
              <a:buNone/>
            </a:pPr>
            <a:r>
              <a:rPr lang="en-US" sz="2000" dirty="0">
                <a:solidFill>
                  <a:srgbClr val="A6A6A6"/>
                </a:solidFill>
                <a:latin typeface="Arial" pitchFamily="34" charset="0"/>
                <a:ea typeface="Arial" pitchFamily="34" charset="-122"/>
                <a:cs typeface="Arial" pitchFamily="34" charset="-120"/>
              </a:rPr>
              <a:t>Two files, joined only by a magic string. To understand the component, you must hold both in your head, and so must the model.</a:t>
            </a:r>
            <a:endParaRPr lang="en-US" sz="20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10 / 29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THE FIX</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Tailwind = co-location</a:t>
            </a:r>
            <a:endParaRPr lang="en-US" sz="3400" dirty="0"/>
          </a:p>
        </p:txBody>
      </p:sp>
      <p:sp>
        <p:nvSpPr>
          <p:cNvPr id="4" name="Text 2"/>
          <p:cNvSpPr/>
          <p:nvPr/>
        </p:nvSpPr>
        <p:spPr>
          <a:xfrm>
            <a:off x="594360" y="1783080"/>
            <a:ext cx="11002975" cy="457200"/>
          </a:xfrm>
          <a:prstGeom prst="rect">
            <a:avLst/>
          </a:prstGeom>
          <a:noFill/>
          <a:ln/>
        </p:spPr>
        <p:txBody>
          <a:bodyPr wrap="square" lIns="0" tIns="0" rIns="0" bIns="0" rtlCol="0" anchor="ctr"/>
          <a:lstStyle/>
          <a:p>
            <a:pPr marL="0" indent="0" algn="l">
              <a:buNone/>
            </a:pPr>
            <a:r>
              <a:rPr lang="en-US" sz="2000" dirty="0">
                <a:solidFill>
                  <a:srgbClr val="A6A6A6"/>
                </a:solidFill>
                <a:latin typeface="Arial" pitchFamily="34" charset="0"/>
                <a:ea typeface="Arial" pitchFamily="34" charset="-122"/>
                <a:cs typeface="Arial" pitchFamily="34" charset="-120"/>
              </a:rPr>
              <a:t>Everything about the component, in one place.</a:t>
            </a:r>
            <a:endParaRPr lang="en-US" sz="2000" dirty="0"/>
          </a:p>
        </p:txBody>
      </p:sp>
      <p:sp>
        <p:nvSpPr>
          <p:cNvPr id="5" name="Shape 3"/>
          <p:cNvSpPr/>
          <p:nvPr/>
        </p:nvSpPr>
        <p:spPr>
          <a:xfrm>
            <a:off x="594360" y="2468880"/>
            <a:ext cx="11002975" cy="3307210"/>
          </a:xfrm>
          <a:prstGeom prst="roundRect">
            <a:avLst>
              <a:gd name="adj" fmla="val 2759"/>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816" y="2651760"/>
            <a:ext cx="100584" cy="100584"/>
          </a:xfrm>
          <a:prstGeom prst="ellipse">
            <a:avLst/>
          </a:prstGeom>
          <a:solidFill>
            <a:srgbClr val="FF6A4C"/>
          </a:solidFill>
          <a:ln/>
        </p:spPr>
        <p:txBody>
          <a:bodyPr/>
          <a:lstStyle/>
          <a:p>
            <a:endParaRPr lang="en-US"/>
          </a:p>
        </p:txBody>
      </p:sp>
      <p:sp>
        <p:nvSpPr>
          <p:cNvPr id="7" name="Shape 5"/>
          <p:cNvSpPr/>
          <p:nvPr/>
        </p:nvSpPr>
        <p:spPr>
          <a:xfrm>
            <a:off x="1014984" y="2651760"/>
            <a:ext cx="100584" cy="100584"/>
          </a:xfrm>
          <a:prstGeom prst="ellipse">
            <a:avLst/>
          </a:prstGeom>
          <a:solidFill>
            <a:srgbClr val="F1CF25"/>
          </a:solidFill>
          <a:ln/>
        </p:spPr>
        <p:txBody>
          <a:bodyPr/>
          <a:lstStyle/>
          <a:p>
            <a:endParaRPr lang="en-US"/>
          </a:p>
        </p:txBody>
      </p:sp>
      <p:sp>
        <p:nvSpPr>
          <p:cNvPr id="8" name="Shape 6"/>
          <p:cNvSpPr/>
          <p:nvPr/>
        </p:nvSpPr>
        <p:spPr>
          <a:xfrm>
            <a:off x="1216152" y="2651760"/>
            <a:ext cx="100584" cy="100584"/>
          </a:xfrm>
          <a:prstGeom prst="ellipse">
            <a:avLst/>
          </a:prstGeom>
          <a:solidFill>
            <a:srgbClr val="75DFBC"/>
          </a:solidFill>
          <a:ln/>
        </p:spPr>
        <p:txBody>
          <a:bodyPr/>
          <a:lstStyle/>
          <a:p>
            <a:endParaRPr lang="en-US"/>
          </a:p>
        </p:txBody>
      </p:sp>
      <p:sp>
        <p:nvSpPr>
          <p:cNvPr id="9" name="Text 7"/>
          <p:cNvSpPr/>
          <p:nvPr/>
        </p:nvSpPr>
        <p:spPr>
          <a:xfrm>
            <a:off x="1508760" y="254203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PricingCard.tsx (the whole component)</a:t>
            </a:r>
            <a:endParaRPr lang="en-US" sz="1600" dirty="0"/>
          </a:p>
        </p:txBody>
      </p:sp>
      <p:sp>
        <p:nvSpPr>
          <p:cNvPr id="10" name="Text 8"/>
          <p:cNvSpPr/>
          <p:nvPr/>
        </p:nvSpPr>
        <p:spPr>
          <a:xfrm>
            <a:off x="886968" y="3017519"/>
            <a:ext cx="10417759" cy="2605067"/>
          </a:xfrm>
          <a:prstGeom prst="rect">
            <a:avLst/>
          </a:prstGeom>
          <a:noFill/>
          <a:ln/>
        </p:spPr>
        <p:txBody>
          <a:bodyPr wrap="square" lIns="0" tIns="0" rIns="0" bIns="0" rtlCol="0" anchor="t"/>
          <a:lstStyle/>
          <a:p>
            <a:pPr marL="0" indent="0" algn="l">
              <a:lnSpc>
                <a:spcPct val="115000"/>
              </a:lnSpc>
              <a:buNone/>
            </a:pPr>
            <a:r>
              <a:rPr lang="en-US" dirty="0">
                <a:solidFill>
                  <a:srgbClr val="6E6E6E"/>
                </a:solidFill>
                <a:latin typeface="Courier New" pitchFamily="34" charset="0"/>
                <a:ea typeface="Courier New" pitchFamily="34" charset="-122"/>
                <a:cs typeface="Courier New" pitchFamily="34" charset="-120"/>
              </a:rPr>
              <a:t>// no CSS file. no class names. no cascade.</a:t>
            </a:r>
            <a:endParaRPr lang="en-US" dirty="0"/>
          </a:p>
          <a:p>
            <a:pPr marL="0" indent="0" algn="l">
              <a:lnSpc>
                <a:spcPct val="115000"/>
              </a:lnSpc>
              <a:buNone/>
            </a:pP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&lt;button</a:t>
            </a:r>
            <a:r>
              <a:rPr lang="en-US" dirty="0">
                <a:solidFill>
                  <a:srgbClr val="D8D8D8"/>
                </a:solidFill>
                <a:latin typeface="Courier New" pitchFamily="34" charset="0"/>
                <a:ea typeface="Courier New" pitchFamily="34" charset="-122"/>
                <a:cs typeface="Courier New" pitchFamily="34" charset="-120"/>
              </a:rPr>
              <a:t> className=</a:t>
            </a:r>
            <a:r>
              <a:rPr lang="en-US" dirty="0">
                <a:solidFill>
                  <a:srgbClr val="75DFBC"/>
                </a:solidFill>
                <a:latin typeface="Courier New" pitchFamily="34" charset="0"/>
                <a:ea typeface="Courier New" pitchFamily="34" charset="-122"/>
                <a:cs typeface="Courier New" pitchFamily="34" charset="-120"/>
              </a:rPr>
              <a:t>{cn(</a:t>
            </a:r>
            <a:endParaRPr lang="en-US" dirty="0"/>
          </a:p>
          <a:p>
            <a:pPr marL="0" indent="0" algn="l">
              <a:lnSpc>
                <a:spcPct val="115000"/>
              </a:lnSpc>
              <a:buNone/>
            </a:pPr>
            <a:r>
              <a:rPr lang="en-US" dirty="0">
                <a:solidFill>
                  <a:srgbClr val="F1CF25"/>
                </a:solidFill>
                <a:latin typeface="Courier New" pitchFamily="34" charset="0"/>
                <a:ea typeface="Courier New" pitchFamily="34" charset="-122"/>
                <a:cs typeface="Courier New" pitchFamily="34" charset="-120"/>
              </a:rPr>
              <a:t>  "rounded-lg px-4 py-3 font-bold"</a:t>
            </a:r>
            <a:r>
              <a:rPr lang="en-US" dirty="0">
                <a:solidFill>
                  <a:srgbClr val="D8D8D8"/>
                </a:solidFill>
                <a:latin typeface="Courier New" pitchFamily="34" charset="0"/>
                <a:ea typeface="Courier New" pitchFamily="34" charset="-122"/>
                <a:cs typeface="Courier New" pitchFamily="34" charset="-120"/>
              </a:rPr>
              <a:t>,</a:t>
            </a: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  featured</a:t>
            </a:r>
            <a:r>
              <a:rPr lang="en-US" dirty="0">
                <a:solidFill>
                  <a:srgbClr val="D8D8D8"/>
                </a:solidFill>
                <a:latin typeface="Courier New" pitchFamily="34" charset="0"/>
                <a:ea typeface="Courier New" pitchFamily="34" charset="-122"/>
                <a:cs typeface="Courier New" pitchFamily="34" charset="-120"/>
              </a:rPr>
              <a:t> &amp;&amp; </a:t>
            </a:r>
            <a:r>
              <a:rPr lang="en-US" dirty="0">
                <a:solidFill>
                  <a:srgbClr val="F1CF25"/>
                </a:solidFill>
                <a:latin typeface="Courier New" pitchFamily="34" charset="0"/>
                <a:ea typeface="Courier New" pitchFamily="34" charset="-122"/>
                <a:cs typeface="Courier New" pitchFamily="34" charset="-120"/>
              </a:rPr>
              <a:t>"bg-mint text-ink hover:bg-mint/80"</a:t>
            </a: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)}&gt;</a:t>
            </a:r>
            <a:endParaRPr lang="en-US" dirty="0"/>
          </a:p>
          <a:p>
            <a:pPr marL="0" indent="0" algn="l">
              <a:lnSpc>
                <a:spcPct val="115000"/>
              </a:lnSpc>
              <a:buNone/>
            </a:pPr>
            <a:r>
              <a:rPr lang="en-US" dirty="0">
                <a:solidFill>
                  <a:srgbClr val="D8D8D8"/>
                </a:solidFill>
                <a:latin typeface="Courier New" pitchFamily="34" charset="0"/>
                <a:ea typeface="Courier New" pitchFamily="34" charset="-122"/>
                <a:cs typeface="Courier New" pitchFamily="34" charset="-120"/>
              </a:rPr>
              <a:t>  Choose plan</a:t>
            </a: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&lt;/button&gt;</a:t>
            </a:r>
            <a:endParaRPr lang="en-US" dirty="0"/>
          </a:p>
        </p:txBody>
      </p:sp>
      <p:sp>
        <p:nvSpPr>
          <p:cNvPr id="11" name="Text 9"/>
          <p:cNvSpPr/>
          <p:nvPr/>
        </p:nvSpPr>
        <p:spPr>
          <a:xfrm>
            <a:off x="594359" y="5776090"/>
            <a:ext cx="11002975" cy="640080"/>
          </a:xfrm>
          <a:prstGeom prst="rect">
            <a:avLst/>
          </a:prstGeom>
          <a:noFill/>
          <a:ln/>
        </p:spPr>
        <p:txBody>
          <a:bodyPr wrap="square" lIns="0" tIns="0" rIns="0" bIns="0" rtlCol="0" anchor="ctr"/>
          <a:lstStyle/>
          <a:p>
            <a:pPr marL="0" indent="0" algn="l">
              <a:lnSpc>
                <a:spcPct val="105000"/>
              </a:lnSpc>
              <a:buNone/>
            </a:pPr>
            <a:r>
              <a:rPr lang="en-US" i="1" dirty="0">
                <a:solidFill>
                  <a:srgbClr val="75DFBC"/>
                </a:solidFill>
                <a:latin typeface="Arial" pitchFamily="34" charset="0"/>
                <a:ea typeface="Arial" pitchFamily="34" charset="-122"/>
                <a:cs typeface="Arial" pitchFamily="34" charset="-120"/>
              </a:rPr>
              <a:t>Markup and style live in one place. An LLM sees the entire spec in one span of tokens.</a:t>
            </a:r>
            <a:endParaRPr lang="en-US"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11 / 29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1: same card, two ways</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an LLM: “build a pricing card with a featured tier”</a:t>
            </a:r>
            <a:endParaRPr lang="en-US" sz="1800" dirty="0"/>
          </a:p>
        </p:txBody>
      </p:sp>
      <p:sp>
        <p:nvSpPr>
          <p:cNvPr id="7" name="Shape 5"/>
          <p:cNvSpPr/>
          <p:nvPr/>
        </p:nvSpPr>
        <p:spPr>
          <a:xfrm>
            <a:off x="594360" y="4032504"/>
            <a:ext cx="118872" cy="118872"/>
          </a:xfrm>
          <a:prstGeom prst="rect">
            <a:avLst/>
          </a:prstGeom>
          <a:solidFill>
            <a:srgbClr val="FF6A4C"/>
          </a:solidFill>
          <a:ln/>
        </p:spPr>
        <p:txBody>
          <a:bodyPr/>
          <a:lstStyle/>
          <a:p>
            <a:endParaRPr lang="en-US"/>
          </a:p>
        </p:txBody>
      </p:sp>
      <p:sp>
        <p:nvSpPr>
          <p:cNvPr id="8" name="Text 6"/>
          <p:cNvSpPr/>
          <p:nvPr/>
        </p:nvSpPr>
        <p:spPr>
          <a:xfrm>
            <a:off x="886968" y="3950208"/>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Semantic version: 2 files, invented names, ad-hoc spacing</a:t>
            </a:r>
            <a:endParaRPr lang="en-US" sz="1800" dirty="0"/>
          </a:p>
        </p:txBody>
      </p:sp>
      <p:sp>
        <p:nvSpPr>
          <p:cNvPr id="9" name="Shape 7"/>
          <p:cNvSpPr/>
          <p:nvPr/>
        </p:nvSpPr>
        <p:spPr>
          <a:xfrm>
            <a:off x="594360" y="4873752"/>
            <a:ext cx="118872" cy="118872"/>
          </a:xfrm>
          <a:prstGeom prst="rect">
            <a:avLst/>
          </a:prstGeom>
          <a:solidFill>
            <a:srgbClr val="75DFBC"/>
          </a:solidFill>
          <a:ln/>
        </p:spPr>
        <p:txBody>
          <a:bodyPr/>
          <a:lstStyle/>
          <a:p>
            <a:endParaRPr lang="en-US"/>
          </a:p>
        </p:txBody>
      </p:sp>
      <p:sp>
        <p:nvSpPr>
          <p:cNvPr id="10" name="Text 8"/>
          <p:cNvSpPr/>
          <p:nvPr/>
        </p:nvSpPr>
        <p:spPr>
          <a:xfrm>
            <a:off x="886968" y="4791456"/>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Tailwind version: 1 file, renders right the first time</a:t>
            </a:r>
            <a:endParaRPr lang="en-US" sz="1800" dirty="0"/>
          </a:p>
        </p:txBody>
      </p:sp>
      <p:sp>
        <p:nvSpPr>
          <p:cNvPr id="11" name="Text 9"/>
          <p:cNvSpPr/>
          <p:nvPr/>
        </p:nvSpPr>
        <p:spPr>
          <a:xfrm>
            <a:off x="594359" y="5824728"/>
            <a:ext cx="11002975" cy="457200"/>
          </a:xfrm>
          <a:prstGeom prst="rect">
            <a:avLst/>
          </a:prstGeom>
          <a:noFill/>
          <a:ln/>
        </p:spPr>
        <p:txBody>
          <a:bodyPr wrap="square" lIns="0" tIns="0" rIns="0" bIns="0" rtlCol="0" anchor="ctr"/>
          <a:lstStyle/>
          <a:p>
            <a:pPr marL="0" indent="0" algn="l">
              <a:buNone/>
            </a:pPr>
            <a:r>
              <a:rPr lang="en-US" sz="1600" dirty="0">
                <a:solidFill>
                  <a:srgbClr val="A6A6A6"/>
                </a:solidFill>
                <a:latin typeface="Courier New" pitchFamily="34" charset="0"/>
                <a:ea typeface="Courier New" pitchFamily="34" charset="-122"/>
                <a:cs typeface="Courier New" pitchFamily="34" charset="-120"/>
              </a:rPr>
              <a:t>→ npm run dev   ·   watch: does it render correctly first try? Is the spacing consistent?</a:t>
            </a:r>
            <a:endParaRPr lang="en-US" sz="16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12 / 29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Co-location = context locality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LLMs have a bounded context and no project memory</a:t>
            </a:r>
            <a:endParaRPr lang="en-US" dirty="0"/>
          </a:p>
        </p:txBody>
      </p:sp>
      <p:sp>
        <p:nvSpPr>
          <p:cNvPr id="8" name="Shape 6"/>
          <p:cNvSpPr/>
          <p:nvPr/>
        </p:nvSpPr>
        <p:spPr>
          <a:xfrm>
            <a:off x="594360" y="3831336"/>
            <a:ext cx="118872" cy="118872"/>
          </a:xfrm>
          <a:prstGeom prst="rect">
            <a:avLst/>
          </a:prstGeom>
          <a:solidFill>
            <a:srgbClr val="75DFBC"/>
          </a:solidFill>
          <a:ln/>
        </p:spPr>
        <p:txBody>
          <a:bodyPr/>
          <a:lstStyle/>
          <a:p>
            <a:endParaRPr lang="en-US" sz="2000"/>
          </a:p>
        </p:txBody>
      </p:sp>
      <p:sp>
        <p:nvSpPr>
          <p:cNvPr id="9" name="Text 7"/>
          <p:cNvSpPr/>
          <p:nvPr/>
        </p:nvSpPr>
        <p:spPr>
          <a:xfrm>
            <a:off x="886968" y="374904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Co-located styling = the whole spec in one token span</a:t>
            </a:r>
            <a:endParaRPr lang="en-US" dirty="0"/>
          </a:p>
        </p:txBody>
      </p:sp>
      <p:sp>
        <p:nvSpPr>
          <p:cNvPr id="10" name="Shape 8"/>
          <p:cNvSpPr/>
          <p:nvPr/>
        </p:nvSpPr>
        <p:spPr>
          <a:xfrm>
            <a:off x="594360" y="4701962"/>
            <a:ext cx="118872" cy="118872"/>
          </a:xfrm>
          <a:prstGeom prst="rect">
            <a:avLst/>
          </a:prstGeom>
          <a:solidFill>
            <a:srgbClr val="75DFBC"/>
          </a:solidFill>
          <a:ln/>
        </p:spPr>
        <p:txBody>
          <a:bodyPr/>
          <a:lstStyle/>
          <a:p>
            <a:endParaRPr lang="en-US" sz="2000"/>
          </a:p>
        </p:txBody>
      </p:sp>
      <p:sp>
        <p:nvSpPr>
          <p:cNvPr id="11" name="Text 9"/>
          <p:cNvSpPr/>
          <p:nvPr/>
        </p:nvSpPr>
        <p:spPr>
          <a:xfrm>
            <a:off x="886968" y="4619666"/>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Semantic CSS = a second file it may never have read</a:t>
            </a:r>
            <a:endParaRPr lang="en-US" dirty="0"/>
          </a:p>
        </p:txBody>
      </p:sp>
      <p:sp>
        <p:nvSpPr>
          <p:cNvPr id="12" name="Shape 10"/>
          <p:cNvSpPr/>
          <p:nvPr/>
        </p:nvSpPr>
        <p:spPr>
          <a:xfrm>
            <a:off x="6766559" y="2651759"/>
            <a:ext cx="5101185" cy="3535031"/>
          </a:xfrm>
          <a:prstGeom prst="roundRect">
            <a:avLst>
              <a:gd name="adj" fmla="val 2667"/>
            </a:avLst>
          </a:prstGeom>
          <a:solidFill>
            <a:srgbClr val="171717"/>
          </a:solidFill>
          <a:ln w="12700">
            <a:solidFill>
              <a:srgbClr val="3A3A3A"/>
            </a:solidFill>
            <a:prstDash val="solid"/>
          </a:ln>
        </p:spPr>
        <p:txBody>
          <a:bodyPr/>
          <a:lstStyle/>
          <a:p>
            <a:endParaRPr lang="en-US"/>
          </a:p>
        </p:txBody>
      </p:sp>
      <p:sp>
        <p:nvSpPr>
          <p:cNvPr id="13" name="Shape 11"/>
          <p:cNvSpPr/>
          <p:nvPr/>
        </p:nvSpPr>
        <p:spPr>
          <a:xfrm>
            <a:off x="6986016" y="2834640"/>
            <a:ext cx="100584" cy="100584"/>
          </a:xfrm>
          <a:prstGeom prst="ellipse">
            <a:avLst/>
          </a:prstGeom>
          <a:solidFill>
            <a:srgbClr val="FF6A4C"/>
          </a:solidFill>
          <a:ln/>
        </p:spPr>
        <p:txBody>
          <a:bodyPr/>
          <a:lstStyle/>
          <a:p>
            <a:endParaRPr lang="en-US"/>
          </a:p>
        </p:txBody>
      </p:sp>
      <p:sp>
        <p:nvSpPr>
          <p:cNvPr id="14" name="Shape 12"/>
          <p:cNvSpPr/>
          <p:nvPr/>
        </p:nvSpPr>
        <p:spPr>
          <a:xfrm>
            <a:off x="7187184" y="2834640"/>
            <a:ext cx="100584" cy="100584"/>
          </a:xfrm>
          <a:prstGeom prst="ellipse">
            <a:avLst/>
          </a:prstGeom>
          <a:solidFill>
            <a:srgbClr val="F1CF25"/>
          </a:solidFill>
          <a:ln/>
        </p:spPr>
        <p:txBody>
          <a:bodyPr/>
          <a:lstStyle/>
          <a:p>
            <a:endParaRPr lang="en-US"/>
          </a:p>
        </p:txBody>
      </p:sp>
      <p:sp>
        <p:nvSpPr>
          <p:cNvPr id="15" name="Shape 13"/>
          <p:cNvSpPr/>
          <p:nvPr/>
        </p:nvSpPr>
        <p:spPr>
          <a:xfrm>
            <a:off x="7388352" y="2834640"/>
            <a:ext cx="100584" cy="100584"/>
          </a:xfrm>
          <a:prstGeom prst="ellipse">
            <a:avLst/>
          </a:prstGeom>
          <a:solidFill>
            <a:srgbClr val="75DFBC"/>
          </a:solidFill>
          <a:ln/>
        </p:spPr>
        <p:txBody>
          <a:bodyPr/>
          <a:lstStyle/>
          <a:p>
            <a:endParaRPr lang="en-US"/>
          </a:p>
        </p:txBody>
      </p:sp>
      <p:sp>
        <p:nvSpPr>
          <p:cNvPr id="16" name="Text 14"/>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context window</a:t>
            </a:r>
            <a:endParaRPr lang="en-US" dirty="0"/>
          </a:p>
        </p:txBody>
      </p:sp>
      <p:sp>
        <p:nvSpPr>
          <p:cNvPr id="17" name="Text 15"/>
          <p:cNvSpPr/>
          <p:nvPr/>
        </p:nvSpPr>
        <p:spPr>
          <a:xfrm>
            <a:off x="7059167" y="3200399"/>
            <a:ext cx="4468109" cy="2645923"/>
          </a:xfrm>
          <a:prstGeom prst="rect">
            <a:avLst/>
          </a:prstGeom>
          <a:noFill/>
          <a:ln/>
        </p:spPr>
        <p:txBody>
          <a:bodyPr wrap="square" lIns="0" tIns="0" rIns="0" bIns="0" rtlCol="0" anchor="t"/>
          <a:lstStyle/>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the model needs BOTH of these,</a:t>
            </a:r>
            <a:endParaRPr lang="en-US" sz="1600" dirty="0"/>
          </a:p>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often from different files:</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&gt;</a:t>
            </a:r>
            <a:endParaRPr lang="en-US" sz="1600" dirty="0"/>
          </a:p>
          <a:p>
            <a:pPr marL="0" indent="0" algn="l">
              <a:lnSpc>
                <a:spcPct val="115000"/>
              </a:lnSpc>
              <a:buNone/>
            </a:pPr>
            <a:r>
              <a:rPr lang="en-US" sz="1600" dirty="0">
                <a:solidFill>
                  <a:srgbClr val="FF6A4C"/>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 { … 40 lines … }</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75DFBC"/>
                </a:solidFill>
                <a:latin typeface="Courier New" pitchFamily="34" charset="0"/>
                <a:ea typeface="Courier New" pitchFamily="34" charset="-122"/>
                <a:cs typeface="Courier New" pitchFamily="34" charset="-120"/>
              </a:rPr>
              <a:t>vs. Tailwind: it's all right here</a:t>
            </a: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"grid gap-6 p-8"</a:t>
            </a:r>
            <a:r>
              <a:rPr lang="en-US" sz="1600" dirty="0">
                <a:solidFill>
                  <a:srgbClr val="D8D8D8"/>
                </a:solidFill>
                <a:latin typeface="Courier New" pitchFamily="34" charset="0"/>
                <a:ea typeface="Courier New" pitchFamily="34" charset="-122"/>
                <a:cs typeface="Courier New" pitchFamily="34" charset="-120"/>
              </a:rPr>
              <a:t>&gt;</a:t>
            </a:r>
            <a:endParaRPr lang="en-US" sz="1600" dirty="0"/>
          </a:p>
        </p:txBody>
      </p:sp>
      <p:sp>
        <p:nvSpPr>
          <p:cNvPr id="18" name="Text 16"/>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9" name="Text 17"/>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13 / 29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Closed vocabulary = predictability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An LLM is a next-token predictor</a:t>
            </a:r>
            <a:endParaRPr lang="en-US" dirty="0"/>
          </a:p>
        </p:txBody>
      </p:sp>
      <p:sp>
        <p:nvSpPr>
          <p:cNvPr id="8" name="Shape 6"/>
          <p:cNvSpPr/>
          <p:nvPr/>
        </p:nvSpPr>
        <p:spPr>
          <a:xfrm>
            <a:off x="594360" y="3807017"/>
            <a:ext cx="118872" cy="118872"/>
          </a:xfrm>
          <a:prstGeom prst="rect">
            <a:avLst/>
          </a:prstGeom>
          <a:solidFill>
            <a:srgbClr val="75DFBC"/>
          </a:solidFill>
          <a:ln/>
        </p:spPr>
        <p:txBody>
          <a:bodyPr/>
          <a:lstStyle/>
          <a:p>
            <a:endParaRPr lang="en-US" sz="2000"/>
          </a:p>
        </p:txBody>
      </p:sp>
      <p:sp>
        <p:nvSpPr>
          <p:cNvPr id="9" name="Text 7"/>
          <p:cNvSpPr/>
          <p:nvPr/>
        </p:nvSpPr>
        <p:spPr>
          <a:xfrm>
            <a:off x="886968" y="372472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“flex items-center justify-between” = a fixed phrase</a:t>
            </a:r>
            <a:endParaRPr lang="en-US" dirty="0"/>
          </a:p>
        </p:txBody>
      </p:sp>
      <p:sp>
        <p:nvSpPr>
          <p:cNvPr id="10" name="Shape 8"/>
          <p:cNvSpPr/>
          <p:nvPr/>
        </p:nvSpPr>
        <p:spPr>
          <a:xfrm>
            <a:off x="594360" y="4608576"/>
            <a:ext cx="118872" cy="118872"/>
          </a:xfrm>
          <a:prstGeom prst="rect">
            <a:avLst/>
          </a:prstGeom>
          <a:solidFill>
            <a:srgbClr val="75DFBC"/>
          </a:solidFill>
          <a:ln/>
        </p:spPr>
        <p:txBody>
          <a:bodyPr/>
          <a:lstStyle/>
          <a:p>
            <a:endParaRPr lang="en-US" sz="2000"/>
          </a:p>
        </p:txBody>
      </p:sp>
      <p:sp>
        <p:nvSpPr>
          <p:cNvPr id="11" name="Text 9"/>
          <p:cNvSpPr/>
          <p:nvPr/>
        </p:nvSpPr>
        <p:spPr>
          <a:xfrm>
            <a:off x="886968" y="452628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seen millions of times → low perplexity, high accuracy</a:t>
            </a:r>
            <a:endParaRPr lang="en-US" dirty="0"/>
          </a:p>
        </p:txBody>
      </p:sp>
      <p:sp>
        <p:nvSpPr>
          <p:cNvPr id="12" name="Shape 10"/>
          <p:cNvSpPr/>
          <p:nvPr/>
        </p:nvSpPr>
        <p:spPr>
          <a:xfrm>
            <a:off x="594360" y="5410135"/>
            <a:ext cx="118872" cy="118872"/>
          </a:xfrm>
          <a:prstGeom prst="rect">
            <a:avLst/>
          </a:prstGeom>
          <a:solidFill>
            <a:srgbClr val="FF6A4C"/>
          </a:solidFill>
          <a:ln/>
        </p:spPr>
        <p:txBody>
          <a:bodyPr/>
          <a:lstStyle/>
          <a:p>
            <a:endParaRPr lang="en-US" sz="2000"/>
          </a:p>
        </p:txBody>
      </p:sp>
      <p:sp>
        <p:nvSpPr>
          <p:cNvPr id="13" name="Text 11"/>
          <p:cNvSpPr/>
          <p:nvPr/>
        </p:nvSpPr>
        <p:spPr>
          <a:xfrm>
            <a:off x="886968" y="5327839"/>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Arbitrary CSS = infinite names, orders, units → drift</a:t>
            </a:r>
            <a:endParaRPr lang="en-US" dirty="0"/>
          </a:p>
        </p:txBody>
      </p:sp>
      <p:sp>
        <p:nvSpPr>
          <p:cNvPr id="14" name="Shape 12"/>
          <p:cNvSpPr/>
          <p:nvPr/>
        </p:nvSpPr>
        <p:spPr>
          <a:xfrm>
            <a:off x="6766560" y="2651760"/>
            <a:ext cx="4828032" cy="2651760"/>
          </a:xfrm>
          <a:prstGeom prst="roundRect">
            <a:avLst>
              <a:gd name="adj" fmla="val 4138"/>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7040880" y="2834640"/>
            <a:ext cx="4297680" cy="320040"/>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predictability</a:t>
            </a:r>
            <a:endParaRPr lang="en-US" sz="1600" dirty="0"/>
          </a:p>
        </p:txBody>
      </p:sp>
      <p:sp>
        <p:nvSpPr>
          <p:cNvPr id="16" name="Text 14"/>
          <p:cNvSpPr/>
          <p:nvPr/>
        </p:nvSpPr>
        <p:spPr>
          <a:xfrm>
            <a:off x="7040880" y="324612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a:t>
            </a:r>
            <a:r>
              <a:rPr lang="en-US" dirty="0">
                <a:solidFill>
                  <a:srgbClr val="F1CF25"/>
                </a:solidFill>
                <a:latin typeface="Courier New" pitchFamily="34" charset="0"/>
                <a:ea typeface="Courier New" pitchFamily="34" charset="-122"/>
                <a:cs typeface="Courier New" pitchFamily="34" charset="-120"/>
              </a:rPr>
              <a:t>   flex items-center</a:t>
            </a:r>
            <a:endParaRPr lang="en-US" dirty="0"/>
          </a:p>
        </p:txBody>
      </p:sp>
      <p:sp>
        <p:nvSpPr>
          <p:cNvPr id="17" name="Shape 15"/>
          <p:cNvSpPr/>
          <p:nvPr/>
        </p:nvSpPr>
        <p:spPr>
          <a:xfrm>
            <a:off x="7040880" y="3657600"/>
            <a:ext cx="4023360" cy="201168"/>
          </a:xfrm>
          <a:prstGeom prst="roundRect">
            <a:avLst>
              <a:gd name="adj" fmla="val 50000"/>
            </a:avLst>
          </a:prstGeom>
          <a:solidFill>
            <a:srgbClr val="75DFBC"/>
          </a:solidFill>
          <a:ln/>
        </p:spPr>
        <p:txBody>
          <a:bodyPr/>
          <a:lstStyle/>
          <a:p>
            <a:endParaRPr lang="en-US" sz="2800"/>
          </a:p>
        </p:txBody>
      </p:sp>
      <p:sp>
        <p:nvSpPr>
          <p:cNvPr id="18" name="Text 16"/>
          <p:cNvSpPr/>
          <p:nvPr/>
        </p:nvSpPr>
        <p:spPr>
          <a:xfrm>
            <a:off x="7040880" y="4114800"/>
            <a:ext cx="429768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Semantic</a:t>
            </a:r>
            <a:r>
              <a:rPr lang="en-US" dirty="0">
                <a:solidFill>
                  <a:srgbClr val="A6A6A6"/>
                </a:solidFill>
                <a:latin typeface="Courier New" pitchFamily="34" charset="0"/>
                <a:ea typeface="Courier New" pitchFamily="34" charset="-122"/>
                <a:cs typeface="Courier New" pitchFamily="34" charset="-120"/>
              </a:rPr>
              <a:t>  .hero-banner-x</a:t>
            </a:r>
            <a:endParaRPr lang="en-US" dirty="0"/>
          </a:p>
        </p:txBody>
      </p:sp>
      <p:sp>
        <p:nvSpPr>
          <p:cNvPr id="19" name="Shape 17"/>
          <p:cNvSpPr/>
          <p:nvPr/>
        </p:nvSpPr>
        <p:spPr>
          <a:xfrm>
            <a:off x="7040880" y="4526280"/>
            <a:ext cx="1371600" cy="201168"/>
          </a:xfrm>
          <a:prstGeom prst="roundRect">
            <a:avLst>
              <a:gd name="adj" fmla="val 50000"/>
            </a:avLst>
          </a:prstGeom>
          <a:solidFill>
            <a:srgbClr val="FF6A4C"/>
          </a:solidFill>
          <a:ln/>
        </p:spPr>
        <p:txBody>
          <a:bodyPr/>
          <a:lstStyle/>
          <a:p>
            <a:endParaRPr lang="en-US" sz="2800"/>
          </a:p>
        </p:txBody>
      </p:sp>
      <p:sp>
        <p:nvSpPr>
          <p:cNvPr id="20" name="Text 18"/>
          <p:cNvSpPr/>
          <p:nvPr/>
        </p:nvSpPr>
        <p:spPr>
          <a:xfrm>
            <a:off x="7040880" y="4846320"/>
            <a:ext cx="4297680" cy="365760"/>
          </a:xfrm>
          <a:prstGeom prst="rect">
            <a:avLst/>
          </a:prstGeom>
          <a:noFill/>
          <a:ln/>
        </p:spPr>
        <p:txBody>
          <a:bodyPr wrap="square" lIns="0" tIns="0" rIns="0" bIns="0" rtlCol="0" anchor="ctr"/>
          <a:lstStyle/>
          <a:p>
            <a:pPr marL="0" indent="0" algn="l">
              <a:buNone/>
            </a:pPr>
            <a:r>
              <a:rPr lang="en-US" sz="1600" i="1" dirty="0">
                <a:solidFill>
                  <a:srgbClr val="6E6E6E"/>
                </a:solidFill>
                <a:latin typeface="Arial" pitchFamily="34" charset="0"/>
                <a:ea typeface="Arial" pitchFamily="34" charset="-122"/>
                <a:cs typeface="Arial" pitchFamily="34" charset="-120"/>
              </a:rPr>
              <a:t>model confidence in the next token</a:t>
            </a:r>
            <a:endParaRPr lang="en-US" sz="1600" dirty="0"/>
          </a:p>
        </p:txBody>
      </p:sp>
      <p:sp>
        <p:nvSpPr>
          <p:cNvPr id="21" name="Text 19"/>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2" name="Text 20"/>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14 / 29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Design tokens = constrained values</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Spacing, color, radius all come from a fixed scale</a:t>
            </a:r>
            <a:endParaRPr lang="en-US" sz="2000" dirty="0"/>
          </a:p>
        </p:txBody>
      </p:sp>
      <p:sp>
        <p:nvSpPr>
          <p:cNvPr id="8" name="Shape 6"/>
          <p:cNvSpPr/>
          <p:nvPr/>
        </p:nvSpPr>
        <p:spPr>
          <a:xfrm>
            <a:off x="594360" y="3937367"/>
            <a:ext cx="118872" cy="118872"/>
          </a:xfrm>
          <a:prstGeom prst="rect">
            <a:avLst/>
          </a:prstGeom>
          <a:solidFill>
            <a:srgbClr val="75DFBC"/>
          </a:solidFill>
          <a:ln/>
        </p:spPr>
        <p:txBody>
          <a:bodyPr/>
          <a:lstStyle/>
          <a:p>
            <a:endParaRPr lang="en-US" sz="2400"/>
          </a:p>
        </p:txBody>
      </p:sp>
      <p:sp>
        <p:nvSpPr>
          <p:cNvPr id="9" name="Text 7"/>
          <p:cNvSpPr/>
          <p:nvPr/>
        </p:nvSpPr>
        <p:spPr>
          <a:xfrm>
            <a:off x="886968" y="3855071"/>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model picks p-4 from a menu…</a:t>
            </a:r>
            <a:endParaRPr lang="en-US" sz="2000" dirty="0"/>
          </a:p>
        </p:txBody>
      </p:sp>
      <p:sp>
        <p:nvSpPr>
          <p:cNvPr id="10" name="Shape 8"/>
          <p:cNvSpPr/>
          <p:nvPr/>
        </p:nvSpPr>
        <p:spPr>
          <a:xfrm>
            <a:off x="594360" y="4822585"/>
            <a:ext cx="118872" cy="118872"/>
          </a:xfrm>
          <a:prstGeom prst="rect">
            <a:avLst/>
          </a:prstGeom>
          <a:solidFill>
            <a:srgbClr val="FF6A4C"/>
          </a:solidFill>
          <a:ln/>
        </p:spPr>
        <p:txBody>
          <a:bodyPr/>
          <a:lstStyle/>
          <a:p>
            <a:endParaRPr lang="en-US" sz="2400"/>
          </a:p>
        </p:txBody>
      </p:sp>
      <p:sp>
        <p:nvSpPr>
          <p:cNvPr id="11" name="Text 9"/>
          <p:cNvSpPr/>
          <p:nvPr/>
        </p:nvSpPr>
        <p:spPr>
          <a:xfrm>
            <a:off x="886968" y="4740289"/>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…instead of hallucinating padding: 13px</a:t>
            </a:r>
            <a:endParaRPr lang="en-US" sz="2000" dirty="0"/>
          </a:p>
        </p:txBody>
      </p:sp>
      <p:sp>
        <p:nvSpPr>
          <p:cNvPr id="12" name="Shape 10"/>
          <p:cNvSpPr/>
          <p:nvPr/>
        </p:nvSpPr>
        <p:spPr>
          <a:xfrm>
            <a:off x="594360" y="5724144"/>
            <a:ext cx="118872" cy="118872"/>
          </a:xfrm>
          <a:prstGeom prst="rect">
            <a:avLst/>
          </a:prstGeom>
          <a:solidFill>
            <a:srgbClr val="75DFBC"/>
          </a:solidFill>
          <a:ln/>
        </p:spPr>
        <p:txBody>
          <a:bodyPr/>
          <a:lstStyle/>
          <a:p>
            <a:endParaRPr lang="en-US" sz="2400"/>
          </a:p>
        </p:txBody>
      </p:sp>
      <p:sp>
        <p:nvSpPr>
          <p:cNvPr id="13" name="Text 11"/>
          <p:cNvSpPr/>
          <p:nvPr/>
        </p:nvSpPr>
        <p:spPr>
          <a:xfrm>
            <a:off x="886968" y="5641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Constraints guide the model</a:t>
            </a:r>
            <a:endParaRPr lang="en-US" sz="2000" dirty="0"/>
          </a:p>
        </p:txBody>
      </p:sp>
      <p:sp>
        <p:nvSpPr>
          <p:cNvPr id="14" name="Shape 12"/>
          <p:cNvSpPr/>
          <p:nvPr/>
        </p:nvSpPr>
        <p:spPr>
          <a:xfrm>
            <a:off x="6766560" y="4480560"/>
            <a:ext cx="749808" cy="365760"/>
          </a:xfrm>
          <a:prstGeom prst="roundRect">
            <a:avLst>
              <a:gd name="adj" fmla="val 15000"/>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676656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p-1</a:t>
            </a:r>
            <a:endParaRPr lang="en-US" sz="1600" dirty="0"/>
          </a:p>
        </p:txBody>
      </p:sp>
      <p:sp>
        <p:nvSpPr>
          <p:cNvPr id="16" name="Shape 14"/>
          <p:cNvSpPr/>
          <p:nvPr/>
        </p:nvSpPr>
        <p:spPr>
          <a:xfrm>
            <a:off x="7562088" y="4224528"/>
            <a:ext cx="749808" cy="621792"/>
          </a:xfrm>
          <a:prstGeom prst="roundRect">
            <a:avLst>
              <a:gd name="adj" fmla="val 8824"/>
            </a:avLst>
          </a:prstGeom>
          <a:solidFill>
            <a:srgbClr val="2C2B2B"/>
          </a:solidFill>
          <a:ln w="12700">
            <a:solidFill>
              <a:srgbClr val="3A3A3A"/>
            </a:solidFill>
            <a:prstDash val="solid"/>
          </a:ln>
        </p:spPr>
        <p:txBody>
          <a:bodyPr/>
          <a:lstStyle/>
          <a:p>
            <a:endParaRPr lang="en-US" sz="2800"/>
          </a:p>
        </p:txBody>
      </p:sp>
      <p:sp>
        <p:nvSpPr>
          <p:cNvPr id="17" name="Text 15"/>
          <p:cNvSpPr/>
          <p:nvPr/>
        </p:nvSpPr>
        <p:spPr>
          <a:xfrm>
            <a:off x="7562088"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p-2</a:t>
            </a:r>
            <a:endParaRPr lang="en-US" sz="1600" dirty="0"/>
          </a:p>
        </p:txBody>
      </p:sp>
      <p:sp>
        <p:nvSpPr>
          <p:cNvPr id="18" name="Shape 16"/>
          <p:cNvSpPr/>
          <p:nvPr/>
        </p:nvSpPr>
        <p:spPr>
          <a:xfrm>
            <a:off x="8357616" y="3968496"/>
            <a:ext cx="749808" cy="877824"/>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19" name="Text 17"/>
          <p:cNvSpPr/>
          <p:nvPr/>
        </p:nvSpPr>
        <p:spPr>
          <a:xfrm>
            <a:off x="8357616"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p-3</a:t>
            </a:r>
            <a:endParaRPr lang="en-US" sz="1600" dirty="0"/>
          </a:p>
        </p:txBody>
      </p:sp>
      <p:sp>
        <p:nvSpPr>
          <p:cNvPr id="20" name="Shape 18"/>
          <p:cNvSpPr/>
          <p:nvPr/>
        </p:nvSpPr>
        <p:spPr>
          <a:xfrm>
            <a:off x="9153144" y="3712464"/>
            <a:ext cx="749808" cy="1133856"/>
          </a:xfrm>
          <a:prstGeom prst="roundRect">
            <a:avLst>
              <a:gd name="adj" fmla="val 7317"/>
            </a:avLst>
          </a:prstGeom>
          <a:solidFill>
            <a:srgbClr val="75DFBC"/>
          </a:solidFill>
          <a:ln w="12700">
            <a:solidFill>
              <a:srgbClr val="75DFBC"/>
            </a:solidFill>
            <a:prstDash val="solid"/>
          </a:ln>
        </p:spPr>
        <p:txBody>
          <a:bodyPr/>
          <a:lstStyle/>
          <a:p>
            <a:endParaRPr lang="en-US" sz="2800"/>
          </a:p>
        </p:txBody>
      </p:sp>
      <p:sp>
        <p:nvSpPr>
          <p:cNvPr id="21" name="Text 19"/>
          <p:cNvSpPr/>
          <p:nvPr/>
        </p:nvSpPr>
        <p:spPr>
          <a:xfrm>
            <a:off x="9153144" y="4937760"/>
            <a:ext cx="749808" cy="320040"/>
          </a:xfrm>
          <a:prstGeom prst="rect">
            <a:avLst/>
          </a:prstGeom>
          <a:noFill/>
          <a:ln/>
        </p:spPr>
        <p:txBody>
          <a:bodyPr wrap="square" lIns="0" tIns="0" rIns="0" bIns="0" rtlCol="0" anchor="ctr"/>
          <a:lstStyle/>
          <a:p>
            <a:pPr marL="0" indent="0" algn="ctr">
              <a:buNone/>
            </a:pPr>
            <a:r>
              <a:rPr lang="en-US" sz="1600" dirty="0">
                <a:solidFill>
                  <a:srgbClr val="75DFBC"/>
                </a:solidFill>
                <a:latin typeface="Courier New" pitchFamily="34" charset="0"/>
                <a:ea typeface="Courier New" pitchFamily="34" charset="-122"/>
                <a:cs typeface="Courier New" pitchFamily="34" charset="-120"/>
              </a:rPr>
              <a:t>p-4</a:t>
            </a:r>
            <a:endParaRPr lang="en-US" sz="1600" dirty="0"/>
          </a:p>
        </p:txBody>
      </p:sp>
      <p:sp>
        <p:nvSpPr>
          <p:cNvPr id="22" name="Shape 20"/>
          <p:cNvSpPr/>
          <p:nvPr/>
        </p:nvSpPr>
        <p:spPr>
          <a:xfrm>
            <a:off x="9948672" y="3456432"/>
            <a:ext cx="749808" cy="1389888"/>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3" name="Text 21"/>
          <p:cNvSpPr/>
          <p:nvPr/>
        </p:nvSpPr>
        <p:spPr>
          <a:xfrm>
            <a:off x="9948672"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p-6</a:t>
            </a:r>
            <a:endParaRPr lang="en-US" sz="1600" dirty="0"/>
          </a:p>
        </p:txBody>
      </p:sp>
      <p:sp>
        <p:nvSpPr>
          <p:cNvPr id="24" name="Shape 22"/>
          <p:cNvSpPr/>
          <p:nvPr/>
        </p:nvSpPr>
        <p:spPr>
          <a:xfrm>
            <a:off x="10744200" y="3200400"/>
            <a:ext cx="749808" cy="1645920"/>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5" name="Text 23"/>
          <p:cNvSpPr/>
          <p:nvPr/>
        </p:nvSpPr>
        <p:spPr>
          <a:xfrm>
            <a:off x="1074420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p-8</a:t>
            </a:r>
            <a:endParaRPr lang="en-US" sz="1600" dirty="0"/>
          </a:p>
        </p:txBody>
      </p:sp>
      <p:sp>
        <p:nvSpPr>
          <p:cNvPr id="26" name="Text 24"/>
          <p:cNvSpPr/>
          <p:nvPr/>
        </p:nvSpPr>
        <p:spPr>
          <a:xfrm>
            <a:off x="6766560" y="2560320"/>
            <a:ext cx="47548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a small, safe menu</a:t>
            </a:r>
            <a:endParaRPr lang="en-US" dirty="0"/>
          </a:p>
        </p:txBody>
      </p:sp>
      <p:sp>
        <p:nvSpPr>
          <p:cNvPr id="27" name="Text 2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8" name="Text 2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15 / 29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Deterministic, global mapping</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mt-4 == margin-top: 1rem in every repo on earth</a:t>
            </a:r>
            <a:endParaRPr lang="en-US" dirty="0"/>
          </a:p>
        </p:txBody>
      </p:sp>
      <p:sp>
        <p:nvSpPr>
          <p:cNvPr id="8" name="Shape 6"/>
          <p:cNvSpPr/>
          <p:nvPr/>
        </p:nvSpPr>
        <p:spPr>
          <a:xfrm>
            <a:off x="594360" y="3739896"/>
            <a:ext cx="118872" cy="118872"/>
          </a:xfrm>
          <a:prstGeom prst="rect">
            <a:avLst/>
          </a:prstGeom>
          <a:solidFill>
            <a:srgbClr val="75DFBC"/>
          </a:solidFill>
          <a:ln/>
        </p:spPr>
        <p:txBody>
          <a:bodyPr/>
          <a:lstStyle/>
          <a:p>
            <a:endParaRPr lang="en-US" sz="2000"/>
          </a:p>
        </p:txBody>
      </p:sp>
      <p:sp>
        <p:nvSpPr>
          <p:cNvPr id="9" name="Text 7"/>
          <p:cNvSpPr/>
          <p:nvPr/>
        </p:nvSpPr>
        <p:spPr>
          <a:xfrm>
            <a:off x="886968" y="365760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“what does .spacer mean in THIS project?”</a:t>
            </a:r>
            <a:endParaRPr lang="en-US"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0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Training generalizes across the entire corpus</a:t>
            </a:r>
            <a:endParaRPr lang="en-US" dirty="0"/>
          </a:p>
        </p:txBody>
      </p:sp>
      <p:sp>
        <p:nvSpPr>
          <p:cNvPr id="12" name="Shape 10"/>
          <p:cNvSpPr/>
          <p:nvPr/>
        </p:nvSpPr>
        <p:spPr>
          <a:xfrm>
            <a:off x="594360" y="5413248"/>
            <a:ext cx="118872" cy="118872"/>
          </a:xfrm>
          <a:prstGeom prst="rect">
            <a:avLst/>
          </a:prstGeom>
          <a:solidFill>
            <a:srgbClr val="FF6A4C"/>
          </a:solidFill>
          <a:ln/>
        </p:spPr>
        <p:txBody>
          <a:bodyPr/>
          <a:lstStyle/>
          <a:p>
            <a:endParaRPr lang="en-US" sz="2000"/>
          </a:p>
        </p:txBody>
      </p:sp>
      <p:sp>
        <p:nvSpPr>
          <p:cNvPr id="13" name="Text 11"/>
          <p:cNvSpPr/>
          <p:nvPr/>
        </p:nvSpPr>
        <p:spPr>
          <a:xfrm>
            <a:off x="886968" y="5330952"/>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Bespoke class names are project-local; they don't</a:t>
            </a:r>
            <a:endParaRPr lang="en-US" dirty="0"/>
          </a:p>
        </p:txBody>
      </p:sp>
      <p:sp>
        <p:nvSpPr>
          <p:cNvPr id="14" name="Shape 12"/>
          <p:cNvSpPr/>
          <p:nvPr/>
        </p:nvSpPr>
        <p:spPr>
          <a:xfrm>
            <a:off x="6766560" y="2651760"/>
            <a:ext cx="4955270" cy="3350206"/>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15" name="Shape 13"/>
          <p:cNvSpPr/>
          <p:nvPr/>
        </p:nvSpPr>
        <p:spPr>
          <a:xfrm>
            <a:off x="6986016" y="2834640"/>
            <a:ext cx="100584" cy="100584"/>
          </a:xfrm>
          <a:prstGeom prst="ellipse">
            <a:avLst/>
          </a:prstGeom>
          <a:solidFill>
            <a:srgbClr val="FF6A4C"/>
          </a:solidFill>
          <a:ln/>
        </p:spPr>
        <p:txBody>
          <a:bodyPr/>
          <a:lstStyle/>
          <a:p>
            <a:endParaRPr lang="en-US" sz="2000"/>
          </a:p>
        </p:txBody>
      </p:sp>
      <p:sp>
        <p:nvSpPr>
          <p:cNvPr id="16" name="Shape 14"/>
          <p:cNvSpPr/>
          <p:nvPr/>
        </p:nvSpPr>
        <p:spPr>
          <a:xfrm>
            <a:off x="7187184" y="2834640"/>
            <a:ext cx="100584" cy="100584"/>
          </a:xfrm>
          <a:prstGeom prst="ellipse">
            <a:avLst/>
          </a:prstGeom>
          <a:solidFill>
            <a:srgbClr val="F1CF25"/>
          </a:solidFill>
          <a:ln/>
        </p:spPr>
        <p:txBody>
          <a:bodyPr/>
          <a:lstStyle/>
          <a:p>
            <a:endParaRPr lang="en-US" sz="2000"/>
          </a:p>
        </p:txBody>
      </p:sp>
      <p:sp>
        <p:nvSpPr>
          <p:cNvPr id="17" name="Shape 15"/>
          <p:cNvSpPr/>
          <p:nvPr/>
        </p:nvSpPr>
        <p:spPr>
          <a:xfrm>
            <a:off x="7388352" y="2834640"/>
            <a:ext cx="100584" cy="100584"/>
          </a:xfrm>
          <a:prstGeom prst="ellipse">
            <a:avLst/>
          </a:prstGeom>
          <a:solidFill>
            <a:srgbClr val="75DFBC"/>
          </a:solidFill>
          <a:ln/>
        </p:spPr>
        <p:txBody>
          <a:bodyPr/>
          <a:lstStyle/>
          <a:p>
            <a:endParaRPr lang="en-US" sz="2000"/>
          </a:p>
        </p:txBody>
      </p:sp>
      <p:sp>
        <p:nvSpPr>
          <p:cNvPr id="18" name="Text 16"/>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stable across every codebase</a:t>
            </a:r>
            <a:endParaRPr lang="en-US" sz="1600" dirty="0"/>
          </a:p>
        </p:txBody>
      </p:sp>
      <p:sp>
        <p:nvSpPr>
          <p:cNvPr id="19" name="Text 17"/>
          <p:cNvSpPr/>
          <p:nvPr/>
        </p:nvSpPr>
        <p:spPr>
          <a:xfrm>
            <a:off x="7059168" y="3200400"/>
            <a:ext cx="4242816" cy="1737360"/>
          </a:xfrm>
          <a:prstGeom prst="rect">
            <a:avLst/>
          </a:prstGeom>
          <a:noFill/>
          <a:ln/>
        </p:spPr>
        <p:txBody>
          <a:bodyPr wrap="square" lIns="0" tIns="0" rIns="0" bIns="0" rtlCol="0" anchor="t"/>
          <a:lstStyle/>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mt-4</a:t>
            </a:r>
            <a:r>
              <a:rPr lang="en-US" sz="2000" dirty="0">
                <a:solidFill>
                  <a:srgbClr val="A6A6A6"/>
                </a:solidFill>
                <a:latin typeface="Courier New" pitchFamily="34" charset="0"/>
                <a:ea typeface="Courier New" pitchFamily="34" charset="-122"/>
                <a:cs typeface="Courier New" pitchFamily="34" charset="-120"/>
              </a:rPr>
              <a:t>   → margin-top: 1rem</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flex</a:t>
            </a:r>
            <a:r>
              <a:rPr lang="en-US" sz="2000" dirty="0">
                <a:solidFill>
                  <a:srgbClr val="A6A6A6"/>
                </a:solidFill>
                <a:latin typeface="Courier New" pitchFamily="34" charset="0"/>
                <a:ea typeface="Courier New" pitchFamily="34" charset="-122"/>
                <a:cs typeface="Courier New" pitchFamily="34" charset="-120"/>
              </a:rPr>
              <a:t>   → display: flex</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gap-6</a:t>
            </a:r>
            <a:r>
              <a:rPr lang="en-US" sz="2000" dirty="0">
                <a:solidFill>
                  <a:srgbClr val="A6A6A6"/>
                </a:solidFill>
                <a:latin typeface="Courier New" pitchFamily="34" charset="0"/>
                <a:ea typeface="Courier New" pitchFamily="34" charset="-122"/>
                <a:cs typeface="Courier New" pitchFamily="34" charset="-120"/>
              </a:rPr>
              <a:t>  → gap: 1.5rem</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FF6A4C"/>
                </a:solidFill>
                <a:latin typeface="Courier New" pitchFamily="34" charset="0"/>
                <a:ea typeface="Courier New" pitchFamily="34" charset="-122"/>
                <a:cs typeface="Courier New" pitchFamily="34" charset="-120"/>
              </a:rPr>
              <a:t>.spacer</a:t>
            </a:r>
            <a:r>
              <a:rPr lang="en-US" sz="2000" dirty="0">
                <a:solidFill>
                  <a:srgbClr val="A6A6A6"/>
                </a:solidFill>
                <a:latin typeface="Courier New" pitchFamily="34" charset="0"/>
                <a:ea typeface="Courier New" pitchFamily="34" charset="-122"/>
                <a:cs typeface="Courier New" pitchFamily="34" charset="-120"/>
              </a:rPr>
              <a:t> → ¯\_(ツ)_/¯</a:t>
            </a:r>
            <a:endParaRPr lang="en-US" sz="2000" dirty="0"/>
          </a:p>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depends on the repo</a:t>
            </a:r>
            <a:endParaRPr lang="en-US" sz="2000" dirty="0"/>
          </a:p>
        </p:txBody>
      </p:sp>
      <p:sp>
        <p:nvSpPr>
          <p:cNvPr id="20" name="Text 18"/>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1" name="Text 19"/>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16 / 29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The training-data flywheel</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Tailwind saturates modern training data</a:t>
            </a:r>
            <a:endParaRPr lang="en-US" dirty="0"/>
          </a:p>
        </p:txBody>
      </p:sp>
      <p:sp>
        <p:nvSpPr>
          <p:cNvPr id="8" name="Shape 6"/>
          <p:cNvSpPr/>
          <p:nvPr/>
        </p:nvSpPr>
        <p:spPr>
          <a:xfrm>
            <a:off x="594360" y="3879879"/>
            <a:ext cx="118872" cy="118872"/>
          </a:xfrm>
          <a:prstGeom prst="rect">
            <a:avLst/>
          </a:prstGeom>
          <a:solidFill>
            <a:srgbClr val="75DFBC"/>
          </a:solidFill>
          <a:ln/>
        </p:spPr>
        <p:txBody>
          <a:bodyPr/>
          <a:lstStyle/>
          <a:p>
            <a:endParaRPr lang="en-US" sz="2000"/>
          </a:p>
        </p:txBody>
      </p:sp>
      <p:sp>
        <p:nvSpPr>
          <p:cNvPr id="9" name="Text 7"/>
          <p:cNvSpPr/>
          <p:nvPr/>
        </p:nvSpPr>
        <p:spPr>
          <a:xfrm>
            <a:off x="886968" y="3797583"/>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Next.js, shadcn/ui, millions of public repos</a:t>
            </a:r>
            <a:endParaRPr lang="en-US" dirty="0"/>
          </a:p>
        </p:txBody>
      </p:sp>
      <p:sp>
        <p:nvSpPr>
          <p:cNvPr id="10" name="Shape 8"/>
          <p:cNvSpPr/>
          <p:nvPr/>
        </p:nvSpPr>
        <p:spPr>
          <a:xfrm>
            <a:off x="594360" y="4714414"/>
            <a:ext cx="118872" cy="118872"/>
          </a:xfrm>
          <a:prstGeom prst="rect">
            <a:avLst/>
          </a:prstGeom>
          <a:solidFill>
            <a:srgbClr val="F1CF25"/>
          </a:solidFill>
          <a:ln/>
        </p:spPr>
        <p:txBody>
          <a:bodyPr/>
          <a:lstStyle/>
          <a:p>
            <a:endParaRPr lang="en-US" sz="2000"/>
          </a:p>
        </p:txBody>
      </p:sp>
      <p:sp>
        <p:nvSpPr>
          <p:cNvPr id="11" name="Text 9"/>
          <p:cNvSpPr/>
          <p:nvPr/>
        </p:nvSpPr>
        <p:spPr>
          <a:xfrm>
            <a:off x="886968" y="463211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Utilities generalize across the corpus; names don't</a:t>
            </a:r>
            <a:endParaRPr lang="en-US" dirty="0"/>
          </a:p>
        </p:txBody>
      </p:sp>
      <p:sp>
        <p:nvSpPr>
          <p:cNvPr id="12" name="Shape 10"/>
          <p:cNvSpPr/>
          <p:nvPr/>
        </p:nvSpPr>
        <p:spPr>
          <a:xfrm>
            <a:off x="594360" y="5587957"/>
            <a:ext cx="118872" cy="118872"/>
          </a:xfrm>
          <a:prstGeom prst="rect">
            <a:avLst/>
          </a:prstGeom>
          <a:solidFill>
            <a:srgbClr val="75DFBC"/>
          </a:solidFill>
          <a:ln/>
        </p:spPr>
        <p:txBody>
          <a:bodyPr/>
          <a:lstStyle/>
          <a:p>
            <a:endParaRPr lang="en-US" sz="2000"/>
          </a:p>
        </p:txBody>
      </p:sp>
      <p:sp>
        <p:nvSpPr>
          <p:cNvPr id="13" name="Text 11"/>
          <p:cNvSpPr/>
          <p:nvPr/>
        </p:nvSpPr>
        <p:spPr>
          <a:xfrm>
            <a:off x="886968" y="550566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More usage → more data → better gen → more usage</a:t>
            </a:r>
            <a:endParaRPr lang="en-US" dirty="0"/>
          </a:p>
        </p:txBody>
      </p:sp>
      <p:sp>
        <p:nvSpPr>
          <p:cNvPr id="14" name="Shape 12"/>
          <p:cNvSpPr/>
          <p:nvPr/>
        </p:nvSpPr>
        <p:spPr>
          <a:xfrm>
            <a:off x="7498080" y="2011680"/>
            <a:ext cx="3291840" cy="3291840"/>
          </a:xfrm>
          <a:prstGeom prst="ellipse">
            <a:avLst/>
          </a:prstGeom>
          <a:ln w="19050">
            <a:solidFill>
              <a:srgbClr val="3A3A3A"/>
            </a:solidFill>
            <a:prstDash val="dash"/>
          </a:ln>
        </p:spPr>
        <p:txBody>
          <a:bodyPr/>
          <a:lstStyle/>
          <a:p>
            <a:endParaRPr lang="en-US" sz="2800"/>
          </a:p>
        </p:txBody>
      </p:sp>
      <p:sp>
        <p:nvSpPr>
          <p:cNvPr id="15" name="Shape 13"/>
          <p:cNvSpPr/>
          <p:nvPr/>
        </p:nvSpPr>
        <p:spPr>
          <a:xfrm>
            <a:off x="8366760" y="2331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6" name="Text 14"/>
          <p:cNvSpPr/>
          <p:nvPr/>
        </p:nvSpPr>
        <p:spPr>
          <a:xfrm>
            <a:off x="8366760" y="2331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usage</a:t>
            </a:r>
            <a:endParaRPr lang="en-US" sz="1600" dirty="0"/>
          </a:p>
        </p:txBody>
      </p:sp>
      <p:sp>
        <p:nvSpPr>
          <p:cNvPr id="17" name="Shape 15"/>
          <p:cNvSpPr/>
          <p:nvPr/>
        </p:nvSpPr>
        <p:spPr>
          <a:xfrm>
            <a:off x="9509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8" name="Text 16"/>
          <p:cNvSpPr/>
          <p:nvPr/>
        </p:nvSpPr>
        <p:spPr>
          <a:xfrm>
            <a:off x="9509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training data</a:t>
            </a:r>
            <a:endParaRPr lang="en-US" sz="1600" dirty="0"/>
          </a:p>
        </p:txBody>
      </p:sp>
      <p:sp>
        <p:nvSpPr>
          <p:cNvPr id="19" name="Shape 17"/>
          <p:cNvSpPr/>
          <p:nvPr/>
        </p:nvSpPr>
        <p:spPr>
          <a:xfrm>
            <a:off x="8366760" y="4617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0" name="Text 18"/>
          <p:cNvSpPr/>
          <p:nvPr/>
        </p:nvSpPr>
        <p:spPr>
          <a:xfrm>
            <a:off x="8366760" y="4617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better output</a:t>
            </a:r>
            <a:endParaRPr lang="en-US" sz="1600" dirty="0"/>
          </a:p>
        </p:txBody>
      </p:sp>
      <p:sp>
        <p:nvSpPr>
          <p:cNvPr id="21" name="Shape 19"/>
          <p:cNvSpPr/>
          <p:nvPr/>
        </p:nvSpPr>
        <p:spPr>
          <a:xfrm>
            <a:off x="7223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2" name="Text 20"/>
          <p:cNvSpPr/>
          <p:nvPr/>
        </p:nvSpPr>
        <p:spPr>
          <a:xfrm>
            <a:off x="7223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more trust</a:t>
            </a:r>
            <a:endParaRPr lang="en-US" sz="1600" dirty="0"/>
          </a:p>
        </p:txBody>
      </p:sp>
      <p:sp>
        <p:nvSpPr>
          <p:cNvPr id="23" name="Text 21"/>
          <p:cNvSpPr/>
          <p:nvPr/>
        </p:nvSpPr>
        <p:spPr>
          <a:xfrm>
            <a:off x="8778240" y="3246120"/>
            <a:ext cx="731520" cy="731520"/>
          </a:xfrm>
          <a:prstGeom prst="rect">
            <a:avLst/>
          </a:prstGeom>
          <a:noFill/>
          <a:ln/>
        </p:spPr>
        <p:txBody>
          <a:bodyPr wrap="square" lIns="0" tIns="0" rIns="0" bIns="0" rtlCol="0" anchor="ctr"/>
          <a:lstStyle/>
          <a:p>
            <a:pPr marL="0" indent="0" algn="ctr">
              <a:buNone/>
            </a:pPr>
            <a:r>
              <a:rPr lang="en-US" sz="5400" b="1" dirty="0">
                <a:solidFill>
                  <a:srgbClr val="F1CF25"/>
                </a:solidFill>
                <a:latin typeface="Arial" pitchFamily="34" charset="0"/>
                <a:ea typeface="Arial" pitchFamily="34" charset="-122"/>
                <a:cs typeface="Arial" pitchFamily="34" charset="-120"/>
              </a:rPr>
              <a:t>↻</a:t>
            </a:r>
            <a:endParaRPr lang="en-US" sz="5400" dirty="0"/>
          </a:p>
        </p:txBody>
      </p:sp>
      <p:sp>
        <p:nvSpPr>
          <p:cNvPr id="24" name="Text 22"/>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5" name="Text 23"/>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17 / 29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6</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Self-documenting = verifiable</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class list is the spec</a:t>
            </a:r>
            <a:endParaRPr lang="en-US" sz="2000" dirty="0"/>
          </a:p>
        </p:txBody>
      </p:sp>
      <p:sp>
        <p:nvSpPr>
          <p:cNvPr id="8" name="Shape 6"/>
          <p:cNvSpPr/>
          <p:nvPr/>
        </p:nvSpPr>
        <p:spPr>
          <a:xfrm>
            <a:off x="594360" y="3602736"/>
            <a:ext cx="118872" cy="118872"/>
          </a:xfrm>
          <a:prstGeom prst="rect">
            <a:avLst/>
          </a:prstGeom>
          <a:solidFill>
            <a:srgbClr val="75DFBC"/>
          </a:solidFill>
          <a:ln/>
        </p:spPr>
        <p:txBody>
          <a:bodyPr/>
          <a:lstStyle/>
          <a:p>
            <a:endParaRPr lang="en-US" sz="2400"/>
          </a:p>
        </p:txBody>
      </p:sp>
      <p:sp>
        <p:nvSpPr>
          <p:cNvPr id="9" name="Text 7"/>
          <p:cNvSpPr/>
          <p:nvPr/>
        </p:nvSpPr>
        <p:spPr>
          <a:xfrm>
            <a:off x="886968" y="352044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Read bg-coral hover:bg-coral/80 px-4 py-2 rounded-lg</a:t>
            </a:r>
            <a:endParaRPr lang="en-US" sz="2000"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4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…and know exactly what it does without running it</a:t>
            </a:r>
            <a:endParaRPr lang="en-US" sz="2000" dirty="0"/>
          </a:p>
        </p:txBody>
      </p:sp>
      <p:sp>
        <p:nvSpPr>
          <p:cNvPr id="12" name="Shape 10"/>
          <p:cNvSpPr/>
          <p:nvPr/>
        </p:nvSpPr>
        <p:spPr>
          <a:xfrm>
            <a:off x="594360" y="5376672"/>
            <a:ext cx="118872" cy="118872"/>
          </a:xfrm>
          <a:prstGeom prst="rect">
            <a:avLst/>
          </a:prstGeom>
          <a:solidFill>
            <a:srgbClr val="F1CF25"/>
          </a:solidFill>
          <a:ln/>
        </p:spPr>
        <p:txBody>
          <a:bodyPr/>
          <a:lstStyle/>
          <a:p>
            <a:endParaRPr lang="en-US" sz="2400"/>
          </a:p>
        </p:txBody>
      </p:sp>
      <p:sp>
        <p:nvSpPr>
          <p:cNvPr id="13" name="Text 11"/>
          <p:cNvSpPr/>
          <p:nvPr/>
        </p:nvSpPr>
        <p:spPr>
          <a:xfrm>
            <a:off x="886968" y="5294376"/>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Faster review = a tighter human + AI loop</a:t>
            </a:r>
            <a:endParaRPr lang="en-US" sz="2000" dirty="0"/>
          </a:p>
        </p:txBody>
      </p:sp>
      <p:sp>
        <p:nvSpPr>
          <p:cNvPr id="14" name="Shape 12"/>
          <p:cNvSpPr/>
          <p:nvPr/>
        </p:nvSpPr>
        <p:spPr>
          <a:xfrm>
            <a:off x="6766560" y="2651760"/>
            <a:ext cx="4828032" cy="3099816"/>
          </a:xfrm>
          <a:prstGeom prst="roundRect">
            <a:avLst>
              <a:gd name="adj" fmla="val 4444"/>
            </a:avLst>
          </a:prstGeom>
          <a:solidFill>
            <a:srgbClr val="2C2B2B"/>
          </a:solidFill>
          <a:ln w="12700">
            <a:solidFill>
              <a:srgbClr val="3A3A3A"/>
            </a:solidFill>
            <a:prstDash val="solid"/>
          </a:ln>
        </p:spPr>
        <p:txBody>
          <a:bodyPr/>
          <a:lstStyle/>
          <a:p>
            <a:endParaRPr lang="en-US" sz="2800" dirty="0"/>
          </a:p>
        </p:txBody>
      </p:sp>
      <p:sp>
        <p:nvSpPr>
          <p:cNvPr id="15" name="Text 13"/>
          <p:cNvSpPr/>
          <p:nvPr/>
        </p:nvSpPr>
        <p:spPr>
          <a:xfrm>
            <a:off x="7040880" y="2880360"/>
            <a:ext cx="42976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you can verify by reading:</a:t>
            </a:r>
            <a:endParaRPr lang="en-US" dirty="0"/>
          </a:p>
        </p:txBody>
      </p:sp>
      <p:sp>
        <p:nvSpPr>
          <p:cNvPr id="16" name="Text 14"/>
          <p:cNvSpPr/>
          <p:nvPr/>
        </p:nvSpPr>
        <p:spPr>
          <a:xfrm>
            <a:off x="7031736" y="3712464"/>
            <a:ext cx="4297680" cy="914400"/>
          </a:xfrm>
          <a:prstGeom prst="rect">
            <a:avLst/>
          </a:prstGeom>
          <a:noFill/>
          <a:ln/>
        </p:spPr>
        <p:txBody>
          <a:bodyPr wrap="square" lIns="0" tIns="0" rIns="0" bIns="0" rtlCol="0" anchor="t"/>
          <a:lstStyle/>
          <a:p>
            <a:pPr marL="0" indent="0" algn="l">
              <a:lnSpc>
                <a:spcPct val="120000"/>
              </a:lnSpc>
              <a:buNone/>
            </a:pPr>
            <a:r>
              <a:rPr lang="en-US" sz="2000" dirty="0">
                <a:solidFill>
                  <a:srgbClr val="FF6A4C"/>
                </a:solidFill>
                <a:latin typeface="Courier New" pitchFamily="34" charset="0"/>
                <a:ea typeface="Courier New" pitchFamily="34" charset="-122"/>
                <a:cs typeface="Courier New" pitchFamily="34" charset="-120"/>
              </a:rPr>
              <a:t>bg-coral </a:t>
            </a:r>
            <a:r>
              <a:rPr lang="en-US" sz="2000" dirty="0">
                <a:solidFill>
                  <a:srgbClr val="F1CF25"/>
                </a:solidFill>
                <a:latin typeface="Courier New" pitchFamily="34" charset="0"/>
                <a:ea typeface="Courier New" pitchFamily="34" charset="-122"/>
                <a:cs typeface="Courier New" pitchFamily="34" charset="-120"/>
              </a:rPr>
              <a:t>hover:bg-coral/80 </a:t>
            </a:r>
            <a:r>
              <a:rPr lang="en-US" sz="2000" dirty="0">
                <a:solidFill>
                  <a:srgbClr val="75DFBC"/>
                </a:solidFill>
                <a:latin typeface="Courier New" pitchFamily="34" charset="0"/>
                <a:ea typeface="Courier New" pitchFamily="34" charset="-122"/>
                <a:cs typeface="Courier New" pitchFamily="34" charset="-120"/>
              </a:rPr>
              <a:t>px-4 py-2 </a:t>
            </a:r>
            <a:r>
              <a:rPr lang="en-US" sz="2000" dirty="0">
                <a:solidFill>
                  <a:srgbClr val="9CDCFE"/>
                </a:solidFill>
                <a:latin typeface="Courier New" pitchFamily="34" charset="0"/>
                <a:ea typeface="Courier New" pitchFamily="34" charset="-122"/>
                <a:cs typeface="Courier New" pitchFamily="34" charset="-120"/>
              </a:rPr>
              <a:t>rounded-lg</a:t>
            </a:r>
            <a:endParaRPr lang="en-US" sz="2000" dirty="0"/>
          </a:p>
        </p:txBody>
      </p:sp>
      <p:sp>
        <p:nvSpPr>
          <p:cNvPr id="17" name="Text 15"/>
          <p:cNvSpPr/>
          <p:nvPr/>
        </p:nvSpPr>
        <p:spPr>
          <a:xfrm>
            <a:off x="7031736" y="4895737"/>
            <a:ext cx="429768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Arial" pitchFamily="34" charset="0"/>
                <a:ea typeface="Arial" pitchFamily="34" charset="-122"/>
                <a:cs typeface="Arial" pitchFamily="34" charset="-120"/>
              </a:rPr>
              <a:t>→ coral button, darkens on hover, comfy padding, soft corners.</a:t>
            </a:r>
            <a:endParaRPr lang="en-US" dirty="0"/>
          </a:p>
        </p:txBody>
      </p:sp>
      <p:sp>
        <p:nvSpPr>
          <p:cNvPr id="18" name="Text 16"/>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9" name="Text 17"/>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18 / 29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JS FRAMEWORK ANGLE</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Components already do this</a:t>
            </a:r>
            <a:endParaRPr lang="en-US" sz="3400" dirty="0"/>
          </a:p>
        </p:txBody>
      </p:sp>
      <p:sp>
        <p:nvSpPr>
          <p:cNvPr id="4" name="Text 2"/>
          <p:cNvSpPr/>
          <p:nvPr/>
        </p:nvSpPr>
        <p:spPr>
          <a:xfrm>
            <a:off x="594360" y="1783080"/>
            <a:ext cx="11002975" cy="822960"/>
          </a:xfrm>
          <a:prstGeom prst="rect">
            <a:avLst/>
          </a:prstGeom>
          <a:noFill/>
          <a:ln/>
        </p:spPr>
        <p:txBody>
          <a:bodyPr wrap="square" lIns="0" tIns="0" rIns="0" bIns="0" rtlCol="0" anchor="ctr"/>
          <a:lstStyle/>
          <a:p>
            <a:pPr marL="0" indent="0" algn="l">
              <a:lnSpc>
                <a:spcPct val="105000"/>
              </a:lnSpc>
              <a:buNone/>
            </a:pPr>
            <a:r>
              <a:rPr lang="en-US" sz="1800" dirty="0">
                <a:solidFill>
                  <a:srgbClr val="A6A6A6"/>
                </a:solidFill>
                <a:latin typeface="Arial" pitchFamily="34" charset="0"/>
                <a:ea typeface="Arial" pitchFamily="34" charset="-122"/>
                <a:cs typeface="Arial" pitchFamily="34" charset="-120"/>
              </a:rPr>
              <a:t>Modern frameworks co-locate template + logic in one unit. Tailwind adds style to the same unit.</a:t>
            </a:r>
            <a:endParaRPr lang="en-US" sz="1800" dirty="0"/>
          </a:p>
        </p:txBody>
      </p:sp>
      <p:sp>
        <p:nvSpPr>
          <p:cNvPr id="5" name="Shape 3"/>
          <p:cNvSpPr/>
          <p:nvPr/>
        </p:nvSpPr>
        <p:spPr>
          <a:xfrm>
            <a:off x="594360" y="2743200"/>
            <a:ext cx="1920240" cy="54864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6" name="Text 4"/>
          <p:cNvSpPr/>
          <p:nvPr/>
        </p:nvSpPr>
        <p:spPr>
          <a:xfrm>
            <a:off x="594360" y="2743200"/>
            <a:ext cx="1920240" cy="54864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Template</a:t>
            </a:r>
            <a:endParaRPr lang="en-US" sz="1600" dirty="0"/>
          </a:p>
        </p:txBody>
      </p:sp>
      <p:sp>
        <p:nvSpPr>
          <p:cNvPr id="7" name="Text 5"/>
          <p:cNvSpPr/>
          <p:nvPr/>
        </p:nvSpPr>
        <p:spPr>
          <a:xfrm>
            <a:off x="251460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2743200" y="2743200"/>
            <a:ext cx="1920240" cy="548640"/>
          </a:xfrm>
          <a:prstGeom prst="roundRect">
            <a:avLst>
              <a:gd name="adj" fmla="val 50000"/>
            </a:avLst>
          </a:prstGeom>
          <a:solidFill>
            <a:srgbClr val="2C2B2B"/>
          </a:solidFill>
          <a:ln w="12700">
            <a:solidFill>
              <a:srgbClr val="F1CF25"/>
            </a:solidFill>
            <a:prstDash val="solid"/>
          </a:ln>
        </p:spPr>
        <p:txBody>
          <a:bodyPr/>
          <a:lstStyle/>
          <a:p>
            <a:endParaRPr lang="en-US"/>
          </a:p>
        </p:txBody>
      </p:sp>
      <p:sp>
        <p:nvSpPr>
          <p:cNvPr id="9" name="Text 7"/>
          <p:cNvSpPr/>
          <p:nvPr/>
        </p:nvSpPr>
        <p:spPr>
          <a:xfrm>
            <a:off x="2743200" y="2743200"/>
            <a:ext cx="1920240" cy="548640"/>
          </a:xfrm>
          <a:prstGeom prst="rect">
            <a:avLst/>
          </a:prstGeom>
          <a:noFill/>
          <a:ln/>
        </p:spPr>
        <p:txBody>
          <a:bodyPr wrap="square" lIns="0" tIns="0" rIns="0" bIns="0" rtlCol="0" anchor="ctr"/>
          <a:lstStyle/>
          <a:p>
            <a:pPr marL="0" indent="0" algn="ctr">
              <a:buNone/>
            </a:pPr>
            <a:r>
              <a:rPr lang="en-US" sz="1600" b="1" dirty="0">
                <a:solidFill>
                  <a:srgbClr val="F1CF25"/>
                </a:solidFill>
                <a:latin typeface="Arial" pitchFamily="34" charset="0"/>
                <a:ea typeface="Arial" pitchFamily="34" charset="-122"/>
                <a:cs typeface="Arial" pitchFamily="34" charset="-120"/>
              </a:rPr>
              <a:t>Logic</a:t>
            </a:r>
            <a:endParaRPr lang="en-US" sz="1600" dirty="0"/>
          </a:p>
        </p:txBody>
      </p:sp>
      <p:sp>
        <p:nvSpPr>
          <p:cNvPr id="10" name="Text 8"/>
          <p:cNvSpPr/>
          <p:nvPr/>
        </p:nvSpPr>
        <p:spPr>
          <a:xfrm>
            <a:off x="466344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892040" y="2743200"/>
            <a:ext cx="1920240" cy="548640"/>
          </a:xfrm>
          <a:prstGeom prst="roundRect">
            <a:avLst>
              <a:gd name="adj" fmla="val 50000"/>
            </a:avLst>
          </a:prstGeom>
          <a:solidFill>
            <a:srgbClr val="2C2B2B"/>
          </a:solidFill>
          <a:ln w="12700">
            <a:solidFill>
              <a:srgbClr val="FF6A4C"/>
            </a:solidFill>
            <a:prstDash val="solid"/>
          </a:ln>
        </p:spPr>
        <p:txBody>
          <a:bodyPr/>
          <a:lstStyle/>
          <a:p>
            <a:endParaRPr lang="en-US"/>
          </a:p>
        </p:txBody>
      </p:sp>
      <p:sp>
        <p:nvSpPr>
          <p:cNvPr id="12" name="Text 10"/>
          <p:cNvSpPr/>
          <p:nvPr/>
        </p:nvSpPr>
        <p:spPr>
          <a:xfrm>
            <a:off x="4892040" y="2743200"/>
            <a:ext cx="1920240" cy="548640"/>
          </a:xfrm>
          <a:prstGeom prst="rect">
            <a:avLst/>
          </a:prstGeom>
          <a:noFill/>
          <a:ln/>
        </p:spPr>
        <p:txBody>
          <a:bodyPr wrap="square" lIns="0" tIns="0" rIns="0" bIns="0" rtlCol="0" anchor="ctr"/>
          <a:lstStyle/>
          <a:p>
            <a:pPr marL="0" indent="0" algn="ctr">
              <a:buNone/>
            </a:pPr>
            <a:r>
              <a:rPr lang="en-US" sz="1600" b="1" dirty="0">
                <a:solidFill>
                  <a:srgbClr val="FF6A4C"/>
                </a:solidFill>
                <a:latin typeface="Arial" pitchFamily="34" charset="0"/>
                <a:ea typeface="Arial" pitchFamily="34" charset="-122"/>
                <a:cs typeface="Arial" pitchFamily="34" charset="-120"/>
              </a:rPr>
              <a:t>Style</a:t>
            </a:r>
            <a:endParaRPr lang="en-US" sz="1600" dirty="0"/>
          </a:p>
        </p:txBody>
      </p:sp>
      <p:sp>
        <p:nvSpPr>
          <p:cNvPr id="13" name="Text 11"/>
          <p:cNvSpPr/>
          <p:nvPr/>
        </p:nvSpPr>
        <p:spPr>
          <a:xfrm>
            <a:off x="7269480" y="2743200"/>
            <a:ext cx="4572000" cy="548640"/>
          </a:xfrm>
          <a:prstGeom prst="rect">
            <a:avLst/>
          </a:prstGeom>
          <a:noFill/>
          <a:ln/>
        </p:spPr>
        <p:txBody>
          <a:bodyPr wrap="square" lIns="0" tIns="0" rIns="0" bIns="0" rtlCol="0" anchor="ctr"/>
          <a:lstStyle/>
          <a:p>
            <a:pPr marL="0" indent="0" algn="l">
              <a:buNone/>
            </a:pPr>
            <a:r>
              <a:rPr lang="en-US" sz="1600" i="1" dirty="0">
                <a:solidFill>
                  <a:srgbClr val="75DFBC"/>
                </a:solidFill>
                <a:latin typeface="Arial" pitchFamily="34" charset="0"/>
                <a:ea typeface="Arial" pitchFamily="34" charset="-122"/>
                <a:cs typeface="Arial" pitchFamily="34" charset="-120"/>
              </a:rPr>
              <a:t>= one component, one file, one mental model</a:t>
            </a:r>
            <a:endParaRPr lang="en-US" sz="1600" dirty="0"/>
          </a:p>
        </p:txBody>
      </p:sp>
      <p:sp>
        <p:nvSpPr>
          <p:cNvPr id="14" name="Text 12"/>
          <p:cNvSpPr/>
          <p:nvPr/>
        </p:nvSpPr>
        <p:spPr>
          <a:xfrm>
            <a:off x="594360" y="3749040"/>
            <a:ext cx="11002975" cy="731520"/>
          </a:xfrm>
          <a:prstGeom prst="rect">
            <a:avLst/>
          </a:prstGeom>
          <a:noFill/>
          <a:ln/>
        </p:spPr>
        <p:txBody>
          <a:bodyPr wrap="square" lIns="0" tIns="0" rIns="0" bIns="0" rtlCol="0" anchor="ctr"/>
          <a:lstStyle/>
          <a:p>
            <a:pPr marL="0" indent="0" algn="l">
              <a:lnSpc>
                <a:spcPct val="105000"/>
              </a:lnSpc>
              <a:buNone/>
            </a:pPr>
            <a:r>
              <a:rPr lang="en-US" sz="2000" b="1" dirty="0">
                <a:solidFill>
                  <a:srgbClr val="FFFFFF"/>
                </a:solidFill>
                <a:latin typeface="Arial" pitchFamily="34" charset="0"/>
                <a:ea typeface="Arial" pitchFamily="34" charset="-122"/>
                <a:cs typeface="Arial" pitchFamily="34" charset="-120"/>
              </a:rPr>
              <a:t>Component encapsulation and utility-first both apply locality, at different layers.</a:t>
            </a:r>
            <a:endParaRPr lang="en-US" sz="2000" dirty="0"/>
          </a:p>
        </p:txBody>
      </p:sp>
      <p:sp>
        <p:nvSpPr>
          <p:cNvPr id="15" name="Shape 13"/>
          <p:cNvSpPr/>
          <p:nvPr/>
        </p:nvSpPr>
        <p:spPr>
          <a:xfrm>
            <a:off x="594360"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16" name="Text 14"/>
          <p:cNvSpPr/>
          <p:nvPr/>
        </p:nvSpPr>
        <p:spPr>
          <a:xfrm>
            <a:off x="594360"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React</a:t>
            </a:r>
            <a:endParaRPr lang="en-US" sz="1600" dirty="0"/>
          </a:p>
        </p:txBody>
      </p:sp>
      <p:sp>
        <p:nvSpPr>
          <p:cNvPr id="17" name="Shape 15"/>
          <p:cNvSpPr/>
          <p:nvPr/>
        </p:nvSpPr>
        <p:spPr>
          <a:xfrm>
            <a:off x="2057400" y="5097780"/>
            <a:ext cx="996696" cy="411480"/>
          </a:xfrm>
          <a:prstGeom prst="roundRect">
            <a:avLst>
              <a:gd name="adj" fmla="val 50000"/>
            </a:avLst>
          </a:prstGeom>
          <a:ln w="12700">
            <a:solidFill>
              <a:srgbClr val="3A3A3A"/>
            </a:solidFill>
            <a:prstDash val="solid"/>
          </a:ln>
        </p:spPr>
        <p:txBody>
          <a:bodyPr/>
          <a:lstStyle/>
          <a:p>
            <a:endParaRPr lang="en-US" sz="2400"/>
          </a:p>
        </p:txBody>
      </p:sp>
      <p:sp>
        <p:nvSpPr>
          <p:cNvPr id="18" name="Text 16"/>
          <p:cNvSpPr/>
          <p:nvPr/>
        </p:nvSpPr>
        <p:spPr>
          <a:xfrm>
            <a:off x="2057400" y="5097780"/>
            <a:ext cx="996696"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Vue</a:t>
            </a:r>
            <a:endParaRPr lang="en-US" sz="1600" dirty="0"/>
          </a:p>
        </p:txBody>
      </p:sp>
      <p:sp>
        <p:nvSpPr>
          <p:cNvPr id="19" name="Shape 17"/>
          <p:cNvSpPr/>
          <p:nvPr/>
        </p:nvSpPr>
        <p:spPr>
          <a:xfrm>
            <a:off x="3282696" y="5097780"/>
            <a:ext cx="1353312" cy="411480"/>
          </a:xfrm>
          <a:prstGeom prst="roundRect">
            <a:avLst>
              <a:gd name="adj" fmla="val 50000"/>
            </a:avLst>
          </a:prstGeom>
          <a:ln w="12700">
            <a:solidFill>
              <a:srgbClr val="3A3A3A"/>
            </a:solidFill>
            <a:prstDash val="solid"/>
          </a:ln>
        </p:spPr>
        <p:txBody>
          <a:bodyPr/>
          <a:lstStyle/>
          <a:p>
            <a:endParaRPr lang="en-US" sz="2400"/>
          </a:p>
        </p:txBody>
      </p:sp>
      <p:sp>
        <p:nvSpPr>
          <p:cNvPr id="20" name="Text 18"/>
          <p:cNvSpPr/>
          <p:nvPr/>
        </p:nvSpPr>
        <p:spPr>
          <a:xfrm>
            <a:off x="3282696" y="5097780"/>
            <a:ext cx="1353312"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Svelte</a:t>
            </a:r>
            <a:endParaRPr lang="en-US" sz="1600" dirty="0"/>
          </a:p>
        </p:txBody>
      </p:sp>
      <p:sp>
        <p:nvSpPr>
          <p:cNvPr id="21" name="Shape 19"/>
          <p:cNvSpPr/>
          <p:nvPr/>
        </p:nvSpPr>
        <p:spPr>
          <a:xfrm>
            <a:off x="4864608"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22" name="Text 20"/>
          <p:cNvSpPr/>
          <p:nvPr/>
        </p:nvSpPr>
        <p:spPr>
          <a:xfrm>
            <a:off x="4864608"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Solid</a:t>
            </a:r>
            <a:endParaRPr lang="en-US" sz="1600" dirty="0"/>
          </a:p>
        </p:txBody>
      </p:sp>
      <p:sp>
        <p:nvSpPr>
          <p:cNvPr id="23" name="Shape 21"/>
          <p:cNvSpPr/>
          <p:nvPr/>
        </p:nvSpPr>
        <p:spPr>
          <a:xfrm>
            <a:off x="6327648" y="5097780"/>
            <a:ext cx="1472184" cy="411480"/>
          </a:xfrm>
          <a:prstGeom prst="roundRect">
            <a:avLst>
              <a:gd name="adj" fmla="val 50000"/>
            </a:avLst>
          </a:prstGeom>
          <a:ln w="12700">
            <a:solidFill>
              <a:srgbClr val="3A3A3A"/>
            </a:solidFill>
            <a:prstDash val="solid"/>
          </a:ln>
        </p:spPr>
        <p:txBody>
          <a:bodyPr/>
          <a:lstStyle/>
          <a:p>
            <a:endParaRPr lang="en-US" sz="2400"/>
          </a:p>
        </p:txBody>
      </p:sp>
      <p:sp>
        <p:nvSpPr>
          <p:cNvPr id="24" name="Text 22"/>
          <p:cNvSpPr/>
          <p:nvPr/>
        </p:nvSpPr>
        <p:spPr>
          <a:xfrm>
            <a:off x="6327648" y="5097780"/>
            <a:ext cx="1472184"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Angular</a:t>
            </a:r>
            <a:endParaRPr lang="en-US" sz="1600" dirty="0"/>
          </a:p>
        </p:txBody>
      </p:sp>
      <p:sp>
        <p:nvSpPr>
          <p:cNvPr id="25" name="Text 23"/>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6" name="Text 24"/>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19 / 29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JS FRAMEWORK ANGLE</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Built for the JS toolchain</a:t>
            </a:r>
            <a:endParaRPr lang="en-US" sz="3400" dirty="0"/>
          </a:p>
        </p:txBody>
      </p:sp>
      <p:sp>
        <p:nvSpPr>
          <p:cNvPr id="4" name="Shape 2"/>
          <p:cNvSpPr/>
          <p:nvPr/>
        </p:nvSpPr>
        <p:spPr>
          <a:xfrm>
            <a:off x="594360" y="1920240"/>
            <a:ext cx="5349240"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4400" y="2148840"/>
            <a:ext cx="4709160" cy="457200"/>
          </a:xfrm>
          <a:prstGeom prst="rect">
            <a:avLst/>
          </a:prstGeom>
          <a:noFill/>
          <a:ln/>
        </p:spPr>
        <p:txBody>
          <a:bodyPr wrap="square" lIns="0" tIns="0" rIns="0" bIns="0" rtlCol="0" anchor="ctr"/>
          <a:lstStyle/>
          <a:p>
            <a:pPr marL="0" indent="0" algn="l">
              <a:buNone/>
            </a:pPr>
            <a:r>
              <a:rPr lang="en-US" sz="1800" b="1" dirty="0">
                <a:solidFill>
                  <a:srgbClr val="75DFBC"/>
                </a:solidFill>
                <a:latin typeface="Arial" pitchFamily="34" charset="0"/>
                <a:ea typeface="Arial" pitchFamily="34" charset="-122"/>
                <a:cs typeface="Arial" pitchFamily="34" charset="-120"/>
              </a:rPr>
              <a:t>Dynamic composition is trivial</a:t>
            </a:r>
            <a:endParaRPr lang="en-US" sz="1800" dirty="0"/>
          </a:p>
        </p:txBody>
      </p:sp>
      <p:sp>
        <p:nvSpPr>
          <p:cNvPr id="6" name="Text 4"/>
          <p:cNvSpPr/>
          <p:nvPr/>
        </p:nvSpPr>
        <p:spPr>
          <a:xfrm>
            <a:off x="914400" y="3108960"/>
            <a:ext cx="4709160" cy="1463040"/>
          </a:xfrm>
          <a:prstGeom prst="rect">
            <a:avLst/>
          </a:prstGeom>
          <a:noFill/>
          <a:ln/>
        </p:spPr>
        <p:txBody>
          <a:bodyPr wrap="square" lIns="0" tIns="0" rIns="0" bIns="0" rtlCol="0" anchor="t"/>
          <a:lstStyle/>
          <a:p>
            <a:pPr marL="0" indent="0" algn="l">
              <a:lnSpc>
                <a:spcPct val="130000"/>
              </a:lnSpc>
              <a:buNone/>
            </a:pPr>
            <a:r>
              <a:rPr lang="en-US" sz="1600" dirty="0">
                <a:solidFill>
                  <a:srgbClr val="F1CF25"/>
                </a:solidFill>
                <a:latin typeface="Courier New" pitchFamily="34" charset="0"/>
                <a:ea typeface="Courier New" pitchFamily="34" charset="-122"/>
                <a:cs typeface="Courier New" pitchFamily="34" charset="-120"/>
              </a:rPr>
              <a:t>className={cn(base, active &amp;&amp; ‘bg-mint’)}
</a:t>
            </a:r>
            <a:r>
              <a:rPr lang="en-US" sz="1600" dirty="0">
                <a:solidFill>
                  <a:srgbClr val="9CDCFE"/>
                </a:solidFill>
                <a:latin typeface="Courier New" pitchFamily="34" charset="0"/>
                <a:ea typeface="Courier New" pitchFamily="34" charset="-122"/>
                <a:cs typeface="Courier New" pitchFamily="34" charset="-120"/>
              </a:rPr>
              <a:t>:class="{ 'opacity-50': loading }"
</a:t>
            </a:r>
            <a:r>
              <a:rPr lang="en-US" sz="1600" dirty="0">
                <a:solidFill>
                  <a:srgbClr val="75DFBC"/>
                </a:solidFill>
                <a:latin typeface="Courier New" pitchFamily="34" charset="0"/>
                <a:ea typeface="Courier New" pitchFamily="34" charset="-122"/>
                <a:cs typeface="Courier New" pitchFamily="34" charset="-120"/>
              </a:rPr>
              <a:t>class:selected={isSelected}</a:t>
            </a:r>
            <a:endParaRPr lang="en-US" sz="1600" dirty="0"/>
          </a:p>
        </p:txBody>
      </p:sp>
      <p:sp>
        <p:nvSpPr>
          <p:cNvPr id="7" name="Text 5"/>
          <p:cNvSpPr/>
          <p:nvPr/>
        </p:nvSpPr>
        <p:spPr>
          <a:xfrm>
            <a:off x="914400" y="5023850"/>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JSX &amp; template bindings make class composition a one-liner.</a:t>
            </a:r>
            <a:endParaRPr lang="en-US" sz="1600" dirty="0"/>
          </a:p>
        </p:txBody>
      </p:sp>
      <p:sp>
        <p:nvSpPr>
          <p:cNvPr id="8" name="Shape 6"/>
          <p:cNvSpPr/>
          <p:nvPr/>
        </p:nvSpPr>
        <p:spPr>
          <a:xfrm>
            <a:off x="6263640" y="1920240"/>
            <a:ext cx="5330952"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9" name="Text 7"/>
          <p:cNvSpPr/>
          <p:nvPr/>
        </p:nvSpPr>
        <p:spPr>
          <a:xfrm>
            <a:off x="6583680" y="2148840"/>
            <a:ext cx="4709160" cy="457200"/>
          </a:xfrm>
          <a:prstGeom prst="rect">
            <a:avLst/>
          </a:prstGeom>
          <a:noFill/>
          <a:ln/>
        </p:spPr>
        <p:txBody>
          <a:bodyPr wrap="square" lIns="0" tIns="0" rIns="0" bIns="0" rtlCol="0" anchor="ctr"/>
          <a:lstStyle/>
          <a:p>
            <a:pPr marL="0" indent="0" algn="l">
              <a:buNone/>
            </a:pPr>
            <a:r>
              <a:rPr lang="en-US" sz="1800" b="1" dirty="0">
                <a:solidFill>
                  <a:srgbClr val="F1CF25"/>
                </a:solidFill>
                <a:latin typeface="Arial" pitchFamily="34" charset="0"/>
                <a:ea typeface="Arial" pitchFamily="34" charset="-122"/>
                <a:cs typeface="Arial" pitchFamily="34" charset="-120"/>
              </a:rPr>
              <a:t>The build step is already there</a:t>
            </a:r>
            <a:endParaRPr lang="en-US" sz="1800" dirty="0"/>
          </a:p>
        </p:txBody>
      </p:sp>
      <p:sp>
        <p:nvSpPr>
          <p:cNvPr id="10" name="Shape 8"/>
          <p:cNvSpPr/>
          <p:nvPr/>
        </p:nvSpPr>
        <p:spPr>
          <a:xfrm>
            <a:off x="6583680" y="3191256"/>
            <a:ext cx="118872" cy="118872"/>
          </a:xfrm>
          <a:prstGeom prst="rect">
            <a:avLst/>
          </a:prstGeom>
          <a:solidFill>
            <a:srgbClr val="F1CF25"/>
          </a:solidFill>
          <a:ln/>
        </p:spPr>
        <p:txBody>
          <a:bodyPr/>
          <a:lstStyle/>
          <a:p>
            <a:endParaRPr lang="en-US" sz="1600"/>
          </a:p>
        </p:txBody>
      </p:sp>
      <p:sp>
        <p:nvSpPr>
          <p:cNvPr id="11" name="Text 9"/>
          <p:cNvSpPr/>
          <p:nvPr/>
        </p:nvSpPr>
        <p:spPr>
          <a:xfrm>
            <a:off x="6876288" y="3108960"/>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Vite / PostCSS / bundlers = Tailwind's native home</a:t>
            </a:r>
            <a:endParaRPr lang="en-US" sz="1600" dirty="0"/>
          </a:p>
        </p:txBody>
      </p:sp>
      <p:sp>
        <p:nvSpPr>
          <p:cNvPr id="12" name="Shape 10"/>
          <p:cNvSpPr/>
          <p:nvPr/>
        </p:nvSpPr>
        <p:spPr>
          <a:xfrm>
            <a:off x="6583680" y="3739896"/>
            <a:ext cx="118872" cy="118872"/>
          </a:xfrm>
          <a:prstGeom prst="rect">
            <a:avLst/>
          </a:prstGeom>
          <a:solidFill>
            <a:srgbClr val="F1CF25"/>
          </a:solidFill>
          <a:ln/>
        </p:spPr>
        <p:txBody>
          <a:bodyPr/>
          <a:lstStyle/>
          <a:p>
            <a:endParaRPr lang="en-US" sz="1600"/>
          </a:p>
        </p:txBody>
      </p:sp>
      <p:sp>
        <p:nvSpPr>
          <p:cNvPr id="13" name="Text 11"/>
          <p:cNvSpPr/>
          <p:nvPr/>
        </p:nvSpPr>
        <p:spPr>
          <a:xfrm>
            <a:off x="6876288" y="3657600"/>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JIT compiler + content scanning</a:t>
            </a:r>
            <a:endParaRPr lang="en-US" sz="1600" dirty="0"/>
          </a:p>
        </p:txBody>
      </p:sp>
      <p:sp>
        <p:nvSpPr>
          <p:cNvPr id="14" name="Shape 12"/>
          <p:cNvSpPr/>
          <p:nvPr/>
        </p:nvSpPr>
        <p:spPr>
          <a:xfrm>
            <a:off x="6583680" y="4288536"/>
            <a:ext cx="118872" cy="118872"/>
          </a:xfrm>
          <a:prstGeom prst="rect">
            <a:avLst/>
          </a:prstGeom>
          <a:solidFill>
            <a:srgbClr val="F1CF25"/>
          </a:solidFill>
          <a:ln/>
        </p:spPr>
        <p:txBody>
          <a:bodyPr/>
          <a:lstStyle/>
          <a:p>
            <a:endParaRPr lang="en-US" sz="1600"/>
          </a:p>
        </p:txBody>
      </p:sp>
      <p:sp>
        <p:nvSpPr>
          <p:cNvPr id="15" name="Text 13"/>
          <p:cNvSpPr/>
          <p:nvPr/>
        </p:nvSpPr>
        <p:spPr>
          <a:xfrm>
            <a:off x="6876288" y="4206240"/>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Tree-shaking → ship only the utilities you use</a:t>
            </a:r>
            <a:endParaRPr lang="en-US" sz="1600" dirty="0"/>
          </a:p>
        </p:txBody>
      </p:sp>
      <p:sp>
        <p:nvSpPr>
          <p:cNvPr id="16" name="Text 14"/>
          <p:cNvSpPr/>
          <p:nvPr/>
        </p:nvSpPr>
        <p:spPr>
          <a:xfrm>
            <a:off x="6563641" y="5023850"/>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Tailwind is a build-tool-native idea. It belongs to the JS ecosystem.</a:t>
            </a:r>
            <a:endParaRPr lang="en-US" sz="1600" dirty="0"/>
          </a:p>
        </p:txBody>
      </p:sp>
      <p:sp>
        <p:nvSpPr>
          <p:cNvPr id="17" name="Text 1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8" name="Text 1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20 / 29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THE TYPESCRIPT ANGLE</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TypeScript ♥ Tailwind</a:t>
            </a:r>
            <a:endParaRPr lang="en-US" sz="3400" dirty="0"/>
          </a:p>
        </p:txBody>
      </p:sp>
      <p:sp>
        <p:nvSpPr>
          <p:cNvPr id="4" name="Text 2"/>
          <p:cNvSpPr/>
          <p:nvPr/>
        </p:nvSpPr>
        <p:spPr>
          <a:xfrm>
            <a:off x="594360" y="1783080"/>
            <a:ext cx="11002975" cy="457200"/>
          </a:xfrm>
          <a:prstGeom prst="rect">
            <a:avLst/>
          </a:prstGeom>
          <a:noFill/>
          <a:ln/>
        </p:spPr>
        <p:txBody>
          <a:bodyPr wrap="square" lIns="0" tIns="0" rIns="0" bIns="0" rtlCol="0" anchor="ctr"/>
          <a:lstStyle/>
          <a:p>
            <a:pPr marL="0" indent="0" algn="l">
              <a:buNone/>
            </a:pPr>
            <a:r>
              <a:rPr lang="en-US" sz="1800" dirty="0">
                <a:solidFill>
                  <a:srgbClr val="A6A6A6"/>
                </a:solidFill>
                <a:latin typeface="Arial" pitchFamily="34" charset="0"/>
                <a:ea typeface="Arial" pitchFamily="34" charset="-122"/>
                <a:cs typeface="Arial" pitchFamily="34" charset="-120"/>
              </a:rPr>
              <a:t>Same philosophy: a constrained, named vocabulary that catches mistakes early.</a:t>
            </a:r>
            <a:endParaRPr lang="en-US" sz="1800" dirty="0"/>
          </a:p>
        </p:txBody>
      </p:sp>
      <p:sp>
        <p:nvSpPr>
          <p:cNvPr id="5" name="Shape 3"/>
          <p:cNvSpPr/>
          <p:nvPr/>
        </p:nvSpPr>
        <p:spPr>
          <a:xfrm>
            <a:off x="594360" y="2377440"/>
            <a:ext cx="11002975" cy="3502152"/>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816" y="2560320"/>
            <a:ext cx="100584" cy="100584"/>
          </a:xfrm>
          <a:prstGeom prst="ellipse">
            <a:avLst/>
          </a:prstGeom>
          <a:solidFill>
            <a:srgbClr val="FF6A4C"/>
          </a:solidFill>
          <a:ln/>
        </p:spPr>
        <p:txBody>
          <a:bodyPr/>
          <a:lstStyle/>
          <a:p>
            <a:endParaRPr lang="en-US"/>
          </a:p>
        </p:txBody>
      </p:sp>
      <p:sp>
        <p:nvSpPr>
          <p:cNvPr id="7" name="Shape 5"/>
          <p:cNvSpPr/>
          <p:nvPr/>
        </p:nvSpPr>
        <p:spPr>
          <a:xfrm>
            <a:off x="1014984" y="2560320"/>
            <a:ext cx="100584" cy="100584"/>
          </a:xfrm>
          <a:prstGeom prst="ellipse">
            <a:avLst/>
          </a:prstGeom>
          <a:solidFill>
            <a:srgbClr val="F1CF25"/>
          </a:solidFill>
          <a:ln/>
        </p:spPr>
        <p:txBody>
          <a:bodyPr/>
          <a:lstStyle/>
          <a:p>
            <a:endParaRPr lang="en-US"/>
          </a:p>
        </p:txBody>
      </p:sp>
      <p:sp>
        <p:nvSpPr>
          <p:cNvPr id="8" name="Shape 6"/>
          <p:cNvSpPr/>
          <p:nvPr/>
        </p:nvSpPr>
        <p:spPr>
          <a:xfrm>
            <a:off x="1216152" y="2560320"/>
            <a:ext cx="100584" cy="100584"/>
          </a:xfrm>
          <a:prstGeom prst="ellipse">
            <a:avLst/>
          </a:prstGeom>
          <a:solidFill>
            <a:srgbClr val="75DFBC"/>
          </a:solidFill>
          <a:ln/>
        </p:spPr>
        <p:txBody>
          <a:bodyPr/>
          <a:lstStyle/>
          <a:p>
            <a:endParaRPr lang="en-US"/>
          </a:p>
        </p:txBody>
      </p:sp>
      <p:sp>
        <p:nvSpPr>
          <p:cNvPr id="9" name="Text 7"/>
          <p:cNvSpPr/>
          <p:nvPr/>
        </p:nvSpPr>
        <p:spPr>
          <a:xfrm>
            <a:off x="1508760" y="245059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button.tsx  ·  class-variance-authority</a:t>
            </a:r>
            <a:endParaRPr lang="en-US" sz="1600" dirty="0"/>
          </a:p>
        </p:txBody>
      </p:sp>
      <p:sp>
        <p:nvSpPr>
          <p:cNvPr id="10" name="Text 8"/>
          <p:cNvSpPr/>
          <p:nvPr/>
        </p:nvSpPr>
        <p:spPr>
          <a:xfrm>
            <a:off x="886968" y="2926080"/>
            <a:ext cx="10417759" cy="2667324"/>
          </a:xfrm>
          <a:prstGeom prst="rect">
            <a:avLst/>
          </a:prstGeom>
          <a:noFill/>
          <a:ln/>
        </p:spPr>
        <p:txBody>
          <a:bodyPr wrap="square" lIns="0" tIns="0" rIns="0" bIns="0" rtlCol="0" anchor="t"/>
          <a:lstStyle/>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const button = </a:t>
            </a:r>
            <a:r>
              <a:rPr lang="en-US" sz="2000" dirty="0">
                <a:solidFill>
                  <a:srgbClr val="75DFBC"/>
                </a:solidFill>
                <a:latin typeface="Cascadia Code" panose="020B0609020000020004" pitchFamily="49" charset="0"/>
                <a:ea typeface="Courier New" pitchFamily="34" charset="-122"/>
                <a:cs typeface="Cascadia Code" panose="020B0609020000020004" pitchFamily="49" charset="0"/>
              </a:rPr>
              <a:t>cva</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("rounded-lg font-bold",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9CDCFE"/>
                </a:solidFill>
                <a:latin typeface="Cascadia Code" panose="020B0609020000020004" pitchFamily="49" charset="0"/>
                <a:ea typeface="Courier New" pitchFamily="34" charset="-122"/>
                <a:cs typeface="Cascadia Code" panose="020B0609020000020004" pitchFamily="49" charset="0"/>
              </a:rPr>
              <a:t>  variants</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9CDCFE"/>
                </a:solidFill>
                <a:latin typeface="Cascadia Code" panose="020B0609020000020004" pitchFamily="49" charset="0"/>
                <a:ea typeface="Courier New" pitchFamily="34" charset="-122"/>
                <a:cs typeface="Cascadia Code" panose="020B0609020000020004" pitchFamily="49" charset="0"/>
              </a:rPr>
              <a:t>    variant</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 primary: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"bg-mint text-ink"</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destructive: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"bg-coral text-ink"</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9CDCFE"/>
                </a:solidFill>
                <a:latin typeface="Cascadia Code" panose="020B0609020000020004" pitchFamily="49" charset="0"/>
                <a:ea typeface="Courier New" pitchFamily="34" charset="-122"/>
                <a:cs typeface="Cascadia Code" panose="020B0609020000020004" pitchFamily="49" charset="0"/>
              </a:rPr>
              <a:t>    size</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 sm: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"h-8 px-3"</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lg: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"h-12 px-6"</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a:t>
            </a:r>
            <a:r>
              <a:rPr lang="en-US" sz="2000" dirty="0">
                <a:solidFill>
                  <a:srgbClr val="6E6E6E"/>
                </a:solidFill>
                <a:latin typeface="Cascadia Code" panose="020B0609020000020004" pitchFamily="49" charset="0"/>
                <a:ea typeface="Courier New" pitchFamily="34" charset="-122"/>
                <a:cs typeface="Cascadia Code" panose="020B0609020000020004" pitchFamily="49" charset="0"/>
              </a:rPr>
              <a:t>   // ← variants are now type-checked &amp; autocompleted</a:t>
            </a:r>
            <a:endParaRPr lang="en-US" sz="2000" dirty="0">
              <a:latin typeface="Cascadia Code" panose="020B0609020000020004" pitchFamily="49" charset="0"/>
              <a:cs typeface="Cascadia Code" panose="020B0609020000020004" pitchFamily="49" charset="0"/>
            </a:endParaRPr>
          </a:p>
        </p:txBody>
      </p:sp>
      <p:sp>
        <p:nvSpPr>
          <p:cNvPr id="11" name="Shape 9"/>
          <p:cNvSpPr/>
          <p:nvPr/>
        </p:nvSpPr>
        <p:spPr>
          <a:xfrm>
            <a:off x="594360" y="5943600"/>
            <a:ext cx="969264"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2" name="Text 10"/>
          <p:cNvSpPr/>
          <p:nvPr/>
        </p:nvSpPr>
        <p:spPr>
          <a:xfrm>
            <a:off x="594360" y="5943600"/>
            <a:ext cx="969264"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cva</a:t>
            </a:r>
            <a:endParaRPr lang="en-US" sz="1300" dirty="0"/>
          </a:p>
        </p:txBody>
      </p:sp>
      <p:sp>
        <p:nvSpPr>
          <p:cNvPr id="13" name="Shape 11"/>
          <p:cNvSpPr/>
          <p:nvPr/>
        </p:nvSpPr>
        <p:spPr>
          <a:xfrm>
            <a:off x="1792224" y="5943600"/>
            <a:ext cx="2505456"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4" name="Text 12"/>
          <p:cNvSpPr/>
          <p:nvPr/>
        </p:nvSpPr>
        <p:spPr>
          <a:xfrm>
            <a:off x="1792224" y="5943600"/>
            <a:ext cx="2505456"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tailwind-variants</a:t>
            </a:r>
            <a:endParaRPr lang="en-US" sz="1300" dirty="0"/>
          </a:p>
        </p:txBody>
      </p:sp>
      <p:sp>
        <p:nvSpPr>
          <p:cNvPr id="15" name="Shape 13"/>
          <p:cNvSpPr/>
          <p:nvPr/>
        </p:nvSpPr>
        <p:spPr>
          <a:xfrm>
            <a:off x="4526280" y="5943600"/>
            <a:ext cx="2176272"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6" name="Text 14"/>
          <p:cNvSpPr/>
          <p:nvPr/>
        </p:nvSpPr>
        <p:spPr>
          <a:xfrm>
            <a:off x="4526280" y="5943600"/>
            <a:ext cx="2176272"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tailwind-merge</a:t>
            </a:r>
            <a:endParaRPr lang="en-US" sz="1300" dirty="0"/>
          </a:p>
        </p:txBody>
      </p:sp>
      <p:sp>
        <p:nvSpPr>
          <p:cNvPr id="17" name="Shape 15"/>
          <p:cNvSpPr/>
          <p:nvPr/>
        </p:nvSpPr>
        <p:spPr>
          <a:xfrm>
            <a:off x="6931152" y="5943600"/>
            <a:ext cx="1627632"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8" name="Text 16"/>
          <p:cNvSpPr/>
          <p:nvPr/>
        </p:nvSpPr>
        <p:spPr>
          <a:xfrm>
            <a:off x="6931152" y="5943600"/>
            <a:ext cx="1627632"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clsx / cn</a:t>
            </a:r>
            <a:endParaRPr lang="en-US" sz="1300" dirty="0"/>
          </a:p>
        </p:txBody>
      </p:sp>
      <p:sp>
        <p:nvSpPr>
          <p:cNvPr id="19" name="Text 17"/>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0" name="Text 18"/>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21 / 29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2: typed variants, live</a:t>
            </a:r>
            <a:endParaRPr lang="en-US" sz="3600" dirty="0"/>
          </a:p>
        </p:txBody>
      </p:sp>
      <p:sp>
        <p:nvSpPr>
          <p:cNvPr id="5" name="Shape 3"/>
          <p:cNvSpPr/>
          <p:nvPr/>
        </p:nvSpPr>
        <p:spPr>
          <a:xfrm>
            <a:off x="594360" y="3191256"/>
            <a:ext cx="118872" cy="118872"/>
          </a:xfrm>
          <a:prstGeom prst="rect">
            <a:avLst/>
          </a:prstGeom>
          <a:solidFill>
            <a:srgbClr val="75DFBC"/>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Toggle variant × size: the class string updates in real time</a:t>
            </a:r>
            <a:endParaRPr lang="en-US" sz="1800" dirty="0"/>
          </a:p>
        </p:txBody>
      </p:sp>
      <p:sp>
        <p:nvSpPr>
          <p:cNvPr id="7" name="Shape 5"/>
          <p:cNvSpPr/>
          <p:nvPr/>
        </p:nvSpPr>
        <p:spPr>
          <a:xfrm>
            <a:off x="594360" y="3831336"/>
            <a:ext cx="118872" cy="118872"/>
          </a:xfrm>
          <a:prstGeom prst="rect">
            <a:avLst/>
          </a:prstGeom>
          <a:solidFill>
            <a:srgbClr val="F1CF25"/>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Every variant is autocompleted AND type-checked in the editor</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A wrong variant is a red squiggle at compile time</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600" dirty="0">
                <a:solidFill>
                  <a:srgbClr val="A6A6A6"/>
                </a:solidFill>
                <a:latin typeface="Courier New" pitchFamily="34" charset="0"/>
                <a:ea typeface="Courier New" pitchFamily="34" charset="-122"/>
                <a:cs typeface="Courier New" pitchFamily="34" charset="-120"/>
              </a:rPr>
              <a:t>→ open the cva Button playground   ·   then show IntelliSense on  &lt;Button variant="</a:t>
            </a:r>
            <a:endParaRPr lang="en-US" sz="16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22 / 29</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3: watch it edit ONE file</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“add a success variant, then a loading state with a spinner”</a:t>
            </a:r>
            <a:endParaRPr lang="en-US" sz="1800" dirty="0"/>
          </a:p>
        </p:txBody>
      </p:sp>
      <p:sp>
        <p:nvSpPr>
          <p:cNvPr id="7" name="Shape 5"/>
          <p:cNvSpPr/>
          <p:nvPr/>
        </p:nvSpPr>
        <p:spPr>
          <a:xfrm>
            <a:off x="594360" y="3831336"/>
            <a:ext cx="118872" cy="118872"/>
          </a:xfrm>
          <a:prstGeom prst="rect">
            <a:avLst/>
          </a:prstGeom>
          <a:solidFill>
            <a:srgbClr val="75DFBC"/>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The diff lands entirely inside button.tsx. Nothing else moves.</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No cascade to chase, no stylesheet to hunt down</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500" dirty="0">
                <a:solidFill>
                  <a:srgbClr val="75DFBC"/>
                </a:solidFill>
                <a:latin typeface="Courier New" pitchFamily="34" charset="0"/>
                <a:ea typeface="Courier New" pitchFamily="34" charset="-122"/>
                <a:cs typeface="Courier New" pitchFamily="34" charset="-120"/>
              </a:rPr>
              <a:t>Local edit = safe edit. That is the payoff of everything before it.</a:t>
            </a:r>
            <a:endParaRPr lang="en-US" sz="15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23 / 29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PROOF</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200" b="1" dirty="0">
                <a:solidFill>
                  <a:srgbClr val="FFFFFF"/>
                </a:solidFill>
                <a:latin typeface="Arial" pitchFamily="34" charset="0"/>
                <a:ea typeface="Arial" pitchFamily="34" charset="-122"/>
                <a:cs typeface="Arial" pitchFamily="34" charset="-120"/>
              </a:rPr>
              <a:t>shadcn/ui is the thesis, shipped</a:t>
            </a:r>
            <a:endParaRPr lang="en-US" sz="3200" dirty="0"/>
          </a:p>
        </p:txBody>
      </p:sp>
      <p:sp>
        <p:nvSpPr>
          <p:cNvPr id="4" name="Shape 2"/>
          <p:cNvSpPr/>
          <p:nvPr/>
        </p:nvSpPr>
        <p:spPr>
          <a:xfrm>
            <a:off x="594360" y="2093976"/>
            <a:ext cx="118872" cy="118872"/>
          </a:xfrm>
          <a:prstGeom prst="rect">
            <a:avLst/>
          </a:prstGeom>
          <a:solidFill>
            <a:srgbClr val="75DFBC"/>
          </a:solidFill>
          <a:ln/>
        </p:spPr>
        <p:txBody>
          <a:bodyPr/>
          <a:lstStyle/>
          <a:p>
            <a:endParaRPr lang="en-US"/>
          </a:p>
        </p:txBody>
      </p:sp>
      <p:sp>
        <p:nvSpPr>
          <p:cNvPr id="5" name="Text 3"/>
          <p:cNvSpPr/>
          <p:nvPr/>
        </p:nvSpPr>
        <p:spPr>
          <a:xfrm>
            <a:off x="886968" y="20116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Copy-paste components: Tailwind + TypeScript + cva</a:t>
            </a:r>
            <a:endParaRPr lang="en-US" sz="1800" dirty="0"/>
          </a:p>
        </p:txBody>
      </p:sp>
      <p:sp>
        <p:nvSpPr>
          <p:cNvPr id="6" name="Shape 4"/>
          <p:cNvSpPr/>
          <p:nvPr/>
        </p:nvSpPr>
        <p:spPr>
          <a:xfrm>
            <a:off x="594360" y="2779776"/>
            <a:ext cx="118872" cy="118872"/>
          </a:xfrm>
          <a:prstGeom prst="rect">
            <a:avLst/>
          </a:prstGeom>
          <a:solidFill>
            <a:srgbClr val="75DFBC"/>
          </a:solidFill>
          <a:ln/>
        </p:spPr>
        <p:txBody>
          <a:bodyPr/>
          <a:lstStyle/>
          <a:p>
            <a:endParaRPr lang="en-US"/>
          </a:p>
        </p:txBody>
      </p:sp>
      <p:sp>
        <p:nvSpPr>
          <p:cNvPr id="7" name="Text 5"/>
          <p:cNvSpPr/>
          <p:nvPr/>
        </p:nvSpPr>
        <p:spPr>
          <a:xfrm>
            <a:off x="886968" y="26974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It exists because devs and LLMs both read and modify it trivially</a:t>
            </a:r>
            <a:endParaRPr lang="en-US" sz="1800" dirty="0"/>
          </a:p>
        </p:txBody>
      </p:sp>
      <p:sp>
        <p:nvSpPr>
          <p:cNvPr id="8" name="Shape 6"/>
          <p:cNvSpPr/>
          <p:nvPr/>
        </p:nvSpPr>
        <p:spPr>
          <a:xfrm>
            <a:off x="594360" y="3465576"/>
            <a:ext cx="118872" cy="118872"/>
          </a:xfrm>
          <a:prstGeom prst="rect">
            <a:avLst/>
          </a:prstGeom>
          <a:solidFill>
            <a:srgbClr val="75DFBC"/>
          </a:solidFill>
          <a:ln/>
        </p:spPr>
        <p:txBody>
          <a:bodyPr/>
          <a:lstStyle/>
          <a:p>
            <a:endParaRPr lang="en-US"/>
          </a:p>
        </p:txBody>
      </p:sp>
      <p:sp>
        <p:nvSpPr>
          <p:cNvPr id="9" name="Text 7"/>
          <p:cNvSpPr/>
          <p:nvPr/>
        </p:nvSpPr>
        <p:spPr>
          <a:xfrm>
            <a:off x="886968" y="33832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v0, bolt, Lovable, Cursor, Artifacts all target it by default</a:t>
            </a:r>
            <a:endParaRPr lang="en-US" sz="1800" dirty="0"/>
          </a:p>
        </p:txBody>
      </p:sp>
      <p:sp>
        <p:nvSpPr>
          <p:cNvPr id="10" name="Shape 8"/>
          <p:cNvSpPr/>
          <p:nvPr/>
        </p:nvSpPr>
        <p:spPr>
          <a:xfrm>
            <a:off x="594360" y="4297680"/>
            <a:ext cx="11002975" cy="1371600"/>
          </a:xfrm>
          <a:prstGeom prst="roundRect">
            <a:avLst>
              <a:gd name="adj" fmla="val 8000"/>
            </a:avLst>
          </a:prstGeom>
          <a:solidFill>
            <a:srgbClr val="2C2B2B"/>
          </a:solidFill>
          <a:ln w="12700">
            <a:solidFill>
              <a:srgbClr val="75DFBC"/>
            </a:solidFill>
            <a:prstDash val="solid"/>
          </a:ln>
        </p:spPr>
        <p:txBody>
          <a:bodyPr/>
          <a:lstStyle/>
          <a:p>
            <a:endParaRPr lang="en-US"/>
          </a:p>
        </p:txBody>
      </p:sp>
      <p:sp>
        <p:nvSpPr>
          <p:cNvPr id="11" name="Text 9"/>
          <p:cNvSpPr/>
          <p:nvPr/>
        </p:nvSpPr>
        <p:spPr>
          <a:xfrm>
            <a:off x="960120" y="4297680"/>
            <a:ext cx="10271455" cy="1371600"/>
          </a:xfrm>
          <a:prstGeom prst="rect">
            <a:avLst/>
          </a:prstGeom>
          <a:noFill/>
          <a:ln/>
        </p:spPr>
        <p:txBody>
          <a:bodyPr wrap="square" lIns="0" tIns="0" rIns="0" bIns="0" rtlCol="0" anchor="ctr"/>
          <a:lstStyle/>
          <a:p>
            <a:pPr marL="0" indent="0" algn="l">
              <a:buNone/>
            </a:pPr>
            <a:r>
              <a:rPr lang="en-US" sz="2600" b="1" dirty="0">
                <a:solidFill>
                  <a:srgbClr val="FFFFFF"/>
                </a:solidFill>
                <a:latin typeface="Arial" pitchFamily="34" charset="0"/>
                <a:ea typeface="Arial" pitchFamily="34" charset="-122"/>
                <a:cs typeface="Arial" pitchFamily="34" charset="-120"/>
              </a:rPr>
              <a:t>One stack: </a:t>
            </a:r>
            <a:r>
              <a:rPr lang="en-US" sz="2600" b="1" dirty="0">
                <a:solidFill>
                  <a:srgbClr val="75DFBC"/>
                </a:solidFill>
                <a:latin typeface="Arial" pitchFamily="34" charset="0"/>
                <a:ea typeface="Arial" pitchFamily="34" charset="-122"/>
                <a:cs typeface="Arial" pitchFamily="34" charset="-120"/>
              </a:rPr>
              <a:t>Tailwind + TypeScript</a:t>
            </a: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24 / 29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OBJECTIONS</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“But Tailwind is…”</a:t>
            </a:r>
            <a:endParaRPr lang="en-US" sz="3400" dirty="0"/>
          </a:p>
        </p:txBody>
      </p:sp>
      <p:sp>
        <p:nvSpPr>
          <p:cNvPr id="4" name="Shape 2"/>
          <p:cNvSpPr/>
          <p:nvPr/>
        </p:nvSpPr>
        <p:spPr>
          <a:xfrm>
            <a:off x="594360" y="196596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4400" y="213055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F6A4C"/>
                </a:solidFill>
                <a:latin typeface="Arial" pitchFamily="34" charset="0"/>
                <a:ea typeface="Arial" pitchFamily="34" charset="-122"/>
                <a:cs typeface="Arial" pitchFamily="34" charset="-120"/>
              </a:rPr>
              <a:t>“ugly class soup”</a:t>
            </a:r>
            <a:endParaRPr lang="en-US" dirty="0"/>
          </a:p>
        </p:txBody>
      </p:sp>
      <p:sp>
        <p:nvSpPr>
          <p:cNvPr id="6" name="Text 4"/>
          <p:cNvSpPr/>
          <p:nvPr/>
        </p:nvSpPr>
        <p:spPr>
          <a:xfrm>
            <a:off x="4343400" y="210312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Extract components in your framework, not @apply. The soup lives in ONE place you rarely re-read.</a:t>
            </a:r>
            <a:endParaRPr lang="en-US" dirty="0"/>
          </a:p>
        </p:txBody>
      </p:sp>
      <p:sp>
        <p:nvSpPr>
          <p:cNvPr id="7" name="Shape 5"/>
          <p:cNvSpPr/>
          <p:nvPr/>
        </p:nvSpPr>
        <p:spPr>
          <a:xfrm>
            <a:off x="594360" y="320040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914400" y="336499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1CF25"/>
                </a:solidFill>
                <a:latin typeface="Arial" pitchFamily="34" charset="0"/>
                <a:ea typeface="Arial" pitchFamily="34" charset="-122"/>
                <a:cs typeface="Arial" pitchFamily="34" charset="-120"/>
              </a:rPr>
              <a:t>“a steep learning curve”</a:t>
            </a:r>
            <a:endParaRPr lang="en-US" dirty="0"/>
          </a:p>
        </p:txBody>
      </p:sp>
      <p:sp>
        <p:nvSpPr>
          <p:cNvPr id="9" name="Text 7"/>
          <p:cNvSpPr/>
          <p:nvPr/>
        </p:nvSpPr>
        <p:spPr>
          <a:xfrm>
            <a:off x="4343400" y="333756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It's a closed set + IntelliSense. Learn it once; it transfers to every project and every model.</a:t>
            </a:r>
            <a:endParaRPr lang="en-US" dirty="0"/>
          </a:p>
        </p:txBody>
      </p:sp>
      <p:sp>
        <p:nvSpPr>
          <p:cNvPr id="10" name="Shape 8"/>
          <p:cNvSpPr/>
          <p:nvPr/>
        </p:nvSpPr>
        <p:spPr>
          <a:xfrm>
            <a:off x="594360" y="443484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914400" y="459943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75DFBC"/>
                </a:solidFill>
                <a:latin typeface="Arial" pitchFamily="34" charset="0"/>
                <a:ea typeface="Arial" pitchFamily="34" charset="-122"/>
                <a:cs typeface="Arial" pitchFamily="34" charset="-120"/>
              </a:rPr>
              <a:t>“just inline styles”</a:t>
            </a:r>
            <a:endParaRPr lang="en-US" dirty="0"/>
          </a:p>
        </p:txBody>
      </p:sp>
      <p:sp>
        <p:nvSpPr>
          <p:cNvPr id="12" name="Text 10"/>
          <p:cNvSpPr/>
          <p:nvPr/>
        </p:nvSpPr>
        <p:spPr>
          <a:xfrm>
            <a:off x="4343400" y="457200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design tokens + hover: / md: / dark: variants + purge. Inline styles can't do any of that.</a:t>
            </a:r>
            <a:endParaRPr lang="en-US" dirty="0"/>
          </a:p>
        </p:txBody>
      </p:sp>
      <p:sp>
        <p:nvSpPr>
          <p:cNvPr id="13" name="Text 11"/>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4" name="Text 12"/>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25 / 29</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MONDAY MORNING</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How to adopt (and convince the team)</a:t>
            </a:r>
            <a:endParaRPr lang="en-US" sz="3000" dirty="0"/>
          </a:p>
        </p:txBody>
      </p:sp>
      <p:sp>
        <p:nvSpPr>
          <p:cNvPr id="4" name="Shape 2"/>
          <p:cNvSpPr/>
          <p:nvPr/>
        </p:nvSpPr>
        <p:spPr>
          <a:xfrm>
            <a:off x="594360" y="1965960"/>
            <a:ext cx="548640" cy="548640"/>
          </a:xfrm>
          <a:prstGeom prst="ellipse">
            <a:avLst/>
          </a:prstGeom>
          <a:solidFill>
            <a:srgbClr val="75DFBC"/>
          </a:solidFill>
          <a:ln/>
        </p:spPr>
        <p:txBody>
          <a:bodyPr/>
          <a:lstStyle/>
          <a:p>
            <a:endParaRPr lang="en-US"/>
          </a:p>
        </p:txBody>
      </p:sp>
      <p:sp>
        <p:nvSpPr>
          <p:cNvPr id="5" name="Text 3"/>
          <p:cNvSpPr/>
          <p:nvPr/>
        </p:nvSpPr>
        <p:spPr>
          <a:xfrm>
            <a:off x="594360" y="196596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417320" y="196596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Start in NEW components. No big-bang rewrite.</a:t>
            </a:r>
            <a:endParaRPr lang="en-US" sz="1800" dirty="0"/>
          </a:p>
        </p:txBody>
      </p:sp>
      <p:sp>
        <p:nvSpPr>
          <p:cNvPr id="7" name="Shape 5"/>
          <p:cNvSpPr/>
          <p:nvPr/>
        </p:nvSpPr>
        <p:spPr>
          <a:xfrm>
            <a:off x="594360" y="2743200"/>
            <a:ext cx="548640" cy="548640"/>
          </a:xfrm>
          <a:prstGeom prst="ellipse">
            <a:avLst/>
          </a:prstGeom>
          <a:solidFill>
            <a:srgbClr val="F1CF25"/>
          </a:solidFill>
          <a:ln/>
        </p:spPr>
        <p:txBody>
          <a:bodyPr/>
          <a:lstStyle/>
          <a:p>
            <a:endParaRPr lang="en-US"/>
          </a:p>
        </p:txBody>
      </p:sp>
      <p:sp>
        <p:nvSpPr>
          <p:cNvPr id="8" name="Text 6"/>
          <p:cNvSpPr/>
          <p:nvPr/>
        </p:nvSpPr>
        <p:spPr>
          <a:xfrm>
            <a:off x="594360" y="274320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417320" y="274320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Add the Tailwind IntelliSense + Prettier class-sorter plugins</a:t>
            </a:r>
            <a:endParaRPr lang="en-US" sz="1800" dirty="0"/>
          </a:p>
        </p:txBody>
      </p:sp>
      <p:sp>
        <p:nvSpPr>
          <p:cNvPr id="10" name="Shape 8"/>
          <p:cNvSpPr/>
          <p:nvPr/>
        </p:nvSpPr>
        <p:spPr>
          <a:xfrm>
            <a:off x="594360" y="3520440"/>
            <a:ext cx="548640" cy="548640"/>
          </a:xfrm>
          <a:prstGeom prst="ellipse">
            <a:avLst/>
          </a:prstGeom>
          <a:solidFill>
            <a:srgbClr val="75DFBC"/>
          </a:solidFill>
          <a:ln/>
        </p:spPr>
        <p:txBody>
          <a:bodyPr/>
          <a:lstStyle/>
          <a:p>
            <a:endParaRPr lang="en-US"/>
          </a:p>
        </p:txBody>
      </p:sp>
      <p:sp>
        <p:nvSpPr>
          <p:cNvPr id="11" name="Text 9"/>
          <p:cNvSpPr/>
          <p:nvPr/>
        </p:nvSpPr>
        <p:spPr>
          <a:xfrm>
            <a:off x="594360" y="352044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417320" y="352044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Adopt cn() + cva for anything with variants</a:t>
            </a:r>
            <a:endParaRPr lang="en-US" sz="1800" dirty="0"/>
          </a:p>
        </p:txBody>
      </p:sp>
      <p:sp>
        <p:nvSpPr>
          <p:cNvPr id="13" name="Shape 11"/>
          <p:cNvSpPr/>
          <p:nvPr/>
        </p:nvSpPr>
        <p:spPr>
          <a:xfrm>
            <a:off x="594360" y="4297680"/>
            <a:ext cx="548640" cy="548640"/>
          </a:xfrm>
          <a:prstGeom prst="ellipse">
            <a:avLst/>
          </a:prstGeom>
          <a:solidFill>
            <a:srgbClr val="F1CF25"/>
          </a:solidFill>
          <a:ln/>
        </p:spPr>
        <p:txBody>
          <a:bodyPr/>
          <a:lstStyle/>
          <a:p>
            <a:endParaRPr lang="en-US"/>
          </a:p>
        </p:txBody>
      </p:sp>
      <p:sp>
        <p:nvSpPr>
          <p:cNvPr id="14" name="Text 12"/>
          <p:cNvSpPr/>
          <p:nvPr/>
        </p:nvSpPr>
        <p:spPr>
          <a:xfrm>
            <a:off x="594360" y="429768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417320" y="429768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Steal shamelessly from shadcn/ui</a:t>
            </a:r>
            <a:endParaRPr lang="en-US" sz="1800" dirty="0"/>
          </a:p>
        </p:txBody>
      </p:sp>
      <p:sp>
        <p:nvSpPr>
          <p:cNvPr id="16" name="Shape 14"/>
          <p:cNvSpPr/>
          <p:nvPr/>
        </p:nvSpPr>
        <p:spPr>
          <a:xfrm>
            <a:off x="594360" y="5074920"/>
            <a:ext cx="548640" cy="548640"/>
          </a:xfrm>
          <a:prstGeom prst="ellipse">
            <a:avLst/>
          </a:prstGeom>
          <a:solidFill>
            <a:srgbClr val="75DFBC"/>
          </a:solidFill>
          <a:ln/>
        </p:spPr>
        <p:txBody>
          <a:bodyPr/>
          <a:lstStyle/>
          <a:p>
            <a:endParaRPr lang="en-US"/>
          </a:p>
        </p:txBody>
      </p:sp>
      <p:sp>
        <p:nvSpPr>
          <p:cNvPr id="17" name="Text 15"/>
          <p:cNvSpPr/>
          <p:nvPr/>
        </p:nvSpPr>
        <p:spPr>
          <a:xfrm>
            <a:off x="594360" y="507492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18" name="Text 16"/>
          <p:cNvSpPr/>
          <p:nvPr/>
        </p:nvSpPr>
        <p:spPr>
          <a:xfrm>
            <a:off x="1417320" y="507492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Let the LLM speed compound. Measure PR velocity.</a:t>
            </a:r>
            <a:endParaRPr lang="en-US" sz="1800" dirty="0"/>
          </a:p>
        </p:txBody>
      </p:sp>
      <p:sp>
        <p:nvSpPr>
          <p:cNvPr id="19" name="Text 17"/>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0" name="Text 18"/>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26 / 29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TAKEAWAYS</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What to remember</a:t>
            </a:r>
            <a:endParaRPr lang="en-US" sz="3400" dirty="0"/>
          </a:p>
        </p:txBody>
      </p:sp>
      <p:sp>
        <p:nvSpPr>
          <p:cNvPr id="4" name="Shape 2"/>
          <p:cNvSpPr/>
          <p:nvPr/>
        </p:nvSpPr>
        <p:spPr>
          <a:xfrm>
            <a:off x="594360" y="2011680"/>
            <a:ext cx="603504" cy="603504"/>
          </a:xfrm>
          <a:prstGeom prst="ellipse">
            <a:avLst/>
          </a:prstGeom>
          <a:solidFill>
            <a:srgbClr val="75DFBC"/>
          </a:solidFill>
          <a:ln/>
        </p:spPr>
        <p:txBody>
          <a:bodyPr/>
          <a:lstStyle/>
          <a:p>
            <a:endParaRPr lang="en-US"/>
          </a:p>
        </p:txBody>
      </p:sp>
      <p:sp>
        <p:nvSpPr>
          <p:cNvPr id="5" name="Text 3"/>
          <p:cNvSpPr/>
          <p:nvPr/>
        </p:nvSpPr>
        <p:spPr>
          <a:xfrm>
            <a:off x="594360" y="20116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08760" y="20116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friction was locality</a:t>
            </a:r>
            <a:endParaRPr lang="en-US" sz="1900" dirty="0"/>
          </a:p>
        </p:txBody>
      </p:sp>
      <p:sp>
        <p:nvSpPr>
          <p:cNvPr id="7" name="Shape 5"/>
          <p:cNvSpPr/>
          <p:nvPr/>
        </p:nvSpPr>
        <p:spPr>
          <a:xfrm>
            <a:off x="594360" y="2926080"/>
            <a:ext cx="603504" cy="603504"/>
          </a:xfrm>
          <a:prstGeom prst="ellipse">
            <a:avLst/>
          </a:prstGeom>
          <a:solidFill>
            <a:srgbClr val="F1CF25"/>
          </a:solidFill>
          <a:ln/>
        </p:spPr>
        <p:txBody>
          <a:bodyPr/>
          <a:lstStyle/>
          <a:p>
            <a:endParaRPr lang="en-US"/>
          </a:p>
        </p:txBody>
      </p:sp>
      <p:sp>
        <p:nvSpPr>
          <p:cNvPr id="8" name="Text 6"/>
          <p:cNvSpPr/>
          <p:nvPr/>
        </p:nvSpPr>
        <p:spPr>
          <a:xfrm>
            <a:off x="594360" y="29260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508760" y="29260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LLMs love Tailwind: co-located, closed-vocabulary, deterministic, everywhere in training</a:t>
            </a:r>
            <a:endParaRPr lang="en-US" sz="1900" dirty="0"/>
          </a:p>
        </p:txBody>
      </p:sp>
      <p:sp>
        <p:nvSpPr>
          <p:cNvPr id="10" name="Shape 8"/>
          <p:cNvSpPr/>
          <p:nvPr/>
        </p:nvSpPr>
        <p:spPr>
          <a:xfrm>
            <a:off x="594360" y="3840480"/>
            <a:ext cx="603504" cy="603504"/>
          </a:xfrm>
          <a:prstGeom prst="ellipse">
            <a:avLst/>
          </a:prstGeom>
          <a:solidFill>
            <a:srgbClr val="FF6A4C"/>
          </a:solidFill>
          <a:ln/>
        </p:spPr>
        <p:txBody>
          <a:bodyPr/>
          <a:lstStyle/>
          <a:p>
            <a:endParaRPr lang="en-US"/>
          </a:p>
        </p:txBody>
      </p:sp>
      <p:sp>
        <p:nvSpPr>
          <p:cNvPr id="11" name="Text 9"/>
          <p:cNvSpPr/>
          <p:nvPr/>
        </p:nvSpPr>
        <p:spPr>
          <a:xfrm>
            <a:off x="594360" y="38404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508760" y="38404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Components, utilities, and TS types: locality at three layers</a:t>
            </a:r>
            <a:endParaRPr lang="en-US" sz="1900" dirty="0"/>
          </a:p>
        </p:txBody>
      </p:sp>
      <p:sp>
        <p:nvSpPr>
          <p:cNvPr id="13" name="Shape 11"/>
          <p:cNvSpPr/>
          <p:nvPr/>
        </p:nvSpPr>
        <p:spPr>
          <a:xfrm>
            <a:off x="594360" y="4754880"/>
            <a:ext cx="603504" cy="603504"/>
          </a:xfrm>
          <a:prstGeom prst="ellipse">
            <a:avLst/>
          </a:prstGeom>
          <a:solidFill>
            <a:srgbClr val="75DFBC"/>
          </a:solidFill>
          <a:ln/>
        </p:spPr>
        <p:txBody>
          <a:bodyPr/>
          <a:lstStyle/>
          <a:p>
            <a:endParaRPr lang="en-US"/>
          </a:p>
        </p:txBody>
      </p:sp>
      <p:sp>
        <p:nvSpPr>
          <p:cNvPr id="14" name="Text 12"/>
          <p:cNvSpPr/>
          <p:nvPr/>
        </p:nvSpPr>
        <p:spPr>
          <a:xfrm>
            <a:off x="594360" y="47548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508760" y="47548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machines already voted. Now you have the ammunition.</a:t>
            </a:r>
            <a:endParaRPr lang="en-US" sz="1900" dirty="0"/>
          </a:p>
        </p:txBody>
      </p:sp>
      <p:sp>
        <p:nvSpPr>
          <p:cNvPr id="16" name="Text 14"/>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7" name="Text 15"/>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27 / 29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GO DEEPER</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Resources</a:t>
            </a:r>
            <a:endParaRPr lang="en-US" sz="3400" dirty="0"/>
          </a:p>
        </p:txBody>
      </p:sp>
      <p:sp>
        <p:nvSpPr>
          <p:cNvPr id="4" name="Shape 2"/>
          <p:cNvSpPr/>
          <p:nvPr/>
        </p:nvSpPr>
        <p:spPr>
          <a:xfrm>
            <a:off x="592332" y="2148840"/>
            <a:ext cx="118872" cy="118872"/>
          </a:xfrm>
          <a:prstGeom prst="rect">
            <a:avLst/>
          </a:prstGeom>
          <a:solidFill>
            <a:srgbClr val="75DFBC"/>
          </a:solidFill>
          <a:ln/>
        </p:spPr>
        <p:txBody>
          <a:bodyPr/>
          <a:lstStyle/>
          <a:p>
            <a:endParaRPr lang="en-US" sz="2400"/>
          </a:p>
        </p:txBody>
      </p:sp>
      <p:sp>
        <p:nvSpPr>
          <p:cNvPr id="5" name="Text 3"/>
          <p:cNvSpPr/>
          <p:nvPr/>
        </p:nvSpPr>
        <p:spPr>
          <a:xfrm>
            <a:off x="886968"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tailwindcss.com</a:t>
            </a:r>
            <a:endParaRPr lang="en-US" dirty="0"/>
          </a:p>
        </p:txBody>
      </p:sp>
      <p:sp>
        <p:nvSpPr>
          <p:cNvPr id="6" name="Text 4"/>
          <p:cNvSpPr/>
          <p:nvPr/>
        </p:nvSpPr>
        <p:spPr>
          <a:xfrm>
            <a:off x="886968"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docs + the JIT engine</a:t>
            </a:r>
            <a:endParaRPr lang="en-US" dirty="0"/>
          </a:p>
        </p:txBody>
      </p:sp>
      <p:sp>
        <p:nvSpPr>
          <p:cNvPr id="7" name="Shape 5"/>
          <p:cNvSpPr/>
          <p:nvPr/>
        </p:nvSpPr>
        <p:spPr>
          <a:xfrm>
            <a:off x="6278728" y="2057400"/>
            <a:ext cx="118872" cy="118872"/>
          </a:xfrm>
          <a:prstGeom prst="rect">
            <a:avLst/>
          </a:prstGeom>
          <a:solidFill>
            <a:srgbClr val="F1CF25"/>
          </a:solidFill>
          <a:ln/>
        </p:spPr>
        <p:txBody>
          <a:bodyPr/>
          <a:lstStyle/>
          <a:p>
            <a:endParaRPr lang="en-US" sz="2400"/>
          </a:p>
        </p:txBody>
      </p:sp>
      <p:sp>
        <p:nvSpPr>
          <p:cNvPr id="8" name="Text 6"/>
          <p:cNvSpPr/>
          <p:nvPr/>
        </p:nvSpPr>
        <p:spPr>
          <a:xfrm>
            <a:off x="6571336"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ui.shadcn.com</a:t>
            </a:r>
            <a:endParaRPr lang="en-US" dirty="0"/>
          </a:p>
        </p:txBody>
      </p:sp>
      <p:sp>
        <p:nvSpPr>
          <p:cNvPr id="9" name="Text 7"/>
          <p:cNvSpPr/>
          <p:nvPr/>
        </p:nvSpPr>
        <p:spPr>
          <a:xfrm>
            <a:off x="6571336"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copy-paste component standard</a:t>
            </a:r>
            <a:endParaRPr lang="en-US" dirty="0"/>
          </a:p>
        </p:txBody>
      </p:sp>
      <p:sp>
        <p:nvSpPr>
          <p:cNvPr id="10" name="Shape 8"/>
          <p:cNvSpPr/>
          <p:nvPr/>
        </p:nvSpPr>
        <p:spPr>
          <a:xfrm>
            <a:off x="582907" y="3232404"/>
            <a:ext cx="118872" cy="118872"/>
          </a:xfrm>
          <a:prstGeom prst="rect">
            <a:avLst/>
          </a:prstGeom>
          <a:solidFill>
            <a:srgbClr val="75DFBC"/>
          </a:solidFill>
          <a:ln/>
        </p:spPr>
        <p:txBody>
          <a:bodyPr/>
          <a:lstStyle/>
          <a:p>
            <a:endParaRPr lang="en-US" sz="2400"/>
          </a:p>
        </p:txBody>
      </p:sp>
      <p:sp>
        <p:nvSpPr>
          <p:cNvPr id="11" name="Text 9"/>
          <p:cNvSpPr/>
          <p:nvPr/>
        </p:nvSpPr>
        <p:spPr>
          <a:xfrm>
            <a:off x="886968"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cva.style</a:t>
            </a:r>
            <a:endParaRPr lang="en-US" dirty="0"/>
          </a:p>
        </p:txBody>
      </p:sp>
      <p:sp>
        <p:nvSpPr>
          <p:cNvPr id="12" name="Text 10"/>
          <p:cNvSpPr/>
          <p:nvPr/>
        </p:nvSpPr>
        <p:spPr>
          <a:xfrm>
            <a:off x="886968"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class-variance-authority</a:t>
            </a:r>
            <a:endParaRPr lang="en-US" dirty="0"/>
          </a:p>
        </p:txBody>
      </p:sp>
      <p:sp>
        <p:nvSpPr>
          <p:cNvPr id="13" name="Shape 11"/>
          <p:cNvSpPr/>
          <p:nvPr/>
        </p:nvSpPr>
        <p:spPr>
          <a:xfrm>
            <a:off x="6278728" y="3154680"/>
            <a:ext cx="118872" cy="118872"/>
          </a:xfrm>
          <a:prstGeom prst="rect">
            <a:avLst/>
          </a:prstGeom>
          <a:solidFill>
            <a:srgbClr val="F1CF25"/>
          </a:solidFill>
          <a:ln/>
        </p:spPr>
        <p:txBody>
          <a:bodyPr/>
          <a:lstStyle/>
          <a:p>
            <a:endParaRPr lang="en-US" sz="2400"/>
          </a:p>
        </p:txBody>
      </p:sp>
      <p:sp>
        <p:nvSpPr>
          <p:cNvPr id="14" name="Text 12"/>
          <p:cNvSpPr/>
          <p:nvPr/>
        </p:nvSpPr>
        <p:spPr>
          <a:xfrm>
            <a:off x="6571336"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github.com/dcastil/tailwind-merge</a:t>
            </a:r>
            <a:endParaRPr lang="en-US" dirty="0"/>
          </a:p>
        </p:txBody>
      </p:sp>
      <p:sp>
        <p:nvSpPr>
          <p:cNvPr id="15" name="Text 13"/>
          <p:cNvSpPr/>
          <p:nvPr/>
        </p:nvSpPr>
        <p:spPr>
          <a:xfrm>
            <a:off x="6571336"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conflict-safe class merging</a:t>
            </a:r>
            <a:endParaRPr lang="en-US" dirty="0"/>
          </a:p>
        </p:txBody>
      </p:sp>
      <p:sp>
        <p:nvSpPr>
          <p:cNvPr id="16" name="Shape 14"/>
          <p:cNvSpPr/>
          <p:nvPr/>
        </p:nvSpPr>
        <p:spPr>
          <a:xfrm>
            <a:off x="606304" y="4193177"/>
            <a:ext cx="118872" cy="118872"/>
          </a:xfrm>
          <a:prstGeom prst="rect">
            <a:avLst/>
          </a:prstGeom>
          <a:solidFill>
            <a:srgbClr val="75DFBC"/>
          </a:solidFill>
          <a:ln/>
        </p:spPr>
        <p:txBody>
          <a:bodyPr/>
          <a:lstStyle/>
          <a:p>
            <a:endParaRPr lang="en-US" sz="2400"/>
          </a:p>
        </p:txBody>
      </p:sp>
      <p:sp>
        <p:nvSpPr>
          <p:cNvPr id="17" name="Text 15"/>
          <p:cNvSpPr/>
          <p:nvPr/>
        </p:nvSpPr>
        <p:spPr>
          <a:xfrm>
            <a:off x="886968"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htmx.org/essays/locality-of-behaviour</a:t>
            </a:r>
            <a:endParaRPr lang="en-US" dirty="0"/>
          </a:p>
        </p:txBody>
      </p:sp>
      <p:sp>
        <p:nvSpPr>
          <p:cNvPr id="18" name="Text 16"/>
          <p:cNvSpPr/>
          <p:nvPr/>
        </p:nvSpPr>
        <p:spPr>
          <a:xfrm>
            <a:off x="886968"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locality essay</a:t>
            </a:r>
            <a:endParaRPr lang="en-US" dirty="0"/>
          </a:p>
        </p:txBody>
      </p:sp>
      <p:sp>
        <p:nvSpPr>
          <p:cNvPr id="19" name="Shape 17"/>
          <p:cNvSpPr/>
          <p:nvPr/>
        </p:nvSpPr>
        <p:spPr>
          <a:xfrm>
            <a:off x="6278728" y="4251960"/>
            <a:ext cx="118872" cy="118872"/>
          </a:xfrm>
          <a:prstGeom prst="rect">
            <a:avLst/>
          </a:prstGeom>
          <a:solidFill>
            <a:srgbClr val="F1CF25"/>
          </a:solidFill>
          <a:ln/>
        </p:spPr>
        <p:txBody>
          <a:bodyPr/>
          <a:lstStyle/>
          <a:p>
            <a:endParaRPr lang="en-US" sz="2400"/>
          </a:p>
        </p:txBody>
      </p:sp>
      <p:sp>
        <p:nvSpPr>
          <p:cNvPr id="20" name="Text 18"/>
          <p:cNvSpPr/>
          <p:nvPr/>
        </p:nvSpPr>
        <p:spPr>
          <a:xfrm>
            <a:off x="6571336"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v0.dev</a:t>
            </a:r>
            <a:endParaRPr lang="en-US" dirty="0"/>
          </a:p>
        </p:txBody>
      </p:sp>
      <p:sp>
        <p:nvSpPr>
          <p:cNvPr id="21" name="Text 19"/>
          <p:cNvSpPr/>
          <p:nvPr/>
        </p:nvSpPr>
        <p:spPr>
          <a:xfrm>
            <a:off x="6571336"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see the machines vote, live</a:t>
            </a:r>
            <a:endParaRPr lang="en-US" dirty="0"/>
          </a:p>
        </p:txBody>
      </p:sp>
      <p:sp>
        <p:nvSpPr>
          <p:cNvPr id="22" name="Text 2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3" name="Text 2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28 / 29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89</TotalTime>
  <Words>6468</Words>
  <Application>Microsoft Office PowerPoint</Application>
  <PresentationFormat>Widescreen</PresentationFormat>
  <Paragraphs>490</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16</cp:revision>
  <dcterms:created xsi:type="dcterms:W3CDTF">2026-07-14T15:54:22Z</dcterms:created>
  <dcterms:modified xsi:type="dcterms:W3CDTF">2026-08-22T11:47:27Z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
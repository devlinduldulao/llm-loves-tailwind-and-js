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2"/>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314" r:id="rId30"/>
    <p:sldId id="313" r:id="rId31"/>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8548" autoAdjust="0"/>
    <p:restoredTop sz="86441" autoAdjust="0"/>
  </p:normalViewPr>
  <p:slideViewPr>
    <p:cSldViewPr snapToGrid="0" snapToObjects="1">
      <p:cViewPr varScale="1">
        <p:scale>
          <a:sx n="82" d="100"/>
          <a:sy n="82" d="100"/>
        </p:scale>
        <p:origin x="557" y="7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27663566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Hello everyone. I want to start with a question.</a:t>
            </a:r>
          </a:p>
          <a:p>
            <a:r>
              <a:rPr lang="en-US" dirty="0"/>
              <a:t>How many CSS developers does it take to change a lightbulb?</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None. They change everything around it, and hope it cascades.</a:t>
            </a:r>
          </a:p>
          <a:p>
            <a:r>
              <a:rPr lang="en-US" dirty="0"/>
              <a:t>That joke is this entire talk. You edit one rule, and you hope the rest of the page still works. You change the lightbulb by rearranging the room.</a:t>
            </a:r>
          </a:p>
          <a:p>
            <a:r>
              <a:rPr lang="en-US" dirty="0"/>
              <a:t>That non-local mess is the problem for humans. And it is the exact same problem for machines. The rest of this talk is why.</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My name is Devlin Duldulao. This talk is Why LLMs and JavaScript frameworks love Tailwind CSS, and why you should too.</a:t>
            </a:r>
          </a:p>
          <a:p>
            <a:r>
              <a:rPr lang="en-US" dirty="0"/>
              <a:t>The methodology wars are over. The machines have already voted. Today I want to show you why that vote is not a fashion trend. It is architecture.</a:t>
            </a:r>
          </a:p>
          <a:p>
            <a:r>
              <a:rPr lang="en-US" dirty="0"/>
              <a:t>We will look at three frictions of CSS, why co-location fixes them, why language models generate Tailwind more accurately than semantic CSS, and why this fits the JavaScript and TypeScript toolchain so tightly. Then I will show you three live demos.</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few seconds about me. I am a full-stack developer from Oslo, Norway. I work across the stack, and I created DaloyJS.</a:t>
            </a:r>
          </a:p>
          <a:p>
            <a:r>
              <a:rPr lang="en-US" dirty="0"/>
              <a:t>I have spent a lot of years arguing about CSS with other humans. Lately I have been arguing about it with models. They have an opinion. That is enough about me. Let's talk about CSS.</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fifteen years, frontend developers fought methodology wars.</a:t>
            </a:r>
          </a:p>
          <a:p>
            <a:r>
              <a:rPr lang="en-US" dirty="0"/>
              <a:t>Vanilla CSS in 2005. Then OOCSS in 2009, object-oriented CSS, which said reuse objects, not pages. BEM in 2010, block element modifier, which tried to make naming systematic. SMACSS in 2011, scalable and modular architecture. Atomic CSS in 2013. CSS Modules in 2015, which scoped names to a file. CSS in JS in 2016, which put styles back into JavaScript. Then Tailwind, from 2017 on.</a:t>
            </a:r>
          </a:p>
          <a:p>
            <a:r>
              <a:rPr lang="en-US" dirty="0"/>
              <a:t>Every one of these tried to answer the same two questions. Where do styles live? And what do we name them? That is the whole war. Location, and naming.</a:t>
            </a:r>
          </a:p>
          <a:p>
            <a:r>
              <a:rPr lang="en-US" dirty="0"/>
              <a:t>Most of these methodologies answered those questions with more rules. More naming conventions. More files. More process. Tailwind is interesting because it mostly deletes those questions instead of answering them better. You stop inventing names. You stop splitting the look into another file. And that is why the rest of this talk exists.</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thesis. The machines have voted.</a:t>
            </a:r>
          </a:p>
          <a:p>
            <a:r>
              <a:rPr lang="en-US" dirty="0"/>
              <a:t>v0 from Vercel generates UI in Tailwind. bolt.new from StackBlitz does the same. Lovable generates full apps in Tailwind. Claude Artifacts from Anthropic. shadcn is the default component system the AI tools reach for. Cursor and Copilot lean Tailwind every time you ask for a component.</a:t>
            </a:r>
          </a:p>
          <a:p>
            <a:r>
              <a:rPr lang="en-US" dirty="0"/>
              <a:t>Every major AI UI generator defaults to Tailwind. That is not a Twitter argument. That is revealed preference. Economists use that phrase when they stop listening to what people say they want, and start watching what they actually choose.</a:t>
            </a:r>
          </a:p>
          <a:p>
            <a:r>
              <a:rPr lang="en-US" dirty="0"/>
              <a:t>When every tool that has to generate UI picks the same styling system, that is a signal. The rest of this talk is the why. Not because Tailwind won a popularity contest with humans. Because the way Tailwind is shaped matches the way a language model, and a teammate, actually understand code.</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want to reframe this, because this is not a Tailwind versus CSS fight, and it is not a taste fight.</a:t>
            </a:r>
          </a:p>
          <a:p>
            <a:r>
              <a:rPr lang="en-US" dirty="0"/>
              <a:t>This is about how code is understood. By a teammate. And by a next-token predictor.</a:t>
            </a:r>
          </a:p>
          <a:p>
            <a:r>
              <a:rPr lang="en-US" dirty="0"/>
              <a:t>A language model is not magic. It is a next-token predictor with a bounded context window. It can only see so much at once, and it does not remember your whole repository. Your teammate is the same. They can only hold so much in their head, and they have not memorized every stylesheet.</a:t>
            </a:r>
          </a:p>
          <a:p>
            <a:r>
              <a:rPr lang="en-US" dirty="0"/>
              <a:t>When the information you need is in another file, both of them fail. Same friction. Same fix. Locality.</a:t>
            </a:r>
          </a:p>
          <a:p>
            <a:r>
              <a:rPr lang="en-US" dirty="0"/>
              <a:t>If you remember one word from this talk, make it locality. Everything after this slide is a variation on that word.</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Friction number one. Naming things.</a:t>
            </a:r>
          </a:p>
          <a:p>
            <a:r>
              <a:rPr lang="en-US" dirty="0"/>
              <a:t>There are only two hard things in computer science: cache invalidation and naming things. That quote is on the slide because it is still true, and CSS makes you do the second one for every heading, every badge, every button.</a:t>
            </a:r>
          </a:p>
          <a:p>
            <a:r>
              <a:rPr lang="en-US" dirty="0"/>
              <a:t>Semantic CSS makes you invent a name for every element, and those names are project-specific. Then they drift. card. Card. cardWrapper. card-box. Four names for the same idea, invented by four people, or by one person on four different days.</a:t>
            </a:r>
          </a:p>
          <a:p>
            <a:r>
              <a:rPr lang="en-US" dirty="0"/>
              <a:t>Humans invent inconsistently. Models invent inconsistently. Look at this rule. card header featured. What does featured even mean in this file? Is it a thicker border? A badge? A different button color? You cannot know until you read the CSS.</a:t>
            </a:r>
          </a:p>
          <a:p>
            <a:r>
              <a:rPr lang="en-US" dirty="0"/>
              <a:t>Tailwind deletes the naming decision. You do not name the thing. You describe the look with a closed vocabulary. That is the first friction gone.</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Friction number two. The cascade.</a:t>
            </a:r>
          </a:p>
          <a:p>
            <a:r>
              <a:rPr lang="en-US" dirty="0"/>
              <a:t>The C in CSS is global, and it is order-dependent. That is not a bug in your project. That is the language.</a:t>
            </a:r>
          </a:p>
          <a:p>
            <a:r>
              <a:rPr lang="en-US" dirty="0"/>
              <a:t>Look at the chain. Reset sets margin to zero. Buttons sets padding to eight pixels. The card file relies on both. The card does not own its look. It borrows it, in order, from files it does not control.</a:t>
            </a:r>
          </a:p>
          <a:p>
            <a:r>
              <a:rPr lang="en-US" dirty="0"/>
              <a:t>You edit one rule here, and you break a component three files away. That is the lightbulb joke in production form. You did not change the card. You changed something around it, and you hoped it cascaded correctly.</a:t>
            </a:r>
          </a:p>
          <a:p>
            <a:r>
              <a:rPr lang="en-US" dirty="0"/>
              <a:t>Non-local effects are the worst case for a human. They are also the worst case for a model with a bounded context window, because the cause of the bug is not in the file it is looking at. The model cannot fix what it cannot see.</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Friction number three. Separation of concerns became separation of context.</a:t>
            </a:r>
          </a:p>
          <a:p>
            <a:r>
              <a:rPr lang="en-US" dirty="0"/>
              <a:t>We were taught to keep markup in one file and styles in another. That sounded clean. In practice, the component file has a class name, the stylesheet has the rule, and they are joined only by a magic string. card featured on one side. The same string on the other. A pointer. Not a spec.</a:t>
            </a:r>
          </a:p>
          <a:p>
            <a:r>
              <a:rPr lang="en-US" dirty="0"/>
              <a:t>To understand this component, you must hold both files in your head. And so must the model. If the CSS file is not in the context window, the model is guessing what card featured means. It will guess. It will guess wrong often enough to waste your afternoon.</a:t>
            </a:r>
          </a:p>
          <a:p>
            <a:r>
              <a:rPr lang="en-US" dirty="0"/>
              <a:t>The class name is not documentation. It is a pointer into another file. Carson Gross wrote about this as locality of behaviour. I will share that essay at the end. For now, the point is simple. Two files for one look is two contexts for one thought.</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fix is co-location. Tailwind puts markup and style in one place.</a:t>
            </a:r>
          </a:p>
          <a:p>
            <a:r>
              <a:rPr lang="en-US" dirty="0"/>
              <a:t>Look at this button. There is no CSS file. There are no invented class names. There is no cascade to reason about. rounded-lg, px-4, py-3, font-bold. And if it is featured, a background, a text color, and a hover state. Everything about how this button looks is sitting on the button.</a:t>
            </a:r>
          </a:p>
          <a:p>
            <a:r>
              <a:rPr lang="en-US" dirty="0"/>
              <a:t>An LLM sees the entire spec in one span of tokens. A teammate sees the same thing. You do not open a second tab. You do not search for a class name. You read the component and you are done.</a:t>
            </a:r>
          </a:p>
          <a:p>
            <a:r>
              <a:rPr lang="en-US" dirty="0"/>
              <a:t>That is the whole trick. Markup and style live in one place. Now I want to show it to you live, with the same card, two ways.</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am switching to the demo. Same pricing card, two ways. The prompt is the one on the slide. Build a pricing card with a featured tier.</a:t>
            </a:r>
          </a:p>
          <a:p>
            <a:r>
              <a:rPr lang="en-US" dirty="0"/>
              <a:t>Look at these two cards. They are pixel identical. Left is semantic CSS. Two files, invented names, the cascade. Right is Tailwind. One file, zero names, zero config. The only difference is how many files you, or a model, have to open to understand the look.</a:t>
            </a:r>
          </a:p>
          <a:p>
            <a:r>
              <a:rPr lang="en-US" dirty="0"/>
              <a:t>I am going to click Compare source files.</a:t>
            </a:r>
          </a:p>
          <a:p>
            <a:r>
              <a:rPr lang="en-US" dirty="0"/>
              <a:t>On the left, two files. A TSX file full of invented names, and a CSS file with a cascade. pricing-card. pricing-card featured. badge, name, price, price suffix, features, feature, check, CTA. About ten invented names, plus cascade overrides so the featured card's button is dark instead of grey. Spacing is ad-hoc. Fourteen pixels here, sixteen there. Twenty-eight pixels of padding with no shared scale. To change the look, you join those two files in your head through string class names.</a:t>
            </a:r>
          </a:p>
          <a:p>
            <a:r>
              <a:rPr lang="en-US" dirty="0"/>
              <a:t>On the right, one file. That is the whole component. No invented names. No second file. Values come from the token scale. The featured state is a condition in the same function, not a modifier class in another document.</a:t>
            </a:r>
          </a:p>
          <a:p>
            <a:r>
              <a:rPr lang="en-US" dirty="0"/>
              <a:t>This is what the model has to hold in its head. One of these fits in a single glance. The other one does not. Same pixels. Completely different cost of change.</a:t>
            </a:r>
          </a:p>
          <a:p>
            <a:r>
              <a:rPr lang="en-US" dirty="0"/>
              <a:t>I am going back to the slides. Next I want to walk six reasons this is not an accident.</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it works. Reason one. Co-location is context locality.</a:t>
            </a:r>
          </a:p>
          <a:p>
            <a:r>
              <a:rPr lang="en-US" dirty="0"/>
              <a:t>LLMs have a bounded context and no project memory. The answer has to be in front of the model, or the model will invent it. That is not a criticism of the model. That is how a next-token predictor works. It completes from what it can see.</a:t>
            </a:r>
          </a:p>
          <a:p>
            <a:r>
              <a:rPr lang="en-US" dirty="0"/>
              <a:t>Co-located styling means the whole spec is in one token span. Semantic CSS means a second file it may never have read. If that file is not in the prompt, the model is generating a hero class and hoping a hero rule exists somewhere. Sometimes it invents the rule. Sometimes it invents a different name than the one in your stylesheet. Both are expensive.</a:t>
            </a:r>
          </a:p>
          <a:p>
            <a:r>
              <a:rPr lang="en-US" dirty="0"/>
              <a:t>Look at the contrast on the slide. A hero class that points at forty lines somewhere else, versus a div that says grid, gap-6, p-8. With Tailwind, it is all right here. The model does not need project memory, because the project put the answer in the span.</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Reason two. A closed vocabulary is predictability.</a:t>
            </a:r>
          </a:p>
          <a:p>
            <a:r>
              <a:rPr lang="en-US" dirty="0"/>
              <a:t>An LLM is a next-token predictor. flex items-center justify-between is a fixed phrase. The model has seen it millions of times, in that order, in public repos, in docs, in Stack Overflow, in shadcn. Low perplexity, high accuracy. Low perplexity means the model is not surprised. The next token is easy, so the next token is right.</a:t>
            </a:r>
          </a:p>
          <a:p>
            <a:r>
              <a:rPr lang="en-US" dirty="0"/>
              <a:t>Arbitrary CSS is infinite names, infinite orders, infinite units. That is drift. You can write display flex a hundred different ways. You can name a centered row a hundred different things. The model has to invent, not complete.</a:t>
            </a:r>
          </a:p>
          <a:p>
            <a:r>
              <a:rPr lang="en-US" dirty="0"/>
              <a:t>Look at the contrast. Tailwind says flex items-center. Semantic CSS says hero-banner-x. One of those is a phrase the model has finished a million times. The other is a coin flip. The model is completing a phrase it already knows. It is not inventing a name for your project.</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Reason three. Design tokens are constrained values.</a:t>
            </a:r>
          </a:p>
          <a:p>
            <a:r>
              <a:rPr lang="en-US" dirty="0"/>
              <a:t>Spacing, color, and radius all come from a fixed scale. p-1, p-2, p-3, p-4, p-6, p-8. A small, safe menu. The model picks p-4 from that menu, instead of hallucinating padding thirteen pixels.</a:t>
            </a:r>
          </a:p>
          <a:p>
            <a:r>
              <a:rPr lang="en-US" dirty="0"/>
              <a:t>Freeform CSS drifts. Thirteen pixels here, fourteen pixels there, twenty-eight on the next card. A human will spend a review pass cleaning that up. A model will keep drifting, because nothing in the language told it the legal values.</a:t>
            </a:r>
          </a:p>
          <a:p>
            <a:r>
              <a:rPr lang="en-US" dirty="0"/>
              <a:t>The token scale keeps generations consistent without that cleanup pass. Constraints do not make the model dumber. Constraints guide the model. A small, safe menu beats an infinite one every time, for humans and for machines.</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Reason four. A deterministic, global mapping.</a:t>
            </a:r>
          </a:p>
          <a:p>
            <a:r>
              <a:rPr lang="en-US" dirty="0"/>
              <a:t>mt-4 means margin-top one rem in every repo on earth. flex means display flex. gap-6 means gap one and a half rem. That mapping does not change when you change jobs. It does not change when you open a new repository. It does not change when the model was trained.</a:t>
            </a:r>
          </a:p>
          <a:p>
            <a:r>
              <a:rPr lang="en-US" dirty="0"/>
              <a:t>There is no, what does spacer mean in this project. Spacer means nothing until you read this repo. It might be a margin. It might be a flex gap. It might be an empty div with a height. The name does not carry the meaning. The utility does.</a:t>
            </a:r>
          </a:p>
          <a:p>
            <a:r>
              <a:rPr lang="en-US" dirty="0"/>
              <a:t>Training generalizes across the entire corpus because the mapping is stable. Bespoke class names are project-local. They do not transfer. Utilities do. That is why a model that has never seen your codebase can still style a button correctly on the first try.</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Reason five. The training-data flywheel.</a:t>
            </a:r>
          </a:p>
          <a:p>
            <a:r>
              <a:rPr lang="en-US" dirty="0"/>
              <a:t>Tailwind saturates modern training data. Next.js apps. shadcn components. Millions of public repositories. Docs that read like a dictionary of the same tokens. The model has been to this neighborhood.</a:t>
            </a:r>
          </a:p>
          <a:p>
            <a:r>
              <a:rPr lang="en-US" dirty="0"/>
              <a:t>Utilities generalize across the corpus. Project names do not. Every time someone publishes another Tailwind component, the next model gets better at Tailwind. Every time someone publishes another BEM block named card wrapper featured, the next model learns a name it will never see again.</a:t>
            </a:r>
          </a:p>
          <a:p>
            <a:r>
              <a:rPr lang="en-US" dirty="0"/>
              <a:t>More usage produces more data. More data produces better generation. Better generation produces more trust, and more usage. That loop is already running. The gap widens over time. This is not a temporary fashion. It is a compounding advantage. That is the flywheel on the slide.</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Reason six. Self-documenting means verifiable.</a:t>
            </a:r>
          </a:p>
          <a:p>
            <a:r>
              <a:rPr lang="en-US" dirty="0"/>
              <a:t>The class list is the spec. Read bg-coral, hover bg-coral at eighty percent, px-4 py-2, rounded-lg, and you know exactly what it does without running it. A coral button. It darkens on hover. Comfortable padding. Soft corners. You did not have to open a browser. You did not have to open a stylesheet. You read it.</a:t>
            </a:r>
          </a:p>
          <a:p>
            <a:r>
              <a:rPr lang="en-US" dirty="0"/>
              <a:t>You verify by reading, not by spinning up the app. That makes review faster, and faster review means a tighter loop between the human and the AI. You accept the generation, or you edit one class, in place, in the same span.</a:t>
            </a:r>
          </a:p>
          <a:p>
            <a:r>
              <a:rPr lang="en-US" dirty="0"/>
              <a:t>That is six reasons. Co-location. Closed vocabulary. Tokens. Deterministic mapping. The flywheel. And a spec you can read. Now I want to talk about why JavaScript frameworks were already halfway there.</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Modern JavaScript frameworks already work this way for template and logic.</a:t>
            </a:r>
          </a:p>
          <a:p>
            <a:r>
              <a:rPr lang="en-US" dirty="0"/>
              <a:t>React, Vue, Svelte, Solid, Angular. A component is one unit. The markup and the behavior live together. You do not open a template file and a controller file to understand a button. That war is over, and components won.</a:t>
            </a:r>
          </a:p>
          <a:p>
            <a:r>
              <a:rPr lang="en-US" dirty="0"/>
              <a:t>Tailwind adds style to that same unit. Template plus logic plus style. One component. One file. One mental model. The look is not the exception that still lives in a global stylesheet. The look joins the rest of the component.</a:t>
            </a:r>
          </a:p>
          <a:p>
            <a:r>
              <a:rPr lang="en-US" dirty="0"/>
              <a:t>Component encapsulation and utility-first both apply locality, at different layers. Frameworks localized the markup and the behavior. Tailwind localizes the look. Once you see it that way, the JS-framework love story is not a coincidence. It is the same idea, applied one more time.</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Tailwind was built for the JavaScript toolchain. Two reasons.</a:t>
            </a:r>
          </a:p>
          <a:p>
            <a:r>
              <a:rPr lang="en-US" dirty="0"/>
              <a:t>First, dynamic composition is trivial. In React, className equals cn of base, and if active, bg-mint. In Vue, a class binding with opacity fifty when loading. In Svelte, class selected equals isSelected. JSX and template bindings make class composition a one-liner. You already write conditions in the component. Tailwind lets the look use those same conditions.</a:t>
            </a:r>
          </a:p>
          <a:p>
            <a:r>
              <a:rPr lang="en-US" dirty="0"/>
              <a:t>Second, the build step is already there. Vite, PostCSS, bundlers. That is Tailwind's native home. A just-in-time compiler. Content scanning, so it knows which utilities you actually used. Tree-shaking, so you ship only those utilities.</a:t>
            </a:r>
          </a:p>
          <a:p>
            <a:r>
              <a:rPr lang="en-US" dirty="0"/>
              <a:t>Tailwind is a build-tool-native idea. It belongs to the JavaScript ecosystem. That is why the fit is so tight. It is not a CSS framework that happens to work in React. It is a styling system that assumes you already have a bundler, and you already have components.</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TypeScript angle. TypeScript loves Tailwind because they are the same philosophy. A constrained, named vocabulary that catches mistakes early.</a:t>
            </a:r>
          </a:p>
          <a:p>
            <a:r>
              <a:rPr lang="en-US" dirty="0"/>
              <a:t>Look at this button. CVA, class-variance-authority, turns utilities into a typed contract. A base of rounded-lg and font-bold. Then variants. Primary is bg-mint text-ink. Destructive is bg-coral text-ink. Size small is h-8 px-3. Size large is h-12 px-6. Those variants are now type-checked and autocompleted.</a:t>
            </a:r>
          </a:p>
          <a:p>
            <a:r>
              <a:rPr lang="en-US" dirty="0"/>
              <a:t>If you pass a variant that does not exist, TypeScript fails at compile time. You do not discover it in production. You do not discover it when a model invents a name. The contract is sitting in the file.</a:t>
            </a:r>
          </a:p>
          <a:p>
            <a:r>
              <a:rPr lang="en-US" dirty="0"/>
              <a:t>The tools on this slide are the whole stack. CVA. tailwind-variants. tailwind-merge. clsx, or the cn helper. TypeScript constrains the values. Tailwind constrains the styles. Same idea, two layers. I want to show you that live.</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am switching back to the demo. Demo two. Typed variants, live.</a:t>
            </a:r>
          </a:p>
          <a:p>
            <a:r>
              <a:rPr lang="en-US" dirty="0"/>
              <a:t>This is a real shadcn button, official base-maia, sitting on Base UI. I am going to toggle variant and size.</a:t>
            </a:r>
          </a:p>
          <a:p>
            <a:r>
              <a:rPr lang="en-US" dirty="0"/>
              <a:t>Watch the class string under the button. It updates from one typed contract. Default, secondary, outline, ghost, destructive. Small, default, large. That string is not guessed. It is generated from a closed set. CVA is doing the mapping you just saw on the last slide.</a:t>
            </a:r>
          </a:p>
          <a:p>
            <a:r>
              <a:rPr lang="en-US" dirty="0"/>
              <a:t>If I type Button variant equals, in the editor, IntelliSense lists the set. A wrong variant is a red squiggle at compile time, not a two a.m. incident. The model sees the same contract. When you ask it to add a success variant, it has one place to edit, and TypeScript will check the result.</a:t>
            </a:r>
          </a:p>
          <a:p>
            <a:r>
              <a:rPr lang="en-US" dirty="0"/>
              <a:t>TypeScript constrains the values. Tailwind constrains the styles. One constrained, checkable vocabulary. Stay in the demo. Demo three is the payoff.</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payoff. I am scrolling down to Demo three. Watch it edit one file.</a:t>
            </a:r>
          </a:p>
          <a:p>
            <a:r>
              <a:rPr lang="en-US" dirty="0"/>
              <a:t>The prompt on the slide is add a success variant, then a loading state with a spinner. I am going to send three prompts against this button, one at a time, and I want you to watch two things. The live component on the left, and the diff on the right. The diff is always the same file. button.tsx.</a:t>
            </a:r>
          </a:p>
          <a:p>
            <a:r>
              <a:rPr lang="en-US" dirty="0"/>
              <a:t>First prompt. Add a success variant, green. A green Saved button appears. The diff lands in button.tsx. One line. success, bg-emerald-600.</a:t>
            </a:r>
          </a:p>
          <a:p>
            <a:r>
              <a:rPr lang="en-US" dirty="0"/>
              <a:t>Second prompt. Add a loading state with a spinner. A Saving button appears with a spinner. The diff still lands in the same file. A loading prop. Disabled while loading. A spinner in the markup.</a:t>
            </a:r>
          </a:p>
          <a:p>
            <a:r>
              <a:rPr lang="en-US" dirty="0"/>
              <a:t>Third prompt. Add a fullWidth prop. A full-width CTA appears. One more line. fullWidth, true, w-full.</a:t>
            </a:r>
          </a:p>
          <a:p>
            <a:r>
              <a:rPr lang="en-US" dirty="0"/>
              <a:t>Three prompts. Five lines. Zero other files touched. No cascade to chase. No stylesheet to hunt down.</a:t>
            </a:r>
          </a:p>
          <a:p>
            <a:r>
              <a:rPr lang="en-US" dirty="0"/>
              <a:t>Because the component is co-located, the model's edit is local. And a local edit is a safe edit. That is the entire talk in one demo. That is the payoff of everything before it. I am going back to the slides.</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proof, shipped as a product. shadcn is the thesis.</a:t>
            </a:r>
          </a:p>
          <a:p>
            <a:r>
              <a:rPr lang="en-US" dirty="0"/>
              <a:t>Copy-paste components. Tailwind plus TypeScript plus CVA. You do not install a black box. You paste the source into your repo, and you own it. It exists because developers and LLMs both read it and modify it trivially. That is the product, and that is the talk.</a:t>
            </a:r>
          </a:p>
          <a:p>
            <a:r>
              <a:rPr lang="en-US" dirty="0"/>
              <a:t>v0, bolt, Lovable, Cursor, Artifacts all target it by default. The tools did not pick shadcn by accident. They picked the stack a model can read in one span and edit in one file. Copy, paste, prompt, ship.</a:t>
            </a:r>
          </a:p>
          <a:p>
            <a:r>
              <a:rPr lang="en-US" dirty="0"/>
              <a:t>One stack. Tailwind plus TypeScript. If you have been waiting for a canonical answer, this is it. The ecosystem already shipped it.</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want to take the three objections I hear every time.</a:t>
            </a:r>
          </a:p>
          <a:p>
            <a:r>
              <a:rPr lang="en-US" dirty="0"/>
              <a:t>Ugly class soup. Extract a component in your framework. Do not reach for at-apply. The soup lives in one place, and you rarely re-read it, because the component name is now the API. You do not read rounded-lg px-4 py-3 every morning. You read Button. The classes are an implementation detail of one file.</a:t>
            </a:r>
          </a:p>
          <a:p>
            <a:r>
              <a:rPr lang="en-US" dirty="0"/>
              <a:t>A steep learning curve. It is a closed set plus IntelliSense. You learn it once, and it transfers to every project and every model. You are not learning a new naming scheme per codebase. You are learning one vocabulary.</a:t>
            </a:r>
          </a:p>
          <a:p>
            <a:r>
              <a:rPr lang="en-US" dirty="0"/>
              <a:t>Just inline styles. No. Design tokens. Hover, md, and dark variants. And purge, so unused utilities never ship. Inline styles cannot do any of that. They have no scale, no variants, no purge, and no shared vocabulary for a model to complete. That third objection is the most common pushback, and it is the weakest.</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Monday morning. How to adopt this, and how to convince the team.</a:t>
            </a:r>
          </a:p>
          <a:p>
            <a:r>
              <a:rPr lang="en-US" dirty="0"/>
              <a:t>One. Start in new components. No big-bang rewrite. You do not convert the whole app. You start where new work happens, and you let the old styles die of attrition.</a:t>
            </a:r>
          </a:p>
          <a:p>
            <a:r>
              <a:rPr lang="en-US" dirty="0"/>
              <a:t>Two. Add the Tailwind IntelliSense plugin and the Prettier class-sorter plugin. The first one makes the vocabulary visible. The second one makes the class lists readable in review.</a:t>
            </a:r>
          </a:p>
          <a:p>
            <a:r>
              <a:rPr lang="en-US" dirty="0"/>
              <a:t>Three. Adopt cn and CVA for anything with variants. That is the TypeScript contract from earlier. Four. Steal shamelessly from shadcn. Do not invent a design system on Friday afternoon. Five. Let the LLM speed compound. Measure pull-request velocity. Velocity is the receipt for the skeptics. When the team sees the same card land in one file, first try, the argument is over.</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things to remember.</a:t>
            </a:r>
          </a:p>
          <a:p>
            <a:r>
              <a:rPr lang="en-US" dirty="0"/>
              <a:t>One. The friction was locality. Not taste. Not class soup. Locality. Naming, the cascade, and two-file context are all locality failures.</a:t>
            </a:r>
          </a:p>
          <a:p>
            <a:r>
              <a:rPr lang="en-US" dirty="0"/>
              <a:t>Two. LLMs love Tailwind because it is co-located, closed-vocabulary, deterministic, and everywhere in training data. Those are reasons one through five. They would still be true even if the training-data flywheel did not exist. The flywheel just makes the gap wider.</a:t>
            </a:r>
          </a:p>
          <a:p>
            <a:r>
              <a:rPr lang="en-US" dirty="0"/>
              <a:t>Three. Components, utilities, and TypeScript types. Locality at three layers. Frameworks, Tailwind, and CVA are the same idea applied three times.</a:t>
            </a:r>
          </a:p>
          <a:p>
            <a:r>
              <a:rPr lang="en-US" dirty="0"/>
              <a:t>Four. The machines already voted. Now you have the ammunition. If you keep one word, keep locality.</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you want to go deeper, the links are on the slide.</a:t>
            </a:r>
          </a:p>
          <a:p>
            <a:r>
              <a:rPr lang="en-US" dirty="0"/>
              <a:t>tailwindcss.com is the docs and the engine. ui.shadcn.com is the copy-paste component standard. cva.style is class-variance-authority. github.com slash dcastil slash tailwind-merge is conflict-safe class merging, which is what the cn helper sits on.</a:t>
            </a:r>
          </a:p>
          <a:p>
            <a:r>
              <a:rPr lang="en-US" dirty="0"/>
              <a:t>I want to call out two in particular. The Locality of Behaviour essay by Carson Gross, on the htmx site. That is the idea this whole talk is built on. And v0.dev. If you want to watch the machines vote live, go generate a UI and see what comes out.</a:t>
            </a:r>
          </a:p>
          <a:p>
            <a:r>
              <a:rPr lang="en-US" dirty="0"/>
              <a:t>The demo repo is on the next slide.</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1FA9EC-F1C4-8475-4C34-982AA7BE60A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F28C641-A123-4973-51FA-0665B281365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B824122-D8E6-13A2-EF59-883AC6891774}"/>
              </a:ext>
            </a:extLst>
          </p:cNvPr>
          <p:cNvSpPr>
            <a:spLocks noGrp="1"/>
          </p:cNvSpPr>
          <p:nvPr>
            <p:ph type="body" idx="1"/>
          </p:nvPr>
        </p:nvSpPr>
        <p:spPr/>
        <p:txBody>
          <a:bodyPr/>
          <a:lstStyle/>
          <a:p>
            <a:r>
              <a:rPr lang="en-US" dirty="0"/>
              <a:t>Knowledge atrophy, or cognitive atrophy, is the gradual decline of memory, critical thinking, and problem-solving skills caused by overreliance on AI tools like LLMs for mental work. </a:t>
            </a:r>
            <a:br>
              <a:rPr lang="en-US" dirty="0"/>
            </a:br>
            <a:br>
              <a:rPr lang="en-US" dirty="0"/>
            </a:br>
            <a:r>
              <a:rPr lang="en-US" dirty="0"/>
              <a:t>Things might change because models improves every after 6 months, but keep attending to conferences and learn things because that’s the only way we can steer AI in developing solutions and save money as a result from doing fewer mistakes. </a:t>
            </a:r>
          </a:p>
        </p:txBody>
      </p:sp>
      <p:sp>
        <p:nvSpPr>
          <p:cNvPr id="4" name="Slide Number Placeholder 3">
            <a:extLst>
              <a:ext uri="{FF2B5EF4-FFF2-40B4-BE49-F238E27FC236}">
                <a16:creationId xmlns:a16="http://schemas.microsoft.com/office/drawing/2014/main" id="{876E6526-0A27-7059-0E06-088E9428FC92}"/>
              </a:ext>
            </a:extLst>
          </p:cNvPr>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3486230722"/>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a:t>
            </a:r>
          </a:p>
          <a:p>
            <a:r>
              <a:rPr lang="en-US" dirty="0"/>
              <a:t>The demo repo is github.com slash </a:t>
            </a:r>
            <a:r>
              <a:rPr lang="en-US" dirty="0" err="1"/>
              <a:t>devlinduldulao</a:t>
            </a:r>
            <a:r>
              <a:rPr lang="en-US" dirty="0"/>
              <a:t> slash </a:t>
            </a:r>
            <a:r>
              <a:rPr lang="en-US" dirty="0" err="1"/>
              <a:t>llm</a:t>
            </a:r>
            <a:r>
              <a:rPr lang="en-US" dirty="0"/>
              <a:t>-loves-tailwind-and-</a:t>
            </a:r>
            <a:r>
              <a:rPr lang="en-US" dirty="0" err="1"/>
              <a:t>js</a:t>
            </a:r>
            <a:r>
              <a:rPr lang="en-US" dirty="0"/>
              <a:t>. You can scan the QR code. You can find me at </a:t>
            </a:r>
            <a:r>
              <a:rPr lang="en-US" dirty="0" err="1"/>
              <a:t>devlinduldulao</a:t>
            </a:r>
            <a:r>
              <a:rPr lang="en-US" dirty="0"/>
              <a:t> on socials, and on LinkedIn at linkedin.com slash in slash </a:t>
            </a:r>
            <a:r>
              <a:rPr lang="en-US" dirty="0" err="1"/>
              <a:t>devlinduldulao</a:t>
            </a:r>
            <a:r>
              <a:rPr lang="en-US" dirty="0"/>
              <a:t>.</a:t>
            </a:r>
          </a:p>
          <a:p>
            <a:r>
              <a:rPr lang="en-US" dirty="0"/>
              <a:t>I would love to hear your Tailwind hot takes. Come find me after. Thank you.</a:t>
            </a:r>
          </a:p>
        </p:txBody>
      </p:sp>
      <p:sp>
        <p:nvSpPr>
          <p:cNvPr id="4" name="Slide Number Placeholder 3"/>
          <p:cNvSpPr>
            <a:spLocks noGrp="1"/>
          </p:cNvSpPr>
          <p:nvPr>
            <p:ph type="sldNum" sz="quarter" idx="5"/>
          </p:nvPr>
        </p:nvSpPr>
        <p:spPr/>
        <p:txBody>
          <a:bodyPr/>
          <a:lstStyle/>
          <a:p>
            <a:endParaRPr lang="en-US"/>
          </a:p>
        </p:txBody>
      </p:sp>
    </p:spTree>
    <p:extLst>
      <p:ext uri="{BB962C8B-B14F-4D97-AF65-F5344CB8AC3E}">
        <p14:creationId xmlns:p14="http://schemas.microsoft.com/office/powerpoint/2010/main" val="100681342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Tree>
    <p:extLst>
      <p:ext uri="{BB962C8B-B14F-4D97-AF65-F5344CB8AC3E}">
        <p14:creationId xmlns:p14="http://schemas.microsoft.com/office/powerpoint/2010/main" val="2090598145"/>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8795A8B3-47D6-02CA-0770-1BFDEA32452D}"/>
              </a:ext>
            </a:extLst>
          </p:cNvPr>
          <p:cNvSpPr txBox="1"/>
          <p:nvPr userDrawn="1">
            <p:extLst>
              <p:ext uri="{1162E1C5-73C7-4A58-AE30-91384D911F3F}">
                <p184:classification xmlns:p184="http://schemas.microsoft.com/office/powerpoint/2018/4/main" val="ftr"/>
              </p:ext>
            </p:extLst>
          </p:nvPr>
        </p:nvSpPr>
        <p:spPr>
          <a:xfrm>
            <a:off x="63500" y="6642100"/>
            <a:ext cx="730250" cy="152400"/>
          </a:xfrm>
          <a:prstGeom prst="rect">
            <a:avLst/>
          </a:prstGeom>
        </p:spPr>
        <p:txBody>
          <a:bodyPr horzOverflow="overflow" lIns="0" tIns="0" rIns="0" bIns="0">
            <a:spAutoFit/>
          </a:bodyPr>
          <a:lstStyle/>
          <a:p>
            <a:pPr algn="l"/>
            <a:r>
              <a:rPr lang="en-US" sz="1000">
                <a:solidFill>
                  <a:srgbClr val="000000">
                    <a:alpha val="50000"/>
                  </a:srgbClr>
                </a:solidFill>
                <a:latin typeface="Aptos" panose="020B0004020202020204" pitchFamily="34" charset="0"/>
              </a:rPr>
              <a:t>Internal Only</a:t>
            </a:r>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22121"/>
        </a:solidFill>
        <a:effectLst/>
      </p:bgPr>
    </p:bg>
    <p:spTree>
      <p:nvGrpSpPr>
        <p:cNvPr id="1" name=""/>
        <p:cNvGrpSpPr/>
        <p:nvPr/>
      </p:nvGrpSpPr>
      <p:grpSpPr>
        <a:xfrm>
          <a:off x="0" y="0"/>
          <a:ext cx="0" cy="0"/>
          <a:chOff x="0" y="0"/>
          <a:chExt cx="0" cy="0"/>
        </a:xfrm>
      </p:grpSpPr>
      <p:sp>
        <p:nvSpPr>
          <p:cNvPr id="2" name="Text 0"/>
          <p:cNvSpPr/>
          <p:nvPr/>
        </p:nvSpPr>
        <p:spPr>
          <a:xfrm>
            <a:off x="1097280" y="1371600"/>
            <a:ext cx="11002975" cy="274320"/>
          </a:xfrm>
          <a:prstGeom prst="rect">
            <a:avLst/>
          </a:prstGeom>
          <a:noFill/>
          <a:ln/>
        </p:spPr>
        <p:txBody>
          <a:bodyPr wrap="square" lIns="0" tIns="0" rIns="0" bIns="0" rtlCol="0" anchor="ctr"/>
          <a:lstStyle/>
          <a:p>
            <a:pPr marL="0" indent="0" algn="l">
              <a:buNone/>
            </a:pPr>
            <a:r>
              <a:rPr lang="en-US" sz="1200" b="1" kern="0" spc="300" dirty="0">
                <a:solidFill>
                  <a:srgbClr val="75DFBC"/>
                </a:solidFill>
                <a:latin typeface="Arial" pitchFamily="34" charset="0"/>
                <a:ea typeface="Arial" pitchFamily="34" charset="-122"/>
                <a:cs typeface="Arial" pitchFamily="34" charset="-120"/>
              </a:rPr>
              <a:t>WARM-UP</a:t>
            </a:r>
            <a:endParaRPr lang="en-US" sz="1200" dirty="0"/>
          </a:p>
        </p:txBody>
      </p:sp>
      <p:sp>
        <p:nvSpPr>
          <p:cNvPr id="3" name="Text 1"/>
          <p:cNvSpPr/>
          <p:nvPr/>
        </p:nvSpPr>
        <p:spPr>
          <a:xfrm>
            <a:off x="1097280" y="1920240"/>
            <a:ext cx="9997135" cy="2011680"/>
          </a:xfrm>
          <a:prstGeom prst="rect">
            <a:avLst/>
          </a:prstGeom>
          <a:noFill/>
          <a:ln/>
        </p:spPr>
        <p:txBody>
          <a:bodyPr wrap="square" lIns="0" tIns="0" rIns="0" bIns="0" rtlCol="0" anchor="t"/>
          <a:lstStyle/>
          <a:p>
            <a:pPr marL="0" indent="0" algn="l">
              <a:lnSpc>
                <a:spcPct val="105000"/>
              </a:lnSpc>
              <a:buNone/>
            </a:pPr>
            <a:r>
              <a:rPr lang="en-US" sz="4000" b="1" dirty="0">
                <a:solidFill>
                  <a:srgbClr val="FFFFFF"/>
                </a:solidFill>
                <a:latin typeface="Arial" pitchFamily="34" charset="0"/>
                <a:ea typeface="Arial" pitchFamily="34" charset="-122"/>
                <a:cs typeface="Arial" pitchFamily="34" charset="-120"/>
              </a:rPr>
              <a:t>How many CSS developers does it take</a:t>
            </a:r>
            <a:endParaRPr lang="en-US" sz="4000" dirty="0"/>
          </a:p>
          <a:p>
            <a:pPr marL="0" indent="0" algn="l">
              <a:lnSpc>
                <a:spcPct val="105000"/>
              </a:lnSpc>
              <a:buNone/>
            </a:pPr>
            <a:r>
              <a:rPr lang="en-US" sz="4000" b="1" dirty="0">
                <a:solidFill>
                  <a:srgbClr val="FFFFFF"/>
                </a:solidFill>
                <a:latin typeface="Arial" pitchFamily="34" charset="0"/>
                <a:ea typeface="Arial" pitchFamily="34" charset="-122"/>
                <a:cs typeface="Arial" pitchFamily="34" charset="-120"/>
              </a:rPr>
              <a:t>to change a lightbulb?</a:t>
            </a:r>
            <a:endParaRPr lang="en-US" sz="4000" dirty="0"/>
          </a:p>
        </p:txBody>
      </p:sp>
      <p:sp>
        <p:nvSpPr>
          <p:cNvPr id="4" name="Text 2"/>
          <p:cNvSpPr/>
          <p:nvPr/>
        </p:nvSpPr>
        <p:spPr>
          <a:xfrm>
            <a:off x="1097280" y="4114800"/>
            <a:ext cx="7315200" cy="548640"/>
          </a:xfrm>
          <a:prstGeom prst="rect">
            <a:avLst/>
          </a:prstGeom>
          <a:noFill/>
          <a:ln/>
        </p:spPr>
        <p:txBody>
          <a:bodyPr wrap="square" lIns="0" tIns="0" rIns="0" bIns="0" rtlCol="0" anchor="ctr"/>
          <a:lstStyle/>
          <a:p>
            <a:pPr marL="0" indent="0" algn="l">
              <a:buNone/>
            </a:pPr>
            <a:r>
              <a:rPr lang="en-US" sz="2400" i="1" dirty="0">
                <a:solidFill>
                  <a:srgbClr val="A6A6A6"/>
                </a:solidFill>
                <a:latin typeface="Arial" pitchFamily="34" charset="0"/>
                <a:ea typeface="Arial" pitchFamily="34" charset="-122"/>
                <a:cs typeface="Arial" pitchFamily="34" charset="-120"/>
              </a:rPr>
              <a:t>( wait for it… )</a:t>
            </a:r>
            <a:endParaRPr lang="en-US" sz="2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222121"/>
        </a:solidFill>
        <a:effectLst/>
      </p:bgPr>
    </p:bg>
    <p:spTree>
      <p:nvGrpSpPr>
        <p:cNvPr id="1" name=""/>
        <p:cNvGrpSpPr/>
        <p:nvPr/>
      </p:nvGrpSpPr>
      <p:grpSpPr>
        <a:xfrm>
          <a:off x="0" y="0"/>
          <a:ext cx="0" cy="0"/>
          <a:chOff x="0" y="0"/>
          <a:chExt cx="0" cy="0"/>
        </a:xfrm>
      </p:grpSpPr>
      <p:sp>
        <p:nvSpPr>
          <p:cNvPr id="2" name="Text 0"/>
          <p:cNvSpPr/>
          <p:nvPr/>
        </p:nvSpPr>
        <p:spPr>
          <a:xfrm>
            <a:off x="1097280" y="1554480"/>
            <a:ext cx="7315200" cy="1097280"/>
          </a:xfrm>
          <a:prstGeom prst="rect">
            <a:avLst/>
          </a:prstGeom>
          <a:noFill/>
          <a:ln/>
        </p:spPr>
        <p:txBody>
          <a:bodyPr wrap="square" lIns="0" tIns="0" rIns="0" bIns="0" rtlCol="0" anchor="ctr"/>
          <a:lstStyle/>
          <a:p>
            <a:pPr marL="0" indent="0" algn="l">
              <a:buNone/>
            </a:pPr>
            <a:r>
              <a:rPr lang="en-US" sz="6400" b="1" dirty="0">
                <a:solidFill>
                  <a:srgbClr val="75DFBC"/>
                </a:solidFill>
                <a:latin typeface="Arial" pitchFamily="34" charset="0"/>
                <a:ea typeface="Arial" pitchFamily="34" charset="-122"/>
                <a:cs typeface="Arial" pitchFamily="34" charset="-120"/>
              </a:rPr>
              <a:t>None.</a:t>
            </a:r>
            <a:endParaRPr lang="en-US" sz="6400" dirty="0"/>
          </a:p>
        </p:txBody>
      </p:sp>
      <p:sp>
        <p:nvSpPr>
          <p:cNvPr id="3" name="Text 1"/>
          <p:cNvSpPr/>
          <p:nvPr/>
        </p:nvSpPr>
        <p:spPr>
          <a:xfrm>
            <a:off x="1097280" y="2743200"/>
            <a:ext cx="9997135" cy="1463040"/>
          </a:xfrm>
          <a:prstGeom prst="rect">
            <a:avLst/>
          </a:prstGeom>
          <a:noFill/>
          <a:ln/>
        </p:spPr>
        <p:txBody>
          <a:bodyPr wrap="square" lIns="0" tIns="0" rIns="0" bIns="0" rtlCol="0" anchor="t"/>
          <a:lstStyle/>
          <a:p>
            <a:pPr marL="0" indent="0" algn="l">
              <a:lnSpc>
                <a:spcPct val="105000"/>
              </a:lnSpc>
              <a:buNone/>
            </a:pPr>
            <a:r>
              <a:rPr lang="en-US" sz="3000" b="1" dirty="0">
                <a:solidFill>
                  <a:srgbClr val="FFFFFF"/>
                </a:solidFill>
                <a:latin typeface="Arial" pitchFamily="34" charset="0"/>
                <a:ea typeface="Arial" pitchFamily="34" charset="-122"/>
                <a:cs typeface="Arial" pitchFamily="34" charset="-120"/>
              </a:rPr>
              <a:t>They change everything around it,</a:t>
            </a:r>
            <a:endParaRPr lang="en-US" sz="3000" dirty="0"/>
          </a:p>
          <a:p>
            <a:pPr marL="0" indent="0" algn="l">
              <a:lnSpc>
                <a:spcPct val="105000"/>
              </a:lnSpc>
              <a:buNone/>
            </a:pPr>
            <a:r>
              <a:rPr lang="en-US" sz="3000" b="1" dirty="0">
                <a:solidFill>
                  <a:srgbClr val="FFFFFF"/>
                </a:solidFill>
                <a:latin typeface="Arial" pitchFamily="34" charset="0"/>
                <a:ea typeface="Arial" pitchFamily="34" charset="-122"/>
                <a:cs typeface="Arial" pitchFamily="34" charset="-120"/>
              </a:rPr>
              <a:t>and hope it cascades.</a:t>
            </a:r>
            <a:endParaRPr lang="en-US" sz="3000" dirty="0"/>
          </a:p>
        </p:txBody>
      </p:sp>
      <p:sp>
        <p:nvSpPr>
          <p:cNvPr id="4" name="Text 2"/>
          <p:cNvSpPr/>
          <p:nvPr/>
        </p:nvSpPr>
        <p:spPr>
          <a:xfrm>
            <a:off x="1097280" y="4480560"/>
            <a:ext cx="9997135" cy="640080"/>
          </a:xfrm>
          <a:prstGeom prst="rect">
            <a:avLst/>
          </a:prstGeom>
          <a:noFill/>
          <a:ln/>
        </p:spPr>
        <p:txBody>
          <a:bodyPr wrap="square" lIns="0" tIns="0" rIns="0" bIns="0" rtlCol="0" anchor="ctr"/>
          <a:lstStyle/>
          <a:p>
            <a:pPr marL="0" indent="0" algn="l">
              <a:buNone/>
            </a:pPr>
            <a:r>
              <a:rPr lang="en-US" sz="2400" i="1" dirty="0">
                <a:solidFill>
                  <a:srgbClr val="A6A6A6"/>
                </a:solidFill>
                <a:latin typeface="Arial" pitchFamily="34" charset="0"/>
                <a:ea typeface="Arial" pitchFamily="34" charset="-122"/>
                <a:cs typeface="Arial" pitchFamily="34" charset="-120"/>
              </a:rPr>
              <a:t>Today: why that joke is the problem for humans and for machines.</a:t>
            </a:r>
            <a:endParaRPr lang="en-US" sz="2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222121"/>
        </a:solidFill>
        <a:effectLst/>
      </p:bgPr>
    </p:bg>
    <p:spTree>
      <p:nvGrpSpPr>
        <p:cNvPr id="1" name=""/>
        <p:cNvGrpSpPr/>
        <p:nvPr/>
      </p:nvGrpSpPr>
      <p:grpSpPr>
        <a:xfrm>
          <a:off x="0" y="0"/>
          <a:ext cx="0" cy="0"/>
          <a:chOff x="0" y="0"/>
          <a:chExt cx="0" cy="0"/>
        </a:xfrm>
      </p:grpSpPr>
      <p:sp>
        <p:nvSpPr>
          <p:cNvPr id="2" name="Text 0"/>
          <p:cNvSpPr/>
          <p:nvPr/>
        </p:nvSpPr>
        <p:spPr>
          <a:xfrm>
            <a:off x="594360" y="1874520"/>
            <a:ext cx="11002975" cy="2194560"/>
          </a:xfrm>
          <a:prstGeom prst="rect">
            <a:avLst/>
          </a:prstGeom>
          <a:noFill/>
          <a:ln/>
        </p:spPr>
        <p:txBody>
          <a:bodyPr wrap="square" lIns="0" tIns="0" rIns="0" bIns="0" rtlCol="0" anchor="t"/>
          <a:lstStyle/>
          <a:p>
            <a:pPr marL="0" indent="0" algn="l">
              <a:lnSpc>
                <a:spcPct val="102000"/>
              </a:lnSpc>
              <a:buNone/>
            </a:pPr>
            <a:r>
              <a:rPr lang="en-US" sz="5200" b="1" dirty="0">
                <a:solidFill>
                  <a:srgbClr val="FFFFFF"/>
                </a:solidFill>
                <a:latin typeface="Arial" pitchFamily="34" charset="0"/>
                <a:ea typeface="Arial" pitchFamily="34" charset="-122"/>
                <a:cs typeface="Arial" pitchFamily="34" charset="-120"/>
              </a:rPr>
              <a:t>Why LLMs &amp; JS frameworks
</a:t>
            </a:r>
            <a:r>
              <a:rPr lang="en-US" sz="5200" b="1" dirty="0">
                <a:solidFill>
                  <a:srgbClr val="75DFBC"/>
                </a:solidFill>
                <a:latin typeface="Arial" pitchFamily="34" charset="0"/>
                <a:ea typeface="Arial" pitchFamily="34" charset="-122"/>
                <a:cs typeface="Arial" pitchFamily="34" charset="-120"/>
              </a:rPr>
              <a:t>love Tailwind CSS</a:t>
            </a:r>
            <a:endParaRPr lang="en-US" sz="5200" dirty="0"/>
          </a:p>
        </p:txBody>
      </p:sp>
      <p:sp>
        <p:nvSpPr>
          <p:cNvPr id="3" name="Text 1"/>
          <p:cNvSpPr/>
          <p:nvPr/>
        </p:nvSpPr>
        <p:spPr>
          <a:xfrm>
            <a:off x="594360" y="3977640"/>
            <a:ext cx="11002975" cy="548640"/>
          </a:xfrm>
          <a:prstGeom prst="rect">
            <a:avLst/>
          </a:prstGeom>
          <a:noFill/>
          <a:ln/>
        </p:spPr>
        <p:txBody>
          <a:bodyPr wrap="square" lIns="0" tIns="0" rIns="0" bIns="0" rtlCol="0" anchor="ctr"/>
          <a:lstStyle/>
          <a:p>
            <a:pPr marL="0" indent="0" algn="l">
              <a:buNone/>
            </a:pPr>
            <a:r>
              <a:rPr lang="en-US" sz="2800" i="1" dirty="0">
                <a:solidFill>
                  <a:srgbClr val="A6A6A6"/>
                </a:solidFill>
                <a:latin typeface="Arial" pitchFamily="34" charset="0"/>
                <a:ea typeface="Arial" pitchFamily="34" charset="-122"/>
                <a:cs typeface="Arial" pitchFamily="34" charset="-120"/>
              </a:rPr>
              <a:t>…and why you should too</a:t>
            </a:r>
            <a:endParaRPr lang="en-US" sz="2800" dirty="0"/>
          </a:p>
        </p:txBody>
      </p:sp>
      <p:sp>
        <p:nvSpPr>
          <p:cNvPr id="4" name="Text 2"/>
          <p:cNvSpPr/>
          <p:nvPr/>
        </p:nvSpPr>
        <p:spPr>
          <a:xfrm>
            <a:off x="594360" y="4892040"/>
            <a:ext cx="11002975" cy="457200"/>
          </a:xfrm>
          <a:prstGeom prst="rect">
            <a:avLst/>
          </a:prstGeom>
          <a:noFill/>
          <a:ln/>
        </p:spPr>
        <p:txBody>
          <a:bodyPr wrap="square" lIns="0" tIns="0" rIns="0" bIns="0" rtlCol="0" anchor="ctr"/>
          <a:lstStyle/>
          <a:p>
            <a:pPr marL="0" indent="0" algn="l">
              <a:buNone/>
            </a:pPr>
            <a:r>
              <a:rPr lang="en-US" sz="1600" b="1" dirty="0">
                <a:solidFill>
                  <a:srgbClr val="FFFFFF"/>
                </a:solidFill>
                <a:latin typeface="Arial" pitchFamily="34" charset="0"/>
                <a:ea typeface="Arial" pitchFamily="34" charset="-122"/>
                <a:cs typeface="Arial" pitchFamily="34" charset="-120"/>
              </a:rPr>
              <a:t>Devlin Duldulao</a:t>
            </a:r>
            <a:endParaRPr lang="en-US" sz="1600" dirty="0"/>
          </a:p>
        </p:txBody>
      </p:sp>
      <p:sp>
        <p:nvSpPr>
          <p:cNvPr id="15" name="Text 13"/>
          <p:cNvSpPr/>
          <p:nvPr/>
        </p:nvSpPr>
        <p:spPr>
          <a:xfrm>
            <a:off x="594360" y="6419088"/>
            <a:ext cx="8229600" cy="274320"/>
          </a:xfrm>
          <a:prstGeom prst="rect">
            <a:avLst/>
          </a:prstGeom>
          <a:noFill/>
          <a:ln/>
        </p:spPr>
        <p:txBody>
          <a:bodyPr wrap="square" lIns="0" tIns="0" rIns="0" bIns="0" rtlCol="0" anchor="ctr"/>
          <a:lstStyle/>
          <a:p>
            <a:pPr marL="0" indent="0" algn="l">
              <a:buNone/>
            </a:pPr>
            <a:r>
              <a:rPr lang="en-US" sz="900" dirty="0">
                <a:solidFill>
                  <a:srgbClr val="6E6E6E"/>
                </a:solidFill>
                <a:latin typeface="Arial" pitchFamily="34" charset="0"/>
                <a:ea typeface="Arial" pitchFamily="34" charset="-122"/>
                <a:cs typeface="Arial" pitchFamily="34" charset="-120"/>
              </a:rPr>
              <a:t>Why LLMs &amp; JS frameworks love Tailwind CSS</a:t>
            </a:r>
            <a:endParaRPr lang="en-US" sz="900" dirty="0"/>
          </a:p>
        </p:txBody>
      </p:sp>
      <p:sp>
        <p:nvSpPr>
          <p:cNvPr id="16" name="Text 14"/>
          <p:cNvSpPr/>
          <p:nvPr/>
        </p:nvSpPr>
        <p:spPr>
          <a:xfrm>
            <a:off x="10134295" y="6419088"/>
            <a:ext cx="1463040" cy="274320"/>
          </a:xfrm>
          <a:prstGeom prst="rect">
            <a:avLst/>
          </a:prstGeom>
          <a:noFill/>
          <a:ln/>
        </p:spPr>
        <p:txBody>
          <a:bodyPr wrap="square" lIns="0" tIns="0" rIns="0" bIns="0" rtlCol="0" anchor="ctr"/>
          <a:lstStyle/>
          <a:p>
            <a:pPr marL="0" indent="0" algn="r">
              <a:buNone/>
            </a:pPr>
            <a:r>
              <a:rPr lang="en-US" sz="900" dirty="0">
                <a:solidFill>
                  <a:srgbClr val="6E6E6E"/>
                </a:solidFill>
                <a:latin typeface="Arial" pitchFamily="34" charset="0"/>
                <a:ea typeface="Arial" pitchFamily="34" charset="-122"/>
                <a:cs typeface="Arial" pitchFamily="34" charset="-120"/>
              </a:rPr>
              <a:t>3 / 29</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222121"/>
        </a:solidFill>
        <a:effectLst/>
      </p:bgPr>
    </p:bg>
    <p:spTree>
      <p:nvGrpSpPr>
        <p:cNvPr id="1" name=""/>
        <p:cNvGrpSpPr/>
        <p:nvPr/>
      </p:nvGrpSpPr>
      <p:grpSpPr>
        <a:xfrm>
          <a:off x="0" y="0"/>
          <a:ext cx="0" cy="0"/>
          <a:chOff x="0" y="0"/>
          <a:chExt cx="0" cy="0"/>
        </a:xfrm>
      </p:grpSpPr>
      <p:sp>
        <p:nvSpPr>
          <p:cNvPr id="2" name="Text 0"/>
          <p:cNvSpPr/>
          <p:nvPr/>
        </p:nvSpPr>
        <p:spPr>
          <a:xfrm>
            <a:off x="594360" y="502920"/>
            <a:ext cx="11002975" cy="274320"/>
          </a:xfrm>
          <a:prstGeom prst="rect">
            <a:avLst/>
          </a:prstGeom>
          <a:noFill/>
          <a:ln/>
        </p:spPr>
        <p:txBody>
          <a:bodyPr wrap="square" lIns="0" tIns="0" rIns="0" bIns="0" rtlCol="0" anchor="ctr"/>
          <a:lstStyle/>
          <a:p>
            <a:pPr marL="0" indent="0" algn="l">
              <a:buNone/>
            </a:pPr>
            <a:r>
              <a:rPr lang="en-US" sz="1200" b="1" kern="0" spc="300" dirty="0">
                <a:solidFill>
                  <a:srgbClr val="75DFBC"/>
                </a:solidFill>
                <a:latin typeface="Arial" pitchFamily="34" charset="0"/>
                <a:ea typeface="Arial" pitchFamily="34" charset="-122"/>
                <a:cs typeface="Arial" pitchFamily="34" charset="-120"/>
              </a:rPr>
              <a:t>WHOAMI</a:t>
            </a:r>
            <a:endParaRPr lang="en-US" sz="1200" dirty="0"/>
          </a:p>
        </p:txBody>
      </p:sp>
      <p:sp>
        <p:nvSpPr>
          <p:cNvPr id="3" name="Text 1"/>
          <p:cNvSpPr/>
          <p:nvPr/>
        </p:nvSpPr>
        <p:spPr>
          <a:xfrm>
            <a:off x="594360" y="868680"/>
            <a:ext cx="11002975" cy="1005840"/>
          </a:xfrm>
          <a:prstGeom prst="rect">
            <a:avLst/>
          </a:prstGeom>
          <a:noFill/>
          <a:ln/>
        </p:spPr>
        <p:txBody>
          <a:bodyPr wrap="square" lIns="0" tIns="0" rIns="0" bIns="0" rtlCol="0" anchor="t"/>
          <a:lstStyle/>
          <a:p>
            <a:pPr marL="0" indent="0" algn="l">
              <a:lnSpc>
                <a:spcPct val="102000"/>
              </a:lnSpc>
              <a:buNone/>
            </a:pPr>
            <a:r>
              <a:rPr lang="en-US" sz="4000" b="1" dirty="0">
                <a:solidFill>
                  <a:srgbClr val="FFFFFF"/>
                </a:solidFill>
                <a:latin typeface="Arial" pitchFamily="34" charset="0"/>
                <a:ea typeface="Arial" pitchFamily="34" charset="-122"/>
                <a:cs typeface="Arial" pitchFamily="34" charset="-120"/>
              </a:rPr>
              <a:t>Devlin Duldulao</a:t>
            </a:r>
            <a:endParaRPr lang="en-US" sz="4000" dirty="0"/>
          </a:p>
        </p:txBody>
      </p:sp>
      <p:sp>
        <p:nvSpPr>
          <p:cNvPr id="4" name="Shape 2"/>
          <p:cNvSpPr/>
          <p:nvPr/>
        </p:nvSpPr>
        <p:spPr>
          <a:xfrm>
            <a:off x="594360" y="2276856"/>
            <a:ext cx="118872" cy="118872"/>
          </a:xfrm>
          <a:prstGeom prst="rect">
            <a:avLst/>
          </a:prstGeom>
          <a:solidFill>
            <a:srgbClr val="75DFBC"/>
          </a:solidFill>
          <a:ln/>
        </p:spPr>
        <p:txBody>
          <a:bodyPr/>
          <a:lstStyle/>
          <a:p>
            <a:endParaRPr lang="en-US" sz="2000"/>
          </a:p>
        </p:txBody>
      </p:sp>
      <p:sp>
        <p:nvSpPr>
          <p:cNvPr id="5" name="Text 3"/>
          <p:cNvSpPr/>
          <p:nvPr/>
        </p:nvSpPr>
        <p:spPr>
          <a:xfrm>
            <a:off x="886968" y="2194560"/>
            <a:ext cx="6656832" cy="457200"/>
          </a:xfrm>
          <a:prstGeom prst="rect">
            <a:avLst/>
          </a:prstGeom>
          <a:noFill/>
          <a:ln/>
        </p:spPr>
        <p:txBody>
          <a:bodyPr wrap="square" lIns="0" tIns="0" rIns="0" bIns="0" rtlCol="0" anchor="t"/>
          <a:lstStyle/>
          <a:p>
            <a:pPr>
              <a:lnSpc>
                <a:spcPct val="105000"/>
              </a:lnSpc>
            </a:pPr>
            <a:r>
              <a:rPr lang="en-US" dirty="0">
                <a:solidFill>
                  <a:srgbClr val="FFFFFF"/>
                </a:solidFill>
                <a:latin typeface="Arial" pitchFamily="34" charset="0"/>
                <a:ea typeface="Arial" pitchFamily="34" charset="-122"/>
                <a:cs typeface="Arial" pitchFamily="34" charset="-120"/>
              </a:rPr>
              <a:t>Full-stack developer from Oslo Norway</a:t>
            </a:r>
            <a:endParaRPr lang="en-US" dirty="0"/>
          </a:p>
        </p:txBody>
      </p:sp>
      <p:sp>
        <p:nvSpPr>
          <p:cNvPr id="6" name="Shape 4"/>
          <p:cNvSpPr/>
          <p:nvPr/>
        </p:nvSpPr>
        <p:spPr>
          <a:xfrm>
            <a:off x="594360" y="2962656"/>
            <a:ext cx="118872" cy="118872"/>
          </a:xfrm>
          <a:prstGeom prst="rect">
            <a:avLst/>
          </a:prstGeom>
          <a:solidFill>
            <a:srgbClr val="75DFBC"/>
          </a:solidFill>
          <a:ln/>
        </p:spPr>
        <p:txBody>
          <a:bodyPr/>
          <a:lstStyle/>
          <a:p>
            <a:endParaRPr lang="en-US" sz="2000"/>
          </a:p>
        </p:txBody>
      </p:sp>
      <p:sp>
        <p:nvSpPr>
          <p:cNvPr id="7" name="Text 5"/>
          <p:cNvSpPr/>
          <p:nvPr/>
        </p:nvSpPr>
        <p:spPr>
          <a:xfrm>
            <a:off x="886968" y="2880360"/>
            <a:ext cx="6656832" cy="457200"/>
          </a:xfrm>
          <a:prstGeom prst="rect">
            <a:avLst/>
          </a:prstGeom>
          <a:noFill/>
          <a:ln/>
        </p:spPr>
        <p:txBody>
          <a:bodyPr wrap="square" lIns="0" tIns="0" rIns="0" bIns="0" rtlCol="0" anchor="t"/>
          <a:lstStyle/>
          <a:p>
            <a:pPr marL="0" indent="0" algn="l">
              <a:lnSpc>
                <a:spcPct val="105000"/>
              </a:lnSpc>
              <a:buNone/>
            </a:pPr>
            <a:r>
              <a:rPr lang="en-US" dirty="0">
                <a:solidFill>
                  <a:srgbClr val="FFFFFF"/>
                </a:solidFill>
                <a:latin typeface="Arial" pitchFamily="34" charset="0"/>
                <a:ea typeface="Arial" pitchFamily="34" charset="-122"/>
                <a:cs typeface="Arial" pitchFamily="34" charset="-120"/>
              </a:rPr>
              <a:t>Creator of </a:t>
            </a:r>
            <a:r>
              <a:rPr lang="en-US" dirty="0" err="1">
                <a:solidFill>
                  <a:srgbClr val="FFFFFF"/>
                </a:solidFill>
                <a:latin typeface="Arial" pitchFamily="34" charset="0"/>
                <a:ea typeface="Arial" pitchFamily="34" charset="-122"/>
                <a:cs typeface="Arial" pitchFamily="34" charset="-120"/>
              </a:rPr>
              <a:t>DaloyJS</a:t>
            </a:r>
            <a:endParaRPr lang="en-US" dirty="0"/>
          </a:p>
        </p:txBody>
      </p:sp>
      <p:sp>
        <p:nvSpPr>
          <p:cNvPr id="11" name="Text 9"/>
          <p:cNvSpPr/>
          <p:nvPr/>
        </p:nvSpPr>
        <p:spPr>
          <a:xfrm>
            <a:off x="886968" y="4251960"/>
            <a:ext cx="6656832" cy="457200"/>
          </a:xfrm>
          <a:prstGeom prst="rect">
            <a:avLst/>
          </a:prstGeom>
          <a:noFill/>
          <a:ln/>
        </p:spPr>
        <p:txBody>
          <a:bodyPr wrap="square" lIns="0" tIns="0" rIns="0" bIns="0" rtlCol="0" anchor="t"/>
          <a:lstStyle/>
          <a:p>
            <a:pPr marL="0" indent="0" algn="l">
              <a:lnSpc>
                <a:spcPct val="105000"/>
              </a:lnSpc>
              <a:buNone/>
            </a:pPr>
            <a:endParaRPr lang="en-US" sz="1700" dirty="0"/>
          </a:p>
        </p:txBody>
      </p:sp>
      <p:sp>
        <p:nvSpPr>
          <p:cNvPr id="15" name="Text 13"/>
          <p:cNvSpPr/>
          <p:nvPr/>
        </p:nvSpPr>
        <p:spPr>
          <a:xfrm>
            <a:off x="594360" y="6419088"/>
            <a:ext cx="8229600" cy="274320"/>
          </a:xfrm>
          <a:prstGeom prst="rect">
            <a:avLst/>
          </a:prstGeom>
          <a:noFill/>
          <a:ln/>
        </p:spPr>
        <p:txBody>
          <a:bodyPr wrap="square" lIns="0" tIns="0" rIns="0" bIns="0" rtlCol="0" anchor="ctr"/>
          <a:lstStyle/>
          <a:p>
            <a:pPr marL="0" indent="0" algn="l">
              <a:buNone/>
            </a:pPr>
            <a:r>
              <a:rPr lang="en-US" sz="900" dirty="0">
                <a:solidFill>
                  <a:srgbClr val="6E6E6E"/>
                </a:solidFill>
                <a:latin typeface="Arial" pitchFamily="34" charset="0"/>
                <a:ea typeface="Arial" pitchFamily="34" charset="-122"/>
                <a:cs typeface="Arial" pitchFamily="34" charset="-120"/>
              </a:rPr>
              <a:t>Why LLMs &amp; JS frameworks love Tailwind CSS</a:t>
            </a:r>
            <a:endParaRPr lang="en-US" sz="900" dirty="0"/>
          </a:p>
        </p:txBody>
      </p:sp>
      <p:sp>
        <p:nvSpPr>
          <p:cNvPr id="16" name="Text 14"/>
          <p:cNvSpPr/>
          <p:nvPr/>
        </p:nvSpPr>
        <p:spPr>
          <a:xfrm>
            <a:off x="10134295" y="6419088"/>
            <a:ext cx="1463040" cy="274320"/>
          </a:xfrm>
          <a:prstGeom prst="rect">
            <a:avLst/>
          </a:prstGeom>
          <a:noFill/>
          <a:ln/>
        </p:spPr>
        <p:txBody>
          <a:bodyPr wrap="square" lIns="0" tIns="0" rIns="0" bIns="0" rtlCol="0" anchor="ctr"/>
          <a:lstStyle/>
          <a:p>
            <a:pPr marL="0" indent="0" algn="r">
              <a:buNone/>
            </a:pPr>
            <a:r>
              <a:rPr lang="en-US" sz="900" dirty="0">
                <a:solidFill>
                  <a:srgbClr val="6E6E6E"/>
                </a:solidFill>
                <a:latin typeface="Arial" pitchFamily="34" charset="0"/>
                <a:ea typeface="Arial" pitchFamily="34" charset="-122"/>
                <a:cs typeface="Arial" pitchFamily="34" charset="-120"/>
              </a:rPr>
              <a:t>4 / 29</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222121"/>
        </a:solidFill>
        <a:effectLst/>
      </p:bgPr>
    </p:bg>
    <p:spTree>
      <p:nvGrpSpPr>
        <p:cNvPr id="1" name=""/>
        <p:cNvGrpSpPr/>
        <p:nvPr/>
      </p:nvGrpSpPr>
      <p:grpSpPr>
        <a:xfrm>
          <a:off x="0" y="0"/>
          <a:ext cx="0" cy="0"/>
          <a:chOff x="0" y="0"/>
          <a:chExt cx="0" cy="0"/>
        </a:xfrm>
      </p:grpSpPr>
      <p:sp>
        <p:nvSpPr>
          <p:cNvPr id="2" name="Text 0"/>
          <p:cNvSpPr/>
          <p:nvPr/>
        </p:nvSpPr>
        <p:spPr>
          <a:xfrm>
            <a:off x="594360" y="502920"/>
            <a:ext cx="11002975" cy="274320"/>
          </a:xfrm>
          <a:prstGeom prst="rect">
            <a:avLst/>
          </a:prstGeom>
          <a:noFill/>
          <a:ln/>
        </p:spPr>
        <p:txBody>
          <a:bodyPr wrap="square" lIns="0" tIns="0" rIns="0" bIns="0" rtlCol="0" anchor="ctr"/>
          <a:lstStyle/>
          <a:p>
            <a:pPr marL="0" indent="0" algn="l">
              <a:buNone/>
            </a:pPr>
            <a:r>
              <a:rPr lang="en-US" sz="1200" b="1" kern="0" spc="300" dirty="0">
                <a:solidFill>
                  <a:srgbClr val="75DFBC"/>
                </a:solidFill>
                <a:latin typeface="Arial" pitchFamily="34" charset="0"/>
                <a:ea typeface="Arial" pitchFamily="34" charset="-122"/>
                <a:cs typeface="Arial" pitchFamily="34" charset="-120"/>
              </a:rPr>
              <a:t>THE SETUP</a:t>
            </a:r>
            <a:endParaRPr lang="en-US" sz="1200" dirty="0"/>
          </a:p>
        </p:txBody>
      </p:sp>
      <p:sp>
        <p:nvSpPr>
          <p:cNvPr id="3" name="Text 1"/>
          <p:cNvSpPr/>
          <p:nvPr/>
        </p:nvSpPr>
        <p:spPr>
          <a:xfrm>
            <a:off x="594360" y="868680"/>
            <a:ext cx="11002975" cy="1005840"/>
          </a:xfrm>
          <a:prstGeom prst="rect">
            <a:avLst/>
          </a:prstGeom>
          <a:noFill/>
          <a:ln/>
        </p:spPr>
        <p:txBody>
          <a:bodyPr wrap="square" lIns="0" tIns="0" rIns="0" bIns="0" rtlCol="0" anchor="t"/>
          <a:lstStyle/>
          <a:p>
            <a:pPr marL="0" indent="0" algn="l">
              <a:lnSpc>
                <a:spcPct val="102000"/>
              </a:lnSpc>
              <a:buNone/>
            </a:pPr>
            <a:r>
              <a:rPr lang="en-US" sz="3400" b="1" dirty="0">
                <a:solidFill>
                  <a:srgbClr val="FFFFFF"/>
                </a:solidFill>
                <a:latin typeface="Arial" pitchFamily="34" charset="0"/>
                <a:ea typeface="Arial" pitchFamily="34" charset="-122"/>
                <a:cs typeface="Arial" pitchFamily="34" charset="-120"/>
              </a:rPr>
              <a:t>15 years of methodology wars</a:t>
            </a:r>
            <a:endParaRPr lang="en-US" sz="3400" dirty="0"/>
          </a:p>
        </p:txBody>
      </p:sp>
      <p:sp>
        <p:nvSpPr>
          <p:cNvPr id="4" name="Shape 2"/>
          <p:cNvSpPr/>
          <p:nvPr/>
        </p:nvSpPr>
        <p:spPr>
          <a:xfrm>
            <a:off x="594360" y="2743200"/>
            <a:ext cx="1151344" cy="1371600"/>
          </a:xfrm>
          <a:prstGeom prst="roundRect">
            <a:avLst>
              <a:gd name="adj" fmla="val 9530"/>
            </a:avLst>
          </a:prstGeom>
          <a:solidFill>
            <a:srgbClr val="222121"/>
          </a:solidFill>
          <a:ln w="12700">
            <a:solidFill>
              <a:srgbClr val="3A3A3A"/>
            </a:solidFill>
            <a:prstDash val="solid"/>
          </a:ln>
        </p:spPr>
        <p:txBody>
          <a:bodyPr/>
          <a:lstStyle/>
          <a:p>
            <a:endParaRPr lang="en-US" sz="2400"/>
          </a:p>
        </p:txBody>
      </p:sp>
      <p:sp>
        <p:nvSpPr>
          <p:cNvPr id="5" name="Text 3"/>
          <p:cNvSpPr/>
          <p:nvPr/>
        </p:nvSpPr>
        <p:spPr>
          <a:xfrm>
            <a:off x="594360" y="2999232"/>
            <a:ext cx="1151344" cy="457200"/>
          </a:xfrm>
          <a:prstGeom prst="rect">
            <a:avLst/>
          </a:prstGeom>
          <a:noFill/>
          <a:ln/>
        </p:spPr>
        <p:txBody>
          <a:bodyPr wrap="square" lIns="0" tIns="0" rIns="0" bIns="0" rtlCol="0" anchor="ctr"/>
          <a:lstStyle/>
          <a:p>
            <a:pPr marL="0" indent="0" algn="ctr">
              <a:buNone/>
            </a:pPr>
            <a:r>
              <a:rPr lang="en-US" b="1" dirty="0">
                <a:solidFill>
                  <a:srgbClr val="FFFFFF"/>
                </a:solidFill>
                <a:latin typeface="Arial" pitchFamily="34" charset="0"/>
                <a:ea typeface="Arial" pitchFamily="34" charset="-122"/>
                <a:cs typeface="Arial" pitchFamily="34" charset="-120"/>
              </a:rPr>
              <a:t>Vanilla</a:t>
            </a:r>
            <a:endParaRPr lang="en-US" dirty="0"/>
          </a:p>
        </p:txBody>
      </p:sp>
      <p:sp>
        <p:nvSpPr>
          <p:cNvPr id="6" name="Text 4"/>
          <p:cNvSpPr/>
          <p:nvPr/>
        </p:nvSpPr>
        <p:spPr>
          <a:xfrm>
            <a:off x="594360" y="3520440"/>
            <a:ext cx="1151344" cy="365760"/>
          </a:xfrm>
          <a:prstGeom prst="rect">
            <a:avLst/>
          </a:prstGeom>
          <a:noFill/>
          <a:ln/>
        </p:spPr>
        <p:txBody>
          <a:bodyPr wrap="square" lIns="0" tIns="0" rIns="0" bIns="0" rtlCol="0" anchor="ctr"/>
          <a:lstStyle/>
          <a:p>
            <a:pPr marL="0" indent="0" algn="ctr">
              <a:buNone/>
            </a:pPr>
            <a:r>
              <a:rPr lang="en-US" sz="1600" dirty="0">
                <a:solidFill>
                  <a:srgbClr val="6E6E6E"/>
                </a:solidFill>
                <a:latin typeface="Courier New" pitchFamily="34" charset="0"/>
                <a:ea typeface="Courier New" pitchFamily="34" charset="-122"/>
                <a:cs typeface="Courier New" pitchFamily="34" charset="-120"/>
              </a:rPr>
              <a:t>2005</a:t>
            </a:r>
            <a:endParaRPr lang="en-US" sz="1600" dirty="0"/>
          </a:p>
        </p:txBody>
      </p:sp>
      <p:sp>
        <p:nvSpPr>
          <p:cNvPr id="7" name="Shape 5"/>
          <p:cNvSpPr/>
          <p:nvPr/>
        </p:nvSpPr>
        <p:spPr>
          <a:xfrm>
            <a:off x="2001736" y="2743200"/>
            <a:ext cx="1151344" cy="1371600"/>
          </a:xfrm>
          <a:prstGeom prst="roundRect">
            <a:avLst>
              <a:gd name="adj" fmla="val 9530"/>
            </a:avLst>
          </a:prstGeom>
          <a:solidFill>
            <a:srgbClr val="222121"/>
          </a:solidFill>
          <a:ln w="12700">
            <a:solidFill>
              <a:srgbClr val="3A3A3A"/>
            </a:solidFill>
            <a:prstDash val="solid"/>
          </a:ln>
        </p:spPr>
        <p:txBody>
          <a:bodyPr/>
          <a:lstStyle/>
          <a:p>
            <a:endParaRPr lang="en-US" sz="2400"/>
          </a:p>
        </p:txBody>
      </p:sp>
      <p:sp>
        <p:nvSpPr>
          <p:cNvPr id="8" name="Text 6"/>
          <p:cNvSpPr/>
          <p:nvPr/>
        </p:nvSpPr>
        <p:spPr>
          <a:xfrm>
            <a:off x="2001736" y="2999232"/>
            <a:ext cx="1151344" cy="457200"/>
          </a:xfrm>
          <a:prstGeom prst="rect">
            <a:avLst/>
          </a:prstGeom>
          <a:noFill/>
          <a:ln/>
        </p:spPr>
        <p:txBody>
          <a:bodyPr wrap="square" lIns="0" tIns="0" rIns="0" bIns="0" rtlCol="0" anchor="ctr"/>
          <a:lstStyle/>
          <a:p>
            <a:pPr marL="0" indent="0" algn="ctr">
              <a:buNone/>
            </a:pPr>
            <a:r>
              <a:rPr lang="en-US" b="1" dirty="0">
                <a:solidFill>
                  <a:srgbClr val="FFFFFF"/>
                </a:solidFill>
                <a:latin typeface="Arial" pitchFamily="34" charset="0"/>
                <a:ea typeface="Arial" pitchFamily="34" charset="-122"/>
                <a:cs typeface="Arial" pitchFamily="34" charset="-120"/>
              </a:rPr>
              <a:t>OOCSS</a:t>
            </a:r>
            <a:endParaRPr lang="en-US" dirty="0"/>
          </a:p>
        </p:txBody>
      </p:sp>
      <p:sp>
        <p:nvSpPr>
          <p:cNvPr id="9" name="Text 7"/>
          <p:cNvSpPr/>
          <p:nvPr/>
        </p:nvSpPr>
        <p:spPr>
          <a:xfrm>
            <a:off x="2001736" y="3520440"/>
            <a:ext cx="1151344" cy="365760"/>
          </a:xfrm>
          <a:prstGeom prst="rect">
            <a:avLst/>
          </a:prstGeom>
          <a:noFill/>
          <a:ln/>
        </p:spPr>
        <p:txBody>
          <a:bodyPr wrap="square" lIns="0" tIns="0" rIns="0" bIns="0" rtlCol="0" anchor="ctr"/>
          <a:lstStyle/>
          <a:p>
            <a:pPr marL="0" indent="0" algn="ctr">
              <a:buNone/>
            </a:pPr>
            <a:r>
              <a:rPr lang="en-US" sz="1600" dirty="0">
                <a:solidFill>
                  <a:srgbClr val="6E6E6E"/>
                </a:solidFill>
                <a:latin typeface="Courier New" pitchFamily="34" charset="0"/>
                <a:ea typeface="Courier New" pitchFamily="34" charset="-122"/>
                <a:cs typeface="Courier New" pitchFamily="34" charset="-120"/>
              </a:rPr>
              <a:t>2009</a:t>
            </a:r>
            <a:endParaRPr lang="en-US" sz="1600" dirty="0"/>
          </a:p>
        </p:txBody>
      </p:sp>
      <p:sp>
        <p:nvSpPr>
          <p:cNvPr id="10" name="Shape 8"/>
          <p:cNvSpPr/>
          <p:nvPr/>
        </p:nvSpPr>
        <p:spPr>
          <a:xfrm>
            <a:off x="3409112" y="2743200"/>
            <a:ext cx="1151344" cy="1371600"/>
          </a:xfrm>
          <a:prstGeom prst="roundRect">
            <a:avLst>
              <a:gd name="adj" fmla="val 9530"/>
            </a:avLst>
          </a:prstGeom>
          <a:solidFill>
            <a:srgbClr val="222121"/>
          </a:solidFill>
          <a:ln w="12700">
            <a:solidFill>
              <a:srgbClr val="3A3A3A"/>
            </a:solidFill>
            <a:prstDash val="solid"/>
          </a:ln>
        </p:spPr>
        <p:txBody>
          <a:bodyPr/>
          <a:lstStyle/>
          <a:p>
            <a:endParaRPr lang="en-US" sz="2400"/>
          </a:p>
        </p:txBody>
      </p:sp>
      <p:sp>
        <p:nvSpPr>
          <p:cNvPr id="11" name="Text 9"/>
          <p:cNvSpPr/>
          <p:nvPr/>
        </p:nvSpPr>
        <p:spPr>
          <a:xfrm>
            <a:off x="3409112" y="2999232"/>
            <a:ext cx="1151344" cy="457200"/>
          </a:xfrm>
          <a:prstGeom prst="rect">
            <a:avLst/>
          </a:prstGeom>
          <a:noFill/>
          <a:ln/>
        </p:spPr>
        <p:txBody>
          <a:bodyPr wrap="square" lIns="0" tIns="0" rIns="0" bIns="0" rtlCol="0" anchor="ctr"/>
          <a:lstStyle/>
          <a:p>
            <a:pPr marL="0" indent="0" algn="ctr">
              <a:buNone/>
            </a:pPr>
            <a:r>
              <a:rPr lang="en-US" b="1" dirty="0">
                <a:solidFill>
                  <a:srgbClr val="FFFFFF"/>
                </a:solidFill>
                <a:latin typeface="Arial" pitchFamily="34" charset="0"/>
                <a:ea typeface="Arial" pitchFamily="34" charset="-122"/>
                <a:cs typeface="Arial" pitchFamily="34" charset="-120"/>
              </a:rPr>
              <a:t>BEM</a:t>
            </a:r>
            <a:endParaRPr lang="en-US" dirty="0"/>
          </a:p>
        </p:txBody>
      </p:sp>
      <p:sp>
        <p:nvSpPr>
          <p:cNvPr id="12" name="Text 10"/>
          <p:cNvSpPr/>
          <p:nvPr/>
        </p:nvSpPr>
        <p:spPr>
          <a:xfrm>
            <a:off x="3409112" y="3520440"/>
            <a:ext cx="1151344" cy="365760"/>
          </a:xfrm>
          <a:prstGeom prst="rect">
            <a:avLst/>
          </a:prstGeom>
          <a:noFill/>
          <a:ln/>
        </p:spPr>
        <p:txBody>
          <a:bodyPr wrap="square" lIns="0" tIns="0" rIns="0" bIns="0" rtlCol="0" anchor="ctr"/>
          <a:lstStyle/>
          <a:p>
            <a:pPr marL="0" indent="0" algn="ctr">
              <a:buNone/>
            </a:pPr>
            <a:r>
              <a:rPr lang="en-US" sz="1600" dirty="0">
                <a:solidFill>
                  <a:srgbClr val="6E6E6E"/>
                </a:solidFill>
                <a:latin typeface="Courier New" pitchFamily="34" charset="0"/>
                <a:ea typeface="Courier New" pitchFamily="34" charset="-122"/>
                <a:cs typeface="Courier New" pitchFamily="34" charset="-120"/>
              </a:rPr>
              <a:t>2010</a:t>
            </a:r>
            <a:endParaRPr lang="en-US" sz="1600" dirty="0"/>
          </a:p>
        </p:txBody>
      </p:sp>
      <p:sp>
        <p:nvSpPr>
          <p:cNvPr id="13" name="Shape 11"/>
          <p:cNvSpPr/>
          <p:nvPr/>
        </p:nvSpPr>
        <p:spPr>
          <a:xfrm>
            <a:off x="4816488" y="2743200"/>
            <a:ext cx="1151344" cy="1371600"/>
          </a:xfrm>
          <a:prstGeom prst="roundRect">
            <a:avLst>
              <a:gd name="adj" fmla="val 9530"/>
            </a:avLst>
          </a:prstGeom>
          <a:solidFill>
            <a:srgbClr val="222121"/>
          </a:solidFill>
          <a:ln w="12700">
            <a:solidFill>
              <a:srgbClr val="3A3A3A"/>
            </a:solidFill>
            <a:prstDash val="solid"/>
          </a:ln>
        </p:spPr>
        <p:txBody>
          <a:bodyPr/>
          <a:lstStyle/>
          <a:p>
            <a:endParaRPr lang="en-US" sz="2400"/>
          </a:p>
        </p:txBody>
      </p:sp>
      <p:sp>
        <p:nvSpPr>
          <p:cNvPr id="14" name="Text 12"/>
          <p:cNvSpPr/>
          <p:nvPr/>
        </p:nvSpPr>
        <p:spPr>
          <a:xfrm>
            <a:off x="4816488" y="2999232"/>
            <a:ext cx="1151344" cy="457200"/>
          </a:xfrm>
          <a:prstGeom prst="rect">
            <a:avLst/>
          </a:prstGeom>
          <a:noFill/>
          <a:ln/>
        </p:spPr>
        <p:txBody>
          <a:bodyPr wrap="square" lIns="0" tIns="0" rIns="0" bIns="0" rtlCol="0" anchor="ctr"/>
          <a:lstStyle/>
          <a:p>
            <a:pPr marL="0" indent="0" algn="ctr">
              <a:buNone/>
            </a:pPr>
            <a:r>
              <a:rPr lang="en-US" b="1" dirty="0">
                <a:solidFill>
                  <a:srgbClr val="FFFFFF"/>
                </a:solidFill>
                <a:latin typeface="Arial" pitchFamily="34" charset="0"/>
                <a:ea typeface="Arial" pitchFamily="34" charset="-122"/>
                <a:cs typeface="Arial" pitchFamily="34" charset="-120"/>
              </a:rPr>
              <a:t>SMACSS</a:t>
            </a:r>
            <a:endParaRPr lang="en-US" dirty="0"/>
          </a:p>
        </p:txBody>
      </p:sp>
      <p:sp>
        <p:nvSpPr>
          <p:cNvPr id="15" name="Text 13"/>
          <p:cNvSpPr/>
          <p:nvPr/>
        </p:nvSpPr>
        <p:spPr>
          <a:xfrm>
            <a:off x="4816488" y="3520440"/>
            <a:ext cx="1151344" cy="365760"/>
          </a:xfrm>
          <a:prstGeom prst="rect">
            <a:avLst/>
          </a:prstGeom>
          <a:noFill/>
          <a:ln/>
        </p:spPr>
        <p:txBody>
          <a:bodyPr wrap="square" lIns="0" tIns="0" rIns="0" bIns="0" rtlCol="0" anchor="ctr"/>
          <a:lstStyle/>
          <a:p>
            <a:pPr marL="0" indent="0" algn="ctr">
              <a:buNone/>
            </a:pPr>
            <a:r>
              <a:rPr lang="en-US" sz="1600" dirty="0">
                <a:solidFill>
                  <a:srgbClr val="6E6E6E"/>
                </a:solidFill>
                <a:latin typeface="Courier New" pitchFamily="34" charset="0"/>
                <a:ea typeface="Courier New" pitchFamily="34" charset="-122"/>
                <a:cs typeface="Courier New" pitchFamily="34" charset="-120"/>
              </a:rPr>
              <a:t>2011</a:t>
            </a:r>
            <a:endParaRPr lang="en-US" sz="1600" dirty="0"/>
          </a:p>
        </p:txBody>
      </p:sp>
      <p:sp>
        <p:nvSpPr>
          <p:cNvPr id="16" name="Shape 14"/>
          <p:cNvSpPr/>
          <p:nvPr/>
        </p:nvSpPr>
        <p:spPr>
          <a:xfrm>
            <a:off x="6223864" y="2743200"/>
            <a:ext cx="1151344" cy="1371600"/>
          </a:xfrm>
          <a:prstGeom prst="roundRect">
            <a:avLst>
              <a:gd name="adj" fmla="val 9530"/>
            </a:avLst>
          </a:prstGeom>
          <a:solidFill>
            <a:srgbClr val="222121"/>
          </a:solidFill>
          <a:ln w="12700">
            <a:solidFill>
              <a:srgbClr val="3A3A3A"/>
            </a:solidFill>
            <a:prstDash val="solid"/>
          </a:ln>
        </p:spPr>
        <p:txBody>
          <a:bodyPr/>
          <a:lstStyle/>
          <a:p>
            <a:endParaRPr lang="en-US" sz="2400"/>
          </a:p>
        </p:txBody>
      </p:sp>
      <p:sp>
        <p:nvSpPr>
          <p:cNvPr id="17" name="Text 15"/>
          <p:cNvSpPr/>
          <p:nvPr/>
        </p:nvSpPr>
        <p:spPr>
          <a:xfrm>
            <a:off x="6223864" y="2999232"/>
            <a:ext cx="1151344" cy="457200"/>
          </a:xfrm>
          <a:prstGeom prst="rect">
            <a:avLst/>
          </a:prstGeom>
          <a:noFill/>
          <a:ln/>
        </p:spPr>
        <p:txBody>
          <a:bodyPr wrap="square" lIns="0" tIns="0" rIns="0" bIns="0" rtlCol="0" anchor="ctr"/>
          <a:lstStyle/>
          <a:p>
            <a:pPr marL="0" indent="0" algn="ctr">
              <a:buNone/>
            </a:pPr>
            <a:r>
              <a:rPr lang="en-US" b="1" dirty="0">
                <a:solidFill>
                  <a:srgbClr val="FFFFFF"/>
                </a:solidFill>
                <a:latin typeface="Arial" pitchFamily="34" charset="0"/>
                <a:ea typeface="Arial" pitchFamily="34" charset="-122"/>
                <a:cs typeface="Arial" pitchFamily="34" charset="-120"/>
              </a:rPr>
              <a:t>Atomic</a:t>
            </a:r>
            <a:endParaRPr lang="en-US" dirty="0"/>
          </a:p>
        </p:txBody>
      </p:sp>
      <p:sp>
        <p:nvSpPr>
          <p:cNvPr id="18" name="Text 16"/>
          <p:cNvSpPr/>
          <p:nvPr/>
        </p:nvSpPr>
        <p:spPr>
          <a:xfrm>
            <a:off x="6223864" y="3520440"/>
            <a:ext cx="1151344" cy="365760"/>
          </a:xfrm>
          <a:prstGeom prst="rect">
            <a:avLst/>
          </a:prstGeom>
          <a:noFill/>
          <a:ln/>
        </p:spPr>
        <p:txBody>
          <a:bodyPr wrap="square" lIns="0" tIns="0" rIns="0" bIns="0" rtlCol="0" anchor="ctr"/>
          <a:lstStyle/>
          <a:p>
            <a:pPr marL="0" indent="0" algn="ctr">
              <a:buNone/>
            </a:pPr>
            <a:r>
              <a:rPr lang="en-US" sz="1600" dirty="0">
                <a:solidFill>
                  <a:srgbClr val="6E6E6E"/>
                </a:solidFill>
                <a:latin typeface="Courier New" pitchFamily="34" charset="0"/>
                <a:ea typeface="Courier New" pitchFamily="34" charset="-122"/>
                <a:cs typeface="Courier New" pitchFamily="34" charset="-120"/>
              </a:rPr>
              <a:t>2013</a:t>
            </a:r>
            <a:endParaRPr lang="en-US" sz="1600" dirty="0"/>
          </a:p>
        </p:txBody>
      </p:sp>
      <p:sp>
        <p:nvSpPr>
          <p:cNvPr id="19" name="Shape 17"/>
          <p:cNvSpPr/>
          <p:nvPr/>
        </p:nvSpPr>
        <p:spPr>
          <a:xfrm>
            <a:off x="7631240" y="2743200"/>
            <a:ext cx="1151344" cy="1371600"/>
          </a:xfrm>
          <a:prstGeom prst="roundRect">
            <a:avLst>
              <a:gd name="adj" fmla="val 9530"/>
            </a:avLst>
          </a:prstGeom>
          <a:solidFill>
            <a:srgbClr val="222121"/>
          </a:solidFill>
          <a:ln w="12700">
            <a:solidFill>
              <a:srgbClr val="3A3A3A"/>
            </a:solidFill>
            <a:prstDash val="solid"/>
          </a:ln>
        </p:spPr>
        <p:txBody>
          <a:bodyPr/>
          <a:lstStyle/>
          <a:p>
            <a:endParaRPr lang="en-US" sz="2400"/>
          </a:p>
        </p:txBody>
      </p:sp>
      <p:sp>
        <p:nvSpPr>
          <p:cNvPr id="20" name="Text 18"/>
          <p:cNvSpPr/>
          <p:nvPr/>
        </p:nvSpPr>
        <p:spPr>
          <a:xfrm>
            <a:off x="7631240" y="2999232"/>
            <a:ext cx="1151344" cy="457200"/>
          </a:xfrm>
          <a:prstGeom prst="rect">
            <a:avLst/>
          </a:prstGeom>
          <a:noFill/>
          <a:ln/>
        </p:spPr>
        <p:txBody>
          <a:bodyPr wrap="square" lIns="0" tIns="0" rIns="0" bIns="0" rtlCol="0" anchor="ctr"/>
          <a:lstStyle/>
          <a:p>
            <a:pPr marL="0" indent="0" algn="ctr">
              <a:buNone/>
            </a:pPr>
            <a:r>
              <a:rPr lang="en-US" b="1" dirty="0">
                <a:solidFill>
                  <a:srgbClr val="FFFFFF"/>
                </a:solidFill>
                <a:latin typeface="Arial" pitchFamily="34" charset="0"/>
                <a:ea typeface="Arial" pitchFamily="34" charset="-122"/>
                <a:cs typeface="Arial" pitchFamily="34" charset="-120"/>
              </a:rPr>
              <a:t>CSS Modules</a:t>
            </a:r>
            <a:endParaRPr lang="en-US" dirty="0"/>
          </a:p>
        </p:txBody>
      </p:sp>
      <p:sp>
        <p:nvSpPr>
          <p:cNvPr id="21" name="Text 19"/>
          <p:cNvSpPr/>
          <p:nvPr/>
        </p:nvSpPr>
        <p:spPr>
          <a:xfrm>
            <a:off x="7631240" y="3520440"/>
            <a:ext cx="1151344" cy="365760"/>
          </a:xfrm>
          <a:prstGeom prst="rect">
            <a:avLst/>
          </a:prstGeom>
          <a:noFill/>
          <a:ln/>
        </p:spPr>
        <p:txBody>
          <a:bodyPr wrap="square" lIns="0" tIns="0" rIns="0" bIns="0" rtlCol="0" anchor="ctr"/>
          <a:lstStyle/>
          <a:p>
            <a:pPr marL="0" indent="0" algn="ctr">
              <a:buNone/>
            </a:pPr>
            <a:r>
              <a:rPr lang="en-US" sz="1600" dirty="0">
                <a:solidFill>
                  <a:srgbClr val="6E6E6E"/>
                </a:solidFill>
                <a:latin typeface="Courier New" pitchFamily="34" charset="0"/>
                <a:ea typeface="Courier New" pitchFamily="34" charset="-122"/>
                <a:cs typeface="Courier New" pitchFamily="34" charset="-120"/>
              </a:rPr>
              <a:t>2015</a:t>
            </a:r>
            <a:endParaRPr lang="en-US" sz="1600" dirty="0"/>
          </a:p>
        </p:txBody>
      </p:sp>
      <p:sp>
        <p:nvSpPr>
          <p:cNvPr id="22" name="Shape 20"/>
          <p:cNvSpPr/>
          <p:nvPr/>
        </p:nvSpPr>
        <p:spPr>
          <a:xfrm>
            <a:off x="9038615" y="2743200"/>
            <a:ext cx="1151344" cy="1371600"/>
          </a:xfrm>
          <a:prstGeom prst="roundRect">
            <a:avLst>
              <a:gd name="adj" fmla="val 9530"/>
            </a:avLst>
          </a:prstGeom>
          <a:solidFill>
            <a:srgbClr val="222121"/>
          </a:solidFill>
          <a:ln w="12700">
            <a:solidFill>
              <a:srgbClr val="3A3A3A"/>
            </a:solidFill>
            <a:prstDash val="solid"/>
          </a:ln>
        </p:spPr>
        <p:txBody>
          <a:bodyPr/>
          <a:lstStyle/>
          <a:p>
            <a:endParaRPr lang="en-US" sz="2400"/>
          </a:p>
        </p:txBody>
      </p:sp>
      <p:sp>
        <p:nvSpPr>
          <p:cNvPr id="23" name="Text 21"/>
          <p:cNvSpPr/>
          <p:nvPr/>
        </p:nvSpPr>
        <p:spPr>
          <a:xfrm>
            <a:off x="9038615" y="2999232"/>
            <a:ext cx="1151344" cy="457200"/>
          </a:xfrm>
          <a:prstGeom prst="rect">
            <a:avLst/>
          </a:prstGeom>
          <a:noFill/>
          <a:ln/>
        </p:spPr>
        <p:txBody>
          <a:bodyPr wrap="square" lIns="0" tIns="0" rIns="0" bIns="0" rtlCol="0" anchor="ctr"/>
          <a:lstStyle/>
          <a:p>
            <a:pPr marL="0" indent="0" algn="ctr">
              <a:buNone/>
            </a:pPr>
            <a:r>
              <a:rPr lang="en-US" b="1" dirty="0">
                <a:solidFill>
                  <a:srgbClr val="FFFFFF"/>
                </a:solidFill>
                <a:latin typeface="Arial" pitchFamily="34" charset="0"/>
                <a:ea typeface="Arial" pitchFamily="34" charset="-122"/>
                <a:cs typeface="Arial" pitchFamily="34" charset="-120"/>
              </a:rPr>
              <a:t>CSS-in-JS</a:t>
            </a:r>
            <a:endParaRPr lang="en-US" dirty="0"/>
          </a:p>
        </p:txBody>
      </p:sp>
      <p:sp>
        <p:nvSpPr>
          <p:cNvPr id="24" name="Text 22"/>
          <p:cNvSpPr/>
          <p:nvPr/>
        </p:nvSpPr>
        <p:spPr>
          <a:xfrm>
            <a:off x="9038615" y="3520440"/>
            <a:ext cx="1151344" cy="365760"/>
          </a:xfrm>
          <a:prstGeom prst="rect">
            <a:avLst/>
          </a:prstGeom>
          <a:noFill/>
          <a:ln/>
        </p:spPr>
        <p:txBody>
          <a:bodyPr wrap="square" lIns="0" tIns="0" rIns="0" bIns="0" rtlCol="0" anchor="ctr"/>
          <a:lstStyle/>
          <a:p>
            <a:pPr marL="0" indent="0" algn="ctr">
              <a:buNone/>
            </a:pPr>
            <a:r>
              <a:rPr lang="en-US" sz="1600" dirty="0">
                <a:solidFill>
                  <a:srgbClr val="6E6E6E"/>
                </a:solidFill>
                <a:latin typeface="Courier New" pitchFamily="34" charset="0"/>
                <a:ea typeface="Courier New" pitchFamily="34" charset="-122"/>
                <a:cs typeface="Courier New" pitchFamily="34" charset="-120"/>
              </a:rPr>
              <a:t>2016</a:t>
            </a:r>
            <a:endParaRPr lang="en-US" sz="1600" dirty="0"/>
          </a:p>
        </p:txBody>
      </p:sp>
      <p:sp>
        <p:nvSpPr>
          <p:cNvPr id="25" name="Shape 23"/>
          <p:cNvSpPr/>
          <p:nvPr/>
        </p:nvSpPr>
        <p:spPr>
          <a:xfrm>
            <a:off x="10445991" y="2743200"/>
            <a:ext cx="1151344" cy="1371600"/>
          </a:xfrm>
          <a:prstGeom prst="roundRect">
            <a:avLst>
              <a:gd name="adj" fmla="val 9530"/>
            </a:avLst>
          </a:prstGeom>
          <a:solidFill>
            <a:srgbClr val="2C2B2B"/>
          </a:solidFill>
          <a:ln w="12700">
            <a:solidFill>
              <a:srgbClr val="75DFBC"/>
            </a:solidFill>
            <a:prstDash val="solid"/>
          </a:ln>
        </p:spPr>
        <p:txBody>
          <a:bodyPr/>
          <a:lstStyle/>
          <a:p>
            <a:endParaRPr lang="en-US" sz="2400"/>
          </a:p>
        </p:txBody>
      </p:sp>
      <p:sp>
        <p:nvSpPr>
          <p:cNvPr id="26" name="Text 24"/>
          <p:cNvSpPr/>
          <p:nvPr/>
        </p:nvSpPr>
        <p:spPr>
          <a:xfrm>
            <a:off x="10445991" y="2999232"/>
            <a:ext cx="1151344" cy="457200"/>
          </a:xfrm>
          <a:prstGeom prst="rect">
            <a:avLst/>
          </a:prstGeom>
          <a:noFill/>
          <a:ln/>
        </p:spPr>
        <p:txBody>
          <a:bodyPr wrap="square" lIns="0" tIns="0" rIns="0" bIns="0" rtlCol="0" anchor="ctr"/>
          <a:lstStyle/>
          <a:p>
            <a:pPr marL="0" indent="0" algn="ctr">
              <a:buNone/>
            </a:pPr>
            <a:r>
              <a:rPr lang="en-US" b="1" dirty="0">
                <a:solidFill>
                  <a:srgbClr val="75DFBC"/>
                </a:solidFill>
                <a:latin typeface="Arial" pitchFamily="34" charset="0"/>
                <a:ea typeface="Arial" pitchFamily="34" charset="-122"/>
                <a:cs typeface="Arial" pitchFamily="34" charset="-120"/>
              </a:rPr>
              <a:t>Tailwind</a:t>
            </a:r>
            <a:endParaRPr lang="en-US" dirty="0"/>
          </a:p>
        </p:txBody>
      </p:sp>
      <p:sp>
        <p:nvSpPr>
          <p:cNvPr id="27" name="Text 25"/>
          <p:cNvSpPr/>
          <p:nvPr/>
        </p:nvSpPr>
        <p:spPr>
          <a:xfrm>
            <a:off x="10445991" y="3520440"/>
            <a:ext cx="1151344" cy="365760"/>
          </a:xfrm>
          <a:prstGeom prst="rect">
            <a:avLst/>
          </a:prstGeom>
          <a:noFill/>
          <a:ln/>
        </p:spPr>
        <p:txBody>
          <a:bodyPr wrap="square" lIns="0" tIns="0" rIns="0" bIns="0" rtlCol="0" anchor="ctr"/>
          <a:lstStyle/>
          <a:p>
            <a:pPr marL="0" indent="0" algn="ctr">
              <a:buNone/>
            </a:pPr>
            <a:r>
              <a:rPr lang="en-US" sz="1600" dirty="0">
                <a:solidFill>
                  <a:srgbClr val="F1CF25"/>
                </a:solidFill>
                <a:latin typeface="Courier New" pitchFamily="34" charset="0"/>
                <a:ea typeface="Courier New" pitchFamily="34" charset="-122"/>
                <a:cs typeface="Courier New" pitchFamily="34" charset="-120"/>
              </a:rPr>
              <a:t>2017→</a:t>
            </a:r>
            <a:endParaRPr lang="en-US" sz="1600" dirty="0"/>
          </a:p>
        </p:txBody>
      </p:sp>
      <p:sp>
        <p:nvSpPr>
          <p:cNvPr id="28" name="Text 26"/>
          <p:cNvSpPr/>
          <p:nvPr/>
        </p:nvSpPr>
        <p:spPr>
          <a:xfrm>
            <a:off x="595333" y="5120640"/>
            <a:ext cx="11002975" cy="640080"/>
          </a:xfrm>
          <a:prstGeom prst="rect">
            <a:avLst/>
          </a:prstGeom>
          <a:noFill/>
          <a:ln/>
        </p:spPr>
        <p:txBody>
          <a:bodyPr wrap="square" lIns="0" tIns="0" rIns="0" bIns="0" rtlCol="0" anchor="ctr"/>
          <a:lstStyle/>
          <a:p>
            <a:pPr marL="0" indent="0" algn="l">
              <a:lnSpc>
                <a:spcPct val="105000"/>
              </a:lnSpc>
              <a:buNone/>
            </a:pPr>
            <a:r>
              <a:rPr lang="en-US" sz="2000" dirty="0">
                <a:solidFill>
                  <a:srgbClr val="A6A6A6"/>
                </a:solidFill>
                <a:latin typeface="Arial" pitchFamily="34" charset="0"/>
                <a:ea typeface="Arial" pitchFamily="34" charset="-122"/>
                <a:cs typeface="Arial" pitchFamily="34" charset="-120"/>
              </a:rPr>
              <a:t>Every one of these tried to answer the same two questions: where do styles live, and what do we name them?</a:t>
            </a:r>
            <a:endParaRPr lang="en-US" sz="2000" dirty="0"/>
          </a:p>
        </p:txBody>
      </p:sp>
      <p:sp>
        <p:nvSpPr>
          <p:cNvPr id="29" name="Text 27"/>
          <p:cNvSpPr/>
          <p:nvPr/>
        </p:nvSpPr>
        <p:spPr>
          <a:xfrm>
            <a:off x="594360" y="6419088"/>
            <a:ext cx="8229600" cy="274320"/>
          </a:xfrm>
          <a:prstGeom prst="rect">
            <a:avLst/>
          </a:prstGeom>
          <a:noFill/>
          <a:ln/>
        </p:spPr>
        <p:txBody>
          <a:bodyPr wrap="square" lIns="0" tIns="0" rIns="0" bIns="0" rtlCol="0" anchor="ctr"/>
          <a:lstStyle/>
          <a:p>
            <a:pPr marL="0" indent="0" algn="l">
              <a:buNone/>
            </a:pPr>
            <a:r>
              <a:rPr lang="en-US" sz="900" dirty="0">
                <a:solidFill>
                  <a:srgbClr val="6E6E6E"/>
                </a:solidFill>
                <a:latin typeface="Arial" pitchFamily="34" charset="0"/>
                <a:ea typeface="Arial" pitchFamily="34" charset="-122"/>
                <a:cs typeface="Arial" pitchFamily="34" charset="-120"/>
              </a:rPr>
              <a:t>Why LLMs &amp; JS frameworks love Tailwind CSS</a:t>
            </a:r>
            <a:endParaRPr lang="en-US" sz="900" dirty="0"/>
          </a:p>
        </p:txBody>
      </p:sp>
      <p:sp>
        <p:nvSpPr>
          <p:cNvPr id="30" name="Text 28"/>
          <p:cNvSpPr/>
          <p:nvPr/>
        </p:nvSpPr>
        <p:spPr>
          <a:xfrm>
            <a:off x="10134295" y="6419088"/>
            <a:ext cx="1463040" cy="274320"/>
          </a:xfrm>
          <a:prstGeom prst="rect">
            <a:avLst/>
          </a:prstGeom>
          <a:noFill/>
          <a:ln/>
        </p:spPr>
        <p:txBody>
          <a:bodyPr wrap="square" lIns="0" tIns="0" rIns="0" bIns="0" rtlCol="0" anchor="ctr"/>
          <a:lstStyle/>
          <a:p>
            <a:pPr marL="0" indent="0" algn="r">
              <a:buNone/>
            </a:pPr>
            <a:r>
              <a:rPr lang="en-US" sz="900" dirty="0">
                <a:solidFill>
                  <a:srgbClr val="6E6E6E"/>
                </a:solidFill>
                <a:latin typeface="Arial" pitchFamily="34" charset="0"/>
                <a:ea typeface="Arial" pitchFamily="34" charset="-122"/>
                <a:cs typeface="Arial" pitchFamily="34" charset="-120"/>
              </a:rPr>
              <a:t>5 / 29</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222121"/>
        </a:solidFill>
        <a:effectLst/>
      </p:bgPr>
    </p:bg>
    <p:spTree>
      <p:nvGrpSpPr>
        <p:cNvPr id="1" name=""/>
        <p:cNvGrpSpPr/>
        <p:nvPr/>
      </p:nvGrpSpPr>
      <p:grpSpPr>
        <a:xfrm>
          <a:off x="0" y="0"/>
          <a:ext cx="0" cy="0"/>
          <a:chOff x="0" y="0"/>
          <a:chExt cx="0" cy="0"/>
        </a:xfrm>
      </p:grpSpPr>
      <p:sp>
        <p:nvSpPr>
          <p:cNvPr id="2" name="Text 0"/>
          <p:cNvSpPr/>
          <p:nvPr/>
        </p:nvSpPr>
        <p:spPr>
          <a:xfrm>
            <a:off x="594360" y="502920"/>
            <a:ext cx="11002975" cy="274320"/>
          </a:xfrm>
          <a:prstGeom prst="rect">
            <a:avLst/>
          </a:prstGeom>
          <a:noFill/>
          <a:ln/>
        </p:spPr>
        <p:txBody>
          <a:bodyPr wrap="square" lIns="0" tIns="0" rIns="0" bIns="0" rtlCol="0" anchor="ctr"/>
          <a:lstStyle/>
          <a:p>
            <a:pPr marL="0" indent="0" algn="l">
              <a:buNone/>
            </a:pPr>
            <a:r>
              <a:rPr lang="en-US" sz="1200" b="1" kern="0" spc="300" dirty="0">
                <a:solidFill>
                  <a:srgbClr val="F1CF25"/>
                </a:solidFill>
                <a:latin typeface="Arial" pitchFamily="34" charset="0"/>
                <a:ea typeface="Arial" pitchFamily="34" charset="-122"/>
                <a:cs typeface="Arial" pitchFamily="34" charset="-120"/>
              </a:rPr>
              <a:t>THE THESIS</a:t>
            </a:r>
            <a:endParaRPr lang="en-US" sz="1200" dirty="0"/>
          </a:p>
        </p:txBody>
      </p:sp>
      <p:sp>
        <p:nvSpPr>
          <p:cNvPr id="3" name="Text 1"/>
          <p:cNvSpPr/>
          <p:nvPr/>
        </p:nvSpPr>
        <p:spPr>
          <a:xfrm>
            <a:off x="594360" y="868680"/>
            <a:ext cx="11002975" cy="1005840"/>
          </a:xfrm>
          <a:prstGeom prst="rect">
            <a:avLst/>
          </a:prstGeom>
          <a:noFill/>
          <a:ln/>
        </p:spPr>
        <p:txBody>
          <a:bodyPr wrap="square" lIns="0" tIns="0" rIns="0" bIns="0" rtlCol="0" anchor="t"/>
          <a:lstStyle/>
          <a:p>
            <a:pPr marL="0" indent="0" algn="l">
              <a:lnSpc>
                <a:spcPct val="102000"/>
              </a:lnSpc>
              <a:buNone/>
            </a:pPr>
            <a:r>
              <a:rPr lang="en-US" sz="4000" b="1" dirty="0">
                <a:solidFill>
                  <a:srgbClr val="FFFFFF"/>
                </a:solidFill>
                <a:latin typeface="Arial" pitchFamily="34" charset="0"/>
                <a:ea typeface="Arial" pitchFamily="34" charset="-122"/>
                <a:cs typeface="Arial" pitchFamily="34" charset="-120"/>
              </a:rPr>
              <a:t>The machines have voted.</a:t>
            </a:r>
            <a:endParaRPr lang="en-US" sz="4000" dirty="0"/>
          </a:p>
        </p:txBody>
      </p:sp>
      <p:sp>
        <p:nvSpPr>
          <p:cNvPr id="4" name="Shape 2"/>
          <p:cNvSpPr/>
          <p:nvPr/>
        </p:nvSpPr>
        <p:spPr>
          <a:xfrm>
            <a:off x="594360" y="2377440"/>
            <a:ext cx="3454298" cy="1234440"/>
          </a:xfrm>
          <a:prstGeom prst="roundRect">
            <a:avLst>
              <a:gd name="adj" fmla="val 8889"/>
            </a:avLst>
          </a:prstGeom>
          <a:solidFill>
            <a:srgbClr val="2C2B2B"/>
          </a:solidFill>
          <a:ln w="12700">
            <a:solidFill>
              <a:srgbClr val="3A3A3A"/>
            </a:solidFill>
            <a:prstDash val="solid"/>
          </a:ln>
        </p:spPr>
        <p:txBody>
          <a:bodyPr/>
          <a:lstStyle/>
          <a:p>
            <a:endParaRPr lang="en-US"/>
          </a:p>
        </p:txBody>
      </p:sp>
      <p:sp>
        <p:nvSpPr>
          <p:cNvPr id="5" name="Text 3"/>
          <p:cNvSpPr/>
          <p:nvPr/>
        </p:nvSpPr>
        <p:spPr>
          <a:xfrm>
            <a:off x="868680" y="2633472"/>
            <a:ext cx="2905658" cy="457200"/>
          </a:xfrm>
          <a:prstGeom prst="rect">
            <a:avLst/>
          </a:prstGeom>
          <a:noFill/>
          <a:ln/>
        </p:spPr>
        <p:txBody>
          <a:bodyPr wrap="square" lIns="0" tIns="0" rIns="0" bIns="0" rtlCol="0" anchor="ctr"/>
          <a:lstStyle/>
          <a:p>
            <a:pPr marL="0" indent="0" algn="l">
              <a:buNone/>
            </a:pPr>
            <a:r>
              <a:rPr lang="en-US" sz="2000" b="1" dirty="0">
                <a:solidFill>
                  <a:srgbClr val="75DFBC"/>
                </a:solidFill>
                <a:latin typeface="Arial" pitchFamily="34" charset="0"/>
                <a:ea typeface="Arial" pitchFamily="34" charset="-122"/>
                <a:cs typeface="Arial" pitchFamily="34" charset="-120"/>
              </a:rPr>
              <a:t>v0</a:t>
            </a:r>
            <a:endParaRPr lang="en-US" sz="2000" dirty="0"/>
          </a:p>
        </p:txBody>
      </p:sp>
      <p:sp>
        <p:nvSpPr>
          <p:cNvPr id="6" name="Text 4"/>
          <p:cNvSpPr/>
          <p:nvPr/>
        </p:nvSpPr>
        <p:spPr>
          <a:xfrm>
            <a:off x="868680" y="3127248"/>
            <a:ext cx="2905658" cy="365760"/>
          </a:xfrm>
          <a:prstGeom prst="rect">
            <a:avLst/>
          </a:prstGeom>
          <a:noFill/>
          <a:ln/>
        </p:spPr>
        <p:txBody>
          <a:bodyPr wrap="square" lIns="0" tIns="0" rIns="0" bIns="0" rtlCol="0" anchor="ctr"/>
          <a:lstStyle/>
          <a:p>
            <a:pPr marL="0" indent="0" algn="l">
              <a:buNone/>
            </a:pPr>
            <a:r>
              <a:rPr lang="en-US" dirty="0">
                <a:solidFill>
                  <a:srgbClr val="A6A6A6"/>
                </a:solidFill>
                <a:latin typeface="Arial" pitchFamily="34" charset="0"/>
                <a:ea typeface="Arial" pitchFamily="34" charset="-122"/>
                <a:cs typeface="Arial" pitchFamily="34" charset="-120"/>
              </a:rPr>
              <a:t>Vercel</a:t>
            </a:r>
            <a:endParaRPr lang="en-US" dirty="0"/>
          </a:p>
        </p:txBody>
      </p:sp>
      <p:sp>
        <p:nvSpPr>
          <p:cNvPr id="7" name="Shape 5"/>
          <p:cNvSpPr/>
          <p:nvPr/>
        </p:nvSpPr>
        <p:spPr>
          <a:xfrm>
            <a:off x="4368698" y="2377440"/>
            <a:ext cx="3454298" cy="1234440"/>
          </a:xfrm>
          <a:prstGeom prst="roundRect">
            <a:avLst>
              <a:gd name="adj" fmla="val 8889"/>
            </a:avLst>
          </a:prstGeom>
          <a:solidFill>
            <a:srgbClr val="2C2B2B"/>
          </a:solidFill>
          <a:ln w="12700">
            <a:solidFill>
              <a:srgbClr val="3A3A3A"/>
            </a:solidFill>
            <a:prstDash val="solid"/>
          </a:ln>
        </p:spPr>
        <p:txBody>
          <a:bodyPr/>
          <a:lstStyle/>
          <a:p>
            <a:endParaRPr lang="en-US"/>
          </a:p>
        </p:txBody>
      </p:sp>
      <p:sp>
        <p:nvSpPr>
          <p:cNvPr id="8" name="Text 6"/>
          <p:cNvSpPr/>
          <p:nvPr/>
        </p:nvSpPr>
        <p:spPr>
          <a:xfrm>
            <a:off x="4643018" y="2633472"/>
            <a:ext cx="2905658" cy="457200"/>
          </a:xfrm>
          <a:prstGeom prst="rect">
            <a:avLst/>
          </a:prstGeom>
          <a:noFill/>
          <a:ln/>
        </p:spPr>
        <p:txBody>
          <a:bodyPr wrap="square" lIns="0" tIns="0" rIns="0" bIns="0" rtlCol="0" anchor="ctr"/>
          <a:lstStyle/>
          <a:p>
            <a:pPr marL="0" indent="0" algn="l">
              <a:buNone/>
            </a:pPr>
            <a:r>
              <a:rPr lang="en-US" sz="2000" b="1" dirty="0">
                <a:solidFill>
                  <a:srgbClr val="75DFBC"/>
                </a:solidFill>
                <a:latin typeface="Arial" pitchFamily="34" charset="0"/>
                <a:ea typeface="Arial" pitchFamily="34" charset="-122"/>
                <a:cs typeface="Arial" pitchFamily="34" charset="-120"/>
              </a:rPr>
              <a:t>bolt.new</a:t>
            </a:r>
            <a:endParaRPr lang="en-US" sz="2000" dirty="0"/>
          </a:p>
        </p:txBody>
      </p:sp>
      <p:sp>
        <p:nvSpPr>
          <p:cNvPr id="9" name="Text 7"/>
          <p:cNvSpPr/>
          <p:nvPr/>
        </p:nvSpPr>
        <p:spPr>
          <a:xfrm>
            <a:off x="4643018" y="3127248"/>
            <a:ext cx="2905658" cy="365760"/>
          </a:xfrm>
          <a:prstGeom prst="rect">
            <a:avLst/>
          </a:prstGeom>
          <a:noFill/>
          <a:ln/>
        </p:spPr>
        <p:txBody>
          <a:bodyPr wrap="square" lIns="0" tIns="0" rIns="0" bIns="0" rtlCol="0" anchor="ctr"/>
          <a:lstStyle/>
          <a:p>
            <a:pPr marL="0" indent="0" algn="l">
              <a:buNone/>
            </a:pPr>
            <a:r>
              <a:rPr lang="en-US" sz="1600" dirty="0">
                <a:solidFill>
                  <a:srgbClr val="A6A6A6"/>
                </a:solidFill>
                <a:latin typeface="Arial" pitchFamily="34" charset="0"/>
                <a:ea typeface="Arial" pitchFamily="34" charset="-122"/>
                <a:cs typeface="Arial" pitchFamily="34" charset="-120"/>
              </a:rPr>
              <a:t>StackBlitz</a:t>
            </a:r>
            <a:endParaRPr lang="en-US" sz="1600" dirty="0"/>
          </a:p>
        </p:txBody>
      </p:sp>
      <p:sp>
        <p:nvSpPr>
          <p:cNvPr id="10" name="Shape 8"/>
          <p:cNvSpPr/>
          <p:nvPr/>
        </p:nvSpPr>
        <p:spPr>
          <a:xfrm>
            <a:off x="8143037" y="2377440"/>
            <a:ext cx="3454298" cy="1234440"/>
          </a:xfrm>
          <a:prstGeom prst="roundRect">
            <a:avLst>
              <a:gd name="adj" fmla="val 8889"/>
            </a:avLst>
          </a:prstGeom>
          <a:solidFill>
            <a:srgbClr val="2C2B2B"/>
          </a:solidFill>
          <a:ln w="12700">
            <a:solidFill>
              <a:srgbClr val="3A3A3A"/>
            </a:solidFill>
            <a:prstDash val="solid"/>
          </a:ln>
        </p:spPr>
        <p:txBody>
          <a:bodyPr/>
          <a:lstStyle/>
          <a:p>
            <a:endParaRPr lang="en-US"/>
          </a:p>
        </p:txBody>
      </p:sp>
      <p:sp>
        <p:nvSpPr>
          <p:cNvPr id="11" name="Text 9"/>
          <p:cNvSpPr/>
          <p:nvPr/>
        </p:nvSpPr>
        <p:spPr>
          <a:xfrm>
            <a:off x="8417357" y="2633472"/>
            <a:ext cx="2905658" cy="457200"/>
          </a:xfrm>
          <a:prstGeom prst="rect">
            <a:avLst/>
          </a:prstGeom>
          <a:noFill/>
          <a:ln/>
        </p:spPr>
        <p:txBody>
          <a:bodyPr wrap="square" lIns="0" tIns="0" rIns="0" bIns="0" rtlCol="0" anchor="ctr"/>
          <a:lstStyle/>
          <a:p>
            <a:pPr marL="0" indent="0" algn="l">
              <a:buNone/>
            </a:pPr>
            <a:r>
              <a:rPr lang="en-US" sz="2000" b="1" dirty="0">
                <a:solidFill>
                  <a:srgbClr val="75DFBC"/>
                </a:solidFill>
                <a:latin typeface="Arial" pitchFamily="34" charset="0"/>
                <a:ea typeface="Arial" pitchFamily="34" charset="-122"/>
                <a:cs typeface="Arial" pitchFamily="34" charset="-120"/>
              </a:rPr>
              <a:t>Lovable</a:t>
            </a:r>
            <a:endParaRPr lang="en-US" sz="2000" dirty="0"/>
          </a:p>
        </p:txBody>
      </p:sp>
      <p:sp>
        <p:nvSpPr>
          <p:cNvPr id="12" name="Text 10"/>
          <p:cNvSpPr/>
          <p:nvPr/>
        </p:nvSpPr>
        <p:spPr>
          <a:xfrm>
            <a:off x="8417357" y="3127248"/>
            <a:ext cx="2905658" cy="365760"/>
          </a:xfrm>
          <a:prstGeom prst="rect">
            <a:avLst/>
          </a:prstGeom>
          <a:noFill/>
          <a:ln/>
        </p:spPr>
        <p:txBody>
          <a:bodyPr wrap="square" lIns="0" tIns="0" rIns="0" bIns="0" rtlCol="0" anchor="ctr"/>
          <a:lstStyle/>
          <a:p>
            <a:pPr marL="0" indent="0" algn="l">
              <a:buNone/>
            </a:pPr>
            <a:r>
              <a:rPr lang="en-US" sz="1600" dirty="0">
                <a:solidFill>
                  <a:srgbClr val="A6A6A6"/>
                </a:solidFill>
                <a:latin typeface="Arial" pitchFamily="34" charset="0"/>
                <a:ea typeface="Arial" pitchFamily="34" charset="-122"/>
                <a:cs typeface="Arial" pitchFamily="34" charset="-120"/>
              </a:rPr>
              <a:t>full-app gen</a:t>
            </a:r>
            <a:endParaRPr lang="en-US" sz="1600" dirty="0"/>
          </a:p>
        </p:txBody>
      </p:sp>
      <p:sp>
        <p:nvSpPr>
          <p:cNvPr id="13" name="Shape 11"/>
          <p:cNvSpPr/>
          <p:nvPr/>
        </p:nvSpPr>
        <p:spPr>
          <a:xfrm>
            <a:off x="594360" y="3931920"/>
            <a:ext cx="3454298" cy="1234440"/>
          </a:xfrm>
          <a:prstGeom prst="roundRect">
            <a:avLst>
              <a:gd name="adj" fmla="val 8889"/>
            </a:avLst>
          </a:prstGeom>
          <a:solidFill>
            <a:srgbClr val="2C2B2B"/>
          </a:solidFill>
          <a:ln w="12700">
            <a:solidFill>
              <a:srgbClr val="3A3A3A"/>
            </a:solidFill>
            <a:prstDash val="solid"/>
          </a:ln>
        </p:spPr>
        <p:txBody>
          <a:bodyPr/>
          <a:lstStyle/>
          <a:p>
            <a:endParaRPr lang="en-US"/>
          </a:p>
        </p:txBody>
      </p:sp>
      <p:sp>
        <p:nvSpPr>
          <p:cNvPr id="14" name="Text 12"/>
          <p:cNvSpPr/>
          <p:nvPr/>
        </p:nvSpPr>
        <p:spPr>
          <a:xfrm>
            <a:off x="868680" y="4187952"/>
            <a:ext cx="2905658" cy="457200"/>
          </a:xfrm>
          <a:prstGeom prst="rect">
            <a:avLst/>
          </a:prstGeom>
          <a:noFill/>
          <a:ln/>
        </p:spPr>
        <p:txBody>
          <a:bodyPr wrap="square" lIns="0" tIns="0" rIns="0" bIns="0" rtlCol="0" anchor="ctr"/>
          <a:lstStyle/>
          <a:p>
            <a:pPr marL="0" indent="0" algn="l">
              <a:buNone/>
            </a:pPr>
            <a:r>
              <a:rPr lang="en-US" sz="2000" b="1" dirty="0">
                <a:solidFill>
                  <a:srgbClr val="75DFBC"/>
                </a:solidFill>
                <a:latin typeface="Arial" pitchFamily="34" charset="0"/>
                <a:ea typeface="Arial" pitchFamily="34" charset="-122"/>
                <a:cs typeface="Arial" pitchFamily="34" charset="-120"/>
              </a:rPr>
              <a:t>Claude Artifacts</a:t>
            </a:r>
            <a:endParaRPr lang="en-US" sz="2000" dirty="0"/>
          </a:p>
        </p:txBody>
      </p:sp>
      <p:sp>
        <p:nvSpPr>
          <p:cNvPr id="15" name="Text 13"/>
          <p:cNvSpPr/>
          <p:nvPr/>
        </p:nvSpPr>
        <p:spPr>
          <a:xfrm>
            <a:off x="868680" y="4681728"/>
            <a:ext cx="2905658" cy="365760"/>
          </a:xfrm>
          <a:prstGeom prst="rect">
            <a:avLst/>
          </a:prstGeom>
          <a:noFill/>
          <a:ln/>
        </p:spPr>
        <p:txBody>
          <a:bodyPr wrap="square" lIns="0" tIns="0" rIns="0" bIns="0" rtlCol="0" anchor="ctr"/>
          <a:lstStyle/>
          <a:p>
            <a:pPr marL="0" indent="0" algn="l">
              <a:buNone/>
            </a:pPr>
            <a:r>
              <a:rPr lang="en-US" sz="1600" dirty="0">
                <a:solidFill>
                  <a:srgbClr val="A6A6A6"/>
                </a:solidFill>
                <a:latin typeface="Arial" pitchFamily="34" charset="0"/>
                <a:ea typeface="Arial" pitchFamily="34" charset="-122"/>
                <a:cs typeface="Arial" pitchFamily="34" charset="-120"/>
              </a:rPr>
              <a:t>Anthropic</a:t>
            </a:r>
            <a:endParaRPr lang="en-US" sz="1600" dirty="0"/>
          </a:p>
        </p:txBody>
      </p:sp>
      <p:sp>
        <p:nvSpPr>
          <p:cNvPr id="16" name="Shape 14"/>
          <p:cNvSpPr/>
          <p:nvPr/>
        </p:nvSpPr>
        <p:spPr>
          <a:xfrm>
            <a:off x="4368698" y="3931920"/>
            <a:ext cx="3454298" cy="1234440"/>
          </a:xfrm>
          <a:prstGeom prst="roundRect">
            <a:avLst>
              <a:gd name="adj" fmla="val 8889"/>
            </a:avLst>
          </a:prstGeom>
          <a:solidFill>
            <a:srgbClr val="2C2B2B"/>
          </a:solidFill>
          <a:ln w="12700">
            <a:solidFill>
              <a:srgbClr val="3A3A3A"/>
            </a:solidFill>
            <a:prstDash val="solid"/>
          </a:ln>
        </p:spPr>
        <p:txBody>
          <a:bodyPr/>
          <a:lstStyle/>
          <a:p>
            <a:endParaRPr lang="en-US"/>
          </a:p>
        </p:txBody>
      </p:sp>
      <p:sp>
        <p:nvSpPr>
          <p:cNvPr id="17" name="Text 15"/>
          <p:cNvSpPr/>
          <p:nvPr/>
        </p:nvSpPr>
        <p:spPr>
          <a:xfrm>
            <a:off x="4643018" y="4187952"/>
            <a:ext cx="2905658" cy="457200"/>
          </a:xfrm>
          <a:prstGeom prst="rect">
            <a:avLst/>
          </a:prstGeom>
          <a:noFill/>
          <a:ln/>
        </p:spPr>
        <p:txBody>
          <a:bodyPr wrap="square" lIns="0" tIns="0" rIns="0" bIns="0" rtlCol="0" anchor="ctr"/>
          <a:lstStyle/>
          <a:p>
            <a:pPr marL="0" indent="0" algn="l">
              <a:buNone/>
            </a:pPr>
            <a:r>
              <a:rPr lang="en-US" sz="2000" b="1" dirty="0">
                <a:solidFill>
                  <a:srgbClr val="75DFBC"/>
                </a:solidFill>
                <a:latin typeface="Arial" pitchFamily="34" charset="0"/>
                <a:ea typeface="Arial" pitchFamily="34" charset="-122"/>
                <a:cs typeface="Arial" pitchFamily="34" charset="-120"/>
              </a:rPr>
              <a:t>shadcn/ui</a:t>
            </a:r>
            <a:endParaRPr lang="en-US" sz="2000" dirty="0"/>
          </a:p>
        </p:txBody>
      </p:sp>
      <p:sp>
        <p:nvSpPr>
          <p:cNvPr id="18" name="Text 16"/>
          <p:cNvSpPr/>
          <p:nvPr/>
        </p:nvSpPr>
        <p:spPr>
          <a:xfrm>
            <a:off x="4643018" y="4681728"/>
            <a:ext cx="2905658" cy="365760"/>
          </a:xfrm>
          <a:prstGeom prst="rect">
            <a:avLst/>
          </a:prstGeom>
          <a:noFill/>
          <a:ln/>
        </p:spPr>
        <p:txBody>
          <a:bodyPr wrap="square" lIns="0" tIns="0" rIns="0" bIns="0" rtlCol="0" anchor="ctr"/>
          <a:lstStyle/>
          <a:p>
            <a:pPr marL="0" indent="0" algn="l">
              <a:buNone/>
            </a:pPr>
            <a:r>
              <a:rPr lang="en-US" sz="1600" dirty="0">
                <a:solidFill>
                  <a:srgbClr val="A6A6A6"/>
                </a:solidFill>
                <a:latin typeface="Arial" pitchFamily="34" charset="0"/>
                <a:ea typeface="Arial" pitchFamily="34" charset="-122"/>
                <a:cs typeface="Arial" pitchFamily="34" charset="-120"/>
              </a:rPr>
              <a:t>default for AI tools</a:t>
            </a:r>
            <a:endParaRPr lang="en-US" sz="1600" dirty="0"/>
          </a:p>
        </p:txBody>
      </p:sp>
      <p:sp>
        <p:nvSpPr>
          <p:cNvPr id="19" name="Shape 17"/>
          <p:cNvSpPr/>
          <p:nvPr/>
        </p:nvSpPr>
        <p:spPr>
          <a:xfrm>
            <a:off x="8143037" y="3931920"/>
            <a:ext cx="3454298" cy="1234440"/>
          </a:xfrm>
          <a:prstGeom prst="roundRect">
            <a:avLst>
              <a:gd name="adj" fmla="val 8889"/>
            </a:avLst>
          </a:prstGeom>
          <a:solidFill>
            <a:srgbClr val="2C2B2B"/>
          </a:solidFill>
          <a:ln w="12700">
            <a:solidFill>
              <a:srgbClr val="3A3A3A"/>
            </a:solidFill>
            <a:prstDash val="solid"/>
          </a:ln>
        </p:spPr>
        <p:txBody>
          <a:bodyPr/>
          <a:lstStyle/>
          <a:p>
            <a:endParaRPr lang="en-US"/>
          </a:p>
        </p:txBody>
      </p:sp>
      <p:sp>
        <p:nvSpPr>
          <p:cNvPr id="20" name="Text 18"/>
          <p:cNvSpPr/>
          <p:nvPr/>
        </p:nvSpPr>
        <p:spPr>
          <a:xfrm>
            <a:off x="8417357" y="4187952"/>
            <a:ext cx="2905658" cy="457200"/>
          </a:xfrm>
          <a:prstGeom prst="rect">
            <a:avLst/>
          </a:prstGeom>
          <a:noFill/>
          <a:ln/>
        </p:spPr>
        <p:txBody>
          <a:bodyPr wrap="square" lIns="0" tIns="0" rIns="0" bIns="0" rtlCol="0" anchor="ctr"/>
          <a:lstStyle/>
          <a:p>
            <a:pPr marL="0" indent="0" algn="l">
              <a:buNone/>
            </a:pPr>
            <a:r>
              <a:rPr lang="en-US" sz="2000" b="1" dirty="0">
                <a:solidFill>
                  <a:srgbClr val="75DFBC"/>
                </a:solidFill>
                <a:latin typeface="Arial" pitchFamily="34" charset="0"/>
                <a:ea typeface="Arial" pitchFamily="34" charset="-122"/>
                <a:cs typeface="Arial" pitchFamily="34" charset="-120"/>
              </a:rPr>
              <a:t>Cursor · Copilot</a:t>
            </a:r>
            <a:endParaRPr lang="en-US" sz="2000" dirty="0"/>
          </a:p>
        </p:txBody>
      </p:sp>
      <p:sp>
        <p:nvSpPr>
          <p:cNvPr id="21" name="Text 19"/>
          <p:cNvSpPr/>
          <p:nvPr/>
        </p:nvSpPr>
        <p:spPr>
          <a:xfrm>
            <a:off x="8417357" y="4681728"/>
            <a:ext cx="2905658" cy="365760"/>
          </a:xfrm>
          <a:prstGeom prst="rect">
            <a:avLst/>
          </a:prstGeom>
          <a:noFill/>
          <a:ln/>
        </p:spPr>
        <p:txBody>
          <a:bodyPr wrap="square" lIns="0" tIns="0" rIns="0" bIns="0" rtlCol="0" anchor="ctr"/>
          <a:lstStyle/>
          <a:p>
            <a:pPr marL="0" indent="0" algn="l">
              <a:buNone/>
            </a:pPr>
            <a:r>
              <a:rPr lang="en-US" sz="1600" dirty="0">
                <a:solidFill>
                  <a:srgbClr val="A6A6A6"/>
                </a:solidFill>
                <a:latin typeface="Arial" pitchFamily="34" charset="0"/>
                <a:ea typeface="Arial" pitchFamily="34" charset="-122"/>
                <a:cs typeface="Arial" pitchFamily="34" charset="-120"/>
              </a:rPr>
              <a:t>lean Tailwind</a:t>
            </a:r>
            <a:endParaRPr lang="en-US" sz="1600" dirty="0"/>
          </a:p>
        </p:txBody>
      </p:sp>
      <p:sp>
        <p:nvSpPr>
          <p:cNvPr id="22" name="Text 20"/>
          <p:cNvSpPr/>
          <p:nvPr/>
        </p:nvSpPr>
        <p:spPr>
          <a:xfrm>
            <a:off x="594360" y="5715000"/>
            <a:ext cx="11002975" cy="548640"/>
          </a:xfrm>
          <a:prstGeom prst="rect">
            <a:avLst/>
          </a:prstGeom>
          <a:noFill/>
          <a:ln/>
        </p:spPr>
        <p:txBody>
          <a:bodyPr wrap="square" lIns="0" tIns="0" rIns="0" bIns="0" rtlCol="0" anchor="ctr"/>
          <a:lstStyle/>
          <a:p>
            <a:pPr marL="0" indent="0" algn="l">
              <a:buNone/>
            </a:pPr>
            <a:r>
              <a:rPr lang="en-US" i="1" dirty="0">
                <a:solidFill>
                  <a:srgbClr val="FFFFFF"/>
                </a:solidFill>
                <a:latin typeface="Arial" pitchFamily="34" charset="0"/>
                <a:ea typeface="Arial" pitchFamily="34" charset="-122"/>
                <a:cs typeface="Arial" pitchFamily="34" charset="-120"/>
              </a:rPr>
              <a:t>Every major AI UI generator defaults to Tailwind. That's revealed preference.</a:t>
            </a:r>
            <a:endParaRPr lang="en-US" dirty="0"/>
          </a:p>
        </p:txBody>
      </p:sp>
      <p:sp>
        <p:nvSpPr>
          <p:cNvPr id="23" name="Text 21"/>
          <p:cNvSpPr/>
          <p:nvPr/>
        </p:nvSpPr>
        <p:spPr>
          <a:xfrm>
            <a:off x="594360" y="6419088"/>
            <a:ext cx="8229600" cy="274320"/>
          </a:xfrm>
          <a:prstGeom prst="rect">
            <a:avLst/>
          </a:prstGeom>
          <a:noFill/>
          <a:ln/>
        </p:spPr>
        <p:txBody>
          <a:bodyPr wrap="square" lIns="0" tIns="0" rIns="0" bIns="0" rtlCol="0" anchor="ctr"/>
          <a:lstStyle/>
          <a:p>
            <a:pPr marL="0" indent="0" algn="l">
              <a:buNone/>
            </a:pPr>
            <a:r>
              <a:rPr lang="en-US" sz="900" dirty="0">
                <a:solidFill>
                  <a:srgbClr val="6E6E6E"/>
                </a:solidFill>
                <a:latin typeface="Arial" pitchFamily="34" charset="0"/>
                <a:ea typeface="Arial" pitchFamily="34" charset="-122"/>
                <a:cs typeface="Arial" pitchFamily="34" charset="-120"/>
              </a:rPr>
              <a:t>Why LLMs &amp; JS frameworks love Tailwind CSS</a:t>
            </a:r>
            <a:endParaRPr lang="en-US" sz="900" dirty="0"/>
          </a:p>
        </p:txBody>
      </p:sp>
      <p:sp>
        <p:nvSpPr>
          <p:cNvPr id="24" name="Text 22"/>
          <p:cNvSpPr/>
          <p:nvPr/>
        </p:nvSpPr>
        <p:spPr>
          <a:xfrm>
            <a:off x="10134295" y="6419088"/>
            <a:ext cx="1463040" cy="274320"/>
          </a:xfrm>
          <a:prstGeom prst="rect">
            <a:avLst/>
          </a:prstGeom>
          <a:noFill/>
          <a:ln/>
        </p:spPr>
        <p:txBody>
          <a:bodyPr wrap="square" lIns="0" tIns="0" rIns="0" bIns="0" rtlCol="0" anchor="ctr"/>
          <a:lstStyle/>
          <a:p>
            <a:pPr marL="0" indent="0" algn="r">
              <a:buNone/>
            </a:pPr>
            <a:r>
              <a:rPr lang="en-US" sz="900" dirty="0">
                <a:solidFill>
                  <a:srgbClr val="6E6E6E"/>
                </a:solidFill>
                <a:latin typeface="Arial" pitchFamily="34" charset="0"/>
                <a:ea typeface="Arial" pitchFamily="34" charset="-122"/>
                <a:cs typeface="Arial" pitchFamily="34" charset="-120"/>
              </a:rPr>
              <a:t>6 / 29</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222121"/>
        </a:solidFill>
        <a:effectLst/>
      </p:bgPr>
    </p:bg>
    <p:spTree>
      <p:nvGrpSpPr>
        <p:cNvPr id="1" name=""/>
        <p:cNvGrpSpPr/>
        <p:nvPr/>
      </p:nvGrpSpPr>
      <p:grpSpPr>
        <a:xfrm>
          <a:off x="0" y="0"/>
          <a:ext cx="0" cy="0"/>
          <a:chOff x="0" y="0"/>
          <a:chExt cx="0" cy="0"/>
        </a:xfrm>
      </p:grpSpPr>
      <p:sp>
        <p:nvSpPr>
          <p:cNvPr id="2" name="Text 0"/>
          <p:cNvSpPr/>
          <p:nvPr/>
        </p:nvSpPr>
        <p:spPr>
          <a:xfrm>
            <a:off x="594360" y="502920"/>
            <a:ext cx="11002975" cy="274320"/>
          </a:xfrm>
          <a:prstGeom prst="rect">
            <a:avLst/>
          </a:prstGeom>
          <a:noFill/>
          <a:ln/>
        </p:spPr>
        <p:txBody>
          <a:bodyPr wrap="square" lIns="0" tIns="0" rIns="0" bIns="0" rtlCol="0" anchor="ctr"/>
          <a:lstStyle/>
          <a:p>
            <a:pPr marL="0" indent="0" algn="l">
              <a:buNone/>
            </a:pPr>
            <a:r>
              <a:rPr lang="en-US" sz="1200" b="1" kern="0" spc="300" dirty="0">
                <a:solidFill>
                  <a:srgbClr val="75DFBC"/>
                </a:solidFill>
                <a:latin typeface="Arial" pitchFamily="34" charset="0"/>
                <a:ea typeface="Arial" pitchFamily="34" charset="-122"/>
                <a:cs typeface="Arial" pitchFamily="34" charset="-120"/>
              </a:rPr>
              <a:t>REFRAME</a:t>
            </a:r>
            <a:endParaRPr lang="en-US" sz="1200" dirty="0"/>
          </a:p>
        </p:txBody>
      </p:sp>
      <p:sp>
        <p:nvSpPr>
          <p:cNvPr id="3" name="Text 1"/>
          <p:cNvSpPr/>
          <p:nvPr/>
        </p:nvSpPr>
        <p:spPr>
          <a:xfrm>
            <a:off x="594360" y="1371600"/>
            <a:ext cx="11002975" cy="914400"/>
          </a:xfrm>
          <a:prstGeom prst="rect">
            <a:avLst/>
          </a:prstGeom>
          <a:noFill/>
          <a:ln/>
        </p:spPr>
        <p:txBody>
          <a:bodyPr wrap="square" lIns="0" tIns="0" rIns="0" bIns="0" rtlCol="0" anchor="t"/>
          <a:lstStyle/>
          <a:p>
            <a:pPr marL="0" indent="0" algn="l">
              <a:buNone/>
            </a:pPr>
            <a:r>
              <a:rPr lang="en-US" sz="3800" b="1" dirty="0">
                <a:solidFill>
                  <a:srgbClr val="FFFFFF"/>
                </a:solidFill>
                <a:latin typeface="Arial" pitchFamily="34" charset="0"/>
                <a:ea typeface="Arial" pitchFamily="34" charset="-122"/>
                <a:cs typeface="Arial" pitchFamily="34" charset="-120"/>
              </a:rPr>
              <a:t>How code is </a:t>
            </a:r>
            <a:r>
              <a:rPr lang="en-US" sz="3800" b="1" dirty="0">
                <a:solidFill>
                  <a:srgbClr val="FF6A4C"/>
                </a:solidFill>
                <a:latin typeface="Arial" pitchFamily="34" charset="0"/>
                <a:ea typeface="Arial" pitchFamily="34" charset="-122"/>
                <a:cs typeface="Arial" pitchFamily="34" charset="-120"/>
              </a:rPr>
              <a:t>understood</a:t>
            </a:r>
            <a:r>
              <a:rPr lang="en-US" sz="3800" b="1" dirty="0">
                <a:solidFill>
                  <a:srgbClr val="FFFFFF"/>
                </a:solidFill>
                <a:latin typeface="Arial" pitchFamily="34" charset="0"/>
                <a:ea typeface="Arial" pitchFamily="34" charset="-122"/>
                <a:cs typeface="Arial" pitchFamily="34" charset="-120"/>
              </a:rPr>
              <a:t>.</a:t>
            </a:r>
            <a:endParaRPr lang="en-US" sz="3800" dirty="0"/>
          </a:p>
        </p:txBody>
      </p:sp>
      <p:sp>
        <p:nvSpPr>
          <p:cNvPr id="4" name="Text 2"/>
          <p:cNvSpPr/>
          <p:nvPr/>
        </p:nvSpPr>
        <p:spPr>
          <a:xfrm>
            <a:off x="594360" y="2651760"/>
            <a:ext cx="11002975" cy="1463040"/>
          </a:xfrm>
          <a:prstGeom prst="rect">
            <a:avLst/>
          </a:prstGeom>
          <a:noFill/>
          <a:ln/>
        </p:spPr>
        <p:txBody>
          <a:bodyPr wrap="square" lIns="0" tIns="0" rIns="0" bIns="0" rtlCol="0" anchor="t"/>
          <a:lstStyle/>
          <a:p>
            <a:pPr marL="0" indent="0" algn="l">
              <a:lnSpc>
                <a:spcPct val="108000"/>
              </a:lnSpc>
              <a:buNone/>
            </a:pPr>
            <a:r>
              <a:rPr lang="en-US" sz="3000" b="1" dirty="0">
                <a:solidFill>
                  <a:srgbClr val="FFFFFF"/>
                </a:solidFill>
                <a:latin typeface="Arial" pitchFamily="34" charset="0"/>
                <a:ea typeface="Arial" pitchFamily="34" charset="-122"/>
                <a:cs typeface="Arial" pitchFamily="34" charset="-120"/>
              </a:rPr>
              <a:t>By a </a:t>
            </a:r>
            <a:r>
              <a:rPr lang="en-US" sz="3000" b="1" dirty="0">
                <a:solidFill>
                  <a:srgbClr val="75DFBC"/>
                </a:solidFill>
                <a:latin typeface="Arial" pitchFamily="34" charset="0"/>
                <a:ea typeface="Arial" pitchFamily="34" charset="-122"/>
                <a:cs typeface="Arial" pitchFamily="34" charset="-120"/>
              </a:rPr>
              <a:t>teammate</a:t>
            </a:r>
            <a:r>
              <a:rPr lang="en-US" sz="3000" b="1" dirty="0">
                <a:solidFill>
                  <a:srgbClr val="FFFFFF"/>
                </a:solidFill>
                <a:latin typeface="Arial" pitchFamily="34" charset="0"/>
                <a:ea typeface="Arial" pitchFamily="34" charset="-122"/>
                <a:cs typeface="Arial" pitchFamily="34" charset="-120"/>
              </a:rPr>
              <a:t>,</a:t>
            </a:r>
            <a:endParaRPr lang="en-US" sz="3000" dirty="0"/>
          </a:p>
          <a:p>
            <a:pPr marL="0" indent="0" algn="l">
              <a:lnSpc>
                <a:spcPct val="108000"/>
              </a:lnSpc>
              <a:buNone/>
            </a:pPr>
            <a:r>
              <a:rPr lang="en-US" sz="3000" b="1" dirty="0">
                <a:solidFill>
                  <a:srgbClr val="FFFFFF"/>
                </a:solidFill>
                <a:latin typeface="Arial" pitchFamily="34" charset="0"/>
                <a:ea typeface="Arial" pitchFamily="34" charset="-122"/>
                <a:cs typeface="Arial" pitchFamily="34" charset="-120"/>
              </a:rPr>
              <a:t> and by a next-token predictor.</a:t>
            </a:r>
            <a:endParaRPr lang="en-US" sz="3000" dirty="0"/>
          </a:p>
        </p:txBody>
      </p:sp>
      <p:sp>
        <p:nvSpPr>
          <p:cNvPr id="5" name="Shape 3"/>
          <p:cNvSpPr/>
          <p:nvPr/>
        </p:nvSpPr>
        <p:spPr>
          <a:xfrm>
            <a:off x="594360" y="4663440"/>
            <a:ext cx="6035040" cy="548640"/>
          </a:xfrm>
          <a:prstGeom prst="roundRect">
            <a:avLst>
              <a:gd name="adj" fmla="val 50000"/>
            </a:avLst>
          </a:prstGeom>
          <a:solidFill>
            <a:srgbClr val="2C2B2B"/>
          </a:solidFill>
          <a:ln w="12700">
            <a:solidFill>
              <a:srgbClr val="75DFBC"/>
            </a:solidFill>
            <a:prstDash val="solid"/>
          </a:ln>
        </p:spPr>
        <p:txBody>
          <a:bodyPr/>
          <a:lstStyle/>
          <a:p>
            <a:endParaRPr lang="en-US"/>
          </a:p>
        </p:txBody>
      </p:sp>
      <p:sp>
        <p:nvSpPr>
          <p:cNvPr id="6" name="Text 4"/>
          <p:cNvSpPr/>
          <p:nvPr/>
        </p:nvSpPr>
        <p:spPr>
          <a:xfrm>
            <a:off x="594360" y="4663440"/>
            <a:ext cx="6035040" cy="548640"/>
          </a:xfrm>
          <a:prstGeom prst="rect">
            <a:avLst/>
          </a:prstGeom>
          <a:noFill/>
          <a:ln/>
        </p:spPr>
        <p:txBody>
          <a:bodyPr wrap="square" lIns="0" tIns="0" rIns="0" bIns="0" rtlCol="0" anchor="ctr"/>
          <a:lstStyle/>
          <a:p>
            <a:pPr marL="0" indent="0" algn="ctr">
              <a:buNone/>
            </a:pPr>
            <a:r>
              <a:rPr lang="en-US" sz="1800" b="1" dirty="0">
                <a:solidFill>
                  <a:srgbClr val="75DFBC"/>
                </a:solidFill>
                <a:latin typeface="Arial" pitchFamily="34" charset="0"/>
                <a:ea typeface="Arial" pitchFamily="34" charset="-122"/>
                <a:cs typeface="Arial" pitchFamily="34" charset="-120"/>
              </a:rPr>
              <a:t>Same friction, same fix: locality.</a:t>
            </a:r>
            <a:endParaRPr lang="en-US" sz="1800" dirty="0"/>
          </a:p>
        </p:txBody>
      </p:sp>
      <p:sp>
        <p:nvSpPr>
          <p:cNvPr id="7" name="Text 5"/>
          <p:cNvSpPr/>
          <p:nvPr/>
        </p:nvSpPr>
        <p:spPr>
          <a:xfrm>
            <a:off x="594360" y="6419088"/>
            <a:ext cx="8229600" cy="274320"/>
          </a:xfrm>
          <a:prstGeom prst="rect">
            <a:avLst/>
          </a:prstGeom>
          <a:noFill/>
          <a:ln/>
        </p:spPr>
        <p:txBody>
          <a:bodyPr wrap="square" lIns="0" tIns="0" rIns="0" bIns="0" rtlCol="0" anchor="ctr"/>
          <a:lstStyle/>
          <a:p>
            <a:pPr marL="0" indent="0" algn="l">
              <a:buNone/>
            </a:pPr>
            <a:r>
              <a:rPr lang="en-US" sz="900" dirty="0">
                <a:solidFill>
                  <a:srgbClr val="6E6E6E"/>
                </a:solidFill>
                <a:latin typeface="Arial" pitchFamily="34" charset="0"/>
                <a:ea typeface="Arial" pitchFamily="34" charset="-122"/>
                <a:cs typeface="Arial" pitchFamily="34" charset="-120"/>
              </a:rPr>
              <a:t>Why LLMs &amp; JS frameworks love Tailwind CSS</a:t>
            </a:r>
            <a:endParaRPr lang="en-US" sz="900" dirty="0"/>
          </a:p>
        </p:txBody>
      </p:sp>
      <p:sp>
        <p:nvSpPr>
          <p:cNvPr id="8" name="Text 6"/>
          <p:cNvSpPr/>
          <p:nvPr/>
        </p:nvSpPr>
        <p:spPr>
          <a:xfrm>
            <a:off x="10134295" y="6419088"/>
            <a:ext cx="1463040" cy="274320"/>
          </a:xfrm>
          <a:prstGeom prst="rect">
            <a:avLst/>
          </a:prstGeom>
          <a:noFill/>
          <a:ln/>
        </p:spPr>
        <p:txBody>
          <a:bodyPr wrap="square" lIns="0" tIns="0" rIns="0" bIns="0" rtlCol="0" anchor="ctr"/>
          <a:lstStyle/>
          <a:p>
            <a:pPr marL="0" indent="0" algn="r">
              <a:buNone/>
            </a:pPr>
            <a:r>
              <a:rPr lang="en-US" sz="900" dirty="0">
                <a:solidFill>
                  <a:srgbClr val="6E6E6E"/>
                </a:solidFill>
                <a:latin typeface="Arial" pitchFamily="34" charset="0"/>
                <a:ea typeface="Arial" pitchFamily="34" charset="-122"/>
                <a:cs typeface="Arial" pitchFamily="34" charset="-120"/>
              </a:rPr>
              <a:t>7 / 29</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222121"/>
        </a:solidFill>
        <a:effectLst/>
      </p:bgPr>
    </p:bg>
    <p:spTree>
      <p:nvGrpSpPr>
        <p:cNvPr id="1" name=""/>
        <p:cNvGrpSpPr/>
        <p:nvPr/>
      </p:nvGrpSpPr>
      <p:grpSpPr>
        <a:xfrm>
          <a:off x="0" y="0"/>
          <a:ext cx="0" cy="0"/>
          <a:chOff x="0" y="0"/>
          <a:chExt cx="0" cy="0"/>
        </a:xfrm>
      </p:grpSpPr>
      <p:sp>
        <p:nvSpPr>
          <p:cNvPr id="2" name="Text 0"/>
          <p:cNvSpPr/>
          <p:nvPr/>
        </p:nvSpPr>
        <p:spPr>
          <a:xfrm>
            <a:off x="594360" y="502920"/>
            <a:ext cx="11002975" cy="274320"/>
          </a:xfrm>
          <a:prstGeom prst="rect">
            <a:avLst/>
          </a:prstGeom>
          <a:noFill/>
          <a:ln/>
        </p:spPr>
        <p:txBody>
          <a:bodyPr wrap="square" lIns="0" tIns="0" rIns="0" bIns="0" rtlCol="0" anchor="ctr"/>
          <a:lstStyle/>
          <a:p>
            <a:pPr marL="0" indent="0" algn="l">
              <a:buNone/>
            </a:pPr>
            <a:r>
              <a:rPr lang="en-US" sz="1200" b="1" kern="0" spc="300" dirty="0">
                <a:solidFill>
                  <a:srgbClr val="FF6A4C"/>
                </a:solidFill>
                <a:latin typeface="Arial" pitchFamily="34" charset="0"/>
                <a:ea typeface="Arial" pitchFamily="34" charset="-122"/>
                <a:cs typeface="Arial" pitchFamily="34" charset="-120"/>
              </a:rPr>
              <a:t>FRICTION #1</a:t>
            </a:r>
            <a:endParaRPr lang="en-US" sz="1200" dirty="0"/>
          </a:p>
        </p:txBody>
      </p:sp>
      <p:sp>
        <p:nvSpPr>
          <p:cNvPr id="3" name="Text 1"/>
          <p:cNvSpPr/>
          <p:nvPr/>
        </p:nvSpPr>
        <p:spPr>
          <a:xfrm>
            <a:off x="594360" y="868680"/>
            <a:ext cx="11002975" cy="1005840"/>
          </a:xfrm>
          <a:prstGeom prst="rect">
            <a:avLst/>
          </a:prstGeom>
          <a:noFill/>
          <a:ln/>
        </p:spPr>
        <p:txBody>
          <a:bodyPr wrap="square" lIns="0" tIns="0" rIns="0" bIns="0" rtlCol="0" anchor="t"/>
          <a:lstStyle/>
          <a:p>
            <a:pPr marL="0" indent="0" algn="l">
              <a:lnSpc>
                <a:spcPct val="102000"/>
              </a:lnSpc>
              <a:buNone/>
            </a:pPr>
            <a:r>
              <a:rPr lang="en-US" sz="3400" b="1" dirty="0">
                <a:solidFill>
                  <a:srgbClr val="FFFFFF"/>
                </a:solidFill>
                <a:latin typeface="Arial" pitchFamily="34" charset="0"/>
                <a:ea typeface="Arial" pitchFamily="34" charset="-122"/>
                <a:cs typeface="Arial" pitchFamily="34" charset="-120"/>
              </a:rPr>
              <a:t>Naming things</a:t>
            </a:r>
            <a:endParaRPr lang="en-US" sz="3400" dirty="0"/>
          </a:p>
        </p:txBody>
      </p:sp>
      <p:sp>
        <p:nvSpPr>
          <p:cNvPr id="4" name="Text 2"/>
          <p:cNvSpPr/>
          <p:nvPr/>
        </p:nvSpPr>
        <p:spPr>
          <a:xfrm>
            <a:off x="594360" y="1828800"/>
            <a:ext cx="5760720" cy="1280160"/>
          </a:xfrm>
          <a:prstGeom prst="rect">
            <a:avLst/>
          </a:prstGeom>
          <a:noFill/>
          <a:ln/>
        </p:spPr>
        <p:txBody>
          <a:bodyPr wrap="square" lIns="0" tIns="0" rIns="0" bIns="0" rtlCol="0" anchor="t"/>
          <a:lstStyle/>
          <a:p>
            <a:pPr marL="0" indent="0" algn="l">
              <a:lnSpc>
                <a:spcPct val="110000"/>
              </a:lnSpc>
              <a:buNone/>
            </a:pPr>
            <a:r>
              <a:rPr lang="en-US" sz="2000" i="1" dirty="0">
                <a:solidFill>
                  <a:srgbClr val="FFFFFF"/>
                </a:solidFill>
                <a:latin typeface="Arial" pitchFamily="34" charset="0"/>
                <a:ea typeface="Arial" pitchFamily="34" charset="-122"/>
                <a:cs typeface="Arial" pitchFamily="34" charset="-120"/>
              </a:rPr>
              <a:t>“There are only two hard things in computer science: cache invalidation and naming things.”</a:t>
            </a:r>
            <a:endParaRPr lang="en-US" sz="2000" dirty="0"/>
          </a:p>
        </p:txBody>
      </p:sp>
      <p:sp>
        <p:nvSpPr>
          <p:cNvPr id="5" name="Shape 3"/>
          <p:cNvSpPr/>
          <p:nvPr/>
        </p:nvSpPr>
        <p:spPr>
          <a:xfrm>
            <a:off x="594360" y="3465576"/>
            <a:ext cx="118872" cy="118872"/>
          </a:xfrm>
          <a:prstGeom prst="rect">
            <a:avLst/>
          </a:prstGeom>
          <a:solidFill>
            <a:srgbClr val="FF6A4C"/>
          </a:solidFill>
          <a:ln/>
        </p:spPr>
        <p:txBody>
          <a:bodyPr/>
          <a:lstStyle/>
          <a:p>
            <a:endParaRPr lang="en-US" sz="2400"/>
          </a:p>
        </p:txBody>
      </p:sp>
      <p:sp>
        <p:nvSpPr>
          <p:cNvPr id="6" name="Text 4"/>
          <p:cNvSpPr/>
          <p:nvPr/>
        </p:nvSpPr>
        <p:spPr>
          <a:xfrm>
            <a:off x="886967" y="3383280"/>
            <a:ext cx="5760719" cy="457200"/>
          </a:xfrm>
          <a:prstGeom prst="rect">
            <a:avLst/>
          </a:prstGeom>
          <a:noFill/>
          <a:ln/>
        </p:spPr>
        <p:txBody>
          <a:bodyPr wrap="square" lIns="0" tIns="0" rIns="0" bIns="0" rtlCol="0" anchor="t"/>
          <a:lstStyle/>
          <a:p>
            <a:pPr marL="0" indent="0" algn="l">
              <a:lnSpc>
                <a:spcPct val="105000"/>
              </a:lnSpc>
              <a:buNone/>
            </a:pPr>
            <a:r>
              <a:rPr lang="en-US" dirty="0">
                <a:solidFill>
                  <a:srgbClr val="FFFFFF"/>
                </a:solidFill>
                <a:latin typeface="Arial" pitchFamily="34" charset="0"/>
                <a:ea typeface="Arial" pitchFamily="34" charset="-122"/>
                <a:cs typeface="Arial" pitchFamily="34" charset="-120"/>
              </a:rPr>
              <a:t>Every element needs an invented, project-specific name</a:t>
            </a:r>
            <a:endParaRPr lang="en-US" dirty="0"/>
          </a:p>
        </p:txBody>
      </p:sp>
      <p:sp>
        <p:nvSpPr>
          <p:cNvPr id="7" name="Shape 5"/>
          <p:cNvSpPr/>
          <p:nvPr/>
        </p:nvSpPr>
        <p:spPr>
          <a:xfrm>
            <a:off x="594360" y="4352544"/>
            <a:ext cx="118872" cy="118872"/>
          </a:xfrm>
          <a:prstGeom prst="rect">
            <a:avLst/>
          </a:prstGeom>
          <a:solidFill>
            <a:srgbClr val="FF6A4C"/>
          </a:solidFill>
          <a:ln/>
        </p:spPr>
        <p:txBody>
          <a:bodyPr/>
          <a:lstStyle/>
          <a:p>
            <a:endParaRPr lang="en-US" sz="2400"/>
          </a:p>
        </p:txBody>
      </p:sp>
      <p:sp>
        <p:nvSpPr>
          <p:cNvPr id="8" name="Text 6"/>
          <p:cNvSpPr/>
          <p:nvPr/>
        </p:nvSpPr>
        <p:spPr>
          <a:xfrm>
            <a:off x="886968" y="4270248"/>
            <a:ext cx="5468112" cy="457200"/>
          </a:xfrm>
          <a:prstGeom prst="rect">
            <a:avLst/>
          </a:prstGeom>
          <a:noFill/>
          <a:ln/>
        </p:spPr>
        <p:txBody>
          <a:bodyPr wrap="square" lIns="0" tIns="0" rIns="0" bIns="0" rtlCol="0" anchor="t"/>
          <a:lstStyle/>
          <a:p>
            <a:pPr marL="0" indent="0" algn="l">
              <a:lnSpc>
                <a:spcPct val="105000"/>
              </a:lnSpc>
              <a:buNone/>
            </a:pPr>
            <a:r>
              <a:rPr lang="en-US" dirty="0">
                <a:solidFill>
                  <a:srgbClr val="FFFFFF"/>
                </a:solidFill>
                <a:latin typeface="Arial" pitchFamily="34" charset="0"/>
                <a:ea typeface="Arial" pitchFamily="34" charset="-122"/>
                <a:cs typeface="Arial" pitchFamily="34" charset="-120"/>
              </a:rPr>
              <a:t>Names drift: card / Card / cardWrapper / card-box</a:t>
            </a:r>
            <a:endParaRPr lang="en-US" dirty="0"/>
          </a:p>
        </p:txBody>
      </p:sp>
      <p:sp>
        <p:nvSpPr>
          <p:cNvPr id="9" name="Shape 7"/>
          <p:cNvSpPr/>
          <p:nvPr/>
        </p:nvSpPr>
        <p:spPr>
          <a:xfrm>
            <a:off x="594360" y="5269473"/>
            <a:ext cx="118872" cy="118872"/>
          </a:xfrm>
          <a:prstGeom prst="rect">
            <a:avLst/>
          </a:prstGeom>
          <a:solidFill>
            <a:srgbClr val="FF6A4C"/>
          </a:solidFill>
          <a:ln/>
        </p:spPr>
        <p:txBody>
          <a:bodyPr/>
          <a:lstStyle/>
          <a:p>
            <a:endParaRPr lang="en-US" sz="2400"/>
          </a:p>
        </p:txBody>
      </p:sp>
      <p:sp>
        <p:nvSpPr>
          <p:cNvPr id="10" name="Text 8"/>
          <p:cNvSpPr/>
          <p:nvPr/>
        </p:nvSpPr>
        <p:spPr>
          <a:xfrm>
            <a:off x="886968" y="5187177"/>
            <a:ext cx="5468112" cy="457200"/>
          </a:xfrm>
          <a:prstGeom prst="rect">
            <a:avLst/>
          </a:prstGeom>
          <a:noFill/>
          <a:ln/>
        </p:spPr>
        <p:txBody>
          <a:bodyPr wrap="square" lIns="0" tIns="0" rIns="0" bIns="0" rtlCol="0" anchor="t"/>
          <a:lstStyle/>
          <a:p>
            <a:pPr marL="0" indent="0" algn="l">
              <a:lnSpc>
                <a:spcPct val="105000"/>
              </a:lnSpc>
              <a:buNone/>
            </a:pPr>
            <a:r>
              <a:rPr lang="en-US" dirty="0">
                <a:solidFill>
                  <a:srgbClr val="FFFFFF"/>
                </a:solidFill>
                <a:latin typeface="Arial" pitchFamily="34" charset="0"/>
                <a:ea typeface="Arial" pitchFamily="34" charset="-122"/>
                <a:cs typeface="Arial" pitchFamily="34" charset="-120"/>
              </a:rPr>
              <a:t>Humans AND models invent inconsistently across a session</a:t>
            </a:r>
            <a:endParaRPr lang="en-US" dirty="0"/>
          </a:p>
        </p:txBody>
      </p:sp>
      <p:sp>
        <p:nvSpPr>
          <p:cNvPr id="11" name="Shape 9"/>
          <p:cNvSpPr/>
          <p:nvPr/>
        </p:nvSpPr>
        <p:spPr>
          <a:xfrm>
            <a:off x="6821421" y="1828800"/>
            <a:ext cx="4773170" cy="4270248"/>
          </a:xfrm>
          <a:prstGeom prst="roundRect">
            <a:avLst>
              <a:gd name="adj" fmla="val 2222"/>
            </a:avLst>
          </a:prstGeom>
          <a:solidFill>
            <a:srgbClr val="171717"/>
          </a:solidFill>
          <a:ln w="12700">
            <a:solidFill>
              <a:srgbClr val="3A3A3A"/>
            </a:solidFill>
            <a:prstDash val="solid"/>
          </a:ln>
        </p:spPr>
        <p:txBody>
          <a:bodyPr/>
          <a:lstStyle/>
          <a:p>
            <a:endParaRPr lang="en-US"/>
          </a:p>
        </p:txBody>
      </p:sp>
      <p:sp>
        <p:nvSpPr>
          <p:cNvPr id="12" name="Shape 10"/>
          <p:cNvSpPr/>
          <p:nvPr/>
        </p:nvSpPr>
        <p:spPr>
          <a:xfrm>
            <a:off x="6986016" y="2011680"/>
            <a:ext cx="100584" cy="100584"/>
          </a:xfrm>
          <a:prstGeom prst="ellipse">
            <a:avLst/>
          </a:prstGeom>
          <a:solidFill>
            <a:srgbClr val="FF6A4C"/>
          </a:solidFill>
          <a:ln/>
        </p:spPr>
        <p:txBody>
          <a:bodyPr/>
          <a:lstStyle/>
          <a:p>
            <a:endParaRPr lang="en-US"/>
          </a:p>
        </p:txBody>
      </p:sp>
      <p:sp>
        <p:nvSpPr>
          <p:cNvPr id="13" name="Shape 11"/>
          <p:cNvSpPr/>
          <p:nvPr/>
        </p:nvSpPr>
        <p:spPr>
          <a:xfrm>
            <a:off x="7187184" y="2011680"/>
            <a:ext cx="100584" cy="100584"/>
          </a:xfrm>
          <a:prstGeom prst="ellipse">
            <a:avLst/>
          </a:prstGeom>
          <a:solidFill>
            <a:srgbClr val="F1CF25"/>
          </a:solidFill>
          <a:ln/>
        </p:spPr>
        <p:txBody>
          <a:bodyPr/>
          <a:lstStyle/>
          <a:p>
            <a:endParaRPr lang="en-US"/>
          </a:p>
        </p:txBody>
      </p:sp>
      <p:sp>
        <p:nvSpPr>
          <p:cNvPr id="14" name="Shape 12"/>
          <p:cNvSpPr/>
          <p:nvPr/>
        </p:nvSpPr>
        <p:spPr>
          <a:xfrm>
            <a:off x="7388352" y="2011680"/>
            <a:ext cx="100584" cy="100584"/>
          </a:xfrm>
          <a:prstGeom prst="ellipse">
            <a:avLst/>
          </a:prstGeom>
          <a:solidFill>
            <a:srgbClr val="75DFBC"/>
          </a:solidFill>
          <a:ln/>
        </p:spPr>
        <p:txBody>
          <a:bodyPr/>
          <a:lstStyle/>
          <a:p>
            <a:endParaRPr lang="en-US"/>
          </a:p>
        </p:txBody>
      </p:sp>
      <p:sp>
        <p:nvSpPr>
          <p:cNvPr id="15" name="Text 13"/>
          <p:cNvSpPr/>
          <p:nvPr/>
        </p:nvSpPr>
        <p:spPr>
          <a:xfrm>
            <a:off x="7680960" y="1901952"/>
            <a:ext cx="3730752" cy="292608"/>
          </a:xfrm>
          <a:prstGeom prst="rect">
            <a:avLst/>
          </a:prstGeom>
          <a:noFill/>
          <a:ln/>
        </p:spPr>
        <p:txBody>
          <a:bodyPr wrap="square" lIns="0" tIns="0" rIns="0" bIns="0" rtlCol="0" anchor="ctr"/>
          <a:lstStyle/>
          <a:p>
            <a:pPr marL="0" indent="0" algn="l">
              <a:buNone/>
            </a:pPr>
            <a:r>
              <a:rPr lang="en-US" dirty="0">
                <a:solidFill>
                  <a:srgbClr val="6E6E6E"/>
                </a:solidFill>
                <a:latin typeface="Courier New" pitchFamily="34" charset="0"/>
                <a:ea typeface="Courier New" pitchFamily="34" charset="-122"/>
                <a:cs typeface="Courier New" pitchFamily="34" charset="-120"/>
              </a:rPr>
              <a:t>styles.css</a:t>
            </a:r>
            <a:endParaRPr lang="en-US" dirty="0"/>
          </a:p>
        </p:txBody>
      </p:sp>
      <p:sp>
        <p:nvSpPr>
          <p:cNvPr id="16" name="Text 14"/>
          <p:cNvSpPr/>
          <p:nvPr/>
        </p:nvSpPr>
        <p:spPr>
          <a:xfrm>
            <a:off x="7187184" y="2377440"/>
            <a:ext cx="4114800" cy="3332696"/>
          </a:xfrm>
          <a:prstGeom prst="rect">
            <a:avLst/>
          </a:prstGeom>
          <a:noFill/>
          <a:ln/>
        </p:spPr>
        <p:txBody>
          <a:bodyPr wrap="square" lIns="0" tIns="0" rIns="0" bIns="0" rtlCol="0" anchor="t"/>
          <a:lstStyle/>
          <a:p>
            <a:pPr marL="0" indent="0" algn="l">
              <a:lnSpc>
                <a:spcPct val="115000"/>
              </a:lnSpc>
              <a:buNone/>
            </a:pPr>
            <a:r>
              <a:rPr lang="en-US" dirty="0">
                <a:solidFill>
                  <a:srgbClr val="6E6E6E"/>
                </a:solidFill>
                <a:latin typeface="Courier New" pitchFamily="34" charset="0"/>
                <a:ea typeface="Courier New" pitchFamily="34" charset="-122"/>
                <a:cs typeface="Courier New" pitchFamily="34" charset="-120"/>
              </a:rPr>
              <a:t>/* what does 'featured' even mean? */</a:t>
            </a:r>
            <a:endParaRPr lang="en-US" dirty="0"/>
          </a:p>
          <a:p>
            <a:pPr marL="0" indent="0" algn="l">
              <a:lnSpc>
                <a:spcPct val="115000"/>
              </a:lnSpc>
              <a:buNone/>
            </a:pPr>
            <a:r>
              <a:rPr lang="en-US" dirty="0">
                <a:solidFill>
                  <a:srgbClr val="75DFBC"/>
                </a:solidFill>
                <a:latin typeface="Courier New" pitchFamily="34" charset="0"/>
                <a:ea typeface="Courier New" pitchFamily="34" charset="-122"/>
                <a:cs typeface="Courier New" pitchFamily="34" charset="-120"/>
              </a:rPr>
              <a:t>.card</a:t>
            </a:r>
            <a:r>
              <a:rPr lang="en-US" dirty="0">
                <a:solidFill>
                  <a:srgbClr val="F1CF25"/>
                </a:solidFill>
                <a:latin typeface="Courier New" pitchFamily="34" charset="0"/>
                <a:ea typeface="Courier New" pitchFamily="34" charset="-122"/>
                <a:cs typeface="Courier New" pitchFamily="34" charset="-120"/>
              </a:rPr>
              <a:t>__header</a:t>
            </a:r>
            <a:r>
              <a:rPr lang="en-US" dirty="0">
                <a:solidFill>
                  <a:srgbClr val="FF6A4C"/>
                </a:solidFill>
                <a:latin typeface="Courier New" pitchFamily="34" charset="0"/>
                <a:ea typeface="Courier New" pitchFamily="34" charset="-122"/>
                <a:cs typeface="Courier New" pitchFamily="34" charset="-120"/>
              </a:rPr>
              <a:t>--featured</a:t>
            </a:r>
            <a:r>
              <a:rPr lang="en-US" dirty="0">
                <a:solidFill>
                  <a:srgbClr val="D8D8D8"/>
                </a:solidFill>
                <a:latin typeface="Courier New" pitchFamily="34" charset="0"/>
                <a:ea typeface="Courier New" pitchFamily="34" charset="-122"/>
                <a:cs typeface="Courier New" pitchFamily="34" charset="-120"/>
              </a:rPr>
              <a:t> {</a:t>
            </a:r>
            <a:endParaRPr lang="en-US" dirty="0"/>
          </a:p>
          <a:p>
            <a:pPr marL="0" indent="0" algn="l">
              <a:lnSpc>
                <a:spcPct val="115000"/>
              </a:lnSpc>
              <a:buNone/>
            </a:pPr>
            <a:r>
              <a:rPr lang="en-US" dirty="0">
                <a:solidFill>
                  <a:srgbClr val="9CDCFE"/>
                </a:solidFill>
                <a:latin typeface="Courier New" pitchFamily="34" charset="0"/>
                <a:ea typeface="Courier New" pitchFamily="34" charset="-122"/>
                <a:cs typeface="Courier New" pitchFamily="34" charset="-120"/>
              </a:rPr>
              <a:t>  border-color</a:t>
            </a:r>
            <a:r>
              <a:rPr lang="en-US" dirty="0">
                <a:solidFill>
                  <a:srgbClr val="D8D8D8"/>
                </a:solidFill>
                <a:latin typeface="Courier New" pitchFamily="34" charset="0"/>
                <a:ea typeface="Courier New" pitchFamily="34" charset="-122"/>
                <a:cs typeface="Courier New" pitchFamily="34" charset="-120"/>
              </a:rPr>
              <a:t>: </a:t>
            </a:r>
            <a:r>
              <a:rPr lang="en-US" dirty="0">
                <a:solidFill>
                  <a:srgbClr val="F1CF25"/>
                </a:solidFill>
                <a:latin typeface="Courier New" pitchFamily="34" charset="0"/>
                <a:ea typeface="Courier New" pitchFamily="34" charset="-122"/>
                <a:cs typeface="Courier New" pitchFamily="34" charset="-120"/>
              </a:rPr>
              <a:t>#75dfbc;</a:t>
            </a:r>
            <a:endParaRPr lang="en-US" dirty="0"/>
          </a:p>
          <a:p>
            <a:pPr marL="0" indent="0" algn="l">
              <a:lnSpc>
                <a:spcPct val="115000"/>
              </a:lnSpc>
              <a:buNone/>
            </a:pPr>
            <a:r>
              <a:rPr lang="en-US" dirty="0">
                <a:solidFill>
                  <a:srgbClr val="D8D8D8"/>
                </a:solidFill>
                <a:latin typeface="Courier New" pitchFamily="34" charset="0"/>
                <a:ea typeface="Courier New" pitchFamily="34" charset="-122"/>
                <a:cs typeface="Courier New" pitchFamily="34" charset="-120"/>
              </a:rPr>
              <a:t>}</a:t>
            </a:r>
            <a:endParaRPr lang="en-US" dirty="0"/>
          </a:p>
          <a:p>
            <a:pPr marL="0" indent="0" algn="l">
              <a:lnSpc>
                <a:spcPct val="115000"/>
              </a:lnSpc>
              <a:buNone/>
            </a:pPr>
            <a:endParaRPr lang="en-US" dirty="0"/>
          </a:p>
          <a:p>
            <a:pPr marL="0" indent="0" algn="l">
              <a:lnSpc>
                <a:spcPct val="115000"/>
              </a:lnSpc>
              <a:buNone/>
            </a:pPr>
            <a:r>
              <a:rPr lang="en-US" dirty="0">
                <a:solidFill>
                  <a:srgbClr val="75DFBC"/>
                </a:solidFill>
                <a:latin typeface="Courier New" pitchFamily="34" charset="0"/>
                <a:ea typeface="Courier New" pitchFamily="34" charset="-122"/>
                <a:cs typeface="Courier New" pitchFamily="34" charset="-120"/>
              </a:rPr>
              <a:t>.card</a:t>
            </a:r>
            <a:r>
              <a:rPr lang="en-US" dirty="0">
                <a:solidFill>
                  <a:srgbClr val="F1CF25"/>
                </a:solidFill>
                <a:latin typeface="Courier New" pitchFamily="34" charset="0"/>
                <a:ea typeface="Courier New" pitchFamily="34" charset="-122"/>
                <a:cs typeface="Courier New" pitchFamily="34" charset="-120"/>
              </a:rPr>
              <a:t>__cta</a:t>
            </a:r>
            <a:r>
              <a:rPr lang="en-US" dirty="0">
                <a:solidFill>
                  <a:srgbClr val="D8D8D8"/>
                </a:solidFill>
                <a:latin typeface="Courier New" pitchFamily="34" charset="0"/>
                <a:ea typeface="Courier New" pitchFamily="34" charset="-122"/>
                <a:cs typeface="Courier New" pitchFamily="34" charset="-120"/>
              </a:rPr>
              <a:t> { … }</a:t>
            </a:r>
            <a:endParaRPr lang="en-US" dirty="0"/>
          </a:p>
          <a:p>
            <a:pPr marL="0" indent="0" algn="l">
              <a:lnSpc>
                <a:spcPct val="115000"/>
              </a:lnSpc>
              <a:buNone/>
            </a:pPr>
            <a:r>
              <a:rPr lang="en-US" dirty="0">
                <a:solidFill>
                  <a:srgbClr val="75DFBC"/>
                </a:solidFill>
                <a:latin typeface="Courier New" pitchFamily="34" charset="0"/>
                <a:ea typeface="Courier New" pitchFamily="34" charset="-122"/>
                <a:cs typeface="Courier New" pitchFamily="34" charset="-120"/>
              </a:rPr>
              <a:t>.card</a:t>
            </a:r>
            <a:r>
              <a:rPr lang="en-US" dirty="0">
                <a:solidFill>
                  <a:srgbClr val="F1CF25"/>
                </a:solidFill>
                <a:latin typeface="Courier New" pitchFamily="34" charset="0"/>
                <a:ea typeface="Courier New" pitchFamily="34" charset="-122"/>
                <a:cs typeface="Courier New" pitchFamily="34" charset="-120"/>
              </a:rPr>
              <a:t>__badge</a:t>
            </a:r>
            <a:r>
              <a:rPr lang="en-US" dirty="0">
                <a:solidFill>
                  <a:srgbClr val="D8D8D8"/>
                </a:solidFill>
                <a:latin typeface="Courier New" pitchFamily="34" charset="0"/>
                <a:ea typeface="Courier New" pitchFamily="34" charset="-122"/>
                <a:cs typeface="Courier New" pitchFamily="34" charset="-120"/>
              </a:rPr>
              <a:t> { … }</a:t>
            </a:r>
            <a:endParaRPr lang="en-US" dirty="0"/>
          </a:p>
        </p:txBody>
      </p:sp>
      <p:sp>
        <p:nvSpPr>
          <p:cNvPr id="17" name="Text 15"/>
          <p:cNvSpPr/>
          <p:nvPr/>
        </p:nvSpPr>
        <p:spPr>
          <a:xfrm>
            <a:off x="594360" y="6419088"/>
            <a:ext cx="8229600" cy="274320"/>
          </a:xfrm>
          <a:prstGeom prst="rect">
            <a:avLst/>
          </a:prstGeom>
          <a:noFill/>
          <a:ln/>
        </p:spPr>
        <p:txBody>
          <a:bodyPr wrap="square" lIns="0" tIns="0" rIns="0" bIns="0" rtlCol="0" anchor="ctr"/>
          <a:lstStyle/>
          <a:p>
            <a:pPr marL="0" indent="0" algn="l">
              <a:buNone/>
            </a:pPr>
            <a:r>
              <a:rPr lang="en-US" sz="900" dirty="0">
                <a:solidFill>
                  <a:srgbClr val="6E6E6E"/>
                </a:solidFill>
                <a:latin typeface="Arial" pitchFamily="34" charset="0"/>
                <a:ea typeface="Arial" pitchFamily="34" charset="-122"/>
                <a:cs typeface="Arial" pitchFamily="34" charset="-120"/>
              </a:rPr>
              <a:t>Why LLMs &amp; JS frameworks love Tailwind CSS</a:t>
            </a:r>
            <a:endParaRPr lang="en-US" sz="900" dirty="0"/>
          </a:p>
        </p:txBody>
      </p:sp>
      <p:sp>
        <p:nvSpPr>
          <p:cNvPr id="18" name="Text 16"/>
          <p:cNvSpPr/>
          <p:nvPr/>
        </p:nvSpPr>
        <p:spPr>
          <a:xfrm>
            <a:off x="10134295" y="6419088"/>
            <a:ext cx="1463040" cy="274320"/>
          </a:xfrm>
          <a:prstGeom prst="rect">
            <a:avLst/>
          </a:prstGeom>
          <a:noFill/>
          <a:ln/>
        </p:spPr>
        <p:txBody>
          <a:bodyPr wrap="square" lIns="0" tIns="0" rIns="0" bIns="0" rtlCol="0" anchor="ctr"/>
          <a:lstStyle/>
          <a:p>
            <a:pPr marL="0" indent="0" algn="r">
              <a:buNone/>
            </a:pPr>
            <a:r>
              <a:rPr lang="en-US" sz="900" dirty="0">
                <a:solidFill>
                  <a:srgbClr val="6E6E6E"/>
                </a:solidFill>
                <a:latin typeface="Arial" pitchFamily="34" charset="0"/>
                <a:ea typeface="Arial" pitchFamily="34" charset="-122"/>
                <a:cs typeface="Arial" pitchFamily="34" charset="-120"/>
              </a:rPr>
              <a:t>8 / 29</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222121"/>
        </a:solidFill>
        <a:effectLst/>
      </p:bgPr>
    </p:bg>
    <p:spTree>
      <p:nvGrpSpPr>
        <p:cNvPr id="1" name=""/>
        <p:cNvGrpSpPr/>
        <p:nvPr/>
      </p:nvGrpSpPr>
      <p:grpSpPr>
        <a:xfrm>
          <a:off x="0" y="0"/>
          <a:ext cx="0" cy="0"/>
          <a:chOff x="0" y="0"/>
          <a:chExt cx="0" cy="0"/>
        </a:xfrm>
      </p:grpSpPr>
      <p:sp>
        <p:nvSpPr>
          <p:cNvPr id="2" name="Text 0"/>
          <p:cNvSpPr/>
          <p:nvPr/>
        </p:nvSpPr>
        <p:spPr>
          <a:xfrm>
            <a:off x="594360" y="502920"/>
            <a:ext cx="11002975" cy="274320"/>
          </a:xfrm>
          <a:prstGeom prst="rect">
            <a:avLst/>
          </a:prstGeom>
          <a:noFill/>
          <a:ln/>
        </p:spPr>
        <p:txBody>
          <a:bodyPr wrap="square" lIns="0" tIns="0" rIns="0" bIns="0" rtlCol="0" anchor="ctr"/>
          <a:lstStyle/>
          <a:p>
            <a:pPr marL="0" indent="0" algn="l">
              <a:buNone/>
            </a:pPr>
            <a:r>
              <a:rPr lang="en-US" sz="1200" b="1" kern="0" spc="300" dirty="0">
                <a:solidFill>
                  <a:srgbClr val="FF6A4C"/>
                </a:solidFill>
                <a:latin typeface="Arial" pitchFamily="34" charset="0"/>
                <a:ea typeface="Arial" pitchFamily="34" charset="-122"/>
                <a:cs typeface="Arial" pitchFamily="34" charset="-120"/>
              </a:rPr>
              <a:t>FRICTION #2</a:t>
            </a:r>
            <a:endParaRPr lang="en-US" sz="1200" dirty="0"/>
          </a:p>
        </p:txBody>
      </p:sp>
      <p:sp>
        <p:nvSpPr>
          <p:cNvPr id="3" name="Text 1"/>
          <p:cNvSpPr/>
          <p:nvPr/>
        </p:nvSpPr>
        <p:spPr>
          <a:xfrm>
            <a:off x="594360" y="868680"/>
            <a:ext cx="11002975" cy="1005840"/>
          </a:xfrm>
          <a:prstGeom prst="rect">
            <a:avLst/>
          </a:prstGeom>
          <a:noFill/>
          <a:ln/>
        </p:spPr>
        <p:txBody>
          <a:bodyPr wrap="square" lIns="0" tIns="0" rIns="0" bIns="0" rtlCol="0" anchor="t"/>
          <a:lstStyle/>
          <a:p>
            <a:pPr marL="0" indent="0" algn="l">
              <a:lnSpc>
                <a:spcPct val="102000"/>
              </a:lnSpc>
              <a:buNone/>
            </a:pPr>
            <a:r>
              <a:rPr lang="en-US" sz="3400" b="1" dirty="0">
                <a:solidFill>
                  <a:srgbClr val="FFFFFF"/>
                </a:solidFill>
                <a:latin typeface="Arial" pitchFamily="34" charset="0"/>
                <a:ea typeface="Arial" pitchFamily="34" charset="-122"/>
                <a:cs typeface="Arial" pitchFamily="34" charset="-120"/>
              </a:rPr>
              <a:t>The cascade</a:t>
            </a:r>
            <a:endParaRPr lang="en-US" sz="3400" dirty="0"/>
          </a:p>
        </p:txBody>
      </p:sp>
      <p:sp>
        <p:nvSpPr>
          <p:cNvPr id="4" name="Text 2"/>
          <p:cNvSpPr/>
          <p:nvPr/>
        </p:nvSpPr>
        <p:spPr>
          <a:xfrm>
            <a:off x="594360" y="1783080"/>
            <a:ext cx="11002975" cy="548640"/>
          </a:xfrm>
          <a:prstGeom prst="rect">
            <a:avLst/>
          </a:prstGeom>
          <a:noFill/>
          <a:ln/>
        </p:spPr>
        <p:txBody>
          <a:bodyPr wrap="square" lIns="0" tIns="0" rIns="0" bIns="0" rtlCol="0" anchor="ctr"/>
          <a:lstStyle/>
          <a:p>
            <a:pPr marL="0" indent="0" algn="l">
              <a:buNone/>
            </a:pPr>
            <a:r>
              <a:rPr lang="en-US" sz="2200" b="1" dirty="0">
                <a:solidFill>
                  <a:srgbClr val="FFFFFF"/>
                </a:solidFill>
                <a:latin typeface="Arial" pitchFamily="34" charset="0"/>
                <a:ea typeface="Arial" pitchFamily="34" charset="-122"/>
                <a:cs typeface="Arial" pitchFamily="34" charset="-120"/>
              </a:rPr>
              <a:t>The </a:t>
            </a:r>
            <a:r>
              <a:rPr lang="en-US" sz="2200" b="1" dirty="0">
                <a:solidFill>
                  <a:srgbClr val="FF6A4C"/>
                </a:solidFill>
                <a:latin typeface="Arial" pitchFamily="34" charset="0"/>
                <a:ea typeface="Arial" pitchFamily="34" charset="-122"/>
                <a:cs typeface="Arial" pitchFamily="34" charset="-120"/>
              </a:rPr>
              <a:t>C</a:t>
            </a:r>
            <a:r>
              <a:rPr lang="en-US" sz="2200" b="1" dirty="0">
                <a:solidFill>
                  <a:srgbClr val="FFFFFF"/>
                </a:solidFill>
                <a:latin typeface="Arial" pitchFamily="34" charset="0"/>
                <a:ea typeface="Arial" pitchFamily="34" charset="-122"/>
                <a:cs typeface="Arial" pitchFamily="34" charset="-120"/>
              </a:rPr>
              <a:t> in CSS is global and order-dependent.</a:t>
            </a:r>
            <a:endParaRPr lang="en-US" sz="2200" dirty="0"/>
          </a:p>
        </p:txBody>
      </p:sp>
      <p:sp>
        <p:nvSpPr>
          <p:cNvPr id="5" name="Shape 3"/>
          <p:cNvSpPr/>
          <p:nvPr/>
        </p:nvSpPr>
        <p:spPr>
          <a:xfrm>
            <a:off x="594360" y="2867714"/>
            <a:ext cx="3200400" cy="1554480"/>
          </a:xfrm>
          <a:prstGeom prst="roundRect">
            <a:avLst>
              <a:gd name="adj" fmla="val 7059"/>
            </a:avLst>
          </a:prstGeom>
          <a:solidFill>
            <a:srgbClr val="2C2B2B"/>
          </a:solidFill>
          <a:ln w="12700">
            <a:solidFill>
              <a:srgbClr val="75DFBC"/>
            </a:solidFill>
            <a:prstDash val="solid"/>
          </a:ln>
        </p:spPr>
        <p:txBody>
          <a:bodyPr/>
          <a:lstStyle/>
          <a:p>
            <a:endParaRPr lang="en-US" sz="2800"/>
          </a:p>
        </p:txBody>
      </p:sp>
      <p:sp>
        <p:nvSpPr>
          <p:cNvPr id="6" name="Text 4"/>
          <p:cNvSpPr/>
          <p:nvPr/>
        </p:nvSpPr>
        <p:spPr>
          <a:xfrm>
            <a:off x="822960" y="3050594"/>
            <a:ext cx="2743200" cy="365760"/>
          </a:xfrm>
          <a:prstGeom prst="rect">
            <a:avLst/>
          </a:prstGeom>
          <a:noFill/>
          <a:ln/>
        </p:spPr>
        <p:txBody>
          <a:bodyPr wrap="square" lIns="0" tIns="0" rIns="0" bIns="0" rtlCol="0" anchor="ctr"/>
          <a:lstStyle/>
          <a:p>
            <a:pPr marL="0" indent="0" algn="l">
              <a:buNone/>
            </a:pPr>
            <a:r>
              <a:rPr lang="en-US" b="1" dirty="0">
                <a:solidFill>
                  <a:srgbClr val="75DFBC"/>
                </a:solidFill>
                <a:latin typeface="Courier New" pitchFamily="34" charset="0"/>
                <a:ea typeface="Courier New" pitchFamily="34" charset="-122"/>
                <a:cs typeface="Courier New" pitchFamily="34" charset="-120"/>
              </a:rPr>
              <a:t>reset.css</a:t>
            </a:r>
            <a:endParaRPr lang="en-US" dirty="0"/>
          </a:p>
        </p:txBody>
      </p:sp>
      <p:sp>
        <p:nvSpPr>
          <p:cNvPr id="7" name="Text 5"/>
          <p:cNvSpPr/>
          <p:nvPr/>
        </p:nvSpPr>
        <p:spPr>
          <a:xfrm>
            <a:off x="822960" y="3553514"/>
            <a:ext cx="2743200" cy="731520"/>
          </a:xfrm>
          <a:prstGeom prst="rect">
            <a:avLst/>
          </a:prstGeom>
          <a:noFill/>
          <a:ln/>
        </p:spPr>
        <p:txBody>
          <a:bodyPr wrap="square" lIns="0" tIns="0" rIns="0" bIns="0" rtlCol="0" anchor="t"/>
          <a:lstStyle/>
          <a:p>
            <a:pPr marL="0" indent="0" algn="l">
              <a:lnSpc>
                <a:spcPct val="110000"/>
              </a:lnSpc>
              <a:buNone/>
            </a:pPr>
            <a:r>
              <a:rPr lang="en-US" dirty="0">
                <a:solidFill>
                  <a:srgbClr val="A6A6A6"/>
                </a:solidFill>
                <a:latin typeface="Courier New" pitchFamily="34" charset="0"/>
                <a:ea typeface="Courier New" pitchFamily="34" charset="-122"/>
                <a:cs typeface="Courier New" pitchFamily="34" charset="-120"/>
              </a:rPr>
              <a:t>* { margin: 0 }</a:t>
            </a:r>
            <a:endParaRPr lang="en-US" dirty="0"/>
          </a:p>
        </p:txBody>
      </p:sp>
      <p:sp>
        <p:nvSpPr>
          <p:cNvPr id="8" name="Text 6"/>
          <p:cNvSpPr/>
          <p:nvPr/>
        </p:nvSpPr>
        <p:spPr>
          <a:xfrm>
            <a:off x="3813048" y="3370634"/>
            <a:ext cx="420624" cy="457200"/>
          </a:xfrm>
          <a:prstGeom prst="rect">
            <a:avLst/>
          </a:prstGeom>
          <a:noFill/>
          <a:ln/>
        </p:spPr>
        <p:txBody>
          <a:bodyPr wrap="square" lIns="0" tIns="0" rIns="0" bIns="0" rtlCol="0" anchor="ctr"/>
          <a:lstStyle/>
          <a:p>
            <a:pPr marL="0" indent="0" algn="ctr">
              <a:buNone/>
            </a:pPr>
            <a:r>
              <a:rPr lang="en-US" sz="3600" b="1" dirty="0">
                <a:solidFill>
                  <a:srgbClr val="6E6E6E"/>
                </a:solidFill>
                <a:latin typeface="Arial" pitchFamily="34" charset="0"/>
                <a:ea typeface="Arial" pitchFamily="34" charset="-122"/>
                <a:cs typeface="Arial" pitchFamily="34" charset="-120"/>
              </a:rPr>
              <a:t>→</a:t>
            </a:r>
            <a:endParaRPr lang="en-US" sz="3600" dirty="0"/>
          </a:p>
        </p:txBody>
      </p:sp>
      <p:sp>
        <p:nvSpPr>
          <p:cNvPr id="9" name="Shape 7"/>
          <p:cNvSpPr/>
          <p:nvPr/>
        </p:nvSpPr>
        <p:spPr>
          <a:xfrm>
            <a:off x="4251960" y="2867714"/>
            <a:ext cx="3200400" cy="1554480"/>
          </a:xfrm>
          <a:prstGeom prst="roundRect">
            <a:avLst>
              <a:gd name="adj" fmla="val 7059"/>
            </a:avLst>
          </a:prstGeom>
          <a:solidFill>
            <a:srgbClr val="2C2B2B"/>
          </a:solidFill>
          <a:ln w="12700">
            <a:solidFill>
              <a:srgbClr val="F1CF25"/>
            </a:solidFill>
            <a:prstDash val="solid"/>
          </a:ln>
        </p:spPr>
        <p:txBody>
          <a:bodyPr/>
          <a:lstStyle/>
          <a:p>
            <a:endParaRPr lang="en-US" sz="2800"/>
          </a:p>
        </p:txBody>
      </p:sp>
      <p:sp>
        <p:nvSpPr>
          <p:cNvPr id="10" name="Text 8"/>
          <p:cNvSpPr/>
          <p:nvPr/>
        </p:nvSpPr>
        <p:spPr>
          <a:xfrm>
            <a:off x="4480560" y="3050594"/>
            <a:ext cx="2743200" cy="365760"/>
          </a:xfrm>
          <a:prstGeom prst="rect">
            <a:avLst/>
          </a:prstGeom>
          <a:noFill/>
          <a:ln/>
        </p:spPr>
        <p:txBody>
          <a:bodyPr wrap="square" lIns="0" tIns="0" rIns="0" bIns="0" rtlCol="0" anchor="ctr"/>
          <a:lstStyle/>
          <a:p>
            <a:pPr marL="0" indent="0" algn="l">
              <a:buNone/>
            </a:pPr>
            <a:r>
              <a:rPr lang="en-US" b="1" dirty="0">
                <a:solidFill>
                  <a:srgbClr val="F1CF25"/>
                </a:solidFill>
                <a:latin typeface="Courier New" pitchFamily="34" charset="0"/>
                <a:ea typeface="Courier New" pitchFamily="34" charset="-122"/>
                <a:cs typeface="Courier New" pitchFamily="34" charset="-120"/>
              </a:rPr>
              <a:t>buttons.css</a:t>
            </a:r>
            <a:endParaRPr lang="en-US" dirty="0"/>
          </a:p>
        </p:txBody>
      </p:sp>
      <p:sp>
        <p:nvSpPr>
          <p:cNvPr id="11" name="Text 9"/>
          <p:cNvSpPr/>
          <p:nvPr/>
        </p:nvSpPr>
        <p:spPr>
          <a:xfrm>
            <a:off x="4480560" y="3553514"/>
            <a:ext cx="2743200" cy="731520"/>
          </a:xfrm>
          <a:prstGeom prst="rect">
            <a:avLst/>
          </a:prstGeom>
          <a:noFill/>
          <a:ln/>
        </p:spPr>
        <p:txBody>
          <a:bodyPr wrap="square" lIns="0" tIns="0" rIns="0" bIns="0" rtlCol="0" anchor="t"/>
          <a:lstStyle/>
          <a:p>
            <a:pPr marL="0" indent="0" algn="l">
              <a:lnSpc>
                <a:spcPct val="110000"/>
              </a:lnSpc>
              <a:buNone/>
            </a:pPr>
            <a:r>
              <a:rPr lang="en-US" dirty="0">
                <a:solidFill>
                  <a:srgbClr val="A6A6A6"/>
                </a:solidFill>
                <a:latin typeface="Courier New" pitchFamily="34" charset="0"/>
                <a:ea typeface="Courier New" pitchFamily="34" charset="-122"/>
                <a:cs typeface="Courier New" pitchFamily="34" charset="-120"/>
              </a:rPr>
              <a:t>button { padding: 8px }</a:t>
            </a:r>
            <a:endParaRPr lang="en-US" dirty="0"/>
          </a:p>
        </p:txBody>
      </p:sp>
      <p:sp>
        <p:nvSpPr>
          <p:cNvPr id="12" name="Text 10"/>
          <p:cNvSpPr/>
          <p:nvPr/>
        </p:nvSpPr>
        <p:spPr>
          <a:xfrm>
            <a:off x="7470648" y="3370634"/>
            <a:ext cx="420624" cy="457200"/>
          </a:xfrm>
          <a:prstGeom prst="rect">
            <a:avLst/>
          </a:prstGeom>
          <a:noFill/>
          <a:ln/>
        </p:spPr>
        <p:txBody>
          <a:bodyPr wrap="square" lIns="0" tIns="0" rIns="0" bIns="0" rtlCol="0" anchor="ctr"/>
          <a:lstStyle/>
          <a:p>
            <a:pPr marL="0" indent="0" algn="ctr">
              <a:buNone/>
            </a:pPr>
            <a:r>
              <a:rPr lang="en-US" sz="3600" b="1" dirty="0">
                <a:solidFill>
                  <a:srgbClr val="6E6E6E"/>
                </a:solidFill>
                <a:latin typeface="Arial" pitchFamily="34" charset="0"/>
                <a:ea typeface="Arial" pitchFamily="34" charset="-122"/>
                <a:cs typeface="Arial" pitchFamily="34" charset="-120"/>
              </a:rPr>
              <a:t>→</a:t>
            </a:r>
            <a:endParaRPr lang="en-US" sz="3600" dirty="0"/>
          </a:p>
        </p:txBody>
      </p:sp>
      <p:sp>
        <p:nvSpPr>
          <p:cNvPr id="13" name="Shape 11"/>
          <p:cNvSpPr/>
          <p:nvPr/>
        </p:nvSpPr>
        <p:spPr>
          <a:xfrm>
            <a:off x="7909560" y="2867714"/>
            <a:ext cx="3200400" cy="1554480"/>
          </a:xfrm>
          <a:prstGeom prst="roundRect">
            <a:avLst>
              <a:gd name="adj" fmla="val 7059"/>
            </a:avLst>
          </a:prstGeom>
          <a:solidFill>
            <a:srgbClr val="2C2B2B"/>
          </a:solidFill>
          <a:ln w="12700">
            <a:solidFill>
              <a:srgbClr val="FF6A4C"/>
            </a:solidFill>
            <a:prstDash val="solid"/>
          </a:ln>
        </p:spPr>
        <p:txBody>
          <a:bodyPr/>
          <a:lstStyle/>
          <a:p>
            <a:endParaRPr lang="en-US" sz="2800"/>
          </a:p>
        </p:txBody>
      </p:sp>
      <p:sp>
        <p:nvSpPr>
          <p:cNvPr id="14" name="Text 12"/>
          <p:cNvSpPr/>
          <p:nvPr/>
        </p:nvSpPr>
        <p:spPr>
          <a:xfrm>
            <a:off x="8138160" y="3050594"/>
            <a:ext cx="2743200" cy="365760"/>
          </a:xfrm>
          <a:prstGeom prst="rect">
            <a:avLst/>
          </a:prstGeom>
          <a:noFill/>
          <a:ln/>
        </p:spPr>
        <p:txBody>
          <a:bodyPr wrap="square" lIns="0" tIns="0" rIns="0" bIns="0" rtlCol="0" anchor="ctr"/>
          <a:lstStyle/>
          <a:p>
            <a:pPr marL="0" indent="0" algn="l">
              <a:buNone/>
            </a:pPr>
            <a:r>
              <a:rPr lang="en-US" b="1" dirty="0">
                <a:solidFill>
                  <a:srgbClr val="FF6A4C"/>
                </a:solidFill>
                <a:latin typeface="Courier New" pitchFamily="34" charset="0"/>
                <a:ea typeface="Courier New" pitchFamily="34" charset="-122"/>
                <a:cs typeface="Courier New" pitchFamily="34" charset="-120"/>
              </a:rPr>
              <a:t>card.css</a:t>
            </a:r>
            <a:endParaRPr lang="en-US" dirty="0"/>
          </a:p>
        </p:txBody>
      </p:sp>
      <p:sp>
        <p:nvSpPr>
          <p:cNvPr id="15" name="Text 13"/>
          <p:cNvSpPr/>
          <p:nvPr/>
        </p:nvSpPr>
        <p:spPr>
          <a:xfrm>
            <a:off x="8138160" y="3553514"/>
            <a:ext cx="2743200" cy="731520"/>
          </a:xfrm>
          <a:prstGeom prst="rect">
            <a:avLst/>
          </a:prstGeom>
          <a:noFill/>
          <a:ln/>
        </p:spPr>
        <p:txBody>
          <a:bodyPr wrap="square" lIns="0" tIns="0" rIns="0" bIns="0" rtlCol="0" anchor="t"/>
          <a:lstStyle/>
          <a:p>
            <a:pPr marL="0" indent="0" algn="l">
              <a:lnSpc>
                <a:spcPct val="110000"/>
              </a:lnSpc>
              <a:buNone/>
            </a:pPr>
            <a:r>
              <a:rPr lang="en-US" dirty="0">
                <a:solidFill>
                  <a:srgbClr val="A6A6A6"/>
                </a:solidFill>
                <a:latin typeface="Courier New" pitchFamily="34" charset="0"/>
                <a:ea typeface="Courier New" pitchFamily="34" charset="-122"/>
                <a:cs typeface="Courier New" pitchFamily="34" charset="-120"/>
              </a:rPr>
              <a:t>…relies on both 👆</a:t>
            </a:r>
            <a:endParaRPr lang="en-US" dirty="0"/>
          </a:p>
        </p:txBody>
      </p:sp>
      <p:sp>
        <p:nvSpPr>
          <p:cNvPr id="16" name="Text 14"/>
          <p:cNvSpPr/>
          <p:nvPr/>
        </p:nvSpPr>
        <p:spPr>
          <a:xfrm>
            <a:off x="594512" y="5047488"/>
            <a:ext cx="11002975" cy="731520"/>
          </a:xfrm>
          <a:prstGeom prst="rect">
            <a:avLst/>
          </a:prstGeom>
          <a:noFill/>
          <a:ln/>
        </p:spPr>
        <p:txBody>
          <a:bodyPr wrap="square" lIns="0" tIns="0" rIns="0" bIns="0" rtlCol="0" anchor="ctr"/>
          <a:lstStyle/>
          <a:p>
            <a:pPr marL="0" indent="0" algn="l">
              <a:lnSpc>
                <a:spcPct val="105000"/>
              </a:lnSpc>
              <a:buNone/>
            </a:pPr>
            <a:r>
              <a:rPr lang="en-US" sz="1700" dirty="0">
                <a:solidFill>
                  <a:srgbClr val="A6A6A6"/>
                </a:solidFill>
                <a:latin typeface="Arial" pitchFamily="34" charset="0"/>
                <a:ea typeface="Arial" pitchFamily="34" charset="-122"/>
                <a:cs typeface="Arial" pitchFamily="34" charset="-120"/>
              </a:rPr>
              <a:t>Edit one rule here → break a component three files away. Non-local effects are the worst case for a bounded context window.</a:t>
            </a:r>
            <a:endParaRPr lang="en-US" sz="1700" dirty="0"/>
          </a:p>
        </p:txBody>
      </p:sp>
      <p:sp>
        <p:nvSpPr>
          <p:cNvPr id="17" name="Text 15"/>
          <p:cNvSpPr/>
          <p:nvPr/>
        </p:nvSpPr>
        <p:spPr>
          <a:xfrm>
            <a:off x="594360" y="6419088"/>
            <a:ext cx="8229600" cy="274320"/>
          </a:xfrm>
          <a:prstGeom prst="rect">
            <a:avLst/>
          </a:prstGeom>
          <a:noFill/>
          <a:ln/>
        </p:spPr>
        <p:txBody>
          <a:bodyPr wrap="square" lIns="0" tIns="0" rIns="0" bIns="0" rtlCol="0" anchor="ctr"/>
          <a:lstStyle/>
          <a:p>
            <a:pPr marL="0" indent="0" algn="l">
              <a:buNone/>
            </a:pPr>
            <a:r>
              <a:rPr lang="en-US" sz="900" dirty="0">
                <a:solidFill>
                  <a:srgbClr val="6E6E6E"/>
                </a:solidFill>
                <a:latin typeface="Arial" pitchFamily="34" charset="0"/>
                <a:ea typeface="Arial" pitchFamily="34" charset="-122"/>
                <a:cs typeface="Arial" pitchFamily="34" charset="-120"/>
              </a:rPr>
              <a:t>Why LLMs &amp; JS frameworks love Tailwind CSS</a:t>
            </a:r>
            <a:endParaRPr lang="en-US" sz="900" dirty="0"/>
          </a:p>
        </p:txBody>
      </p:sp>
      <p:sp>
        <p:nvSpPr>
          <p:cNvPr id="18" name="Text 16"/>
          <p:cNvSpPr/>
          <p:nvPr/>
        </p:nvSpPr>
        <p:spPr>
          <a:xfrm>
            <a:off x="10134295" y="6419088"/>
            <a:ext cx="1463040" cy="274320"/>
          </a:xfrm>
          <a:prstGeom prst="rect">
            <a:avLst/>
          </a:prstGeom>
          <a:noFill/>
          <a:ln/>
        </p:spPr>
        <p:txBody>
          <a:bodyPr wrap="square" lIns="0" tIns="0" rIns="0" bIns="0" rtlCol="0" anchor="ctr"/>
          <a:lstStyle/>
          <a:p>
            <a:pPr marL="0" indent="0" algn="r">
              <a:buNone/>
            </a:pPr>
            <a:r>
              <a:rPr lang="en-US" sz="900" dirty="0">
                <a:solidFill>
                  <a:srgbClr val="6E6E6E"/>
                </a:solidFill>
                <a:latin typeface="Arial" pitchFamily="34" charset="0"/>
                <a:ea typeface="Arial" pitchFamily="34" charset="-122"/>
                <a:cs typeface="Arial" pitchFamily="34" charset="-120"/>
              </a:rPr>
              <a:t>9 / 29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222121"/>
        </a:solidFill>
        <a:effectLst/>
      </p:bgPr>
    </p:bg>
    <p:spTree>
      <p:nvGrpSpPr>
        <p:cNvPr id="1" name=""/>
        <p:cNvGrpSpPr/>
        <p:nvPr/>
      </p:nvGrpSpPr>
      <p:grpSpPr>
        <a:xfrm>
          <a:off x="0" y="0"/>
          <a:ext cx="0" cy="0"/>
          <a:chOff x="0" y="0"/>
          <a:chExt cx="0" cy="0"/>
        </a:xfrm>
      </p:grpSpPr>
      <p:sp>
        <p:nvSpPr>
          <p:cNvPr id="2" name="Text 0"/>
          <p:cNvSpPr/>
          <p:nvPr/>
        </p:nvSpPr>
        <p:spPr>
          <a:xfrm>
            <a:off x="594360" y="502920"/>
            <a:ext cx="11002975" cy="274320"/>
          </a:xfrm>
          <a:prstGeom prst="rect">
            <a:avLst/>
          </a:prstGeom>
          <a:noFill/>
          <a:ln/>
        </p:spPr>
        <p:txBody>
          <a:bodyPr wrap="square" lIns="0" tIns="0" rIns="0" bIns="0" rtlCol="0" anchor="ctr"/>
          <a:lstStyle/>
          <a:p>
            <a:pPr marL="0" indent="0" algn="l">
              <a:buNone/>
            </a:pPr>
            <a:r>
              <a:rPr lang="en-US" sz="1200" b="1" kern="0" spc="300" dirty="0">
                <a:solidFill>
                  <a:srgbClr val="FF6A4C"/>
                </a:solidFill>
                <a:latin typeface="Arial" pitchFamily="34" charset="0"/>
                <a:ea typeface="Arial" pitchFamily="34" charset="-122"/>
                <a:cs typeface="Arial" pitchFamily="34" charset="-120"/>
              </a:rPr>
              <a:t>FRICTION #3</a:t>
            </a:r>
            <a:endParaRPr lang="en-US" sz="1200" dirty="0"/>
          </a:p>
        </p:txBody>
      </p:sp>
      <p:sp>
        <p:nvSpPr>
          <p:cNvPr id="3" name="Text 1"/>
          <p:cNvSpPr/>
          <p:nvPr/>
        </p:nvSpPr>
        <p:spPr>
          <a:xfrm>
            <a:off x="594360" y="868680"/>
            <a:ext cx="11002975" cy="1463040"/>
          </a:xfrm>
          <a:prstGeom prst="rect">
            <a:avLst/>
          </a:prstGeom>
          <a:noFill/>
          <a:ln/>
        </p:spPr>
        <p:txBody>
          <a:bodyPr wrap="square" lIns="0" tIns="0" rIns="0" bIns="0" rtlCol="0" anchor="t"/>
          <a:lstStyle/>
          <a:p>
            <a:pPr marL="0" indent="0" algn="l">
              <a:lnSpc>
                <a:spcPct val="102000"/>
              </a:lnSpc>
              <a:buNone/>
            </a:pPr>
            <a:r>
              <a:rPr lang="en-US" sz="3000" b="1" dirty="0">
                <a:solidFill>
                  <a:srgbClr val="FFFFFF"/>
                </a:solidFill>
                <a:latin typeface="Arial" pitchFamily="34" charset="0"/>
                <a:ea typeface="Arial" pitchFamily="34" charset="-122"/>
                <a:cs typeface="Arial" pitchFamily="34" charset="-120"/>
              </a:rPr>
              <a:t>Separation of concerns</a:t>
            </a:r>
            <a:endParaRPr lang="en-US" sz="3000" dirty="0"/>
          </a:p>
          <a:p>
            <a:pPr marL="0" indent="0" algn="l">
              <a:lnSpc>
                <a:spcPct val="102000"/>
              </a:lnSpc>
              <a:buNone/>
            </a:pPr>
            <a:r>
              <a:rPr lang="en-US" sz="3000" b="1" dirty="0">
                <a:solidFill>
                  <a:srgbClr val="FFFFFF"/>
                </a:solidFill>
                <a:latin typeface="Arial" pitchFamily="34" charset="0"/>
                <a:ea typeface="Arial" pitchFamily="34" charset="-122"/>
                <a:cs typeface="Arial" pitchFamily="34" charset="-120"/>
              </a:rPr>
              <a:t>became separation of context</a:t>
            </a:r>
            <a:endParaRPr lang="en-US" sz="3000" dirty="0"/>
          </a:p>
        </p:txBody>
      </p:sp>
      <p:sp>
        <p:nvSpPr>
          <p:cNvPr id="4" name="Shape 2"/>
          <p:cNvSpPr/>
          <p:nvPr/>
        </p:nvSpPr>
        <p:spPr>
          <a:xfrm>
            <a:off x="594359" y="2651760"/>
            <a:ext cx="5028227" cy="2194560"/>
          </a:xfrm>
          <a:prstGeom prst="roundRect">
            <a:avLst>
              <a:gd name="adj" fmla="val 5000"/>
            </a:avLst>
          </a:prstGeom>
          <a:solidFill>
            <a:srgbClr val="2C2B2B"/>
          </a:solidFill>
          <a:ln w="12700">
            <a:solidFill>
              <a:srgbClr val="3A3A3A"/>
            </a:solidFill>
            <a:prstDash val="solid"/>
          </a:ln>
        </p:spPr>
        <p:txBody>
          <a:bodyPr/>
          <a:lstStyle/>
          <a:p>
            <a:endParaRPr lang="en-US" sz="2400"/>
          </a:p>
        </p:txBody>
      </p:sp>
      <p:sp>
        <p:nvSpPr>
          <p:cNvPr id="5" name="Text 3"/>
          <p:cNvSpPr/>
          <p:nvPr/>
        </p:nvSpPr>
        <p:spPr>
          <a:xfrm>
            <a:off x="868680" y="2834640"/>
            <a:ext cx="4297680" cy="365760"/>
          </a:xfrm>
          <a:prstGeom prst="rect">
            <a:avLst/>
          </a:prstGeom>
          <a:noFill/>
          <a:ln/>
        </p:spPr>
        <p:txBody>
          <a:bodyPr wrap="square" lIns="0" tIns="0" rIns="0" bIns="0" rtlCol="0" anchor="ctr"/>
          <a:lstStyle/>
          <a:p>
            <a:pPr marL="0" indent="0" algn="l">
              <a:buNone/>
            </a:pPr>
            <a:r>
              <a:rPr lang="en-US" sz="1600" b="1" dirty="0">
                <a:solidFill>
                  <a:srgbClr val="75DFBC"/>
                </a:solidFill>
                <a:latin typeface="Courier New" pitchFamily="34" charset="0"/>
                <a:ea typeface="Courier New" pitchFamily="34" charset="-122"/>
                <a:cs typeface="Courier New" pitchFamily="34" charset="-120"/>
              </a:rPr>
              <a:t>Component.tsx</a:t>
            </a:r>
            <a:endParaRPr lang="en-US" sz="1600" dirty="0"/>
          </a:p>
        </p:txBody>
      </p:sp>
      <p:sp>
        <p:nvSpPr>
          <p:cNvPr id="6" name="Text 4"/>
          <p:cNvSpPr/>
          <p:nvPr/>
        </p:nvSpPr>
        <p:spPr>
          <a:xfrm>
            <a:off x="868680" y="3383280"/>
            <a:ext cx="4500988" cy="731520"/>
          </a:xfrm>
          <a:prstGeom prst="rect">
            <a:avLst/>
          </a:prstGeom>
          <a:noFill/>
          <a:ln/>
        </p:spPr>
        <p:txBody>
          <a:bodyPr wrap="square" lIns="0" tIns="0" rIns="0" bIns="0" rtlCol="0" anchor="t"/>
          <a:lstStyle/>
          <a:p>
            <a:pPr marL="0" indent="0" algn="l">
              <a:buNone/>
            </a:pPr>
            <a:r>
              <a:rPr lang="en-US" dirty="0">
                <a:solidFill>
                  <a:srgbClr val="D8D8D8"/>
                </a:solidFill>
                <a:latin typeface="Courier New" pitchFamily="34" charset="0"/>
                <a:ea typeface="Courier New" pitchFamily="34" charset="-122"/>
                <a:cs typeface="Courier New" pitchFamily="34" charset="-120"/>
              </a:rPr>
              <a:t>&lt;div className=</a:t>
            </a:r>
            <a:r>
              <a:rPr lang="en-US" dirty="0">
                <a:solidFill>
                  <a:srgbClr val="F1CF25"/>
                </a:solidFill>
                <a:latin typeface="Courier New" pitchFamily="34" charset="0"/>
                <a:ea typeface="Courier New" pitchFamily="34" charset="-122"/>
                <a:cs typeface="Courier New" pitchFamily="34" charset="-120"/>
              </a:rPr>
              <a:t>"card--featured"</a:t>
            </a:r>
            <a:r>
              <a:rPr lang="en-US" dirty="0">
                <a:solidFill>
                  <a:srgbClr val="D8D8D8"/>
                </a:solidFill>
                <a:latin typeface="Courier New" pitchFamily="34" charset="0"/>
                <a:ea typeface="Courier New" pitchFamily="34" charset="-122"/>
                <a:cs typeface="Courier New" pitchFamily="34" charset="-120"/>
              </a:rPr>
              <a:t>&gt;</a:t>
            </a:r>
            <a:endParaRPr lang="en-US" dirty="0"/>
          </a:p>
        </p:txBody>
      </p:sp>
      <p:sp>
        <p:nvSpPr>
          <p:cNvPr id="7" name="Text 5"/>
          <p:cNvSpPr/>
          <p:nvPr/>
        </p:nvSpPr>
        <p:spPr>
          <a:xfrm>
            <a:off x="5486400" y="3383280"/>
            <a:ext cx="1188720" cy="640080"/>
          </a:xfrm>
          <a:prstGeom prst="rect">
            <a:avLst/>
          </a:prstGeom>
          <a:noFill/>
          <a:ln/>
        </p:spPr>
        <p:txBody>
          <a:bodyPr wrap="square" lIns="0" tIns="0" rIns="0" bIns="0" rtlCol="0" anchor="ctr"/>
          <a:lstStyle/>
          <a:p>
            <a:pPr marL="0" indent="0" algn="ctr">
              <a:buNone/>
            </a:pPr>
            <a:r>
              <a:rPr lang="en-US" sz="3600" dirty="0">
                <a:solidFill>
                  <a:srgbClr val="000000"/>
                </a:solidFill>
                <a:latin typeface="Arial" pitchFamily="34" charset="0"/>
                <a:ea typeface="Arial" pitchFamily="34" charset="-122"/>
                <a:cs typeface="Arial" pitchFamily="34" charset="-120"/>
              </a:rPr>
              <a:t>🔗</a:t>
            </a:r>
            <a:endParaRPr lang="en-US" sz="3600" dirty="0"/>
          </a:p>
        </p:txBody>
      </p:sp>
      <p:sp>
        <p:nvSpPr>
          <p:cNvPr id="8" name="Shape 6"/>
          <p:cNvSpPr/>
          <p:nvPr/>
        </p:nvSpPr>
        <p:spPr>
          <a:xfrm>
            <a:off x="6566365" y="2651760"/>
            <a:ext cx="5028227" cy="2194560"/>
          </a:xfrm>
          <a:prstGeom prst="roundRect">
            <a:avLst>
              <a:gd name="adj" fmla="val 5000"/>
            </a:avLst>
          </a:prstGeom>
          <a:solidFill>
            <a:srgbClr val="2C2B2B"/>
          </a:solidFill>
          <a:ln w="12700">
            <a:solidFill>
              <a:srgbClr val="3A3A3A"/>
            </a:solidFill>
            <a:prstDash val="solid"/>
          </a:ln>
        </p:spPr>
        <p:txBody>
          <a:bodyPr/>
          <a:lstStyle/>
          <a:p>
            <a:endParaRPr lang="en-US" sz="2400"/>
          </a:p>
        </p:txBody>
      </p:sp>
      <p:sp>
        <p:nvSpPr>
          <p:cNvPr id="9" name="Text 7"/>
          <p:cNvSpPr/>
          <p:nvPr/>
        </p:nvSpPr>
        <p:spPr>
          <a:xfrm>
            <a:off x="7040880" y="2834640"/>
            <a:ext cx="4297680" cy="365760"/>
          </a:xfrm>
          <a:prstGeom prst="rect">
            <a:avLst/>
          </a:prstGeom>
          <a:noFill/>
          <a:ln/>
        </p:spPr>
        <p:txBody>
          <a:bodyPr wrap="square" lIns="0" tIns="0" rIns="0" bIns="0" rtlCol="0" anchor="ctr"/>
          <a:lstStyle/>
          <a:p>
            <a:pPr marL="0" indent="0" algn="l">
              <a:buNone/>
            </a:pPr>
            <a:r>
              <a:rPr lang="en-US" sz="1600" b="1" dirty="0">
                <a:solidFill>
                  <a:srgbClr val="F1CF25"/>
                </a:solidFill>
                <a:latin typeface="Courier New" pitchFamily="34" charset="0"/>
                <a:ea typeface="Courier New" pitchFamily="34" charset="-122"/>
                <a:cs typeface="Courier New" pitchFamily="34" charset="-120"/>
              </a:rPr>
              <a:t>styles.css</a:t>
            </a:r>
            <a:endParaRPr lang="en-US" sz="1600" dirty="0"/>
          </a:p>
        </p:txBody>
      </p:sp>
      <p:sp>
        <p:nvSpPr>
          <p:cNvPr id="10" name="Text 8"/>
          <p:cNvSpPr/>
          <p:nvPr/>
        </p:nvSpPr>
        <p:spPr>
          <a:xfrm>
            <a:off x="7040880" y="3383280"/>
            <a:ext cx="4297680" cy="731520"/>
          </a:xfrm>
          <a:prstGeom prst="rect">
            <a:avLst/>
          </a:prstGeom>
          <a:noFill/>
          <a:ln/>
        </p:spPr>
        <p:txBody>
          <a:bodyPr wrap="square" lIns="0" tIns="0" rIns="0" bIns="0" rtlCol="0" anchor="t"/>
          <a:lstStyle/>
          <a:p>
            <a:pPr marL="0" indent="0" algn="l">
              <a:buNone/>
            </a:pPr>
            <a:r>
              <a:rPr lang="en-US" dirty="0">
                <a:solidFill>
                  <a:srgbClr val="F1CF25"/>
                </a:solidFill>
                <a:latin typeface="Courier New" pitchFamily="34" charset="0"/>
                <a:ea typeface="Courier New" pitchFamily="34" charset="-122"/>
                <a:cs typeface="Courier New" pitchFamily="34" charset="-120"/>
              </a:rPr>
              <a:t>.card--featured</a:t>
            </a:r>
            <a:r>
              <a:rPr lang="en-US" dirty="0">
                <a:solidFill>
                  <a:srgbClr val="D8D8D8"/>
                </a:solidFill>
                <a:latin typeface="Courier New" pitchFamily="34" charset="0"/>
                <a:ea typeface="Courier New" pitchFamily="34" charset="-122"/>
                <a:cs typeface="Courier New" pitchFamily="34" charset="-120"/>
              </a:rPr>
              <a:t> { … }</a:t>
            </a:r>
            <a:endParaRPr lang="en-US" dirty="0"/>
          </a:p>
        </p:txBody>
      </p:sp>
      <p:sp>
        <p:nvSpPr>
          <p:cNvPr id="11" name="Text 9"/>
          <p:cNvSpPr/>
          <p:nvPr/>
        </p:nvSpPr>
        <p:spPr>
          <a:xfrm>
            <a:off x="594360" y="5532120"/>
            <a:ext cx="11002975" cy="731520"/>
          </a:xfrm>
          <a:prstGeom prst="rect">
            <a:avLst/>
          </a:prstGeom>
          <a:noFill/>
          <a:ln/>
        </p:spPr>
        <p:txBody>
          <a:bodyPr wrap="square" lIns="0" tIns="0" rIns="0" bIns="0" rtlCol="0" anchor="ctr"/>
          <a:lstStyle/>
          <a:p>
            <a:pPr marL="0" indent="0" algn="l">
              <a:lnSpc>
                <a:spcPct val="105000"/>
              </a:lnSpc>
              <a:buNone/>
            </a:pPr>
            <a:r>
              <a:rPr lang="en-US" sz="2000" dirty="0">
                <a:solidFill>
                  <a:srgbClr val="A6A6A6"/>
                </a:solidFill>
                <a:latin typeface="Arial" pitchFamily="34" charset="0"/>
                <a:ea typeface="Arial" pitchFamily="34" charset="-122"/>
                <a:cs typeface="Arial" pitchFamily="34" charset="-120"/>
              </a:rPr>
              <a:t>Two files, joined only by a magic string. To understand the component, you must hold both in your head, and so must the model.</a:t>
            </a:r>
            <a:endParaRPr lang="en-US" sz="2000" dirty="0"/>
          </a:p>
        </p:txBody>
      </p:sp>
      <p:sp>
        <p:nvSpPr>
          <p:cNvPr id="12" name="Text 10"/>
          <p:cNvSpPr/>
          <p:nvPr/>
        </p:nvSpPr>
        <p:spPr>
          <a:xfrm>
            <a:off x="594360" y="6419088"/>
            <a:ext cx="8229600" cy="274320"/>
          </a:xfrm>
          <a:prstGeom prst="rect">
            <a:avLst/>
          </a:prstGeom>
          <a:noFill/>
          <a:ln/>
        </p:spPr>
        <p:txBody>
          <a:bodyPr wrap="square" lIns="0" tIns="0" rIns="0" bIns="0" rtlCol="0" anchor="ctr"/>
          <a:lstStyle/>
          <a:p>
            <a:pPr marL="0" indent="0" algn="l">
              <a:buNone/>
            </a:pPr>
            <a:r>
              <a:rPr lang="en-US" sz="900" dirty="0">
                <a:solidFill>
                  <a:srgbClr val="6E6E6E"/>
                </a:solidFill>
                <a:latin typeface="Arial" pitchFamily="34" charset="0"/>
                <a:ea typeface="Arial" pitchFamily="34" charset="-122"/>
                <a:cs typeface="Arial" pitchFamily="34" charset="-120"/>
              </a:rPr>
              <a:t>Why LLMs &amp; JS frameworks love Tailwind CSS</a:t>
            </a:r>
            <a:endParaRPr lang="en-US" sz="900" dirty="0"/>
          </a:p>
        </p:txBody>
      </p:sp>
      <p:sp>
        <p:nvSpPr>
          <p:cNvPr id="13" name="Text 11"/>
          <p:cNvSpPr/>
          <p:nvPr/>
        </p:nvSpPr>
        <p:spPr>
          <a:xfrm>
            <a:off x="10134295" y="6419088"/>
            <a:ext cx="1463040" cy="274320"/>
          </a:xfrm>
          <a:prstGeom prst="rect">
            <a:avLst/>
          </a:prstGeom>
          <a:noFill/>
          <a:ln/>
        </p:spPr>
        <p:txBody>
          <a:bodyPr wrap="square" lIns="0" tIns="0" rIns="0" bIns="0" rtlCol="0" anchor="ctr"/>
          <a:lstStyle/>
          <a:p>
            <a:pPr marL="0" indent="0" algn="r">
              <a:buNone/>
            </a:pPr>
            <a:r>
              <a:rPr lang="en-US" sz="900" dirty="0">
                <a:solidFill>
                  <a:srgbClr val="6E6E6E"/>
                </a:solidFill>
                <a:latin typeface="Arial" pitchFamily="34" charset="0"/>
                <a:ea typeface="Arial" pitchFamily="34" charset="-122"/>
                <a:cs typeface="Arial" pitchFamily="34" charset="-120"/>
              </a:rPr>
              <a:t>10 / 29</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222121"/>
        </a:solidFill>
        <a:effectLst/>
      </p:bgPr>
    </p:bg>
    <p:spTree>
      <p:nvGrpSpPr>
        <p:cNvPr id="1" name=""/>
        <p:cNvGrpSpPr/>
        <p:nvPr/>
      </p:nvGrpSpPr>
      <p:grpSpPr>
        <a:xfrm>
          <a:off x="0" y="0"/>
          <a:ext cx="0" cy="0"/>
          <a:chOff x="0" y="0"/>
          <a:chExt cx="0" cy="0"/>
        </a:xfrm>
      </p:grpSpPr>
      <p:sp>
        <p:nvSpPr>
          <p:cNvPr id="2" name="Text 0"/>
          <p:cNvSpPr/>
          <p:nvPr/>
        </p:nvSpPr>
        <p:spPr>
          <a:xfrm>
            <a:off x="594360" y="502920"/>
            <a:ext cx="11002975" cy="274320"/>
          </a:xfrm>
          <a:prstGeom prst="rect">
            <a:avLst/>
          </a:prstGeom>
          <a:noFill/>
          <a:ln/>
        </p:spPr>
        <p:txBody>
          <a:bodyPr wrap="square" lIns="0" tIns="0" rIns="0" bIns="0" rtlCol="0" anchor="ctr"/>
          <a:lstStyle/>
          <a:p>
            <a:pPr marL="0" indent="0" algn="l">
              <a:buNone/>
            </a:pPr>
            <a:r>
              <a:rPr lang="en-US" sz="1200" b="1" kern="0" spc="300" dirty="0">
                <a:solidFill>
                  <a:srgbClr val="75DFBC"/>
                </a:solidFill>
                <a:latin typeface="Arial" pitchFamily="34" charset="0"/>
                <a:ea typeface="Arial" pitchFamily="34" charset="-122"/>
                <a:cs typeface="Arial" pitchFamily="34" charset="-120"/>
              </a:rPr>
              <a:t>THE FIX</a:t>
            </a:r>
            <a:endParaRPr lang="en-US" sz="1200" dirty="0"/>
          </a:p>
        </p:txBody>
      </p:sp>
      <p:sp>
        <p:nvSpPr>
          <p:cNvPr id="3" name="Text 1"/>
          <p:cNvSpPr/>
          <p:nvPr/>
        </p:nvSpPr>
        <p:spPr>
          <a:xfrm>
            <a:off x="594360" y="868680"/>
            <a:ext cx="11002975" cy="1005840"/>
          </a:xfrm>
          <a:prstGeom prst="rect">
            <a:avLst/>
          </a:prstGeom>
          <a:noFill/>
          <a:ln/>
        </p:spPr>
        <p:txBody>
          <a:bodyPr wrap="square" lIns="0" tIns="0" rIns="0" bIns="0" rtlCol="0" anchor="t"/>
          <a:lstStyle/>
          <a:p>
            <a:pPr marL="0" indent="0" algn="l">
              <a:lnSpc>
                <a:spcPct val="102000"/>
              </a:lnSpc>
              <a:buNone/>
            </a:pPr>
            <a:r>
              <a:rPr lang="en-US" sz="3400" b="1" dirty="0">
                <a:solidFill>
                  <a:srgbClr val="FFFFFF"/>
                </a:solidFill>
                <a:latin typeface="Arial" pitchFamily="34" charset="0"/>
                <a:ea typeface="Arial" pitchFamily="34" charset="-122"/>
                <a:cs typeface="Arial" pitchFamily="34" charset="-120"/>
              </a:rPr>
              <a:t>Tailwind = co-location</a:t>
            </a:r>
            <a:endParaRPr lang="en-US" sz="3400" dirty="0"/>
          </a:p>
        </p:txBody>
      </p:sp>
      <p:sp>
        <p:nvSpPr>
          <p:cNvPr id="4" name="Text 2"/>
          <p:cNvSpPr/>
          <p:nvPr/>
        </p:nvSpPr>
        <p:spPr>
          <a:xfrm>
            <a:off x="594360" y="1783080"/>
            <a:ext cx="11002975" cy="457200"/>
          </a:xfrm>
          <a:prstGeom prst="rect">
            <a:avLst/>
          </a:prstGeom>
          <a:noFill/>
          <a:ln/>
        </p:spPr>
        <p:txBody>
          <a:bodyPr wrap="square" lIns="0" tIns="0" rIns="0" bIns="0" rtlCol="0" anchor="ctr"/>
          <a:lstStyle/>
          <a:p>
            <a:pPr marL="0" indent="0" algn="l">
              <a:buNone/>
            </a:pPr>
            <a:r>
              <a:rPr lang="en-US" sz="2000" dirty="0">
                <a:solidFill>
                  <a:srgbClr val="A6A6A6"/>
                </a:solidFill>
                <a:latin typeface="Arial" pitchFamily="34" charset="0"/>
                <a:ea typeface="Arial" pitchFamily="34" charset="-122"/>
                <a:cs typeface="Arial" pitchFamily="34" charset="-120"/>
              </a:rPr>
              <a:t>Everything about the component, in one place.</a:t>
            </a:r>
            <a:endParaRPr lang="en-US" sz="2000" dirty="0"/>
          </a:p>
        </p:txBody>
      </p:sp>
      <p:sp>
        <p:nvSpPr>
          <p:cNvPr id="5" name="Shape 3"/>
          <p:cNvSpPr/>
          <p:nvPr/>
        </p:nvSpPr>
        <p:spPr>
          <a:xfrm>
            <a:off x="594360" y="2468880"/>
            <a:ext cx="11002975" cy="3307210"/>
          </a:xfrm>
          <a:prstGeom prst="roundRect">
            <a:avLst>
              <a:gd name="adj" fmla="val 2759"/>
            </a:avLst>
          </a:prstGeom>
          <a:solidFill>
            <a:srgbClr val="171717"/>
          </a:solidFill>
          <a:ln w="12700">
            <a:solidFill>
              <a:srgbClr val="3A3A3A"/>
            </a:solidFill>
            <a:prstDash val="solid"/>
          </a:ln>
        </p:spPr>
        <p:txBody>
          <a:bodyPr/>
          <a:lstStyle/>
          <a:p>
            <a:endParaRPr lang="en-US"/>
          </a:p>
        </p:txBody>
      </p:sp>
      <p:sp>
        <p:nvSpPr>
          <p:cNvPr id="6" name="Shape 4"/>
          <p:cNvSpPr/>
          <p:nvPr/>
        </p:nvSpPr>
        <p:spPr>
          <a:xfrm>
            <a:off x="813816" y="2651760"/>
            <a:ext cx="100584" cy="100584"/>
          </a:xfrm>
          <a:prstGeom prst="ellipse">
            <a:avLst/>
          </a:prstGeom>
          <a:solidFill>
            <a:srgbClr val="FF6A4C"/>
          </a:solidFill>
          <a:ln/>
        </p:spPr>
        <p:txBody>
          <a:bodyPr/>
          <a:lstStyle/>
          <a:p>
            <a:endParaRPr lang="en-US"/>
          </a:p>
        </p:txBody>
      </p:sp>
      <p:sp>
        <p:nvSpPr>
          <p:cNvPr id="7" name="Shape 5"/>
          <p:cNvSpPr/>
          <p:nvPr/>
        </p:nvSpPr>
        <p:spPr>
          <a:xfrm>
            <a:off x="1014984" y="2651760"/>
            <a:ext cx="100584" cy="100584"/>
          </a:xfrm>
          <a:prstGeom prst="ellipse">
            <a:avLst/>
          </a:prstGeom>
          <a:solidFill>
            <a:srgbClr val="F1CF25"/>
          </a:solidFill>
          <a:ln/>
        </p:spPr>
        <p:txBody>
          <a:bodyPr/>
          <a:lstStyle/>
          <a:p>
            <a:endParaRPr lang="en-US"/>
          </a:p>
        </p:txBody>
      </p:sp>
      <p:sp>
        <p:nvSpPr>
          <p:cNvPr id="8" name="Shape 6"/>
          <p:cNvSpPr/>
          <p:nvPr/>
        </p:nvSpPr>
        <p:spPr>
          <a:xfrm>
            <a:off x="1216152" y="2651760"/>
            <a:ext cx="100584" cy="100584"/>
          </a:xfrm>
          <a:prstGeom prst="ellipse">
            <a:avLst/>
          </a:prstGeom>
          <a:solidFill>
            <a:srgbClr val="75DFBC"/>
          </a:solidFill>
          <a:ln/>
        </p:spPr>
        <p:txBody>
          <a:bodyPr/>
          <a:lstStyle/>
          <a:p>
            <a:endParaRPr lang="en-US"/>
          </a:p>
        </p:txBody>
      </p:sp>
      <p:sp>
        <p:nvSpPr>
          <p:cNvPr id="9" name="Text 7"/>
          <p:cNvSpPr/>
          <p:nvPr/>
        </p:nvSpPr>
        <p:spPr>
          <a:xfrm>
            <a:off x="1508760" y="2542032"/>
            <a:ext cx="9905695" cy="292608"/>
          </a:xfrm>
          <a:prstGeom prst="rect">
            <a:avLst/>
          </a:prstGeom>
          <a:noFill/>
          <a:ln/>
        </p:spPr>
        <p:txBody>
          <a:bodyPr wrap="square" lIns="0" tIns="0" rIns="0" bIns="0" rtlCol="0" anchor="ctr"/>
          <a:lstStyle/>
          <a:p>
            <a:pPr marL="0" indent="0" algn="l">
              <a:buNone/>
            </a:pPr>
            <a:r>
              <a:rPr lang="en-US" sz="1600" dirty="0">
                <a:solidFill>
                  <a:srgbClr val="6E6E6E"/>
                </a:solidFill>
                <a:latin typeface="Courier New" pitchFamily="34" charset="0"/>
                <a:ea typeface="Courier New" pitchFamily="34" charset="-122"/>
                <a:cs typeface="Courier New" pitchFamily="34" charset="-120"/>
              </a:rPr>
              <a:t>PricingCard.tsx (the whole component)</a:t>
            </a:r>
            <a:endParaRPr lang="en-US" sz="1600" dirty="0"/>
          </a:p>
        </p:txBody>
      </p:sp>
      <p:sp>
        <p:nvSpPr>
          <p:cNvPr id="10" name="Text 8"/>
          <p:cNvSpPr/>
          <p:nvPr/>
        </p:nvSpPr>
        <p:spPr>
          <a:xfrm>
            <a:off x="886968" y="3017519"/>
            <a:ext cx="10417759" cy="2605067"/>
          </a:xfrm>
          <a:prstGeom prst="rect">
            <a:avLst/>
          </a:prstGeom>
          <a:noFill/>
          <a:ln/>
        </p:spPr>
        <p:txBody>
          <a:bodyPr wrap="square" lIns="0" tIns="0" rIns="0" bIns="0" rtlCol="0" anchor="t"/>
          <a:lstStyle/>
          <a:p>
            <a:pPr marL="0" indent="0" algn="l">
              <a:lnSpc>
                <a:spcPct val="115000"/>
              </a:lnSpc>
              <a:buNone/>
            </a:pPr>
            <a:r>
              <a:rPr lang="en-US" dirty="0">
                <a:solidFill>
                  <a:srgbClr val="6E6E6E"/>
                </a:solidFill>
                <a:latin typeface="Courier New" pitchFamily="34" charset="0"/>
                <a:ea typeface="Courier New" pitchFamily="34" charset="-122"/>
                <a:cs typeface="Courier New" pitchFamily="34" charset="-120"/>
              </a:rPr>
              <a:t>// no CSS file. no class names. no cascade.</a:t>
            </a:r>
            <a:endParaRPr lang="en-US" dirty="0"/>
          </a:p>
          <a:p>
            <a:pPr marL="0" indent="0" algn="l">
              <a:lnSpc>
                <a:spcPct val="115000"/>
              </a:lnSpc>
              <a:buNone/>
            </a:pPr>
            <a:endParaRPr lang="en-US" dirty="0"/>
          </a:p>
          <a:p>
            <a:pPr marL="0" indent="0" algn="l">
              <a:lnSpc>
                <a:spcPct val="115000"/>
              </a:lnSpc>
              <a:buNone/>
            </a:pPr>
            <a:r>
              <a:rPr lang="en-US" dirty="0">
                <a:solidFill>
                  <a:srgbClr val="9CDCFE"/>
                </a:solidFill>
                <a:latin typeface="Courier New" pitchFamily="34" charset="0"/>
                <a:ea typeface="Courier New" pitchFamily="34" charset="-122"/>
                <a:cs typeface="Courier New" pitchFamily="34" charset="-120"/>
              </a:rPr>
              <a:t>&lt;button</a:t>
            </a:r>
            <a:r>
              <a:rPr lang="en-US" dirty="0">
                <a:solidFill>
                  <a:srgbClr val="D8D8D8"/>
                </a:solidFill>
                <a:latin typeface="Courier New" pitchFamily="34" charset="0"/>
                <a:ea typeface="Courier New" pitchFamily="34" charset="-122"/>
                <a:cs typeface="Courier New" pitchFamily="34" charset="-120"/>
              </a:rPr>
              <a:t> className=</a:t>
            </a:r>
            <a:r>
              <a:rPr lang="en-US" dirty="0">
                <a:solidFill>
                  <a:srgbClr val="75DFBC"/>
                </a:solidFill>
                <a:latin typeface="Courier New" pitchFamily="34" charset="0"/>
                <a:ea typeface="Courier New" pitchFamily="34" charset="-122"/>
                <a:cs typeface="Courier New" pitchFamily="34" charset="-120"/>
              </a:rPr>
              <a:t>{cn(</a:t>
            </a:r>
            <a:endParaRPr lang="en-US" dirty="0"/>
          </a:p>
          <a:p>
            <a:pPr marL="0" indent="0" algn="l">
              <a:lnSpc>
                <a:spcPct val="115000"/>
              </a:lnSpc>
              <a:buNone/>
            </a:pPr>
            <a:r>
              <a:rPr lang="en-US" dirty="0">
                <a:solidFill>
                  <a:srgbClr val="F1CF25"/>
                </a:solidFill>
                <a:latin typeface="Courier New" pitchFamily="34" charset="0"/>
                <a:ea typeface="Courier New" pitchFamily="34" charset="-122"/>
                <a:cs typeface="Courier New" pitchFamily="34" charset="-120"/>
              </a:rPr>
              <a:t>  "rounded-lg px-4 py-3 font-bold"</a:t>
            </a:r>
            <a:r>
              <a:rPr lang="en-US" dirty="0">
                <a:solidFill>
                  <a:srgbClr val="D8D8D8"/>
                </a:solidFill>
                <a:latin typeface="Courier New" pitchFamily="34" charset="0"/>
                <a:ea typeface="Courier New" pitchFamily="34" charset="-122"/>
                <a:cs typeface="Courier New" pitchFamily="34" charset="-120"/>
              </a:rPr>
              <a:t>,</a:t>
            </a:r>
            <a:endParaRPr lang="en-US" dirty="0"/>
          </a:p>
          <a:p>
            <a:pPr marL="0" indent="0" algn="l">
              <a:lnSpc>
                <a:spcPct val="115000"/>
              </a:lnSpc>
              <a:buNone/>
            </a:pPr>
            <a:r>
              <a:rPr lang="en-US" dirty="0">
                <a:solidFill>
                  <a:srgbClr val="9CDCFE"/>
                </a:solidFill>
                <a:latin typeface="Courier New" pitchFamily="34" charset="0"/>
                <a:ea typeface="Courier New" pitchFamily="34" charset="-122"/>
                <a:cs typeface="Courier New" pitchFamily="34" charset="-120"/>
              </a:rPr>
              <a:t>  featured</a:t>
            </a:r>
            <a:r>
              <a:rPr lang="en-US" dirty="0">
                <a:solidFill>
                  <a:srgbClr val="D8D8D8"/>
                </a:solidFill>
                <a:latin typeface="Courier New" pitchFamily="34" charset="0"/>
                <a:ea typeface="Courier New" pitchFamily="34" charset="-122"/>
                <a:cs typeface="Courier New" pitchFamily="34" charset="-120"/>
              </a:rPr>
              <a:t> &amp;&amp; </a:t>
            </a:r>
            <a:r>
              <a:rPr lang="en-US" dirty="0">
                <a:solidFill>
                  <a:srgbClr val="F1CF25"/>
                </a:solidFill>
                <a:latin typeface="Courier New" pitchFamily="34" charset="0"/>
                <a:ea typeface="Courier New" pitchFamily="34" charset="-122"/>
                <a:cs typeface="Courier New" pitchFamily="34" charset="-120"/>
              </a:rPr>
              <a:t>"bg-mint text-ink hover:bg-mint/80"</a:t>
            </a:r>
            <a:endParaRPr lang="en-US" dirty="0"/>
          </a:p>
          <a:p>
            <a:pPr marL="0" indent="0" algn="l">
              <a:lnSpc>
                <a:spcPct val="115000"/>
              </a:lnSpc>
              <a:buNone/>
            </a:pPr>
            <a:r>
              <a:rPr lang="en-US" dirty="0">
                <a:solidFill>
                  <a:srgbClr val="75DFBC"/>
                </a:solidFill>
                <a:latin typeface="Courier New" pitchFamily="34" charset="0"/>
                <a:ea typeface="Courier New" pitchFamily="34" charset="-122"/>
                <a:cs typeface="Courier New" pitchFamily="34" charset="-120"/>
              </a:rPr>
              <a:t>)}&gt;</a:t>
            </a:r>
            <a:endParaRPr lang="en-US" dirty="0"/>
          </a:p>
          <a:p>
            <a:pPr marL="0" indent="0" algn="l">
              <a:lnSpc>
                <a:spcPct val="115000"/>
              </a:lnSpc>
              <a:buNone/>
            </a:pPr>
            <a:r>
              <a:rPr lang="en-US" dirty="0">
                <a:solidFill>
                  <a:srgbClr val="D8D8D8"/>
                </a:solidFill>
                <a:latin typeface="Courier New" pitchFamily="34" charset="0"/>
                <a:ea typeface="Courier New" pitchFamily="34" charset="-122"/>
                <a:cs typeface="Courier New" pitchFamily="34" charset="-120"/>
              </a:rPr>
              <a:t>  Choose plan</a:t>
            </a:r>
            <a:endParaRPr lang="en-US" dirty="0"/>
          </a:p>
          <a:p>
            <a:pPr marL="0" indent="0" algn="l">
              <a:lnSpc>
                <a:spcPct val="115000"/>
              </a:lnSpc>
              <a:buNone/>
            </a:pPr>
            <a:r>
              <a:rPr lang="en-US" dirty="0">
                <a:solidFill>
                  <a:srgbClr val="9CDCFE"/>
                </a:solidFill>
                <a:latin typeface="Courier New" pitchFamily="34" charset="0"/>
                <a:ea typeface="Courier New" pitchFamily="34" charset="-122"/>
                <a:cs typeface="Courier New" pitchFamily="34" charset="-120"/>
              </a:rPr>
              <a:t>&lt;/button&gt;</a:t>
            </a:r>
            <a:endParaRPr lang="en-US" dirty="0"/>
          </a:p>
        </p:txBody>
      </p:sp>
      <p:sp>
        <p:nvSpPr>
          <p:cNvPr id="11" name="Text 9"/>
          <p:cNvSpPr/>
          <p:nvPr/>
        </p:nvSpPr>
        <p:spPr>
          <a:xfrm>
            <a:off x="594359" y="5776090"/>
            <a:ext cx="11002975" cy="640080"/>
          </a:xfrm>
          <a:prstGeom prst="rect">
            <a:avLst/>
          </a:prstGeom>
          <a:noFill/>
          <a:ln/>
        </p:spPr>
        <p:txBody>
          <a:bodyPr wrap="square" lIns="0" tIns="0" rIns="0" bIns="0" rtlCol="0" anchor="ctr"/>
          <a:lstStyle/>
          <a:p>
            <a:pPr marL="0" indent="0" algn="l">
              <a:lnSpc>
                <a:spcPct val="105000"/>
              </a:lnSpc>
              <a:buNone/>
            </a:pPr>
            <a:r>
              <a:rPr lang="en-US" i="1" dirty="0">
                <a:solidFill>
                  <a:srgbClr val="75DFBC"/>
                </a:solidFill>
                <a:latin typeface="Arial" pitchFamily="34" charset="0"/>
                <a:ea typeface="Arial" pitchFamily="34" charset="-122"/>
                <a:cs typeface="Arial" pitchFamily="34" charset="-120"/>
              </a:rPr>
              <a:t>Markup and style live in one place. An LLM sees the entire spec in one span of tokens.</a:t>
            </a:r>
            <a:endParaRPr lang="en-US" dirty="0"/>
          </a:p>
        </p:txBody>
      </p:sp>
      <p:sp>
        <p:nvSpPr>
          <p:cNvPr id="12" name="Text 10"/>
          <p:cNvSpPr/>
          <p:nvPr/>
        </p:nvSpPr>
        <p:spPr>
          <a:xfrm>
            <a:off x="594360" y="6419088"/>
            <a:ext cx="8229600" cy="274320"/>
          </a:xfrm>
          <a:prstGeom prst="rect">
            <a:avLst/>
          </a:prstGeom>
          <a:noFill/>
          <a:ln/>
        </p:spPr>
        <p:txBody>
          <a:bodyPr wrap="square" lIns="0" tIns="0" rIns="0" bIns="0" rtlCol="0" anchor="ctr"/>
          <a:lstStyle/>
          <a:p>
            <a:pPr marL="0" indent="0" algn="l">
              <a:buNone/>
            </a:pPr>
            <a:r>
              <a:rPr lang="en-US" sz="900" dirty="0">
                <a:solidFill>
                  <a:srgbClr val="6E6E6E"/>
                </a:solidFill>
                <a:latin typeface="Arial" pitchFamily="34" charset="0"/>
                <a:ea typeface="Arial" pitchFamily="34" charset="-122"/>
                <a:cs typeface="Arial" pitchFamily="34" charset="-120"/>
              </a:rPr>
              <a:t>Why LLMs &amp; JS frameworks love Tailwind CSS</a:t>
            </a:r>
            <a:endParaRPr lang="en-US" sz="900" dirty="0"/>
          </a:p>
        </p:txBody>
      </p:sp>
      <p:sp>
        <p:nvSpPr>
          <p:cNvPr id="13" name="Text 11"/>
          <p:cNvSpPr/>
          <p:nvPr/>
        </p:nvSpPr>
        <p:spPr>
          <a:xfrm>
            <a:off x="10134295" y="6419088"/>
            <a:ext cx="1463040" cy="274320"/>
          </a:xfrm>
          <a:prstGeom prst="rect">
            <a:avLst/>
          </a:prstGeom>
          <a:noFill/>
          <a:ln/>
        </p:spPr>
        <p:txBody>
          <a:bodyPr wrap="square" lIns="0" tIns="0" rIns="0" bIns="0" rtlCol="0" anchor="ctr"/>
          <a:lstStyle/>
          <a:p>
            <a:pPr marL="0" indent="0" algn="r">
              <a:buNone/>
            </a:pPr>
            <a:r>
              <a:rPr lang="en-US" sz="900" dirty="0">
                <a:solidFill>
                  <a:srgbClr val="6E6E6E"/>
                </a:solidFill>
                <a:latin typeface="Arial" pitchFamily="34" charset="0"/>
                <a:ea typeface="Arial" pitchFamily="34" charset="-122"/>
                <a:cs typeface="Arial" pitchFamily="34" charset="-120"/>
              </a:rPr>
              <a:t>11 / 29</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2C2B2B"/>
        </a:solidFill>
        <a:effectLst/>
      </p:bgPr>
    </p:bg>
    <p:spTree>
      <p:nvGrpSpPr>
        <p:cNvPr id="1" name=""/>
        <p:cNvGrpSpPr/>
        <p:nvPr/>
      </p:nvGrpSpPr>
      <p:grpSpPr>
        <a:xfrm>
          <a:off x="0" y="0"/>
          <a:ext cx="0" cy="0"/>
          <a:chOff x="0" y="0"/>
          <a:chExt cx="0" cy="0"/>
        </a:xfrm>
      </p:grpSpPr>
      <p:sp>
        <p:nvSpPr>
          <p:cNvPr id="2" name="Shape 0"/>
          <p:cNvSpPr/>
          <p:nvPr/>
        </p:nvSpPr>
        <p:spPr>
          <a:xfrm>
            <a:off x="594360" y="1280160"/>
            <a:ext cx="2194560" cy="502920"/>
          </a:xfrm>
          <a:prstGeom prst="roundRect">
            <a:avLst>
              <a:gd name="adj" fmla="val 50000"/>
            </a:avLst>
          </a:prstGeom>
          <a:solidFill>
            <a:srgbClr val="75DFBC"/>
          </a:solidFill>
          <a:ln/>
        </p:spPr>
        <p:txBody>
          <a:bodyPr/>
          <a:lstStyle/>
          <a:p>
            <a:endParaRPr lang="en-US"/>
          </a:p>
        </p:txBody>
      </p:sp>
      <p:sp>
        <p:nvSpPr>
          <p:cNvPr id="3" name="Text 1"/>
          <p:cNvSpPr/>
          <p:nvPr/>
        </p:nvSpPr>
        <p:spPr>
          <a:xfrm>
            <a:off x="594360" y="1280160"/>
            <a:ext cx="2194560" cy="502920"/>
          </a:xfrm>
          <a:prstGeom prst="rect">
            <a:avLst/>
          </a:prstGeom>
          <a:noFill/>
          <a:ln/>
        </p:spPr>
        <p:txBody>
          <a:bodyPr wrap="square" lIns="0" tIns="0" rIns="0" bIns="0" rtlCol="0" anchor="ctr"/>
          <a:lstStyle/>
          <a:p>
            <a:pPr marL="0" indent="0" algn="ctr">
              <a:buNone/>
            </a:pPr>
            <a:r>
              <a:rPr lang="en-US" sz="1500" b="1" dirty="0">
                <a:solidFill>
                  <a:srgbClr val="222121"/>
                </a:solidFill>
                <a:latin typeface="Arial" pitchFamily="34" charset="0"/>
                <a:ea typeface="Arial" pitchFamily="34" charset="-122"/>
                <a:cs typeface="Arial" pitchFamily="34" charset="-120"/>
              </a:rPr>
              <a:t>LIVE DEMO</a:t>
            </a:r>
            <a:endParaRPr lang="en-US" sz="1500" dirty="0"/>
          </a:p>
        </p:txBody>
      </p:sp>
      <p:sp>
        <p:nvSpPr>
          <p:cNvPr id="4" name="Text 2"/>
          <p:cNvSpPr/>
          <p:nvPr/>
        </p:nvSpPr>
        <p:spPr>
          <a:xfrm>
            <a:off x="594360" y="1965960"/>
            <a:ext cx="11002975" cy="1005840"/>
          </a:xfrm>
          <a:prstGeom prst="rect">
            <a:avLst/>
          </a:prstGeom>
          <a:noFill/>
          <a:ln/>
        </p:spPr>
        <p:txBody>
          <a:bodyPr wrap="square" lIns="0" tIns="0" rIns="0" bIns="0" rtlCol="0" anchor="t"/>
          <a:lstStyle/>
          <a:p>
            <a:pPr marL="0" indent="0" algn="l">
              <a:lnSpc>
                <a:spcPct val="102000"/>
              </a:lnSpc>
              <a:buNone/>
            </a:pPr>
            <a:r>
              <a:rPr lang="en-US" sz="3600" b="1" dirty="0">
                <a:solidFill>
                  <a:srgbClr val="FFFFFF"/>
                </a:solidFill>
                <a:latin typeface="Arial" pitchFamily="34" charset="0"/>
                <a:ea typeface="Arial" pitchFamily="34" charset="-122"/>
                <a:cs typeface="Arial" pitchFamily="34" charset="-120"/>
              </a:rPr>
              <a:t>Demo 1: same card, two ways</a:t>
            </a:r>
            <a:endParaRPr lang="en-US" sz="3600" dirty="0"/>
          </a:p>
        </p:txBody>
      </p:sp>
      <p:sp>
        <p:nvSpPr>
          <p:cNvPr id="5" name="Shape 3"/>
          <p:cNvSpPr/>
          <p:nvPr/>
        </p:nvSpPr>
        <p:spPr>
          <a:xfrm>
            <a:off x="594360" y="3191256"/>
            <a:ext cx="118872" cy="118872"/>
          </a:xfrm>
          <a:prstGeom prst="rect">
            <a:avLst/>
          </a:prstGeom>
          <a:solidFill>
            <a:srgbClr val="F1CF25"/>
          </a:solidFill>
          <a:ln/>
        </p:spPr>
        <p:txBody>
          <a:bodyPr/>
          <a:lstStyle/>
          <a:p>
            <a:endParaRPr lang="en-US"/>
          </a:p>
        </p:txBody>
      </p:sp>
      <p:sp>
        <p:nvSpPr>
          <p:cNvPr id="6" name="Text 4"/>
          <p:cNvSpPr/>
          <p:nvPr/>
        </p:nvSpPr>
        <p:spPr>
          <a:xfrm>
            <a:off x="886968" y="3108960"/>
            <a:ext cx="10710367" cy="457200"/>
          </a:xfrm>
          <a:prstGeom prst="rect">
            <a:avLst/>
          </a:prstGeom>
          <a:noFill/>
          <a:ln/>
        </p:spPr>
        <p:txBody>
          <a:bodyPr wrap="square" lIns="0" tIns="0" rIns="0" bIns="0" rtlCol="0" anchor="t"/>
          <a:lstStyle/>
          <a:p>
            <a:pPr marL="0" indent="0" algn="l">
              <a:lnSpc>
                <a:spcPct val="105000"/>
              </a:lnSpc>
              <a:buNone/>
            </a:pPr>
            <a:r>
              <a:rPr lang="en-US" sz="1800" dirty="0">
                <a:solidFill>
                  <a:srgbClr val="FFFFFF"/>
                </a:solidFill>
                <a:latin typeface="Arial" pitchFamily="34" charset="0"/>
                <a:ea typeface="Arial" pitchFamily="34" charset="-122"/>
                <a:cs typeface="Arial" pitchFamily="34" charset="-120"/>
              </a:rPr>
              <a:t>Prompt an LLM: “build a pricing card with a featured tier”</a:t>
            </a:r>
            <a:endParaRPr lang="en-US" sz="1800" dirty="0"/>
          </a:p>
        </p:txBody>
      </p:sp>
      <p:sp>
        <p:nvSpPr>
          <p:cNvPr id="7" name="Shape 5"/>
          <p:cNvSpPr/>
          <p:nvPr/>
        </p:nvSpPr>
        <p:spPr>
          <a:xfrm>
            <a:off x="594360" y="4032504"/>
            <a:ext cx="118872" cy="118872"/>
          </a:xfrm>
          <a:prstGeom prst="rect">
            <a:avLst/>
          </a:prstGeom>
          <a:solidFill>
            <a:srgbClr val="FF6A4C"/>
          </a:solidFill>
          <a:ln/>
        </p:spPr>
        <p:txBody>
          <a:bodyPr/>
          <a:lstStyle/>
          <a:p>
            <a:endParaRPr lang="en-US"/>
          </a:p>
        </p:txBody>
      </p:sp>
      <p:sp>
        <p:nvSpPr>
          <p:cNvPr id="8" name="Text 6"/>
          <p:cNvSpPr/>
          <p:nvPr/>
        </p:nvSpPr>
        <p:spPr>
          <a:xfrm>
            <a:off x="886968" y="3950208"/>
            <a:ext cx="10710367" cy="457200"/>
          </a:xfrm>
          <a:prstGeom prst="rect">
            <a:avLst/>
          </a:prstGeom>
          <a:noFill/>
          <a:ln/>
        </p:spPr>
        <p:txBody>
          <a:bodyPr wrap="square" lIns="0" tIns="0" rIns="0" bIns="0" rtlCol="0" anchor="t"/>
          <a:lstStyle/>
          <a:p>
            <a:pPr marL="0" indent="0" algn="l">
              <a:lnSpc>
                <a:spcPct val="105000"/>
              </a:lnSpc>
              <a:buNone/>
            </a:pPr>
            <a:r>
              <a:rPr lang="en-US" sz="1800" dirty="0">
                <a:solidFill>
                  <a:srgbClr val="FFFFFF"/>
                </a:solidFill>
                <a:latin typeface="Arial" pitchFamily="34" charset="0"/>
                <a:ea typeface="Arial" pitchFamily="34" charset="-122"/>
                <a:cs typeface="Arial" pitchFamily="34" charset="-120"/>
              </a:rPr>
              <a:t>Semantic version: 2 files, invented names, ad-hoc spacing</a:t>
            </a:r>
            <a:endParaRPr lang="en-US" sz="1800" dirty="0"/>
          </a:p>
        </p:txBody>
      </p:sp>
      <p:sp>
        <p:nvSpPr>
          <p:cNvPr id="9" name="Shape 7"/>
          <p:cNvSpPr/>
          <p:nvPr/>
        </p:nvSpPr>
        <p:spPr>
          <a:xfrm>
            <a:off x="594360" y="4873752"/>
            <a:ext cx="118872" cy="118872"/>
          </a:xfrm>
          <a:prstGeom prst="rect">
            <a:avLst/>
          </a:prstGeom>
          <a:solidFill>
            <a:srgbClr val="75DFBC"/>
          </a:solidFill>
          <a:ln/>
        </p:spPr>
        <p:txBody>
          <a:bodyPr/>
          <a:lstStyle/>
          <a:p>
            <a:endParaRPr lang="en-US"/>
          </a:p>
        </p:txBody>
      </p:sp>
      <p:sp>
        <p:nvSpPr>
          <p:cNvPr id="10" name="Text 8"/>
          <p:cNvSpPr/>
          <p:nvPr/>
        </p:nvSpPr>
        <p:spPr>
          <a:xfrm>
            <a:off x="886968" y="4791456"/>
            <a:ext cx="10710367" cy="457200"/>
          </a:xfrm>
          <a:prstGeom prst="rect">
            <a:avLst/>
          </a:prstGeom>
          <a:noFill/>
          <a:ln/>
        </p:spPr>
        <p:txBody>
          <a:bodyPr wrap="square" lIns="0" tIns="0" rIns="0" bIns="0" rtlCol="0" anchor="t"/>
          <a:lstStyle/>
          <a:p>
            <a:pPr marL="0" indent="0" algn="l">
              <a:lnSpc>
                <a:spcPct val="105000"/>
              </a:lnSpc>
              <a:buNone/>
            </a:pPr>
            <a:r>
              <a:rPr lang="en-US" sz="1800" dirty="0">
                <a:solidFill>
                  <a:srgbClr val="FFFFFF"/>
                </a:solidFill>
                <a:latin typeface="Arial" pitchFamily="34" charset="0"/>
                <a:ea typeface="Arial" pitchFamily="34" charset="-122"/>
                <a:cs typeface="Arial" pitchFamily="34" charset="-120"/>
              </a:rPr>
              <a:t>Tailwind version: 1 file, renders right the first time</a:t>
            </a:r>
            <a:endParaRPr lang="en-US" sz="1800" dirty="0"/>
          </a:p>
        </p:txBody>
      </p:sp>
      <p:sp>
        <p:nvSpPr>
          <p:cNvPr id="11" name="Text 9"/>
          <p:cNvSpPr/>
          <p:nvPr/>
        </p:nvSpPr>
        <p:spPr>
          <a:xfrm>
            <a:off x="594359" y="5824728"/>
            <a:ext cx="11002975" cy="457200"/>
          </a:xfrm>
          <a:prstGeom prst="rect">
            <a:avLst/>
          </a:prstGeom>
          <a:noFill/>
          <a:ln/>
        </p:spPr>
        <p:txBody>
          <a:bodyPr wrap="square" lIns="0" tIns="0" rIns="0" bIns="0" rtlCol="0" anchor="ctr"/>
          <a:lstStyle/>
          <a:p>
            <a:pPr marL="0" indent="0" algn="l">
              <a:buNone/>
            </a:pPr>
            <a:r>
              <a:rPr lang="en-US" sz="1600" dirty="0">
                <a:solidFill>
                  <a:srgbClr val="A6A6A6"/>
                </a:solidFill>
                <a:latin typeface="Courier New" pitchFamily="34" charset="0"/>
                <a:ea typeface="Courier New" pitchFamily="34" charset="-122"/>
                <a:cs typeface="Courier New" pitchFamily="34" charset="-120"/>
              </a:rPr>
              <a:t>→ npm run dev   ·   watch: does it render correctly first try? Is the spacing consistent?</a:t>
            </a:r>
            <a:endParaRPr lang="en-US" sz="1600" dirty="0"/>
          </a:p>
        </p:txBody>
      </p:sp>
      <p:sp>
        <p:nvSpPr>
          <p:cNvPr id="12" name="Text 10"/>
          <p:cNvSpPr/>
          <p:nvPr/>
        </p:nvSpPr>
        <p:spPr>
          <a:xfrm>
            <a:off x="594360" y="6419088"/>
            <a:ext cx="8229600" cy="274320"/>
          </a:xfrm>
          <a:prstGeom prst="rect">
            <a:avLst/>
          </a:prstGeom>
          <a:noFill/>
          <a:ln/>
        </p:spPr>
        <p:txBody>
          <a:bodyPr wrap="square" lIns="0" tIns="0" rIns="0" bIns="0" rtlCol="0" anchor="ctr"/>
          <a:lstStyle/>
          <a:p>
            <a:pPr marL="0" indent="0" algn="l">
              <a:buNone/>
            </a:pPr>
            <a:r>
              <a:rPr lang="en-US" sz="900" dirty="0">
                <a:solidFill>
                  <a:srgbClr val="6E6E6E"/>
                </a:solidFill>
                <a:latin typeface="Arial" pitchFamily="34" charset="0"/>
                <a:ea typeface="Arial" pitchFamily="34" charset="-122"/>
                <a:cs typeface="Arial" pitchFamily="34" charset="-120"/>
              </a:rPr>
              <a:t>Why LLMs &amp; JS frameworks love Tailwind CSS</a:t>
            </a:r>
            <a:endParaRPr lang="en-US" sz="900" dirty="0"/>
          </a:p>
        </p:txBody>
      </p:sp>
      <p:sp>
        <p:nvSpPr>
          <p:cNvPr id="13" name="Text 11"/>
          <p:cNvSpPr/>
          <p:nvPr/>
        </p:nvSpPr>
        <p:spPr>
          <a:xfrm>
            <a:off x="10134295" y="6419088"/>
            <a:ext cx="1463040" cy="274320"/>
          </a:xfrm>
          <a:prstGeom prst="rect">
            <a:avLst/>
          </a:prstGeom>
          <a:noFill/>
          <a:ln/>
        </p:spPr>
        <p:txBody>
          <a:bodyPr wrap="square" lIns="0" tIns="0" rIns="0" bIns="0" rtlCol="0" anchor="ctr"/>
          <a:lstStyle/>
          <a:p>
            <a:pPr marL="0" indent="0" algn="r">
              <a:buNone/>
            </a:pPr>
            <a:r>
              <a:rPr lang="en-US" sz="900" dirty="0">
                <a:solidFill>
                  <a:srgbClr val="6E6E6E"/>
                </a:solidFill>
                <a:latin typeface="Arial" pitchFamily="34" charset="0"/>
                <a:ea typeface="Arial" pitchFamily="34" charset="-122"/>
                <a:cs typeface="Arial" pitchFamily="34" charset="-120"/>
              </a:rPr>
              <a:t>12 / 29</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222121"/>
        </a:solidFill>
        <a:effectLst/>
      </p:bgPr>
    </p:bg>
    <p:spTree>
      <p:nvGrpSpPr>
        <p:cNvPr id="1" name=""/>
        <p:cNvGrpSpPr/>
        <p:nvPr/>
      </p:nvGrpSpPr>
      <p:grpSpPr>
        <a:xfrm>
          <a:off x="0" y="0"/>
          <a:ext cx="0" cy="0"/>
          <a:chOff x="0" y="0"/>
          <a:chExt cx="0" cy="0"/>
        </a:xfrm>
      </p:grpSpPr>
      <p:sp>
        <p:nvSpPr>
          <p:cNvPr id="2" name="Text 0"/>
          <p:cNvSpPr/>
          <p:nvPr/>
        </p:nvSpPr>
        <p:spPr>
          <a:xfrm>
            <a:off x="594360" y="502920"/>
            <a:ext cx="11002975" cy="274320"/>
          </a:xfrm>
          <a:prstGeom prst="rect">
            <a:avLst/>
          </a:prstGeom>
          <a:noFill/>
          <a:ln/>
        </p:spPr>
        <p:txBody>
          <a:bodyPr wrap="square" lIns="0" tIns="0" rIns="0" bIns="0" rtlCol="0" anchor="ctr"/>
          <a:lstStyle/>
          <a:p>
            <a:pPr marL="0" indent="0" algn="l">
              <a:buNone/>
            </a:pPr>
            <a:r>
              <a:rPr lang="en-US" sz="1200" b="1" kern="0" spc="300" dirty="0">
                <a:solidFill>
                  <a:srgbClr val="75DFBC"/>
                </a:solidFill>
                <a:latin typeface="Arial" pitchFamily="34" charset="0"/>
                <a:ea typeface="Arial" pitchFamily="34" charset="-122"/>
                <a:cs typeface="Arial" pitchFamily="34" charset="-120"/>
              </a:rPr>
              <a:t>WHY IT WORKS</a:t>
            </a:r>
            <a:endParaRPr lang="en-US" sz="1200" dirty="0"/>
          </a:p>
        </p:txBody>
      </p:sp>
      <p:sp>
        <p:nvSpPr>
          <p:cNvPr id="3" name="Shape 1"/>
          <p:cNvSpPr/>
          <p:nvPr/>
        </p:nvSpPr>
        <p:spPr>
          <a:xfrm>
            <a:off x="594360" y="1463040"/>
            <a:ext cx="822960" cy="822960"/>
          </a:xfrm>
          <a:prstGeom prst="ellipse">
            <a:avLst/>
          </a:prstGeom>
          <a:solidFill>
            <a:srgbClr val="75DFBC"/>
          </a:solidFill>
          <a:ln/>
        </p:spPr>
        <p:txBody>
          <a:bodyPr/>
          <a:lstStyle/>
          <a:p>
            <a:endParaRPr lang="en-US"/>
          </a:p>
        </p:txBody>
      </p:sp>
      <p:sp>
        <p:nvSpPr>
          <p:cNvPr id="4" name="Text 2"/>
          <p:cNvSpPr/>
          <p:nvPr/>
        </p:nvSpPr>
        <p:spPr>
          <a:xfrm>
            <a:off x="594360" y="1463040"/>
            <a:ext cx="822960" cy="822960"/>
          </a:xfrm>
          <a:prstGeom prst="rect">
            <a:avLst/>
          </a:prstGeom>
          <a:noFill/>
          <a:ln/>
        </p:spPr>
        <p:txBody>
          <a:bodyPr wrap="square" lIns="0" tIns="0" rIns="0" bIns="0" rtlCol="0" anchor="ctr"/>
          <a:lstStyle/>
          <a:p>
            <a:pPr marL="0" indent="0" algn="ctr">
              <a:buNone/>
            </a:pPr>
            <a:r>
              <a:rPr lang="en-US" sz="2600" b="1" dirty="0">
                <a:solidFill>
                  <a:srgbClr val="222121"/>
                </a:solidFill>
                <a:latin typeface="Arial" pitchFamily="34" charset="0"/>
                <a:ea typeface="Arial" pitchFamily="34" charset="-122"/>
                <a:cs typeface="Arial" pitchFamily="34" charset="-120"/>
              </a:rPr>
              <a:t>1</a:t>
            </a:r>
            <a:endParaRPr lang="en-US" sz="2600" dirty="0"/>
          </a:p>
        </p:txBody>
      </p:sp>
      <p:sp>
        <p:nvSpPr>
          <p:cNvPr id="5" name="Text 3"/>
          <p:cNvSpPr/>
          <p:nvPr/>
        </p:nvSpPr>
        <p:spPr>
          <a:xfrm>
            <a:off x="1691640" y="1463040"/>
            <a:ext cx="9905695" cy="914400"/>
          </a:xfrm>
          <a:prstGeom prst="rect">
            <a:avLst/>
          </a:prstGeom>
          <a:noFill/>
          <a:ln/>
        </p:spPr>
        <p:txBody>
          <a:bodyPr wrap="square" lIns="0" tIns="0" rIns="0" bIns="0" rtlCol="0" anchor="ctr"/>
          <a:lstStyle/>
          <a:p>
            <a:pPr marL="0" indent="0" algn="l">
              <a:lnSpc>
                <a:spcPct val="102000"/>
              </a:lnSpc>
              <a:buNone/>
            </a:pPr>
            <a:r>
              <a:rPr lang="en-US" sz="3000" b="1" dirty="0">
                <a:solidFill>
                  <a:srgbClr val="FFFFFF"/>
                </a:solidFill>
                <a:latin typeface="Arial" pitchFamily="34" charset="0"/>
                <a:ea typeface="Arial" pitchFamily="34" charset="-122"/>
                <a:cs typeface="Arial" pitchFamily="34" charset="-120"/>
              </a:rPr>
              <a:t>Co-location = context locality</a:t>
            </a:r>
            <a:endParaRPr lang="en-US" sz="3000" dirty="0"/>
          </a:p>
        </p:txBody>
      </p:sp>
      <p:sp>
        <p:nvSpPr>
          <p:cNvPr id="6" name="Shape 4"/>
          <p:cNvSpPr/>
          <p:nvPr/>
        </p:nvSpPr>
        <p:spPr>
          <a:xfrm>
            <a:off x="594360" y="2962656"/>
            <a:ext cx="118872" cy="118872"/>
          </a:xfrm>
          <a:prstGeom prst="rect">
            <a:avLst/>
          </a:prstGeom>
          <a:solidFill>
            <a:srgbClr val="75DFBC"/>
          </a:solidFill>
          <a:ln/>
        </p:spPr>
        <p:txBody>
          <a:bodyPr/>
          <a:lstStyle/>
          <a:p>
            <a:endParaRPr lang="en-US" sz="2000"/>
          </a:p>
        </p:txBody>
      </p:sp>
      <p:sp>
        <p:nvSpPr>
          <p:cNvPr id="7" name="Text 5"/>
          <p:cNvSpPr/>
          <p:nvPr/>
        </p:nvSpPr>
        <p:spPr>
          <a:xfrm>
            <a:off x="886968" y="2880360"/>
            <a:ext cx="5742432" cy="457200"/>
          </a:xfrm>
          <a:prstGeom prst="rect">
            <a:avLst/>
          </a:prstGeom>
          <a:noFill/>
          <a:ln/>
        </p:spPr>
        <p:txBody>
          <a:bodyPr wrap="square" lIns="0" tIns="0" rIns="0" bIns="0" rtlCol="0" anchor="t"/>
          <a:lstStyle/>
          <a:p>
            <a:pPr marL="0" indent="0" algn="l">
              <a:lnSpc>
                <a:spcPct val="105000"/>
              </a:lnSpc>
              <a:buNone/>
            </a:pPr>
            <a:r>
              <a:rPr lang="en-US" dirty="0">
                <a:solidFill>
                  <a:srgbClr val="FFFFFF"/>
                </a:solidFill>
                <a:latin typeface="Arial" pitchFamily="34" charset="0"/>
                <a:ea typeface="Arial" pitchFamily="34" charset="-122"/>
                <a:cs typeface="Arial" pitchFamily="34" charset="-120"/>
              </a:rPr>
              <a:t>LLMs have a bounded context and no project memory</a:t>
            </a:r>
            <a:endParaRPr lang="en-US" dirty="0"/>
          </a:p>
        </p:txBody>
      </p:sp>
      <p:sp>
        <p:nvSpPr>
          <p:cNvPr id="8" name="Shape 6"/>
          <p:cNvSpPr/>
          <p:nvPr/>
        </p:nvSpPr>
        <p:spPr>
          <a:xfrm>
            <a:off x="594360" y="3831336"/>
            <a:ext cx="118872" cy="118872"/>
          </a:xfrm>
          <a:prstGeom prst="rect">
            <a:avLst/>
          </a:prstGeom>
          <a:solidFill>
            <a:srgbClr val="75DFBC"/>
          </a:solidFill>
          <a:ln/>
        </p:spPr>
        <p:txBody>
          <a:bodyPr/>
          <a:lstStyle/>
          <a:p>
            <a:endParaRPr lang="en-US" sz="2000"/>
          </a:p>
        </p:txBody>
      </p:sp>
      <p:sp>
        <p:nvSpPr>
          <p:cNvPr id="9" name="Text 7"/>
          <p:cNvSpPr/>
          <p:nvPr/>
        </p:nvSpPr>
        <p:spPr>
          <a:xfrm>
            <a:off x="886968" y="3749040"/>
            <a:ext cx="5742432" cy="457200"/>
          </a:xfrm>
          <a:prstGeom prst="rect">
            <a:avLst/>
          </a:prstGeom>
          <a:noFill/>
          <a:ln/>
        </p:spPr>
        <p:txBody>
          <a:bodyPr wrap="square" lIns="0" tIns="0" rIns="0" bIns="0" rtlCol="0" anchor="t"/>
          <a:lstStyle/>
          <a:p>
            <a:pPr marL="0" indent="0" algn="l">
              <a:lnSpc>
                <a:spcPct val="105000"/>
              </a:lnSpc>
              <a:buNone/>
            </a:pPr>
            <a:r>
              <a:rPr lang="en-US" dirty="0">
                <a:solidFill>
                  <a:srgbClr val="FFFFFF"/>
                </a:solidFill>
                <a:latin typeface="Arial" pitchFamily="34" charset="0"/>
                <a:ea typeface="Arial" pitchFamily="34" charset="-122"/>
                <a:cs typeface="Arial" pitchFamily="34" charset="-120"/>
              </a:rPr>
              <a:t>Co-located styling = the whole spec in one token span</a:t>
            </a:r>
            <a:endParaRPr lang="en-US" dirty="0"/>
          </a:p>
        </p:txBody>
      </p:sp>
      <p:sp>
        <p:nvSpPr>
          <p:cNvPr id="10" name="Shape 8"/>
          <p:cNvSpPr/>
          <p:nvPr/>
        </p:nvSpPr>
        <p:spPr>
          <a:xfrm>
            <a:off x="594360" y="4701962"/>
            <a:ext cx="118872" cy="118872"/>
          </a:xfrm>
          <a:prstGeom prst="rect">
            <a:avLst/>
          </a:prstGeom>
          <a:solidFill>
            <a:srgbClr val="75DFBC"/>
          </a:solidFill>
          <a:ln/>
        </p:spPr>
        <p:txBody>
          <a:bodyPr/>
          <a:lstStyle/>
          <a:p>
            <a:endParaRPr lang="en-US" sz="2000"/>
          </a:p>
        </p:txBody>
      </p:sp>
      <p:sp>
        <p:nvSpPr>
          <p:cNvPr id="11" name="Text 9"/>
          <p:cNvSpPr/>
          <p:nvPr/>
        </p:nvSpPr>
        <p:spPr>
          <a:xfrm>
            <a:off x="886968" y="4619666"/>
            <a:ext cx="5742432" cy="457200"/>
          </a:xfrm>
          <a:prstGeom prst="rect">
            <a:avLst/>
          </a:prstGeom>
          <a:noFill/>
          <a:ln/>
        </p:spPr>
        <p:txBody>
          <a:bodyPr wrap="square" lIns="0" tIns="0" rIns="0" bIns="0" rtlCol="0" anchor="t"/>
          <a:lstStyle/>
          <a:p>
            <a:pPr marL="0" indent="0" algn="l">
              <a:lnSpc>
                <a:spcPct val="105000"/>
              </a:lnSpc>
              <a:buNone/>
            </a:pPr>
            <a:r>
              <a:rPr lang="en-US" dirty="0">
                <a:solidFill>
                  <a:srgbClr val="FFFFFF"/>
                </a:solidFill>
                <a:latin typeface="Arial" pitchFamily="34" charset="0"/>
                <a:ea typeface="Arial" pitchFamily="34" charset="-122"/>
                <a:cs typeface="Arial" pitchFamily="34" charset="-120"/>
              </a:rPr>
              <a:t>Semantic CSS = a second file it may never have read</a:t>
            </a:r>
            <a:endParaRPr lang="en-US" dirty="0"/>
          </a:p>
        </p:txBody>
      </p:sp>
      <p:sp>
        <p:nvSpPr>
          <p:cNvPr id="12" name="Shape 10"/>
          <p:cNvSpPr/>
          <p:nvPr/>
        </p:nvSpPr>
        <p:spPr>
          <a:xfrm>
            <a:off x="6766559" y="2651759"/>
            <a:ext cx="5101185" cy="3535031"/>
          </a:xfrm>
          <a:prstGeom prst="roundRect">
            <a:avLst>
              <a:gd name="adj" fmla="val 2667"/>
            </a:avLst>
          </a:prstGeom>
          <a:solidFill>
            <a:srgbClr val="171717"/>
          </a:solidFill>
          <a:ln w="12700">
            <a:solidFill>
              <a:srgbClr val="3A3A3A"/>
            </a:solidFill>
            <a:prstDash val="solid"/>
          </a:ln>
        </p:spPr>
        <p:txBody>
          <a:bodyPr/>
          <a:lstStyle/>
          <a:p>
            <a:endParaRPr lang="en-US"/>
          </a:p>
        </p:txBody>
      </p:sp>
      <p:sp>
        <p:nvSpPr>
          <p:cNvPr id="13" name="Shape 11"/>
          <p:cNvSpPr/>
          <p:nvPr/>
        </p:nvSpPr>
        <p:spPr>
          <a:xfrm>
            <a:off x="6986016" y="2834640"/>
            <a:ext cx="100584" cy="100584"/>
          </a:xfrm>
          <a:prstGeom prst="ellipse">
            <a:avLst/>
          </a:prstGeom>
          <a:solidFill>
            <a:srgbClr val="FF6A4C"/>
          </a:solidFill>
          <a:ln/>
        </p:spPr>
        <p:txBody>
          <a:bodyPr/>
          <a:lstStyle/>
          <a:p>
            <a:endParaRPr lang="en-US"/>
          </a:p>
        </p:txBody>
      </p:sp>
      <p:sp>
        <p:nvSpPr>
          <p:cNvPr id="14" name="Shape 12"/>
          <p:cNvSpPr/>
          <p:nvPr/>
        </p:nvSpPr>
        <p:spPr>
          <a:xfrm>
            <a:off x="7187184" y="2834640"/>
            <a:ext cx="100584" cy="100584"/>
          </a:xfrm>
          <a:prstGeom prst="ellipse">
            <a:avLst/>
          </a:prstGeom>
          <a:solidFill>
            <a:srgbClr val="F1CF25"/>
          </a:solidFill>
          <a:ln/>
        </p:spPr>
        <p:txBody>
          <a:bodyPr/>
          <a:lstStyle/>
          <a:p>
            <a:endParaRPr lang="en-US"/>
          </a:p>
        </p:txBody>
      </p:sp>
      <p:sp>
        <p:nvSpPr>
          <p:cNvPr id="15" name="Shape 13"/>
          <p:cNvSpPr/>
          <p:nvPr/>
        </p:nvSpPr>
        <p:spPr>
          <a:xfrm>
            <a:off x="7388352" y="2834640"/>
            <a:ext cx="100584" cy="100584"/>
          </a:xfrm>
          <a:prstGeom prst="ellipse">
            <a:avLst/>
          </a:prstGeom>
          <a:solidFill>
            <a:srgbClr val="75DFBC"/>
          </a:solidFill>
          <a:ln/>
        </p:spPr>
        <p:txBody>
          <a:bodyPr/>
          <a:lstStyle/>
          <a:p>
            <a:endParaRPr lang="en-US"/>
          </a:p>
        </p:txBody>
      </p:sp>
      <p:sp>
        <p:nvSpPr>
          <p:cNvPr id="16" name="Text 14"/>
          <p:cNvSpPr/>
          <p:nvPr/>
        </p:nvSpPr>
        <p:spPr>
          <a:xfrm>
            <a:off x="7680960" y="2724912"/>
            <a:ext cx="3730752" cy="292608"/>
          </a:xfrm>
          <a:prstGeom prst="rect">
            <a:avLst/>
          </a:prstGeom>
          <a:noFill/>
          <a:ln/>
        </p:spPr>
        <p:txBody>
          <a:bodyPr wrap="square" lIns="0" tIns="0" rIns="0" bIns="0" rtlCol="0" anchor="ctr"/>
          <a:lstStyle/>
          <a:p>
            <a:pPr marL="0" indent="0" algn="l">
              <a:buNone/>
            </a:pPr>
            <a:r>
              <a:rPr lang="en-US" dirty="0">
                <a:solidFill>
                  <a:srgbClr val="6E6E6E"/>
                </a:solidFill>
                <a:latin typeface="Courier New" pitchFamily="34" charset="0"/>
                <a:ea typeface="Courier New" pitchFamily="34" charset="-122"/>
                <a:cs typeface="Courier New" pitchFamily="34" charset="-120"/>
              </a:rPr>
              <a:t>context window</a:t>
            </a:r>
            <a:endParaRPr lang="en-US" dirty="0"/>
          </a:p>
        </p:txBody>
      </p:sp>
      <p:sp>
        <p:nvSpPr>
          <p:cNvPr id="17" name="Text 15"/>
          <p:cNvSpPr/>
          <p:nvPr/>
        </p:nvSpPr>
        <p:spPr>
          <a:xfrm>
            <a:off x="7059167" y="3200399"/>
            <a:ext cx="4468109" cy="2645923"/>
          </a:xfrm>
          <a:prstGeom prst="rect">
            <a:avLst/>
          </a:prstGeom>
          <a:noFill/>
          <a:ln/>
        </p:spPr>
        <p:txBody>
          <a:bodyPr wrap="square" lIns="0" tIns="0" rIns="0" bIns="0" rtlCol="0" anchor="t"/>
          <a:lstStyle/>
          <a:p>
            <a:pPr marL="0" indent="0" algn="l">
              <a:lnSpc>
                <a:spcPct val="115000"/>
              </a:lnSpc>
              <a:buNone/>
            </a:pPr>
            <a:r>
              <a:rPr lang="en-US" sz="1600" dirty="0">
                <a:solidFill>
                  <a:srgbClr val="6E6E6E"/>
                </a:solidFill>
                <a:latin typeface="Courier New" pitchFamily="34" charset="0"/>
                <a:ea typeface="Courier New" pitchFamily="34" charset="-122"/>
                <a:cs typeface="Courier New" pitchFamily="34" charset="-120"/>
              </a:rPr>
              <a:t>// the model needs BOTH of these,</a:t>
            </a:r>
            <a:endParaRPr lang="en-US" sz="1600" dirty="0"/>
          </a:p>
          <a:p>
            <a:pPr marL="0" indent="0" algn="l">
              <a:lnSpc>
                <a:spcPct val="115000"/>
              </a:lnSpc>
              <a:buNone/>
            </a:pPr>
            <a:r>
              <a:rPr lang="en-US" sz="1600" dirty="0">
                <a:solidFill>
                  <a:srgbClr val="6E6E6E"/>
                </a:solidFill>
                <a:latin typeface="Courier New" pitchFamily="34" charset="0"/>
                <a:ea typeface="Courier New" pitchFamily="34" charset="-122"/>
                <a:cs typeface="Courier New" pitchFamily="34" charset="-120"/>
              </a:rPr>
              <a:t>// often from different files:</a:t>
            </a:r>
            <a:endParaRPr lang="en-US" sz="1600" dirty="0"/>
          </a:p>
          <a:p>
            <a:pPr marL="0" indent="0" algn="l">
              <a:lnSpc>
                <a:spcPct val="115000"/>
              </a:lnSpc>
              <a:buNone/>
            </a:pPr>
            <a:endParaRPr lang="en-US" sz="1600" dirty="0"/>
          </a:p>
          <a:p>
            <a:pPr marL="0" indent="0" algn="l">
              <a:lnSpc>
                <a:spcPct val="115000"/>
              </a:lnSpc>
              <a:buNone/>
            </a:pPr>
            <a:r>
              <a:rPr lang="en-US" sz="1600" dirty="0">
                <a:solidFill>
                  <a:srgbClr val="D8D8D8"/>
                </a:solidFill>
                <a:latin typeface="Courier New" pitchFamily="34" charset="0"/>
                <a:ea typeface="Courier New" pitchFamily="34" charset="-122"/>
                <a:cs typeface="Courier New" pitchFamily="34" charset="-120"/>
              </a:rPr>
              <a:t>&lt;div class=</a:t>
            </a:r>
            <a:r>
              <a:rPr lang="en-US" sz="1600" dirty="0">
                <a:solidFill>
                  <a:srgbClr val="F1CF25"/>
                </a:solidFill>
                <a:latin typeface="Courier New" pitchFamily="34" charset="0"/>
                <a:ea typeface="Courier New" pitchFamily="34" charset="-122"/>
                <a:cs typeface="Courier New" pitchFamily="34" charset="-120"/>
              </a:rPr>
              <a:t>"hero"</a:t>
            </a:r>
            <a:r>
              <a:rPr lang="en-US" sz="1600" dirty="0">
                <a:solidFill>
                  <a:srgbClr val="D8D8D8"/>
                </a:solidFill>
                <a:latin typeface="Courier New" pitchFamily="34" charset="0"/>
                <a:ea typeface="Courier New" pitchFamily="34" charset="-122"/>
                <a:cs typeface="Courier New" pitchFamily="34" charset="-120"/>
              </a:rPr>
              <a:t>&gt;</a:t>
            </a:r>
            <a:endParaRPr lang="en-US" sz="1600" dirty="0"/>
          </a:p>
          <a:p>
            <a:pPr marL="0" indent="0" algn="l">
              <a:lnSpc>
                <a:spcPct val="115000"/>
              </a:lnSpc>
              <a:buNone/>
            </a:pPr>
            <a:r>
              <a:rPr lang="en-US" sz="1600" dirty="0">
                <a:solidFill>
                  <a:srgbClr val="FF6A4C"/>
                </a:solidFill>
                <a:latin typeface="Courier New" pitchFamily="34" charset="0"/>
                <a:ea typeface="Courier New" pitchFamily="34" charset="-122"/>
                <a:cs typeface="Courier New" pitchFamily="34" charset="-120"/>
              </a:rPr>
              <a:t>.hero</a:t>
            </a:r>
            <a:r>
              <a:rPr lang="en-US" sz="1600" dirty="0">
                <a:solidFill>
                  <a:srgbClr val="D8D8D8"/>
                </a:solidFill>
                <a:latin typeface="Courier New" pitchFamily="34" charset="0"/>
                <a:ea typeface="Courier New" pitchFamily="34" charset="-122"/>
                <a:cs typeface="Courier New" pitchFamily="34" charset="-120"/>
              </a:rPr>
              <a:t> { … 40 lines … }</a:t>
            </a:r>
            <a:endParaRPr lang="en-US" sz="1600" dirty="0"/>
          </a:p>
          <a:p>
            <a:pPr marL="0" indent="0" algn="l">
              <a:lnSpc>
                <a:spcPct val="115000"/>
              </a:lnSpc>
              <a:buNone/>
            </a:pPr>
            <a:endParaRPr lang="en-US" sz="1600" dirty="0"/>
          </a:p>
          <a:p>
            <a:pPr marL="0" indent="0" algn="l">
              <a:lnSpc>
                <a:spcPct val="115000"/>
              </a:lnSpc>
              <a:buNone/>
            </a:pPr>
            <a:r>
              <a:rPr lang="en-US" sz="1600" dirty="0">
                <a:solidFill>
                  <a:srgbClr val="75DFBC"/>
                </a:solidFill>
                <a:latin typeface="Courier New" pitchFamily="34" charset="0"/>
                <a:ea typeface="Courier New" pitchFamily="34" charset="-122"/>
                <a:cs typeface="Courier New" pitchFamily="34" charset="-120"/>
              </a:rPr>
              <a:t>vs. Tailwind: it's all right here</a:t>
            </a:r>
            <a:endParaRPr lang="en-US" sz="1600" dirty="0"/>
          </a:p>
          <a:p>
            <a:pPr marL="0" indent="0" algn="l">
              <a:lnSpc>
                <a:spcPct val="115000"/>
              </a:lnSpc>
              <a:buNone/>
            </a:pPr>
            <a:r>
              <a:rPr lang="en-US" sz="1600" dirty="0">
                <a:solidFill>
                  <a:srgbClr val="D8D8D8"/>
                </a:solidFill>
                <a:latin typeface="Courier New" pitchFamily="34" charset="0"/>
                <a:ea typeface="Courier New" pitchFamily="34" charset="-122"/>
                <a:cs typeface="Courier New" pitchFamily="34" charset="-120"/>
              </a:rPr>
              <a:t>&lt;div class=</a:t>
            </a:r>
            <a:r>
              <a:rPr lang="en-US" sz="1600" dirty="0">
                <a:solidFill>
                  <a:srgbClr val="F1CF25"/>
                </a:solidFill>
                <a:latin typeface="Courier New" pitchFamily="34" charset="0"/>
                <a:ea typeface="Courier New" pitchFamily="34" charset="-122"/>
                <a:cs typeface="Courier New" pitchFamily="34" charset="-120"/>
              </a:rPr>
              <a:t>"grid gap-6 p-8"</a:t>
            </a:r>
            <a:r>
              <a:rPr lang="en-US" sz="1600" dirty="0">
                <a:solidFill>
                  <a:srgbClr val="D8D8D8"/>
                </a:solidFill>
                <a:latin typeface="Courier New" pitchFamily="34" charset="0"/>
                <a:ea typeface="Courier New" pitchFamily="34" charset="-122"/>
                <a:cs typeface="Courier New" pitchFamily="34" charset="-120"/>
              </a:rPr>
              <a:t>&gt;</a:t>
            </a:r>
            <a:endParaRPr lang="en-US" sz="1600" dirty="0"/>
          </a:p>
        </p:txBody>
      </p:sp>
      <p:sp>
        <p:nvSpPr>
          <p:cNvPr id="18" name="Text 16"/>
          <p:cNvSpPr/>
          <p:nvPr/>
        </p:nvSpPr>
        <p:spPr>
          <a:xfrm>
            <a:off x="594360" y="6419088"/>
            <a:ext cx="8229600" cy="274320"/>
          </a:xfrm>
          <a:prstGeom prst="rect">
            <a:avLst/>
          </a:prstGeom>
          <a:noFill/>
          <a:ln/>
        </p:spPr>
        <p:txBody>
          <a:bodyPr wrap="square" lIns="0" tIns="0" rIns="0" bIns="0" rtlCol="0" anchor="ctr"/>
          <a:lstStyle/>
          <a:p>
            <a:pPr marL="0" indent="0" algn="l">
              <a:buNone/>
            </a:pPr>
            <a:r>
              <a:rPr lang="en-US" sz="900" dirty="0">
                <a:solidFill>
                  <a:srgbClr val="6E6E6E"/>
                </a:solidFill>
                <a:latin typeface="Arial" pitchFamily="34" charset="0"/>
                <a:ea typeface="Arial" pitchFamily="34" charset="-122"/>
                <a:cs typeface="Arial" pitchFamily="34" charset="-120"/>
              </a:rPr>
              <a:t>Why LLMs &amp; JS frameworks love Tailwind CSS</a:t>
            </a:r>
            <a:endParaRPr lang="en-US" sz="900" dirty="0"/>
          </a:p>
        </p:txBody>
      </p:sp>
      <p:sp>
        <p:nvSpPr>
          <p:cNvPr id="19" name="Text 17"/>
          <p:cNvSpPr/>
          <p:nvPr/>
        </p:nvSpPr>
        <p:spPr>
          <a:xfrm>
            <a:off x="10134295" y="6419088"/>
            <a:ext cx="1463040" cy="274320"/>
          </a:xfrm>
          <a:prstGeom prst="rect">
            <a:avLst/>
          </a:prstGeom>
          <a:noFill/>
          <a:ln/>
        </p:spPr>
        <p:txBody>
          <a:bodyPr wrap="square" lIns="0" tIns="0" rIns="0" bIns="0" rtlCol="0" anchor="ctr"/>
          <a:lstStyle/>
          <a:p>
            <a:pPr marL="0" indent="0" algn="r">
              <a:buNone/>
            </a:pPr>
            <a:r>
              <a:rPr lang="en-US" sz="900" dirty="0">
                <a:solidFill>
                  <a:srgbClr val="6E6E6E"/>
                </a:solidFill>
                <a:latin typeface="Arial" pitchFamily="34" charset="0"/>
                <a:ea typeface="Arial" pitchFamily="34" charset="-122"/>
                <a:cs typeface="Arial" pitchFamily="34" charset="-120"/>
              </a:rPr>
              <a:t>13 / 29</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222121"/>
        </a:solidFill>
        <a:effectLst/>
      </p:bgPr>
    </p:bg>
    <p:spTree>
      <p:nvGrpSpPr>
        <p:cNvPr id="1" name=""/>
        <p:cNvGrpSpPr/>
        <p:nvPr/>
      </p:nvGrpSpPr>
      <p:grpSpPr>
        <a:xfrm>
          <a:off x="0" y="0"/>
          <a:ext cx="0" cy="0"/>
          <a:chOff x="0" y="0"/>
          <a:chExt cx="0" cy="0"/>
        </a:xfrm>
      </p:grpSpPr>
      <p:sp>
        <p:nvSpPr>
          <p:cNvPr id="2" name="Text 0"/>
          <p:cNvSpPr/>
          <p:nvPr/>
        </p:nvSpPr>
        <p:spPr>
          <a:xfrm>
            <a:off x="594360" y="502920"/>
            <a:ext cx="11002975" cy="274320"/>
          </a:xfrm>
          <a:prstGeom prst="rect">
            <a:avLst/>
          </a:prstGeom>
          <a:noFill/>
          <a:ln/>
        </p:spPr>
        <p:txBody>
          <a:bodyPr wrap="square" lIns="0" tIns="0" rIns="0" bIns="0" rtlCol="0" anchor="ctr"/>
          <a:lstStyle/>
          <a:p>
            <a:pPr marL="0" indent="0" algn="l">
              <a:buNone/>
            </a:pPr>
            <a:r>
              <a:rPr lang="en-US" sz="1200" b="1" kern="0" spc="300" dirty="0">
                <a:solidFill>
                  <a:srgbClr val="75DFBC"/>
                </a:solidFill>
                <a:latin typeface="Arial" pitchFamily="34" charset="0"/>
                <a:ea typeface="Arial" pitchFamily="34" charset="-122"/>
                <a:cs typeface="Arial" pitchFamily="34" charset="-120"/>
              </a:rPr>
              <a:t>WHY IT WORKS</a:t>
            </a:r>
            <a:endParaRPr lang="en-US" sz="1200" dirty="0"/>
          </a:p>
        </p:txBody>
      </p:sp>
      <p:sp>
        <p:nvSpPr>
          <p:cNvPr id="3" name="Shape 1"/>
          <p:cNvSpPr/>
          <p:nvPr/>
        </p:nvSpPr>
        <p:spPr>
          <a:xfrm>
            <a:off x="594360" y="1463040"/>
            <a:ext cx="822960" cy="822960"/>
          </a:xfrm>
          <a:prstGeom prst="ellipse">
            <a:avLst/>
          </a:prstGeom>
          <a:solidFill>
            <a:srgbClr val="75DFBC"/>
          </a:solidFill>
          <a:ln/>
        </p:spPr>
        <p:txBody>
          <a:bodyPr/>
          <a:lstStyle/>
          <a:p>
            <a:endParaRPr lang="en-US"/>
          </a:p>
        </p:txBody>
      </p:sp>
      <p:sp>
        <p:nvSpPr>
          <p:cNvPr id="4" name="Text 2"/>
          <p:cNvSpPr/>
          <p:nvPr/>
        </p:nvSpPr>
        <p:spPr>
          <a:xfrm>
            <a:off x="594360" y="1463040"/>
            <a:ext cx="822960" cy="822960"/>
          </a:xfrm>
          <a:prstGeom prst="rect">
            <a:avLst/>
          </a:prstGeom>
          <a:noFill/>
          <a:ln/>
        </p:spPr>
        <p:txBody>
          <a:bodyPr wrap="square" lIns="0" tIns="0" rIns="0" bIns="0" rtlCol="0" anchor="ctr"/>
          <a:lstStyle/>
          <a:p>
            <a:pPr marL="0" indent="0" algn="ctr">
              <a:buNone/>
            </a:pPr>
            <a:r>
              <a:rPr lang="en-US" sz="2600" b="1" dirty="0">
                <a:solidFill>
                  <a:srgbClr val="222121"/>
                </a:solidFill>
                <a:latin typeface="Arial" pitchFamily="34" charset="0"/>
                <a:ea typeface="Arial" pitchFamily="34" charset="-122"/>
                <a:cs typeface="Arial" pitchFamily="34" charset="-120"/>
              </a:rPr>
              <a:t>2</a:t>
            </a:r>
            <a:endParaRPr lang="en-US" sz="2600" dirty="0"/>
          </a:p>
        </p:txBody>
      </p:sp>
      <p:sp>
        <p:nvSpPr>
          <p:cNvPr id="5" name="Text 3"/>
          <p:cNvSpPr/>
          <p:nvPr/>
        </p:nvSpPr>
        <p:spPr>
          <a:xfrm>
            <a:off x="1691640" y="1463040"/>
            <a:ext cx="9905695" cy="914400"/>
          </a:xfrm>
          <a:prstGeom prst="rect">
            <a:avLst/>
          </a:prstGeom>
          <a:noFill/>
          <a:ln/>
        </p:spPr>
        <p:txBody>
          <a:bodyPr wrap="square" lIns="0" tIns="0" rIns="0" bIns="0" rtlCol="0" anchor="ctr"/>
          <a:lstStyle/>
          <a:p>
            <a:pPr marL="0" indent="0" algn="l">
              <a:lnSpc>
                <a:spcPct val="102000"/>
              </a:lnSpc>
              <a:buNone/>
            </a:pPr>
            <a:r>
              <a:rPr lang="en-US" sz="3000" b="1" dirty="0">
                <a:solidFill>
                  <a:srgbClr val="FFFFFF"/>
                </a:solidFill>
                <a:latin typeface="Arial" pitchFamily="34" charset="0"/>
                <a:ea typeface="Arial" pitchFamily="34" charset="-122"/>
                <a:cs typeface="Arial" pitchFamily="34" charset="-120"/>
              </a:rPr>
              <a:t>Closed vocabulary = predictability</a:t>
            </a:r>
            <a:endParaRPr lang="en-US" sz="3000" dirty="0"/>
          </a:p>
        </p:txBody>
      </p:sp>
      <p:sp>
        <p:nvSpPr>
          <p:cNvPr id="6" name="Shape 4"/>
          <p:cNvSpPr/>
          <p:nvPr/>
        </p:nvSpPr>
        <p:spPr>
          <a:xfrm>
            <a:off x="594360" y="2962656"/>
            <a:ext cx="118872" cy="118872"/>
          </a:xfrm>
          <a:prstGeom prst="rect">
            <a:avLst/>
          </a:prstGeom>
          <a:solidFill>
            <a:srgbClr val="75DFBC"/>
          </a:solidFill>
          <a:ln/>
        </p:spPr>
        <p:txBody>
          <a:bodyPr/>
          <a:lstStyle/>
          <a:p>
            <a:endParaRPr lang="en-US" sz="2000"/>
          </a:p>
        </p:txBody>
      </p:sp>
      <p:sp>
        <p:nvSpPr>
          <p:cNvPr id="7" name="Text 5"/>
          <p:cNvSpPr/>
          <p:nvPr/>
        </p:nvSpPr>
        <p:spPr>
          <a:xfrm>
            <a:off x="886968" y="2880360"/>
            <a:ext cx="5742432" cy="457200"/>
          </a:xfrm>
          <a:prstGeom prst="rect">
            <a:avLst/>
          </a:prstGeom>
          <a:noFill/>
          <a:ln/>
        </p:spPr>
        <p:txBody>
          <a:bodyPr wrap="square" lIns="0" tIns="0" rIns="0" bIns="0" rtlCol="0" anchor="t"/>
          <a:lstStyle/>
          <a:p>
            <a:pPr marL="0" indent="0" algn="l">
              <a:lnSpc>
                <a:spcPct val="105000"/>
              </a:lnSpc>
              <a:buNone/>
            </a:pPr>
            <a:r>
              <a:rPr lang="en-US" dirty="0">
                <a:solidFill>
                  <a:srgbClr val="FFFFFF"/>
                </a:solidFill>
                <a:latin typeface="Arial" pitchFamily="34" charset="0"/>
                <a:ea typeface="Arial" pitchFamily="34" charset="-122"/>
                <a:cs typeface="Arial" pitchFamily="34" charset="-120"/>
              </a:rPr>
              <a:t>An LLM is a next-token predictor</a:t>
            </a:r>
            <a:endParaRPr lang="en-US" dirty="0"/>
          </a:p>
        </p:txBody>
      </p:sp>
      <p:sp>
        <p:nvSpPr>
          <p:cNvPr id="8" name="Shape 6"/>
          <p:cNvSpPr/>
          <p:nvPr/>
        </p:nvSpPr>
        <p:spPr>
          <a:xfrm>
            <a:off x="594360" y="3807017"/>
            <a:ext cx="118872" cy="118872"/>
          </a:xfrm>
          <a:prstGeom prst="rect">
            <a:avLst/>
          </a:prstGeom>
          <a:solidFill>
            <a:srgbClr val="75DFBC"/>
          </a:solidFill>
          <a:ln/>
        </p:spPr>
        <p:txBody>
          <a:bodyPr/>
          <a:lstStyle/>
          <a:p>
            <a:endParaRPr lang="en-US" sz="2000"/>
          </a:p>
        </p:txBody>
      </p:sp>
      <p:sp>
        <p:nvSpPr>
          <p:cNvPr id="9" name="Text 7"/>
          <p:cNvSpPr/>
          <p:nvPr/>
        </p:nvSpPr>
        <p:spPr>
          <a:xfrm>
            <a:off x="886968" y="3724721"/>
            <a:ext cx="5742432" cy="457200"/>
          </a:xfrm>
          <a:prstGeom prst="rect">
            <a:avLst/>
          </a:prstGeom>
          <a:noFill/>
          <a:ln/>
        </p:spPr>
        <p:txBody>
          <a:bodyPr wrap="square" lIns="0" tIns="0" rIns="0" bIns="0" rtlCol="0" anchor="t"/>
          <a:lstStyle/>
          <a:p>
            <a:pPr marL="0" indent="0" algn="l">
              <a:lnSpc>
                <a:spcPct val="105000"/>
              </a:lnSpc>
              <a:buNone/>
            </a:pPr>
            <a:r>
              <a:rPr lang="en-US" dirty="0">
                <a:solidFill>
                  <a:srgbClr val="FFFFFF"/>
                </a:solidFill>
                <a:latin typeface="Arial" pitchFamily="34" charset="0"/>
                <a:ea typeface="Arial" pitchFamily="34" charset="-122"/>
                <a:cs typeface="Arial" pitchFamily="34" charset="-120"/>
              </a:rPr>
              <a:t>“flex items-center justify-between” = a fixed phrase</a:t>
            </a:r>
            <a:endParaRPr lang="en-US" dirty="0"/>
          </a:p>
        </p:txBody>
      </p:sp>
      <p:sp>
        <p:nvSpPr>
          <p:cNvPr id="10" name="Shape 8"/>
          <p:cNvSpPr/>
          <p:nvPr/>
        </p:nvSpPr>
        <p:spPr>
          <a:xfrm>
            <a:off x="594360" y="4608576"/>
            <a:ext cx="118872" cy="118872"/>
          </a:xfrm>
          <a:prstGeom prst="rect">
            <a:avLst/>
          </a:prstGeom>
          <a:solidFill>
            <a:srgbClr val="75DFBC"/>
          </a:solidFill>
          <a:ln/>
        </p:spPr>
        <p:txBody>
          <a:bodyPr/>
          <a:lstStyle/>
          <a:p>
            <a:endParaRPr lang="en-US" sz="2000"/>
          </a:p>
        </p:txBody>
      </p:sp>
      <p:sp>
        <p:nvSpPr>
          <p:cNvPr id="11" name="Text 9"/>
          <p:cNvSpPr/>
          <p:nvPr/>
        </p:nvSpPr>
        <p:spPr>
          <a:xfrm>
            <a:off x="886968" y="4526280"/>
            <a:ext cx="5742432" cy="457200"/>
          </a:xfrm>
          <a:prstGeom prst="rect">
            <a:avLst/>
          </a:prstGeom>
          <a:noFill/>
          <a:ln/>
        </p:spPr>
        <p:txBody>
          <a:bodyPr wrap="square" lIns="0" tIns="0" rIns="0" bIns="0" rtlCol="0" anchor="t"/>
          <a:lstStyle/>
          <a:p>
            <a:pPr marL="0" indent="0" algn="l">
              <a:lnSpc>
                <a:spcPct val="105000"/>
              </a:lnSpc>
              <a:buNone/>
            </a:pPr>
            <a:r>
              <a:rPr lang="en-US" dirty="0">
                <a:solidFill>
                  <a:srgbClr val="FFFFFF"/>
                </a:solidFill>
                <a:latin typeface="Arial" pitchFamily="34" charset="0"/>
                <a:ea typeface="Arial" pitchFamily="34" charset="-122"/>
                <a:cs typeface="Arial" pitchFamily="34" charset="-120"/>
              </a:rPr>
              <a:t>seen millions of times → low perplexity, high accuracy</a:t>
            </a:r>
            <a:endParaRPr lang="en-US" dirty="0"/>
          </a:p>
        </p:txBody>
      </p:sp>
      <p:sp>
        <p:nvSpPr>
          <p:cNvPr id="12" name="Shape 10"/>
          <p:cNvSpPr/>
          <p:nvPr/>
        </p:nvSpPr>
        <p:spPr>
          <a:xfrm>
            <a:off x="594360" y="5410135"/>
            <a:ext cx="118872" cy="118872"/>
          </a:xfrm>
          <a:prstGeom prst="rect">
            <a:avLst/>
          </a:prstGeom>
          <a:solidFill>
            <a:srgbClr val="FF6A4C"/>
          </a:solidFill>
          <a:ln/>
        </p:spPr>
        <p:txBody>
          <a:bodyPr/>
          <a:lstStyle/>
          <a:p>
            <a:endParaRPr lang="en-US" sz="2000"/>
          </a:p>
        </p:txBody>
      </p:sp>
      <p:sp>
        <p:nvSpPr>
          <p:cNvPr id="13" name="Text 11"/>
          <p:cNvSpPr/>
          <p:nvPr/>
        </p:nvSpPr>
        <p:spPr>
          <a:xfrm>
            <a:off x="886968" y="5327839"/>
            <a:ext cx="5742432" cy="457200"/>
          </a:xfrm>
          <a:prstGeom prst="rect">
            <a:avLst/>
          </a:prstGeom>
          <a:noFill/>
          <a:ln/>
        </p:spPr>
        <p:txBody>
          <a:bodyPr wrap="square" lIns="0" tIns="0" rIns="0" bIns="0" rtlCol="0" anchor="t"/>
          <a:lstStyle/>
          <a:p>
            <a:pPr marL="0" indent="0" algn="l">
              <a:lnSpc>
                <a:spcPct val="105000"/>
              </a:lnSpc>
              <a:buNone/>
            </a:pPr>
            <a:r>
              <a:rPr lang="en-US" dirty="0">
                <a:solidFill>
                  <a:srgbClr val="FFFFFF"/>
                </a:solidFill>
                <a:latin typeface="Arial" pitchFamily="34" charset="0"/>
                <a:ea typeface="Arial" pitchFamily="34" charset="-122"/>
                <a:cs typeface="Arial" pitchFamily="34" charset="-120"/>
              </a:rPr>
              <a:t>Arbitrary CSS = infinite names, orders, units → drift</a:t>
            </a:r>
            <a:endParaRPr lang="en-US" dirty="0"/>
          </a:p>
        </p:txBody>
      </p:sp>
      <p:sp>
        <p:nvSpPr>
          <p:cNvPr id="14" name="Shape 12"/>
          <p:cNvSpPr/>
          <p:nvPr/>
        </p:nvSpPr>
        <p:spPr>
          <a:xfrm>
            <a:off x="6766560" y="2651760"/>
            <a:ext cx="4828032" cy="2651760"/>
          </a:xfrm>
          <a:prstGeom prst="roundRect">
            <a:avLst>
              <a:gd name="adj" fmla="val 4138"/>
            </a:avLst>
          </a:prstGeom>
          <a:solidFill>
            <a:srgbClr val="2C2B2B"/>
          </a:solidFill>
          <a:ln w="12700">
            <a:solidFill>
              <a:srgbClr val="3A3A3A"/>
            </a:solidFill>
            <a:prstDash val="solid"/>
          </a:ln>
        </p:spPr>
        <p:txBody>
          <a:bodyPr/>
          <a:lstStyle/>
          <a:p>
            <a:endParaRPr lang="en-US" sz="2800"/>
          </a:p>
        </p:txBody>
      </p:sp>
      <p:sp>
        <p:nvSpPr>
          <p:cNvPr id="15" name="Text 13"/>
          <p:cNvSpPr/>
          <p:nvPr/>
        </p:nvSpPr>
        <p:spPr>
          <a:xfrm>
            <a:off x="7040880" y="2834640"/>
            <a:ext cx="4297680" cy="320040"/>
          </a:xfrm>
          <a:prstGeom prst="rect">
            <a:avLst/>
          </a:prstGeom>
          <a:noFill/>
          <a:ln/>
        </p:spPr>
        <p:txBody>
          <a:bodyPr wrap="square" lIns="0" tIns="0" rIns="0" bIns="0" rtlCol="0" anchor="ctr"/>
          <a:lstStyle/>
          <a:p>
            <a:pPr marL="0" indent="0" algn="l">
              <a:buNone/>
            </a:pPr>
            <a:r>
              <a:rPr lang="en-US" sz="1600" dirty="0">
                <a:solidFill>
                  <a:srgbClr val="6E6E6E"/>
                </a:solidFill>
                <a:latin typeface="Courier New" pitchFamily="34" charset="0"/>
                <a:ea typeface="Courier New" pitchFamily="34" charset="-122"/>
                <a:cs typeface="Courier New" pitchFamily="34" charset="-120"/>
              </a:rPr>
              <a:t>predictability</a:t>
            </a:r>
            <a:endParaRPr lang="en-US" sz="1600" dirty="0"/>
          </a:p>
        </p:txBody>
      </p:sp>
      <p:sp>
        <p:nvSpPr>
          <p:cNvPr id="16" name="Text 14"/>
          <p:cNvSpPr/>
          <p:nvPr/>
        </p:nvSpPr>
        <p:spPr>
          <a:xfrm>
            <a:off x="7040880" y="3246120"/>
            <a:ext cx="4297680" cy="365760"/>
          </a:xfrm>
          <a:prstGeom prst="rect">
            <a:avLst/>
          </a:prstGeom>
          <a:noFill/>
          <a:ln/>
        </p:spPr>
        <p:txBody>
          <a:bodyPr wrap="square" lIns="0" tIns="0" rIns="0" bIns="0" rtlCol="0" anchor="ctr"/>
          <a:lstStyle/>
          <a:p>
            <a:pPr marL="0" indent="0" algn="l">
              <a:buNone/>
            </a:pPr>
            <a:r>
              <a:rPr lang="en-US" b="1" dirty="0">
                <a:solidFill>
                  <a:srgbClr val="75DFBC"/>
                </a:solidFill>
                <a:latin typeface="Courier New" pitchFamily="34" charset="0"/>
                <a:ea typeface="Courier New" pitchFamily="34" charset="-122"/>
                <a:cs typeface="Courier New" pitchFamily="34" charset="-120"/>
              </a:rPr>
              <a:t>Tailwind</a:t>
            </a:r>
            <a:r>
              <a:rPr lang="en-US" dirty="0">
                <a:solidFill>
                  <a:srgbClr val="F1CF25"/>
                </a:solidFill>
                <a:latin typeface="Courier New" pitchFamily="34" charset="0"/>
                <a:ea typeface="Courier New" pitchFamily="34" charset="-122"/>
                <a:cs typeface="Courier New" pitchFamily="34" charset="-120"/>
              </a:rPr>
              <a:t>   flex items-center</a:t>
            </a:r>
            <a:endParaRPr lang="en-US" dirty="0"/>
          </a:p>
        </p:txBody>
      </p:sp>
      <p:sp>
        <p:nvSpPr>
          <p:cNvPr id="17" name="Shape 15"/>
          <p:cNvSpPr/>
          <p:nvPr/>
        </p:nvSpPr>
        <p:spPr>
          <a:xfrm>
            <a:off x="7040880" y="3657600"/>
            <a:ext cx="4023360" cy="201168"/>
          </a:xfrm>
          <a:prstGeom prst="roundRect">
            <a:avLst>
              <a:gd name="adj" fmla="val 50000"/>
            </a:avLst>
          </a:prstGeom>
          <a:solidFill>
            <a:srgbClr val="75DFBC"/>
          </a:solidFill>
          <a:ln/>
        </p:spPr>
        <p:txBody>
          <a:bodyPr/>
          <a:lstStyle/>
          <a:p>
            <a:endParaRPr lang="en-US" sz="2800"/>
          </a:p>
        </p:txBody>
      </p:sp>
      <p:sp>
        <p:nvSpPr>
          <p:cNvPr id="18" name="Text 16"/>
          <p:cNvSpPr/>
          <p:nvPr/>
        </p:nvSpPr>
        <p:spPr>
          <a:xfrm>
            <a:off x="7040880" y="4114800"/>
            <a:ext cx="4297680" cy="365760"/>
          </a:xfrm>
          <a:prstGeom prst="rect">
            <a:avLst/>
          </a:prstGeom>
          <a:noFill/>
          <a:ln/>
        </p:spPr>
        <p:txBody>
          <a:bodyPr wrap="square" lIns="0" tIns="0" rIns="0" bIns="0" rtlCol="0" anchor="ctr"/>
          <a:lstStyle/>
          <a:p>
            <a:pPr marL="0" indent="0" algn="l">
              <a:buNone/>
            </a:pPr>
            <a:r>
              <a:rPr lang="en-US" b="1" dirty="0">
                <a:solidFill>
                  <a:srgbClr val="FF6A4C"/>
                </a:solidFill>
                <a:latin typeface="Courier New" pitchFamily="34" charset="0"/>
                <a:ea typeface="Courier New" pitchFamily="34" charset="-122"/>
                <a:cs typeface="Courier New" pitchFamily="34" charset="-120"/>
              </a:rPr>
              <a:t>Semantic</a:t>
            </a:r>
            <a:r>
              <a:rPr lang="en-US" dirty="0">
                <a:solidFill>
                  <a:srgbClr val="A6A6A6"/>
                </a:solidFill>
                <a:latin typeface="Courier New" pitchFamily="34" charset="0"/>
                <a:ea typeface="Courier New" pitchFamily="34" charset="-122"/>
                <a:cs typeface="Courier New" pitchFamily="34" charset="-120"/>
              </a:rPr>
              <a:t>  .hero-banner-x</a:t>
            </a:r>
            <a:endParaRPr lang="en-US" dirty="0"/>
          </a:p>
        </p:txBody>
      </p:sp>
      <p:sp>
        <p:nvSpPr>
          <p:cNvPr id="19" name="Shape 17"/>
          <p:cNvSpPr/>
          <p:nvPr/>
        </p:nvSpPr>
        <p:spPr>
          <a:xfrm>
            <a:off x="7040880" y="4526280"/>
            <a:ext cx="1371600" cy="201168"/>
          </a:xfrm>
          <a:prstGeom prst="roundRect">
            <a:avLst>
              <a:gd name="adj" fmla="val 50000"/>
            </a:avLst>
          </a:prstGeom>
          <a:solidFill>
            <a:srgbClr val="FF6A4C"/>
          </a:solidFill>
          <a:ln/>
        </p:spPr>
        <p:txBody>
          <a:bodyPr/>
          <a:lstStyle/>
          <a:p>
            <a:endParaRPr lang="en-US" sz="2800"/>
          </a:p>
        </p:txBody>
      </p:sp>
      <p:sp>
        <p:nvSpPr>
          <p:cNvPr id="20" name="Text 18"/>
          <p:cNvSpPr/>
          <p:nvPr/>
        </p:nvSpPr>
        <p:spPr>
          <a:xfrm>
            <a:off x="7040880" y="4846320"/>
            <a:ext cx="4297680" cy="365760"/>
          </a:xfrm>
          <a:prstGeom prst="rect">
            <a:avLst/>
          </a:prstGeom>
          <a:noFill/>
          <a:ln/>
        </p:spPr>
        <p:txBody>
          <a:bodyPr wrap="square" lIns="0" tIns="0" rIns="0" bIns="0" rtlCol="0" anchor="ctr"/>
          <a:lstStyle/>
          <a:p>
            <a:pPr marL="0" indent="0" algn="l">
              <a:buNone/>
            </a:pPr>
            <a:r>
              <a:rPr lang="en-US" sz="1600" i="1" dirty="0">
                <a:solidFill>
                  <a:srgbClr val="6E6E6E"/>
                </a:solidFill>
                <a:latin typeface="Arial" pitchFamily="34" charset="0"/>
                <a:ea typeface="Arial" pitchFamily="34" charset="-122"/>
                <a:cs typeface="Arial" pitchFamily="34" charset="-120"/>
              </a:rPr>
              <a:t>model confidence in the next token</a:t>
            </a:r>
            <a:endParaRPr lang="en-US" sz="1600" dirty="0"/>
          </a:p>
        </p:txBody>
      </p:sp>
      <p:sp>
        <p:nvSpPr>
          <p:cNvPr id="21" name="Text 19"/>
          <p:cNvSpPr/>
          <p:nvPr/>
        </p:nvSpPr>
        <p:spPr>
          <a:xfrm>
            <a:off x="594360" y="6419088"/>
            <a:ext cx="8229600" cy="274320"/>
          </a:xfrm>
          <a:prstGeom prst="rect">
            <a:avLst/>
          </a:prstGeom>
          <a:noFill/>
          <a:ln/>
        </p:spPr>
        <p:txBody>
          <a:bodyPr wrap="square" lIns="0" tIns="0" rIns="0" bIns="0" rtlCol="0" anchor="ctr"/>
          <a:lstStyle/>
          <a:p>
            <a:pPr marL="0" indent="0" algn="l">
              <a:buNone/>
            </a:pPr>
            <a:r>
              <a:rPr lang="en-US" sz="900" dirty="0">
                <a:solidFill>
                  <a:srgbClr val="6E6E6E"/>
                </a:solidFill>
                <a:latin typeface="Arial" pitchFamily="34" charset="0"/>
                <a:ea typeface="Arial" pitchFamily="34" charset="-122"/>
                <a:cs typeface="Arial" pitchFamily="34" charset="-120"/>
              </a:rPr>
              <a:t>Why LLMs &amp; JS frameworks love Tailwind CSS</a:t>
            </a:r>
            <a:endParaRPr lang="en-US" sz="900" dirty="0"/>
          </a:p>
        </p:txBody>
      </p:sp>
      <p:sp>
        <p:nvSpPr>
          <p:cNvPr id="22" name="Text 20"/>
          <p:cNvSpPr/>
          <p:nvPr/>
        </p:nvSpPr>
        <p:spPr>
          <a:xfrm>
            <a:off x="10134295" y="6419088"/>
            <a:ext cx="1463040" cy="274320"/>
          </a:xfrm>
          <a:prstGeom prst="rect">
            <a:avLst/>
          </a:prstGeom>
          <a:noFill/>
          <a:ln/>
        </p:spPr>
        <p:txBody>
          <a:bodyPr wrap="square" lIns="0" tIns="0" rIns="0" bIns="0" rtlCol="0" anchor="ctr"/>
          <a:lstStyle/>
          <a:p>
            <a:pPr marL="0" indent="0" algn="r">
              <a:buNone/>
            </a:pPr>
            <a:r>
              <a:rPr lang="en-US" sz="900" dirty="0">
                <a:solidFill>
                  <a:srgbClr val="6E6E6E"/>
                </a:solidFill>
                <a:latin typeface="Arial" pitchFamily="34" charset="0"/>
                <a:ea typeface="Arial" pitchFamily="34" charset="-122"/>
                <a:cs typeface="Arial" pitchFamily="34" charset="-120"/>
              </a:rPr>
              <a:t>14 / 29</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222121"/>
        </a:solidFill>
        <a:effectLst/>
      </p:bgPr>
    </p:bg>
    <p:spTree>
      <p:nvGrpSpPr>
        <p:cNvPr id="1" name=""/>
        <p:cNvGrpSpPr/>
        <p:nvPr/>
      </p:nvGrpSpPr>
      <p:grpSpPr>
        <a:xfrm>
          <a:off x="0" y="0"/>
          <a:ext cx="0" cy="0"/>
          <a:chOff x="0" y="0"/>
          <a:chExt cx="0" cy="0"/>
        </a:xfrm>
      </p:grpSpPr>
      <p:sp>
        <p:nvSpPr>
          <p:cNvPr id="2" name="Text 0"/>
          <p:cNvSpPr/>
          <p:nvPr/>
        </p:nvSpPr>
        <p:spPr>
          <a:xfrm>
            <a:off x="594360" y="502920"/>
            <a:ext cx="11002975" cy="274320"/>
          </a:xfrm>
          <a:prstGeom prst="rect">
            <a:avLst/>
          </a:prstGeom>
          <a:noFill/>
          <a:ln/>
        </p:spPr>
        <p:txBody>
          <a:bodyPr wrap="square" lIns="0" tIns="0" rIns="0" bIns="0" rtlCol="0" anchor="ctr"/>
          <a:lstStyle/>
          <a:p>
            <a:pPr marL="0" indent="0" algn="l">
              <a:buNone/>
            </a:pPr>
            <a:r>
              <a:rPr lang="en-US" sz="1200" b="1" kern="0" spc="300" dirty="0">
                <a:solidFill>
                  <a:srgbClr val="75DFBC"/>
                </a:solidFill>
                <a:latin typeface="Arial" pitchFamily="34" charset="0"/>
                <a:ea typeface="Arial" pitchFamily="34" charset="-122"/>
                <a:cs typeface="Arial" pitchFamily="34" charset="-120"/>
              </a:rPr>
              <a:t>WHY IT WORKS</a:t>
            </a:r>
            <a:endParaRPr lang="en-US" sz="1200" dirty="0"/>
          </a:p>
        </p:txBody>
      </p:sp>
      <p:sp>
        <p:nvSpPr>
          <p:cNvPr id="3" name="Shape 1"/>
          <p:cNvSpPr/>
          <p:nvPr/>
        </p:nvSpPr>
        <p:spPr>
          <a:xfrm>
            <a:off x="594360" y="1463040"/>
            <a:ext cx="822960" cy="822960"/>
          </a:xfrm>
          <a:prstGeom prst="ellipse">
            <a:avLst/>
          </a:prstGeom>
          <a:solidFill>
            <a:srgbClr val="75DFBC"/>
          </a:solidFill>
          <a:ln/>
        </p:spPr>
        <p:txBody>
          <a:bodyPr/>
          <a:lstStyle/>
          <a:p>
            <a:endParaRPr lang="en-US"/>
          </a:p>
        </p:txBody>
      </p:sp>
      <p:sp>
        <p:nvSpPr>
          <p:cNvPr id="4" name="Text 2"/>
          <p:cNvSpPr/>
          <p:nvPr/>
        </p:nvSpPr>
        <p:spPr>
          <a:xfrm>
            <a:off x="594360" y="1463040"/>
            <a:ext cx="822960" cy="822960"/>
          </a:xfrm>
          <a:prstGeom prst="rect">
            <a:avLst/>
          </a:prstGeom>
          <a:noFill/>
          <a:ln/>
        </p:spPr>
        <p:txBody>
          <a:bodyPr wrap="square" lIns="0" tIns="0" rIns="0" bIns="0" rtlCol="0" anchor="ctr"/>
          <a:lstStyle/>
          <a:p>
            <a:pPr marL="0" indent="0" algn="ctr">
              <a:buNone/>
            </a:pPr>
            <a:r>
              <a:rPr lang="en-US" sz="2600" b="1" dirty="0">
                <a:solidFill>
                  <a:srgbClr val="222121"/>
                </a:solidFill>
                <a:latin typeface="Arial" pitchFamily="34" charset="0"/>
                <a:ea typeface="Arial" pitchFamily="34" charset="-122"/>
                <a:cs typeface="Arial" pitchFamily="34" charset="-120"/>
              </a:rPr>
              <a:t>3</a:t>
            </a:r>
            <a:endParaRPr lang="en-US" sz="2600" dirty="0"/>
          </a:p>
        </p:txBody>
      </p:sp>
      <p:sp>
        <p:nvSpPr>
          <p:cNvPr id="5" name="Text 3"/>
          <p:cNvSpPr/>
          <p:nvPr/>
        </p:nvSpPr>
        <p:spPr>
          <a:xfrm>
            <a:off x="1691640" y="1463040"/>
            <a:ext cx="9905695" cy="914400"/>
          </a:xfrm>
          <a:prstGeom prst="rect">
            <a:avLst/>
          </a:prstGeom>
          <a:noFill/>
          <a:ln/>
        </p:spPr>
        <p:txBody>
          <a:bodyPr wrap="square" lIns="0" tIns="0" rIns="0" bIns="0" rtlCol="0" anchor="ctr"/>
          <a:lstStyle/>
          <a:p>
            <a:pPr marL="0" indent="0" algn="l">
              <a:lnSpc>
                <a:spcPct val="102000"/>
              </a:lnSpc>
              <a:buNone/>
            </a:pPr>
            <a:r>
              <a:rPr lang="en-US" sz="3000" b="1" dirty="0">
                <a:solidFill>
                  <a:srgbClr val="FFFFFF"/>
                </a:solidFill>
                <a:latin typeface="Arial" pitchFamily="34" charset="0"/>
                <a:ea typeface="Arial" pitchFamily="34" charset="-122"/>
                <a:cs typeface="Arial" pitchFamily="34" charset="-120"/>
              </a:rPr>
              <a:t>Design tokens = constrained values</a:t>
            </a:r>
            <a:endParaRPr lang="en-US" sz="3000" dirty="0"/>
          </a:p>
        </p:txBody>
      </p:sp>
      <p:sp>
        <p:nvSpPr>
          <p:cNvPr id="6" name="Shape 4"/>
          <p:cNvSpPr/>
          <p:nvPr/>
        </p:nvSpPr>
        <p:spPr>
          <a:xfrm>
            <a:off x="594360" y="2962656"/>
            <a:ext cx="118872" cy="118872"/>
          </a:xfrm>
          <a:prstGeom prst="rect">
            <a:avLst/>
          </a:prstGeom>
          <a:solidFill>
            <a:srgbClr val="75DFBC"/>
          </a:solidFill>
          <a:ln/>
        </p:spPr>
        <p:txBody>
          <a:bodyPr/>
          <a:lstStyle/>
          <a:p>
            <a:endParaRPr lang="en-US" sz="2400"/>
          </a:p>
        </p:txBody>
      </p:sp>
      <p:sp>
        <p:nvSpPr>
          <p:cNvPr id="7" name="Text 5"/>
          <p:cNvSpPr/>
          <p:nvPr/>
        </p:nvSpPr>
        <p:spPr>
          <a:xfrm>
            <a:off x="886968" y="2880360"/>
            <a:ext cx="5742432" cy="457200"/>
          </a:xfrm>
          <a:prstGeom prst="rect">
            <a:avLst/>
          </a:prstGeom>
          <a:noFill/>
          <a:ln/>
        </p:spPr>
        <p:txBody>
          <a:bodyPr wrap="square" lIns="0" tIns="0" rIns="0" bIns="0" rtlCol="0" anchor="t"/>
          <a:lstStyle/>
          <a:p>
            <a:pPr marL="0" indent="0" algn="l">
              <a:lnSpc>
                <a:spcPct val="105000"/>
              </a:lnSpc>
              <a:buNone/>
            </a:pPr>
            <a:r>
              <a:rPr lang="en-US" sz="2000" dirty="0">
                <a:solidFill>
                  <a:srgbClr val="FFFFFF"/>
                </a:solidFill>
                <a:latin typeface="Arial" pitchFamily="34" charset="0"/>
                <a:ea typeface="Arial" pitchFamily="34" charset="-122"/>
                <a:cs typeface="Arial" pitchFamily="34" charset="-120"/>
              </a:rPr>
              <a:t>Spacing, color, radius all come from a fixed scale</a:t>
            </a:r>
            <a:endParaRPr lang="en-US" sz="2000" dirty="0"/>
          </a:p>
        </p:txBody>
      </p:sp>
      <p:sp>
        <p:nvSpPr>
          <p:cNvPr id="8" name="Shape 6"/>
          <p:cNvSpPr/>
          <p:nvPr/>
        </p:nvSpPr>
        <p:spPr>
          <a:xfrm>
            <a:off x="594360" y="3937367"/>
            <a:ext cx="118872" cy="118872"/>
          </a:xfrm>
          <a:prstGeom prst="rect">
            <a:avLst/>
          </a:prstGeom>
          <a:solidFill>
            <a:srgbClr val="75DFBC"/>
          </a:solidFill>
          <a:ln/>
        </p:spPr>
        <p:txBody>
          <a:bodyPr/>
          <a:lstStyle/>
          <a:p>
            <a:endParaRPr lang="en-US" sz="2400"/>
          </a:p>
        </p:txBody>
      </p:sp>
      <p:sp>
        <p:nvSpPr>
          <p:cNvPr id="9" name="Text 7"/>
          <p:cNvSpPr/>
          <p:nvPr/>
        </p:nvSpPr>
        <p:spPr>
          <a:xfrm>
            <a:off x="886968" y="3855071"/>
            <a:ext cx="5742432" cy="457200"/>
          </a:xfrm>
          <a:prstGeom prst="rect">
            <a:avLst/>
          </a:prstGeom>
          <a:noFill/>
          <a:ln/>
        </p:spPr>
        <p:txBody>
          <a:bodyPr wrap="square" lIns="0" tIns="0" rIns="0" bIns="0" rtlCol="0" anchor="t"/>
          <a:lstStyle/>
          <a:p>
            <a:pPr marL="0" indent="0" algn="l">
              <a:lnSpc>
                <a:spcPct val="105000"/>
              </a:lnSpc>
              <a:buNone/>
            </a:pPr>
            <a:r>
              <a:rPr lang="en-US" sz="2000" dirty="0">
                <a:solidFill>
                  <a:srgbClr val="FFFFFF"/>
                </a:solidFill>
                <a:latin typeface="Arial" pitchFamily="34" charset="0"/>
                <a:ea typeface="Arial" pitchFamily="34" charset="-122"/>
                <a:cs typeface="Arial" pitchFamily="34" charset="-120"/>
              </a:rPr>
              <a:t>The model picks p-4 from a menu…</a:t>
            </a:r>
            <a:endParaRPr lang="en-US" sz="2000" dirty="0"/>
          </a:p>
        </p:txBody>
      </p:sp>
      <p:sp>
        <p:nvSpPr>
          <p:cNvPr id="10" name="Shape 8"/>
          <p:cNvSpPr/>
          <p:nvPr/>
        </p:nvSpPr>
        <p:spPr>
          <a:xfrm>
            <a:off x="594360" y="4822585"/>
            <a:ext cx="118872" cy="118872"/>
          </a:xfrm>
          <a:prstGeom prst="rect">
            <a:avLst/>
          </a:prstGeom>
          <a:solidFill>
            <a:srgbClr val="FF6A4C"/>
          </a:solidFill>
          <a:ln/>
        </p:spPr>
        <p:txBody>
          <a:bodyPr/>
          <a:lstStyle/>
          <a:p>
            <a:endParaRPr lang="en-US" sz="2400"/>
          </a:p>
        </p:txBody>
      </p:sp>
      <p:sp>
        <p:nvSpPr>
          <p:cNvPr id="11" name="Text 9"/>
          <p:cNvSpPr/>
          <p:nvPr/>
        </p:nvSpPr>
        <p:spPr>
          <a:xfrm>
            <a:off x="886968" y="4740289"/>
            <a:ext cx="5742432" cy="457200"/>
          </a:xfrm>
          <a:prstGeom prst="rect">
            <a:avLst/>
          </a:prstGeom>
          <a:noFill/>
          <a:ln/>
        </p:spPr>
        <p:txBody>
          <a:bodyPr wrap="square" lIns="0" tIns="0" rIns="0" bIns="0" rtlCol="0" anchor="t"/>
          <a:lstStyle/>
          <a:p>
            <a:pPr marL="0" indent="0" algn="l">
              <a:lnSpc>
                <a:spcPct val="105000"/>
              </a:lnSpc>
              <a:buNone/>
            </a:pPr>
            <a:r>
              <a:rPr lang="en-US" sz="2000" dirty="0">
                <a:solidFill>
                  <a:srgbClr val="FFFFFF"/>
                </a:solidFill>
                <a:latin typeface="Arial" pitchFamily="34" charset="0"/>
                <a:ea typeface="Arial" pitchFamily="34" charset="-122"/>
                <a:cs typeface="Arial" pitchFamily="34" charset="-120"/>
              </a:rPr>
              <a:t>…instead of hallucinating padding: 13px</a:t>
            </a:r>
            <a:endParaRPr lang="en-US" sz="2000" dirty="0"/>
          </a:p>
        </p:txBody>
      </p:sp>
      <p:sp>
        <p:nvSpPr>
          <p:cNvPr id="12" name="Shape 10"/>
          <p:cNvSpPr/>
          <p:nvPr/>
        </p:nvSpPr>
        <p:spPr>
          <a:xfrm>
            <a:off x="594360" y="5724144"/>
            <a:ext cx="118872" cy="118872"/>
          </a:xfrm>
          <a:prstGeom prst="rect">
            <a:avLst/>
          </a:prstGeom>
          <a:solidFill>
            <a:srgbClr val="75DFBC"/>
          </a:solidFill>
          <a:ln/>
        </p:spPr>
        <p:txBody>
          <a:bodyPr/>
          <a:lstStyle/>
          <a:p>
            <a:endParaRPr lang="en-US" sz="2400"/>
          </a:p>
        </p:txBody>
      </p:sp>
      <p:sp>
        <p:nvSpPr>
          <p:cNvPr id="13" name="Text 11"/>
          <p:cNvSpPr/>
          <p:nvPr/>
        </p:nvSpPr>
        <p:spPr>
          <a:xfrm>
            <a:off x="886968" y="5641848"/>
            <a:ext cx="5742432" cy="457200"/>
          </a:xfrm>
          <a:prstGeom prst="rect">
            <a:avLst/>
          </a:prstGeom>
          <a:noFill/>
          <a:ln/>
        </p:spPr>
        <p:txBody>
          <a:bodyPr wrap="square" lIns="0" tIns="0" rIns="0" bIns="0" rtlCol="0" anchor="t"/>
          <a:lstStyle/>
          <a:p>
            <a:pPr marL="0" indent="0" algn="l">
              <a:lnSpc>
                <a:spcPct val="105000"/>
              </a:lnSpc>
              <a:buNone/>
            </a:pPr>
            <a:r>
              <a:rPr lang="en-US" sz="2000" dirty="0">
                <a:solidFill>
                  <a:srgbClr val="FFFFFF"/>
                </a:solidFill>
                <a:latin typeface="Arial" pitchFamily="34" charset="0"/>
                <a:ea typeface="Arial" pitchFamily="34" charset="-122"/>
                <a:cs typeface="Arial" pitchFamily="34" charset="-120"/>
              </a:rPr>
              <a:t>Constraints guide the model</a:t>
            </a:r>
            <a:endParaRPr lang="en-US" sz="2000" dirty="0"/>
          </a:p>
        </p:txBody>
      </p:sp>
      <p:sp>
        <p:nvSpPr>
          <p:cNvPr id="14" name="Shape 12"/>
          <p:cNvSpPr/>
          <p:nvPr/>
        </p:nvSpPr>
        <p:spPr>
          <a:xfrm>
            <a:off x="6766560" y="4480560"/>
            <a:ext cx="749808" cy="365760"/>
          </a:xfrm>
          <a:prstGeom prst="roundRect">
            <a:avLst>
              <a:gd name="adj" fmla="val 15000"/>
            </a:avLst>
          </a:prstGeom>
          <a:solidFill>
            <a:srgbClr val="2C2B2B"/>
          </a:solidFill>
          <a:ln w="12700">
            <a:solidFill>
              <a:srgbClr val="3A3A3A"/>
            </a:solidFill>
            <a:prstDash val="solid"/>
          </a:ln>
        </p:spPr>
        <p:txBody>
          <a:bodyPr/>
          <a:lstStyle/>
          <a:p>
            <a:endParaRPr lang="en-US" sz="2800"/>
          </a:p>
        </p:txBody>
      </p:sp>
      <p:sp>
        <p:nvSpPr>
          <p:cNvPr id="15" name="Text 13"/>
          <p:cNvSpPr/>
          <p:nvPr/>
        </p:nvSpPr>
        <p:spPr>
          <a:xfrm>
            <a:off x="6766560" y="4937760"/>
            <a:ext cx="749808" cy="320040"/>
          </a:xfrm>
          <a:prstGeom prst="rect">
            <a:avLst/>
          </a:prstGeom>
          <a:noFill/>
          <a:ln/>
        </p:spPr>
        <p:txBody>
          <a:bodyPr wrap="square" lIns="0" tIns="0" rIns="0" bIns="0" rtlCol="0" anchor="ctr"/>
          <a:lstStyle/>
          <a:p>
            <a:pPr marL="0" indent="0" algn="ctr">
              <a:buNone/>
            </a:pPr>
            <a:r>
              <a:rPr lang="en-US" sz="1600" dirty="0">
                <a:solidFill>
                  <a:srgbClr val="A6A6A6"/>
                </a:solidFill>
                <a:latin typeface="Courier New" pitchFamily="34" charset="0"/>
                <a:ea typeface="Courier New" pitchFamily="34" charset="-122"/>
                <a:cs typeface="Courier New" pitchFamily="34" charset="-120"/>
              </a:rPr>
              <a:t>p-1</a:t>
            </a:r>
            <a:endParaRPr lang="en-US" sz="1600" dirty="0"/>
          </a:p>
        </p:txBody>
      </p:sp>
      <p:sp>
        <p:nvSpPr>
          <p:cNvPr id="16" name="Shape 14"/>
          <p:cNvSpPr/>
          <p:nvPr/>
        </p:nvSpPr>
        <p:spPr>
          <a:xfrm>
            <a:off x="7562088" y="4224528"/>
            <a:ext cx="749808" cy="621792"/>
          </a:xfrm>
          <a:prstGeom prst="roundRect">
            <a:avLst>
              <a:gd name="adj" fmla="val 8824"/>
            </a:avLst>
          </a:prstGeom>
          <a:solidFill>
            <a:srgbClr val="2C2B2B"/>
          </a:solidFill>
          <a:ln w="12700">
            <a:solidFill>
              <a:srgbClr val="3A3A3A"/>
            </a:solidFill>
            <a:prstDash val="solid"/>
          </a:ln>
        </p:spPr>
        <p:txBody>
          <a:bodyPr/>
          <a:lstStyle/>
          <a:p>
            <a:endParaRPr lang="en-US" sz="2800"/>
          </a:p>
        </p:txBody>
      </p:sp>
      <p:sp>
        <p:nvSpPr>
          <p:cNvPr id="17" name="Text 15"/>
          <p:cNvSpPr/>
          <p:nvPr/>
        </p:nvSpPr>
        <p:spPr>
          <a:xfrm>
            <a:off x="7562088" y="4937760"/>
            <a:ext cx="749808" cy="320040"/>
          </a:xfrm>
          <a:prstGeom prst="rect">
            <a:avLst/>
          </a:prstGeom>
          <a:noFill/>
          <a:ln/>
        </p:spPr>
        <p:txBody>
          <a:bodyPr wrap="square" lIns="0" tIns="0" rIns="0" bIns="0" rtlCol="0" anchor="ctr"/>
          <a:lstStyle/>
          <a:p>
            <a:pPr marL="0" indent="0" algn="ctr">
              <a:buNone/>
            </a:pPr>
            <a:r>
              <a:rPr lang="en-US" sz="1600" dirty="0">
                <a:solidFill>
                  <a:srgbClr val="A6A6A6"/>
                </a:solidFill>
                <a:latin typeface="Courier New" pitchFamily="34" charset="0"/>
                <a:ea typeface="Courier New" pitchFamily="34" charset="-122"/>
                <a:cs typeface="Courier New" pitchFamily="34" charset="-120"/>
              </a:rPr>
              <a:t>p-2</a:t>
            </a:r>
            <a:endParaRPr lang="en-US" sz="1600" dirty="0"/>
          </a:p>
        </p:txBody>
      </p:sp>
      <p:sp>
        <p:nvSpPr>
          <p:cNvPr id="18" name="Shape 16"/>
          <p:cNvSpPr/>
          <p:nvPr/>
        </p:nvSpPr>
        <p:spPr>
          <a:xfrm>
            <a:off x="8357616" y="3968496"/>
            <a:ext cx="749808" cy="877824"/>
          </a:xfrm>
          <a:prstGeom prst="roundRect">
            <a:avLst>
              <a:gd name="adj" fmla="val 7317"/>
            </a:avLst>
          </a:prstGeom>
          <a:solidFill>
            <a:srgbClr val="2C2B2B"/>
          </a:solidFill>
          <a:ln w="12700">
            <a:solidFill>
              <a:srgbClr val="3A3A3A"/>
            </a:solidFill>
            <a:prstDash val="solid"/>
          </a:ln>
        </p:spPr>
        <p:txBody>
          <a:bodyPr/>
          <a:lstStyle/>
          <a:p>
            <a:endParaRPr lang="en-US" sz="2800"/>
          </a:p>
        </p:txBody>
      </p:sp>
      <p:sp>
        <p:nvSpPr>
          <p:cNvPr id="19" name="Text 17"/>
          <p:cNvSpPr/>
          <p:nvPr/>
        </p:nvSpPr>
        <p:spPr>
          <a:xfrm>
            <a:off x="8357616" y="4937760"/>
            <a:ext cx="749808" cy="320040"/>
          </a:xfrm>
          <a:prstGeom prst="rect">
            <a:avLst/>
          </a:prstGeom>
          <a:noFill/>
          <a:ln/>
        </p:spPr>
        <p:txBody>
          <a:bodyPr wrap="square" lIns="0" tIns="0" rIns="0" bIns="0" rtlCol="0" anchor="ctr"/>
          <a:lstStyle/>
          <a:p>
            <a:pPr marL="0" indent="0" algn="ctr">
              <a:buNone/>
            </a:pPr>
            <a:r>
              <a:rPr lang="en-US" sz="1600" dirty="0">
                <a:solidFill>
                  <a:srgbClr val="A6A6A6"/>
                </a:solidFill>
                <a:latin typeface="Courier New" pitchFamily="34" charset="0"/>
                <a:ea typeface="Courier New" pitchFamily="34" charset="-122"/>
                <a:cs typeface="Courier New" pitchFamily="34" charset="-120"/>
              </a:rPr>
              <a:t>p-3</a:t>
            </a:r>
            <a:endParaRPr lang="en-US" sz="1600" dirty="0"/>
          </a:p>
        </p:txBody>
      </p:sp>
      <p:sp>
        <p:nvSpPr>
          <p:cNvPr id="20" name="Shape 18"/>
          <p:cNvSpPr/>
          <p:nvPr/>
        </p:nvSpPr>
        <p:spPr>
          <a:xfrm>
            <a:off x="9153144" y="3712464"/>
            <a:ext cx="749808" cy="1133856"/>
          </a:xfrm>
          <a:prstGeom prst="roundRect">
            <a:avLst>
              <a:gd name="adj" fmla="val 7317"/>
            </a:avLst>
          </a:prstGeom>
          <a:solidFill>
            <a:srgbClr val="75DFBC"/>
          </a:solidFill>
          <a:ln w="12700">
            <a:solidFill>
              <a:srgbClr val="75DFBC"/>
            </a:solidFill>
            <a:prstDash val="solid"/>
          </a:ln>
        </p:spPr>
        <p:txBody>
          <a:bodyPr/>
          <a:lstStyle/>
          <a:p>
            <a:endParaRPr lang="en-US" sz="2800"/>
          </a:p>
        </p:txBody>
      </p:sp>
      <p:sp>
        <p:nvSpPr>
          <p:cNvPr id="21" name="Text 19"/>
          <p:cNvSpPr/>
          <p:nvPr/>
        </p:nvSpPr>
        <p:spPr>
          <a:xfrm>
            <a:off x="9153144" y="4937760"/>
            <a:ext cx="749808" cy="320040"/>
          </a:xfrm>
          <a:prstGeom prst="rect">
            <a:avLst/>
          </a:prstGeom>
          <a:noFill/>
          <a:ln/>
        </p:spPr>
        <p:txBody>
          <a:bodyPr wrap="square" lIns="0" tIns="0" rIns="0" bIns="0" rtlCol="0" anchor="ctr"/>
          <a:lstStyle/>
          <a:p>
            <a:pPr marL="0" indent="0" algn="ctr">
              <a:buNone/>
            </a:pPr>
            <a:r>
              <a:rPr lang="en-US" sz="1600" dirty="0">
                <a:solidFill>
                  <a:srgbClr val="75DFBC"/>
                </a:solidFill>
                <a:latin typeface="Courier New" pitchFamily="34" charset="0"/>
                <a:ea typeface="Courier New" pitchFamily="34" charset="-122"/>
                <a:cs typeface="Courier New" pitchFamily="34" charset="-120"/>
              </a:rPr>
              <a:t>p-4</a:t>
            </a:r>
            <a:endParaRPr lang="en-US" sz="1600" dirty="0"/>
          </a:p>
        </p:txBody>
      </p:sp>
      <p:sp>
        <p:nvSpPr>
          <p:cNvPr id="22" name="Shape 20"/>
          <p:cNvSpPr/>
          <p:nvPr/>
        </p:nvSpPr>
        <p:spPr>
          <a:xfrm>
            <a:off x="9948672" y="3456432"/>
            <a:ext cx="749808" cy="1389888"/>
          </a:xfrm>
          <a:prstGeom prst="roundRect">
            <a:avLst>
              <a:gd name="adj" fmla="val 7317"/>
            </a:avLst>
          </a:prstGeom>
          <a:solidFill>
            <a:srgbClr val="2C2B2B"/>
          </a:solidFill>
          <a:ln w="12700">
            <a:solidFill>
              <a:srgbClr val="3A3A3A"/>
            </a:solidFill>
            <a:prstDash val="solid"/>
          </a:ln>
        </p:spPr>
        <p:txBody>
          <a:bodyPr/>
          <a:lstStyle/>
          <a:p>
            <a:endParaRPr lang="en-US" sz="2800"/>
          </a:p>
        </p:txBody>
      </p:sp>
      <p:sp>
        <p:nvSpPr>
          <p:cNvPr id="23" name="Text 21"/>
          <p:cNvSpPr/>
          <p:nvPr/>
        </p:nvSpPr>
        <p:spPr>
          <a:xfrm>
            <a:off x="9948672" y="4937760"/>
            <a:ext cx="749808" cy="320040"/>
          </a:xfrm>
          <a:prstGeom prst="rect">
            <a:avLst/>
          </a:prstGeom>
          <a:noFill/>
          <a:ln/>
        </p:spPr>
        <p:txBody>
          <a:bodyPr wrap="square" lIns="0" tIns="0" rIns="0" bIns="0" rtlCol="0" anchor="ctr"/>
          <a:lstStyle/>
          <a:p>
            <a:pPr marL="0" indent="0" algn="ctr">
              <a:buNone/>
            </a:pPr>
            <a:r>
              <a:rPr lang="en-US" sz="1600" dirty="0">
                <a:solidFill>
                  <a:srgbClr val="A6A6A6"/>
                </a:solidFill>
                <a:latin typeface="Courier New" pitchFamily="34" charset="0"/>
                <a:ea typeface="Courier New" pitchFamily="34" charset="-122"/>
                <a:cs typeface="Courier New" pitchFamily="34" charset="-120"/>
              </a:rPr>
              <a:t>p-6</a:t>
            </a:r>
            <a:endParaRPr lang="en-US" sz="1600" dirty="0"/>
          </a:p>
        </p:txBody>
      </p:sp>
      <p:sp>
        <p:nvSpPr>
          <p:cNvPr id="24" name="Shape 22"/>
          <p:cNvSpPr/>
          <p:nvPr/>
        </p:nvSpPr>
        <p:spPr>
          <a:xfrm>
            <a:off x="10744200" y="3200400"/>
            <a:ext cx="749808" cy="1645920"/>
          </a:xfrm>
          <a:prstGeom prst="roundRect">
            <a:avLst>
              <a:gd name="adj" fmla="val 7317"/>
            </a:avLst>
          </a:prstGeom>
          <a:solidFill>
            <a:srgbClr val="2C2B2B"/>
          </a:solidFill>
          <a:ln w="12700">
            <a:solidFill>
              <a:srgbClr val="3A3A3A"/>
            </a:solidFill>
            <a:prstDash val="solid"/>
          </a:ln>
        </p:spPr>
        <p:txBody>
          <a:bodyPr/>
          <a:lstStyle/>
          <a:p>
            <a:endParaRPr lang="en-US" sz="2800"/>
          </a:p>
        </p:txBody>
      </p:sp>
      <p:sp>
        <p:nvSpPr>
          <p:cNvPr id="25" name="Text 23"/>
          <p:cNvSpPr/>
          <p:nvPr/>
        </p:nvSpPr>
        <p:spPr>
          <a:xfrm>
            <a:off x="10744200" y="4937760"/>
            <a:ext cx="749808" cy="320040"/>
          </a:xfrm>
          <a:prstGeom prst="rect">
            <a:avLst/>
          </a:prstGeom>
          <a:noFill/>
          <a:ln/>
        </p:spPr>
        <p:txBody>
          <a:bodyPr wrap="square" lIns="0" tIns="0" rIns="0" bIns="0" rtlCol="0" anchor="ctr"/>
          <a:lstStyle/>
          <a:p>
            <a:pPr marL="0" indent="0" algn="ctr">
              <a:buNone/>
            </a:pPr>
            <a:r>
              <a:rPr lang="en-US" sz="1600" dirty="0">
                <a:solidFill>
                  <a:srgbClr val="A6A6A6"/>
                </a:solidFill>
                <a:latin typeface="Courier New" pitchFamily="34" charset="0"/>
                <a:ea typeface="Courier New" pitchFamily="34" charset="-122"/>
                <a:cs typeface="Courier New" pitchFamily="34" charset="-120"/>
              </a:rPr>
              <a:t>p-8</a:t>
            </a:r>
            <a:endParaRPr lang="en-US" sz="1600" dirty="0"/>
          </a:p>
        </p:txBody>
      </p:sp>
      <p:sp>
        <p:nvSpPr>
          <p:cNvPr id="26" name="Text 24"/>
          <p:cNvSpPr/>
          <p:nvPr/>
        </p:nvSpPr>
        <p:spPr>
          <a:xfrm>
            <a:off x="6766560" y="2560320"/>
            <a:ext cx="4754880" cy="365760"/>
          </a:xfrm>
          <a:prstGeom prst="rect">
            <a:avLst/>
          </a:prstGeom>
          <a:noFill/>
          <a:ln/>
        </p:spPr>
        <p:txBody>
          <a:bodyPr wrap="square" lIns="0" tIns="0" rIns="0" bIns="0" rtlCol="0" anchor="ctr"/>
          <a:lstStyle/>
          <a:p>
            <a:pPr marL="0" indent="0" algn="l">
              <a:buNone/>
            </a:pPr>
            <a:r>
              <a:rPr lang="en-US" i="1" dirty="0">
                <a:solidFill>
                  <a:srgbClr val="6E6E6E"/>
                </a:solidFill>
                <a:latin typeface="Arial" pitchFamily="34" charset="0"/>
                <a:ea typeface="Arial" pitchFamily="34" charset="-122"/>
                <a:cs typeface="Arial" pitchFamily="34" charset="-120"/>
              </a:rPr>
              <a:t>a small, safe menu</a:t>
            </a:r>
            <a:endParaRPr lang="en-US" dirty="0"/>
          </a:p>
        </p:txBody>
      </p:sp>
      <p:sp>
        <p:nvSpPr>
          <p:cNvPr id="27" name="Text 25"/>
          <p:cNvSpPr/>
          <p:nvPr/>
        </p:nvSpPr>
        <p:spPr>
          <a:xfrm>
            <a:off x="594360" y="6419088"/>
            <a:ext cx="8229600" cy="274320"/>
          </a:xfrm>
          <a:prstGeom prst="rect">
            <a:avLst/>
          </a:prstGeom>
          <a:noFill/>
          <a:ln/>
        </p:spPr>
        <p:txBody>
          <a:bodyPr wrap="square" lIns="0" tIns="0" rIns="0" bIns="0" rtlCol="0" anchor="ctr"/>
          <a:lstStyle/>
          <a:p>
            <a:pPr marL="0" indent="0" algn="l">
              <a:buNone/>
            </a:pPr>
            <a:r>
              <a:rPr lang="en-US" sz="900" dirty="0">
                <a:solidFill>
                  <a:srgbClr val="6E6E6E"/>
                </a:solidFill>
                <a:latin typeface="Arial" pitchFamily="34" charset="0"/>
                <a:ea typeface="Arial" pitchFamily="34" charset="-122"/>
                <a:cs typeface="Arial" pitchFamily="34" charset="-120"/>
              </a:rPr>
              <a:t>Why LLMs &amp; JS frameworks love Tailwind CSS</a:t>
            </a:r>
            <a:endParaRPr lang="en-US" sz="900" dirty="0"/>
          </a:p>
        </p:txBody>
      </p:sp>
      <p:sp>
        <p:nvSpPr>
          <p:cNvPr id="28" name="Text 26"/>
          <p:cNvSpPr/>
          <p:nvPr/>
        </p:nvSpPr>
        <p:spPr>
          <a:xfrm>
            <a:off x="10134295" y="6419088"/>
            <a:ext cx="1463040" cy="274320"/>
          </a:xfrm>
          <a:prstGeom prst="rect">
            <a:avLst/>
          </a:prstGeom>
          <a:noFill/>
          <a:ln/>
        </p:spPr>
        <p:txBody>
          <a:bodyPr wrap="square" lIns="0" tIns="0" rIns="0" bIns="0" rtlCol="0" anchor="ctr"/>
          <a:lstStyle/>
          <a:p>
            <a:pPr marL="0" indent="0" algn="r">
              <a:buNone/>
            </a:pPr>
            <a:r>
              <a:rPr lang="en-US" sz="900" dirty="0">
                <a:solidFill>
                  <a:srgbClr val="6E6E6E"/>
                </a:solidFill>
                <a:latin typeface="Arial" pitchFamily="34" charset="0"/>
                <a:ea typeface="Arial" pitchFamily="34" charset="-122"/>
                <a:cs typeface="Arial" pitchFamily="34" charset="-120"/>
              </a:rPr>
              <a:t>15 / 29</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222121"/>
        </a:solidFill>
        <a:effectLst/>
      </p:bgPr>
    </p:bg>
    <p:spTree>
      <p:nvGrpSpPr>
        <p:cNvPr id="1" name=""/>
        <p:cNvGrpSpPr/>
        <p:nvPr/>
      </p:nvGrpSpPr>
      <p:grpSpPr>
        <a:xfrm>
          <a:off x="0" y="0"/>
          <a:ext cx="0" cy="0"/>
          <a:chOff x="0" y="0"/>
          <a:chExt cx="0" cy="0"/>
        </a:xfrm>
      </p:grpSpPr>
      <p:sp>
        <p:nvSpPr>
          <p:cNvPr id="2" name="Text 0"/>
          <p:cNvSpPr/>
          <p:nvPr/>
        </p:nvSpPr>
        <p:spPr>
          <a:xfrm>
            <a:off x="594360" y="502920"/>
            <a:ext cx="11002975" cy="274320"/>
          </a:xfrm>
          <a:prstGeom prst="rect">
            <a:avLst/>
          </a:prstGeom>
          <a:noFill/>
          <a:ln/>
        </p:spPr>
        <p:txBody>
          <a:bodyPr wrap="square" lIns="0" tIns="0" rIns="0" bIns="0" rtlCol="0" anchor="ctr"/>
          <a:lstStyle/>
          <a:p>
            <a:pPr marL="0" indent="0" algn="l">
              <a:buNone/>
            </a:pPr>
            <a:r>
              <a:rPr lang="en-US" sz="1200" b="1" kern="0" spc="300" dirty="0">
                <a:solidFill>
                  <a:srgbClr val="75DFBC"/>
                </a:solidFill>
                <a:latin typeface="Arial" pitchFamily="34" charset="0"/>
                <a:ea typeface="Arial" pitchFamily="34" charset="-122"/>
                <a:cs typeface="Arial" pitchFamily="34" charset="-120"/>
              </a:rPr>
              <a:t>WHY IT WORKS</a:t>
            </a:r>
            <a:endParaRPr lang="en-US" sz="1200" dirty="0"/>
          </a:p>
        </p:txBody>
      </p:sp>
      <p:sp>
        <p:nvSpPr>
          <p:cNvPr id="3" name="Shape 1"/>
          <p:cNvSpPr/>
          <p:nvPr/>
        </p:nvSpPr>
        <p:spPr>
          <a:xfrm>
            <a:off x="594360" y="1463040"/>
            <a:ext cx="822960" cy="822960"/>
          </a:xfrm>
          <a:prstGeom prst="ellipse">
            <a:avLst/>
          </a:prstGeom>
          <a:solidFill>
            <a:srgbClr val="75DFBC"/>
          </a:solidFill>
          <a:ln/>
        </p:spPr>
        <p:txBody>
          <a:bodyPr/>
          <a:lstStyle/>
          <a:p>
            <a:endParaRPr lang="en-US"/>
          </a:p>
        </p:txBody>
      </p:sp>
      <p:sp>
        <p:nvSpPr>
          <p:cNvPr id="4" name="Text 2"/>
          <p:cNvSpPr/>
          <p:nvPr/>
        </p:nvSpPr>
        <p:spPr>
          <a:xfrm>
            <a:off x="594360" y="1463040"/>
            <a:ext cx="822960" cy="822960"/>
          </a:xfrm>
          <a:prstGeom prst="rect">
            <a:avLst/>
          </a:prstGeom>
          <a:noFill/>
          <a:ln/>
        </p:spPr>
        <p:txBody>
          <a:bodyPr wrap="square" lIns="0" tIns="0" rIns="0" bIns="0" rtlCol="0" anchor="ctr"/>
          <a:lstStyle/>
          <a:p>
            <a:pPr marL="0" indent="0" algn="ctr">
              <a:buNone/>
            </a:pPr>
            <a:r>
              <a:rPr lang="en-US" sz="2600" b="1" dirty="0">
                <a:solidFill>
                  <a:srgbClr val="222121"/>
                </a:solidFill>
                <a:latin typeface="Arial" pitchFamily="34" charset="0"/>
                <a:ea typeface="Arial" pitchFamily="34" charset="-122"/>
                <a:cs typeface="Arial" pitchFamily="34" charset="-120"/>
              </a:rPr>
              <a:t>4</a:t>
            </a:r>
            <a:endParaRPr lang="en-US" sz="2600" dirty="0"/>
          </a:p>
        </p:txBody>
      </p:sp>
      <p:sp>
        <p:nvSpPr>
          <p:cNvPr id="5" name="Text 3"/>
          <p:cNvSpPr/>
          <p:nvPr/>
        </p:nvSpPr>
        <p:spPr>
          <a:xfrm>
            <a:off x="1691640" y="1463040"/>
            <a:ext cx="9905695" cy="914400"/>
          </a:xfrm>
          <a:prstGeom prst="rect">
            <a:avLst/>
          </a:prstGeom>
          <a:noFill/>
          <a:ln/>
        </p:spPr>
        <p:txBody>
          <a:bodyPr wrap="square" lIns="0" tIns="0" rIns="0" bIns="0" rtlCol="0" anchor="ctr"/>
          <a:lstStyle/>
          <a:p>
            <a:pPr marL="0" indent="0" algn="l">
              <a:lnSpc>
                <a:spcPct val="102000"/>
              </a:lnSpc>
              <a:buNone/>
            </a:pPr>
            <a:r>
              <a:rPr lang="en-US" sz="3000" b="1" dirty="0">
                <a:solidFill>
                  <a:srgbClr val="FFFFFF"/>
                </a:solidFill>
                <a:latin typeface="Arial" pitchFamily="34" charset="0"/>
                <a:ea typeface="Arial" pitchFamily="34" charset="-122"/>
                <a:cs typeface="Arial" pitchFamily="34" charset="-120"/>
              </a:rPr>
              <a:t>Deterministic, global mapping</a:t>
            </a:r>
            <a:endParaRPr lang="en-US" sz="3000" dirty="0"/>
          </a:p>
        </p:txBody>
      </p:sp>
      <p:sp>
        <p:nvSpPr>
          <p:cNvPr id="6" name="Shape 4"/>
          <p:cNvSpPr/>
          <p:nvPr/>
        </p:nvSpPr>
        <p:spPr>
          <a:xfrm>
            <a:off x="594360" y="2962656"/>
            <a:ext cx="118872" cy="118872"/>
          </a:xfrm>
          <a:prstGeom prst="rect">
            <a:avLst/>
          </a:prstGeom>
          <a:solidFill>
            <a:srgbClr val="75DFBC"/>
          </a:solidFill>
          <a:ln/>
        </p:spPr>
        <p:txBody>
          <a:bodyPr/>
          <a:lstStyle/>
          <a:p>
            <a:endParaRPr lang="en-US" sz="2000"/>
          </a:p>
        </p:txBody>
      </p:sp>
      <p:sp>
        <p:nvSpPr>
          <p:cNvPr id="7" name="Text 5"/>
          <p:cNvSpPr/>
          <p:nvPr/>
        </p:nvSpPr>
        <p:spPr>
          <a:xfrm>
            <a:off x="886968" y="2880360"/>
            <a:ext cx="5742432" cy="457200"/>
          </a:xfrm>
          <a:prstGeom prst="rect">
            <a:avLst/>
          </a:prstGeom>
          <a:noFill/>
          <a:ln/>
        </p:spPr>
        <p:txBody>
          <a:bodyPr wrap="square" lIns="0" tIns="0" rIns="0" bIns="0" rtlCol="0" anchor="t"/>
          <a:lstStyle/>
          <a:p>
            <a:pPr marL="0" indent="0" algn="l">
              <a:lnSpc>
                <a:spcPct val="105000"/>
              </a:lnSpc>
              <a:buNone/>
            </a:pPr>
            <a:r>
              <a:rPr lang="en-US" dirty="0">
                <a:solidFill>
                  <a:srgbClr val="FFFFFF"/>
                </a:solidFill>
                <a:latin typeface="Arial" pitchFamily="34" charset="0"/>
                <a:ea typeface="Arial" pitchFamily="34" charset="-122"/>
                <a:cs typeface="Arial" pitchFamily="34" charset="-120"/>
              </a:rPr>
              <a:t>mt-4 == margin-top: 1rem in every repo on earth</a:t>
            </a:r>
            <a:endParaRPr lang="en-US" dirty="0"/>
          </a:p>
        </p:txBody>
      </p:sp>
      <p:sp>
        <p:nvSpPr>
          <p:cNvPr id="8" name="Shape 6"/>
          <p:cNvSpPr/>
          <p:nvPr/>
        </p:nvSpPr>
        <p:spPr>
          <a:xfrm>
            <a:off x="594360" y="3739896"/>
            <a:ext cx="118872" cy="118872"/>
          </a:xfrm>
          <a:prstGeom prst="rect">
            <a:avLst/>
          </a:prstGeom>
          <a:solidFill>
            <a:srgbClr val="75DFBC"/>
          </a:solidFill>
          <a:ln/>
        </p:spPr>
        <p:txBody>
          <a:bodyPr/>
          <a:lstStyle/>
          <a:p>
            <a:endParaRPr lang="en-US" sz="2000"/>
          </a:p>
        </p:txBody>
      </p:sp>
      <p:sp>
        <p:nvSpPr>
          <p:cNvPr id="9" name="Text 7"/>
          <p:cNvSpPr/>
          <p:nvPr/>
        </p:nvSpPr>
        <p:spPr>
          <a:xfrm>
            <a:off x="886968" y="3657600"/>
            <a:ext cx="5742432" cy="457200"/>
          </a:xfrm>
          <a:prstGeom prst="rect">
            <a:avLst/>
          </a:prstGeom>
          <a:noFill/>
          <a:ln/>
        </p:spPr>
        <p:txBody>
          <a:bodyPr wrap="square" lIns="0" tIns="0" rIns="0" bIns="0" rtlCol="0" anchor="t"/>
          <a:lstStyle/>
          <a:p>
            <a:pPr marL="0" indent="0" algn="l">
              <a:lnSpc>
                <a:spcPct val="105000"/>
              </a:lnSpc>
              <a:buNone/>
            </a:pPr>
            <a:r>
              <a:rPr lang="en-US" dirty="0">
                <a:solidFill>
                  <a:srgbClr val="FFFFFF"/>
                </a:solidFill>
                <a:latin typeface="Arial" pitchFamily="34" charset="0"/>
                <a:ea typeface="Arial" pitchFamily="34" charset="-122"/>
                <a:cs typeface="Arial" pitchFamily="34" charset="-120"/>
              </a:rPr>
              <a:t>No “what does .spacer mean in THIS project?”</a:t>
            </a:r>
            <a:endParaRPr lang="en-US" dirty="0"/>
          </a:p>
        </p:txBody>
      </p:sp>
      <p:sp>
        <p:nvSpPr>
          <p:cNvPr id="10" name="Shape 8"/>
          <p:cNvSpPr/>
          <p:nvPr/>
        </p:nvSpPr>
        <p:spPr>
          <a:xfrm>
            <a:off x="594360" y="4581144"/>
            <a:ext cx="118872" cy="118872"/>
          </a:xfrm>
          <a:prstGeom prst="rect">
            <a:avLst/>
          </a:prstGeom>
          <a:solidFill>
            <a:srgbClr val="75DFBC"/>
          </a:solidFill>
          <a:ln/>
        </p:spPr>
        <p:txBody>
          <a:bodyPr/>
          <a:lstStyle/>
          <a:p>
            <a:endParaRPr lang="en-US" sz="2000"/>
          </a:p>
        </p:txBody>
      </p:sp>
      <p:sp>
        <p:nvSpPr>
          <p:cNvPr id="11" name="Text 9"/>
          <p:cNvSpPr/>
          <p:nvPr/>
        </p:nvSpPr>
        <p:spPr>
          <a:xfrm>
            <a:off x="886968" y="4498848"/>
            <a:ext cx="5742432" cy="457200"/>
          </a:xfrm>
          <a:prstGeom prst="rect">
            <a:avLst/>
          </a:prstGeom>
          <a:noFill/>
          <a:ln/>
        </p:spPr>
        <p:txBody>
          <a:bodyPr wrap="square" lIns="0" tIns="0" rIns="0" bIns="0" rtlCol="0" anchor="t"/>
          <a:lstStyle/>
          <a:p>
            <a:pPr marL="0" indent="0" algn="l">
              <a:lnSpc>
                <a:spcPct val="105000"/>
              </a:lnSpc>
              <a:buNone/>
            </a:pPr>
            <a:r>
              <a:rPr lang="en-US" dirty="0">
                <a:solidFill>
                  <a:srgbClr val="FFFFFF"/>
                </a:solidFill>
                <a:latin typeface="Arial" pitchFamily="34" charset="0"/>
                <a:ea typeface="Arial" pitchFamily="34" charset="-122"/>
                <a:cs typeface="Arial" pitchFamily="34" charset="-120"/>
              </a:rPr>
              <a:t>Training generalizes across the entire corpus</a:t>
            </a:r>
            <a:endParaRPr lang="en-US" dirty="0"/>
          </a:p>
        </p:txBody>
      </p:sp>
      <p:sp>
        <p:nvSpPr>
          <p:cNvPr id="12" name="Shape 10"/>
          <p:cNvSpPr/>
          <p:nvPr/>
        </p:nvSpPr>
        <p:spPr>
          <a:xfrm>
            <a:off x="594360" y="5413248"/>
            <a:ext cx="118872" cy="118872"/>
          </a:xfrm>
          <a:prstGeom prst="rect">
            <a:avLst/>
          </a:prstGeom>
          <a:solidFill>
            <a:srgbClr val="FF6A4C"/>
          </a:solidFill>
          <a:ln/>
        </p:spPr>
        <p:txBody>
          <a:bodyPr/>
          <a:lstStyle/>
          <a:p>
            <a:endParaRPr lang="en-US" sz="2000"/>
          </a:p>
        </p:txBody>
      </p:sp>
      <p:sp>
        <p:nvSpPr>
          <p:cNvPr id="13" name="Text 11"/>
          <p:cNvSpPr/>
          <p:nvPr/>
        </p:nvSpPr>
        <p:spPr>
          <a:xfrm>
            <a:off x="886968" y="5330952"/>
            <a:ext cx="5742432" cy="457200"/>
          </a:xfrm>
          <a:prstGeom prst="rect">
            <a:avLst/>
          </a:prstGeom>
          <a:noFill/>
          <a:ln/>
        </p:spPr>
        <p:txBody>
          <a:bodyPr wrap="square" lIns="0" tIns="0" rIns="0" bIns="0" rtlCol="0" anchor="t"/>
          <a:lstStyle/>
          <a:p>
            <a:pPr marL="0" indent="0" algn="l">
              <a:lnSpc>
                <a:spcPct val="105000"/>
              </a:lnSpc>
              <a:buNone/>
            </a:pPr>
            <a:r>
              <a:rPr lang="en-US" dirty="0">
                <a:solidFill>
                  <a:srgbClr val="FFFFFF"/>
                </a:solidFill>
                <a:latin typeface="Arial" pitchFamily="34" charset="0"/>
                <a:ea typeface="Arial" pitchFamily="34" charset="-122"/>
                <a:cs typeface="Arial" pitchFamily="34" charset="-120"/>
              </a:rPr>
              <a:t>Bespoke class names are project-local; they don't</a:t>
            </a:r>
            <a:endParaRPr lang="en-US" dirty="0"/>
          </a:p>
        </p:txBody>
      </p:sp>
      <p:sp>
        <p:nvSpPr>
          <p:cNvPr id="14" name="Shape 12"/>
          <p:cNvSpPr/>
          <p:nvPr/>
        </p:nvSpPr>
        <p:spPr>
          <a:xfrm>
            <a:off x="6766560" y="2651760"/>
            <a:ext cx="4955270" cy="3350206"/>
          </a:xfrm>
          <a:prstGeom prst="roundRect">
            <a:avLst>
              <a:gd name="adj" fmla="val 2963"/>
            </a:avLst>
          </a:prstGeom>
          <a:solidFill>
            <a:srgbClr val="171717"/>
          </a:solidFill>
          <a:ln w="12700">
            <a:solidFill>
              <a:srgbClr val="3A3A3A"/>
            </a:solidFill>
            <a:prstDash val="solid"/>
          </a:ln>
        </p:spPr>
        <p:txBody>
          <a:bodyPr/>
          <a:lstStyle/>
          <a:p>
            <a:endParaRPr lang="en-US"/>
          </a:p>
        </p:txBody>
      </p:sp>
      <p:sp>
        <p:nvSpPr>
          <p:cNvPr id="15" name="Shape 13"/>
          <p:cNvSpPr/>
          <p:nvPr/>
        </p:nvSpPr>
        <p:spPr>
          <a:xfrm>
            <a:off x="6986016" y="2834640"/>
            <a:ext cx="100584" cy="100584"/>
          </a:xfrm>
          <a:prstGeom prst="ellipse">
            <a:avLst/>
          </a:prstGeom>
          <a:solidFill>
            <a:srgbClr val="FF6A4C"/>
          </a:solidFill>
          <a:ln/>
        </p:spPr>
        <p:txBody>
          <a:bodyPr/>
          <a:lstStyle/>
          <a:p>
            <a:endParaRPr lang="en-US" sz="2000"/>
          </a:p>
        </p:txBody>
      </p:sp>
      <p:sp>
        <p:nvSpPr>
          <p:cNvPr id="16" name="Shape 14"/>
          <p:cNvSpPr/>
          <p:nvPr/>
        </p:nvSpPr>
        <p:spPr>
          <a:xfrm>
            <a:off x="7187184" y="2834640"/>
            <a:ext cx="100584" cy="100584"/>
          </a:xfrm>
          <a:prstGeom prst="ellipse">
            <a:avLst/>
          </a:prstGeom>
          <a:solidFill>
            <a:srgbClr val="F1CF25"/>
          </a:solidFill>
          <a:ln/>
        </p:spPr>
        <p:txBody>
          <a:bodyPr/>
          <a:lstStyle/>
          <a:p>
            <a:endParaRPr lang="en-US" sz="2000"/>
          </a:p>
        </p:txBody>
      </p:sp>
      <p:sp>
        <p:nvSpPr>
          <p:cNvPr id="17" name="Shape 15"/>
          <p:cNvSpPr/>
          <p:nvPr/>
        </p:nvSpPr>
        <p:spPr>
          <a:xfrm>
            <a:off x="7388352" y="2834640"/>
            <a:ext cx="100584" cy="100584"/>
          </a:xfrm>
          <a:prstGeom prst="ellipse">
            <a:avLst/>
          </a:prstGeom>
          <a:solidFill>
            <a:srgbClr val="75DFBC"/>
          </a:solidFill>
          <a:ln/>
        </p:spPr>
        <p:txBody>
          <a:bodyPr/>
          <a:lstStyle/>
          <a:p>
            <a:endParaRPr lang="en-US" sz="2000"/>
          </a:p>
        </p:txBody>
      </p:sp>
      <p:sp>
        <p:nvSpPr>
          <p:cNvPr id="18" name="Text 16"/>
          <p:cNvSpPr/>
          <p:nvPr/>
        </p:nvSpPr>
        <p:spPr>
          <a:xfrm>
            <a:off x="7680960" y="2724912"/>
            <a:ext cx="3730752" cy="292608"/>
          </a:xfrm>
          <a:prstGeom prst="rect">
            <a:avLst/>
          </a:prstGeom>
          <a:noFill/>
          <a:ln/>
        </p:spPr>
        <p:txBody>
          <a:bodyPr wrap="square" lIns="0" tIns="0" rIns="0" bIns="0" rtlCol="0" anchor="ctr"/>
          <a:lstStyle/>
          <a:p>
            <a:pPr marL="0" indent="0" algn="l">
              <a:buNone/>
            </a:pPr>
            <a:r>
              <a:rPr lang="en-US" sz="1600" dirty="0">
                <a:solidFill>
                  <a:srgbClr val="6E6E6E"/>
                </a:solidFill>
                <a:latin typeface="Courier New" pitchFamily="34" charset="0"/>
                <a:ea typeface="Courier New" pitchFamily="34" charset="-122"/>
                <a:cs typeface="Courier New" pitchFamily="34" charset="-120"/>
              </a:rPr>
              <a:t>stable across every codebase</a:t>
            </a:r>
            <a:endParaRPr lang="en-US" sz="1600" dirty="0"/>
          </a:p>
        </p:txBody>
      </p:sp>
      <p:sp>
        <p:nvSpPr>
          <p:cNvPr id="19" name="Text 17"/>
          <p:cNvSpPr/>
          <p:nvPr/>
        </p:nvSpPr>
        <p:spPr>
          <a:xfrm>
            <a:off x="7059168" y="3200400"/>
            <a:ext cx="4242816" cy="1737360"/>
          </a:xfrm>
          <a:prstGeom prst="rect">
            <a:avLst/>
          </a:prstGeom>
          <a:noFill/>
          <a:ln/>
        </p:spPr>
        <p:txBody>
          <a:bodyPr wrap="square" lIns="0" tIns="0" rIns="0" bIns="0" rtlCol="0" anchor="t"/>
          <a:lstStyle/>
          <a:p>
            <a:pPr marL="0" indent="0" algn="l">
              <a:lnSpc>
                <a:spcPct val="115000"/>
              </a:lnSpc>
              <a:buNone/>
            </a:pPr>
            <a:r>
              <a:rPr lang="en-US" sz="2000" dirty="0">
                <a:solidFill>
                  <a:srgbClr val="75DFBC"/>
                </a:solidFill>
                <a:latin typeface="Courier New" pitchFamily="34" charset="0"/>
                <a:ea typeface="Courier New" pitchFamily="34" charset="-122"/>
                <a:cs typeface="Courier New" pitchFamily="34" charset="-120"/>
              </a:rPr>
              <a:t>mt-4</a:t>
            </a:r>
            <a:r>
              <a:rPr lang="en-US" sz="2000" dirty="0">
                <a:solidFill>
                  <a:srgbClr val="A6A6A6"/>
                </a:solidFill>
                <a:latin typeface="Courier New" pitchFamily="34" charset="0"/>
                <a:ea typeface="Courier New" pitchFamily="34" charset="-122"/>
                <a:cs typeface="Courier New" pitchFamily="34" charset="-120"/>
              </a:rPr>
              <a:t>   → margin-top: 1rem</a:t>
            </a:r>
            <a:endParaRPr lang="en-US" sz="2000" dirty="0"/>
          </a:p>
          <a:p>
            <a:pPr marL="0" indent="0" algn="l">
              <a:lnSpc>
                <a:spcPct val="115000"/>
              </a:lnSpc>
              <a:buNone/>
            </a:pPr>
            <a:r>
              <a:rPr lang="en-US" sz="2000" dirty="0">
                <a:solidFill>
                  <a:srgbClr val="75DFBC"/>
                </a:solidFill>
                <a:latin typeface="Courier New" pitchFamily="34" charset="0"/>
                <a:ea typeface="Courier New" pitchFamily="34" charset="-122"/>
                <a:cs typeface="Courier New" pitchFamily="34" charset="-120"/>
              </a:rPr>
              <a:t>flex</a:t>
            </a:r>
            <a:r>
              <a:rPr lang="en-US" sz="2000" dirty="0">
                <a:solidFill>
                  <a:srgbClr val="A6A6A6"/>
                </a:solidFill>
                <a:latin typeface="Courier New" pitchFamily="34" charset="0"/>
                <a:ea typeface="Courier New" pitchFamily="34" charset="-122"/>
                <a:cs typeface="Courier New" pitchFamily="34" charset="-120"/>
              </a:rPr>
              <a:t>   → display: flex</a:t>
            </a:r>
            <a:endParaRPr lang="en-US" sz="2000" dirty="0"/>
          </a:p>
          <a:p>
            <a:pPr marL="0" indent="0" algn="l">
              <a:lnSpc>
                <a:spcPct val="115000"/>
              </a:lnSpc>
              <a:buNone/>
            </a:pPr>
            <a:r>
              <a:rPr lang="en-US" sz="2000" dirty="0">
                <a:solidFill>
                  <a:srgbClr val="75DFBC"/>
                </a:solidFill>
                <a:latin typeface="Courier New" pitchFamily="34" charset="0"/>
                <a:ea typeface="Courier New" pitchFamily="34" charset="-122"/>
                <a:cs typeface="Courier New" pitchFamily="34" charset="-120"/>
              </a:rPr>
              <a:t>gap-6</a:t>
            </a:r>
            <a:r>
              <a:rPr lang="en-US" sz="2000" dirty="0">
                <a:solidFill>
                  <a:srgbClr val="A6A6A6"/>
                </a:solidFill>
                <a:latin typeface="Courier New" pitchFamily="34" charset="0"/>
                <a:ea typeface="Courier New" pitchFamily="34" charset="-122"/>
                <a:cs typeface="Courier New" pitchFamily="34" charset="-120"/>
              </a:rPr>
              <a:t>  → gap: 1.5rem</a:t>
            </a:r>
            <a:endParaRPr lang="en-US" sz="2000" dirty="0"/>
          </a:p>
          <a:p>
            <a:pPr marL="0" indent="0" algn="l">
              <a:lnSpc>
                <a:spcPct val="115000"/>
              </a:lnSpc>
              <a:buNone/>
            </a:pPr>
            <a:endParaRPr lang="en-US" sz="2000" dirty="0"/>
          </a:p>
          <a:p>
            <a:pPr marL="0" indent="0" algn="l">
              <a:lnSpc>
                <a:spcPct val="115000"/>
              </a:lnSpc>
              <a:buNone/>
            </a:pPr>
            <a:r>
              <a:rPr lang="en-US" sz="2000" dirty="0">
                <a:solidFill>
                  <a:srgbClr val="FF6A4C"/>
                </a:solidFill>
                <a:latin typeface="Courier New" pitchFamily="34" charset="0"/>
                <a:ea typeface="Courier New" pitchFamily="34" charset="-122"/>
                <a:cs typeface="Courier New" pitchFamily="34" charset="-120"/>
              </a:rPr>
              <a:t>.spacer</a:t>
            </a:r>
            <a:r>
              <a:rPr lang="en-US" sz="2000" dirty="0">
                <a:solidFill>
                  <a:srgbClr val="A6A6A6"/>
                </a:solidFill>
                <a:latin typeface="Courier New" pitchFamily="34" charset="0"/>
                <a:ea typeface="Courier New" pitchFamily="34" charset="-122"/>
                <a:cs typeface="Courier New" pitchFamily="34" charset="-120"/>
              </a:rPr>
              <a:t> → ¯\_(ツ)_/¯</a:t>
            </a:r>
            <a:endParaRPr lang="en-US" sz="2000" dirty="0"/>
          </a:p>
          <a:p>
            <a:pPr marL="0" indent="0" algn="l">
              <a:lnSpc>
                <a:spcPct val="115000"/>
              </a:lnSpc>
              <a:buNone/>
            </a:pPr>
            <a:r>
              <a:rPr lang="en-US" sz="2000" dirty="0">
                <a:solidFill>
                  <a:srgbClr val="6E6E6E"/>
                </a:solidFill>
                <a:latin typeface="Courier New" pitchFamily="34" charset="0"/>
                <a:ea typeface="Courier New" pitchFamily="34" charset="-122"/>
                <a:cs typeface="Courier New" pitchFamily="34" charset="-120"/>
              </a:rPr>
              <a:t>        depends on the repo</a:t>
            </a:r>
            <a:endParaRPr lang="en-US" sz="2000" dirty="0"/>
          </a:p>
        </p:txBody>
      </p:sp>
      <p:sp>
        <p:nvSpPr>
          <p:cNvPr id="20" name="Text 18"/>
          <p:cNvSpPr/>
          <p:nvPr/>
        </p:nvSpPr>
        <p:spPr>
          <a:xfrm>
            <a:off x="594360" y="6419088"/>
            <a:ext cx="8229600" cy="274320"/>
          </a:xfrm>
          <a:prstGeom prst="rect">
            <a:avLst/>
          </a:prstGeom>
          <a:noFill/>
          <a:ln/>
        </p:spPr>
        <p:txBody>
          <a:bodyPr wrap="square" lIns="0" tIns="0" rIns="0" bIns="0" rtlCol="0" anchor="ctr"/>
          <a:lstStyle/>
          <a:p>
            <a:pPr marL="0" indent="0" algn="l">
              <a:buNone/>
            </a:pPr>
            <a:r>
              <a:rPr lang="en-US" sz="900" dirty="0">
                <a:solidFill>
                  <a:srgbClr val="6E6E6E"/>
                </a:solidFill>
                <a:latin typeface="Arial" pitchFamily="34" charset="0"/>
                <a:ea typeface="Arial" pitchFamily="34" charset="-122"/>
                <a:cs typeface="Arial" pitchFamily="34" charset="-120"/>
              </a:rPr>
              <a:t>Why LLMs &amp; JS frameworks love Tailwind CSS</a:t>
            </a:r>
            <a:endParaRPr lang="en-US" sz="900" dirty="0"/>
          </a:p>
        </p:txBody>
      </p:sp>
      <p:sp>
        <p:nvSpPr>
          <p:cNvPr id="21" name="Text 19"/>
          <p:cNvSpPr/>
          <p:nvPr/>
        </p:nvSpPr>
        <p:spPr>
          <a:xfrm>
            <a:off x="10134295" y="6419088"/>
            <a:ext cx="1463040" cy="274320"/>
          </a:xfrm>
          <a:prstGeom prst="rect">
            <a:avLst/>
          </a:prstGeom>
          <a:noFill/>
          <a:ln/>
        </p:spPr>
        <p:txBody>
          <a:bodyPr wrap="square" lIns="0" tIns="0" rIns="0" bIns="0" rtlCol="0" anchor="ctr"/>
          <a:lstStyle/>
          <a:p>
            <a:pPr marL="0" indent="0" algn="r">
              <a:buNone/>
            </a:pPr>
            <a:r>
              <a:rPr lang="en-US" sz="900" dirty="0">
                <a:solidFill>
                  <a:srgbClr val="6E6E6E"/>
                </a:solidFill>
                <a:latin typeface="Arial" pitchFamily="34" charset="0"/>
                <a:ea typeface="Arial" pitchFamily="34" charset="-122"/>
                <a:cs typeface="Arial" pitchFamily="34" charset="-120"/>
              </a:rPr>
              <a:t>16 / 29</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222121"/>
        </a:solidFill>
        <a:effectLst/>
      </p:bgPr>
    </p:bg>
    <p:spTree>
      <p:nvGrpSpPr>
        <p:cNvPr id="1" name=""/>
        <p:cNvGrpSpPr/>
        <p:nvPr/>
      </p:nvGrpSpPr>
      <p:grpSpPr>
        <a:xfrm>
          <a:off x="0" y="0"/>
          <a:ext cx="0" cy="0"/>
          <a:chOff x="0" y="0"/>
          <a:chExt cx="0" cy="0"/>
        </a:xfrm>
      </p:grpSpPr>
      <p:sp>
        <p:nvSpPr>
          <p:cNvPr id="2" name="Text 0"/>
          <p:cNvSpPr/>
          <p:nvPr/>
        </p:nvSpPr>
        <p:spPr>
          <a:xfrm>
            <a:off x="594360" y="502920"/>
            <a:ext cx="11002975" cy="274320"/>
          </a:xfrm>
          <a:prstGeom prst="rect">
            <a:avLst/>
          </a:prstGeom>
          <a:noFill/>
          <a:ln/>
        </p:spPr>
        <p:txBody>
          <a:bodyPr wrap="square" lIns="0" tIns="0" rIns="0" bIns="0" rtlCol="0" anchor="ctr"/>
          <a:lstStyle/>
          <a:p>
            <a:pPr marL="0" indent="0" algn="l">
              <a:buNone/>
            </a:pPr>
            <a:r>
              <a:rPr lang="en-US" sz="1200" b="1" kern="0" spc="300" dirty="0">
                <a:solidFill>
                  <a:srgbClr val="75DFBC"/>
                </a:solidFill>
                <a:latin typeface="Arial" pitchFamily="34" charset="0"/>
                <a:ea typeface="Arial" pitchFamily="34" charset="-122"/>
                <a:cs typeface="Arial" pitchFamily="34" charset="-120"/>
              </a:rPr>
              <a:t>WHY IT WORKS</a:t>
            </a:r>
            <a:endParaRPr lang="en-US" sz="1200" dirty="0"/>
          </a:p>
        </p:txBody>
      </p:sp>
      <p:sp>
        <p:nvSpPr>
          <p:cNvPr id="3" name="Shape 1"/>
          <p:cNvSpPr/>
          <p:nvPr/>
        </p:nvSpPr>
        <p:spPr>
          <a:xfrm>
            <a:off x="594360" y="1463040"/>
            <a:ext cx="822960" cy="822960"/>
          </a:xfrm>
          <a:prstGeom prst="ellipse">
            <a:avLst/>
          </a:prstGeom>
          <a:solidFill>
            <a:srgbClr val="75DFBC"/>
          </a:solidFill>
          <a:ln/>
        </p:spPr>
        <p:txBody>
          <a:bodyPr/>
          <a:lstStyle/>
          <a:p>
            <a:endParaRPr lang="en-US"/>
          </a:p>
        </p:txBody>
      </p:sp>
      <p:sp>
        <p:nvSpPr>
          <p:cNvPr id="4" name="Text 2"/>
          <p:cNvSpPr/>
          <p:nvPr/>
        </p:nvSpPr>
        <p:spPr>
          <a:xfrm>
            <a:off x="594360" y="1463040"/>
            <a:ext cx="822960" cy="822960"/>
          </a:xfrm>
          <a:prstGeom prst="rect">
            <a:avLst/>
          </a:prstGeom>
          <a:noFill/>
          <a:ln/>
        </p:spPr>
        <p:txBody>
          <a:bodyPr wrap="square" lIns="0" tIns="0" rIns="0" bIns="0" rtlCol="0" anchor="ctr"/>
          <a:lstStyle/>
          <a:p>
            <a:pPr marL="0" indent="0" algn="ctr">
              <a:buNone/>
            </a:pPr>
            <a:r>
              <a:rPr lang="en-US" sz="2600" b="1" dirty="0">
                <a:solidFill>
                  <a:srgbClr val="222121"/>
                </a:solidFill>
                <a:latin typeface="Arial" pitchFamily="34" charset="0"/>
                <a:ea typeface="Arial" pitchFamily="34" charset="-122"/>
                <a:cs typeface="Arial" pitchFamily="34" charset="-120"/>
              </a:rPr>
              <a:t>5</a:t>
            </a:r>
            <a:endParaRPr lang="en-US" sz="2600" dirty="0"/>
          </a:p>
        </p:txBody>
      </p:sp>
      <p:sp>
        <p:nvSpPr>
          <p:cNvPr id="5" name="Text 3"/>
          <p:cNvSpPr/>
          <p:nvPr/>
        </p:nvSpPr>
        <p:spPr>
          <a:xfrm>
            <a:off x="1691640" y="1463040"/>
            <a:ext cx="9905695" cy="914400"/>
          </a:xfrm>
          <a:prstGeom prst="rect">
            <a:avLst/>
          </a:prstGeom>
          <a:noFill/>
          <a:ln/>
        </p:spPr>
        <p:txBody>
          <a:bodyPr wrap="square" lIns="0" tIns="0" rIns="0" bIns="0" rtlCol="0" anchor="ctr"/>
          <a:lstStyle/>
          <a:p>
            <a:pPr marL="0" indent="0" algn="l">
              <a:lnSpc>
                <a:spcPct val="102000"/>
              </a:lnSpc>
              <a:buNone/>
            </a:pPr>
            <a:r>
              <a:rPr lang="en-US" sz="3000" b="1" dirty="0">
                <a:solidFill>
                  <a:srgbClr val="FFFFFF"/>
                </a:solidFill>
                <a:latin typeface="Arial" pitchFamily="34" charset="0"/>
                <a:ea typeface="Arial" pitchFamily="34" charset="-122"/>
                <a:cs typeface="Arial" pitchFamily="34" charset="-120"/>
              </a:rPr>
              <a:t>The training-data flywheel</a:t>
            </a:r>
            <a:endParaRPr lang="en-US" sz="3000" dirty="0"/>
          </a:p>
        </p:txBody>
      </p:sp>
      <p:sp>
        <p:nvSpPr>
          <p:cNvPr id="6" name="Shape 4"/>
          <p:cNvSpPr/>
          <p:nvPr/>
        </p:nvSpPr>
        <p:spPr>
          <a:xfrm>
            <a:off x="594360" y="2962656"/>
            <a:ext cx="118872" cy="118872"/>
          </a:xfrm>
          <a:prstGeom prst="rect">
            <a:avLst/>
          </a:prstGeom>
          <a:solidFill>
            <a:srgbClr val="75DFBC"/>
          </a:solidFill>
          <a:ln/>
        </p:spPr>
        <p:txBody>
          <a:bodyPr/>
          <a:lstStyle/>
          <a:p>
            <a:endParaRPr lang="en-US" sz="2000"/>
          </a:p>
        </p:txBody>
      </p:sp>
      <p:sp>
        <p:nvSpPr>
          <p:cNvPr id="7" name="Text 5"/>
          <p:cNvSpPr/>
          <p:nvPr/>
        </p:nvSpPr>
        <p:spPr>
          <a:xfrm>
            <a:off x="886968" y="2880360"/>
            <a:ext cx="5742432" cy="457200"/>
          </a:xfrm>
          <a:prstGeom prst="rect">
            <a:avLst/>
          </a:prstGeom>
          <a:noFill/>
          <a:ln/>
        </p:spPr>
        <p:txBody>
          <a:bodyPr wrap="square" lIns="0" tIns="0" rIns="0" bIns="0" rtlCol="0" anchor="t"/>
          <a:lstStyle/>
          <a:p>
            <a:pPr marL="0" indent="0" algn="l">
              <a:lnSpc>
                <a:spcPct val="105000"/>
              </a:lnSpc>
              <a:buNone/>
            </a:pPr>
            <a:r>
              <a:rPr lang="en-US" dirty="0">
                <a:solidFill>
                  <a:srgbClr val="FFFFFF"/>
                </a:solidFill>
                <a:latin typeface="Arial" pitchFamily="34" charset="0"/>
                <a:ea typeface="Arial" pitchFamily="34" charset="-122"/>
                <a:cs typeface="Arial" pitchFamily="34" charset="-120"/>
              </a:rPr>
              <a:t>Tailwind saturates modern training data</a:t>
            </a:r>
            <a:endParaRPr lang="en-US" dirty="0"/>
          </a:p>
        </p:txBody>
      </p:sp>
      <p:sp>
        <p:nvSpPr>
          <p:cNvPr id="8" name="Shape 6"/>
          <p:cNvSpPr/>
          <p:nvPr/>
        </p:nvSpPr>
        <p:spPr>
          <a:xfrm>
            <a:off x="594360" y="3879879"/>
            <a:ext cx="118872" cy="118872"/>
          </a:xfrm>
          <a:prstGeom prst="rect">
            <a:avLst/>
          </a:prstGeom>
          <a:solidFill>
            <a:srgbClr val="75DFBC"/>
          </a:solidFill>
          <a:ln/>
        </p:spPr>
        <p:txBody>
          <a:bodyPr/>
          <a:lstStyle/>
          <a:p>
            <a:endParaRPr lang="en-US" sz="2000"/>
          </a:p>
        </p:txBody>
      </p:sp>
      <p:sp>
        <p:nvSpPr>
          <p:cNvPr id="9" name="Text 7"/>
          <p:cNvSpPr/>
          <p:nvPr/>
        </p:nvSpPr>
        <p:spPr>
          <a:xfrm>
            <a:off x="886968" y="3797583"/>
            <a:ext cx="5742432" cy="457200"/>
          </a:xfrm>
          <a:prstGeom prst="rect">
            <a:avLst/>
          </a:prstGeom>
          <a:noFill/>
          <a:ln/>
        </p:spPr>
        <p:txBody>
          <a:bodyPr wrap="square" lIns="0" tIns="0" rIns="0" bIns="0" rtlCol="0" anchor="t"/>
          <a:lstStyle/>
          <a:p>
            <a:pPr marL="0" indent="0" algn="l">
              <a:lnSpc>
                <a:spcPct val="105000"/>
              </a:lnSpc>
              <a:buNone/>
            </a:pPr>
            <a:r>
              <a:rPr lang="en-US" dirty="0">
                <a:solidFill>
                  <a:srgbClr val="FFFFFF"/>
                </a:solidFill>
                <a:latin typeface="Arial" pitchFamily="34" charset="0"/>
                <a:ea typeface="Arial" pitchFamily="34" charset="-122"/>
                <a:cs typeface="Arial" pitchFamily="34" charset="-120"/>
              </a:rPr>
              <a:t>Next.js, shadcn/ui, millions of public repos</a:t>
            </a:r>
            <a:endParaRPr lang="en-US" dirty="0"/>
          </a:p>
        </p:txBody>
      </p:sp>
      <p:sp>
        <p:nvSpPr>
          <p:cNvPr id="10" name="Shape 8"/>
          <p:cNvSpPr/>
          <p:nvPr/>
        </p:nvSpPr>
        <p:spPr>
          <a:xfrm>
            <a:off x="594360" y="4714414"/>
            <a:ext cx="118872" cy="118872"/>
          </a:xfrm>
          <a:prstGeom prst="rect">
            <a:avLst/>
          </a:prstGeom>
          <a:solidFill>
            <a:srgbClr val="F1CF25"/>
          </a:solidFill>
          <a:ln/>
        </p:spPr>
        <p:txBody>
          <a:bodyPr/>
          <a:lstStyle/>
          <a:p>
            <a:endParaRPr lang="en-US" sz="2000"/>
          </a:p>
        </p:txBody>
      </p:sp>
      <p:sp>
        <p:nvSpPr>
          <p:cNvPr id="11" name="Text 9"/>
          <p:cNvSpPr/>
          <p:nvPr/>
        </p:nvSpPr>
        <p:spPr>
          <a:xfrm>
            <a:off x="886968" y="4632118"/>
            <a:ext cx="5742432" cy="457200"/>
          </a:xfrm>
          <a:prstGeom prst="rect">
            <a:avLst/>
          </a:prstGeom>
          <a:noFill/>
          <a:ln/>
        </p:spPr>
        <p:txBody>
          <a:bodyPr wrap="square" lIns="0" tIns="0" rIns="0" bIns="0" rtlCol="0" anchor="t"/>
          <a:lstStyle/>
          <a:p>
            <a:pPr marL="0" indent="0" algn="l">
              <a:lnSpc>
                <a:spcPct val="105000"/>
              </a:lnSpc>
              <a:buNone/>
            </a:pPr>
            <a:r>
              <a:rPr lang="en-US" dirty="0">
                <a:solidFill>
                  <a:srgbClr val="FFFFFF"/>
                </a:solidFill>
                <a:latin typeface="Arial" pitchFamily="34" charset="0"/>
                <a:ea typeface="Arial" pitchFamily="34" charset="-122"/>
                <a:cs typeface="Arial" pitchFamily="34" charset="-120"/>
              </a:rPr>
              <a:t>Utilities generalize across the corpus; names don't</a:t>
            </a:r>
            <a:endParaRPr lang="en-US" dirty="0"/>
          </a:p>
        </p:txBody>
      </p:sp>
      <p:sp>
        <p:nvSpPr>
          <p:cNvPr id="12" name="Shape 10"/>
          <p:cNvSpPr/>
          <p:nvPr/>
        </p:nvSpPr>
        <p:spPr>
          <a:xfrm>
            <a:off x="594360" y="5587957"/>
            <a:ext cx="118872" cy="118872"/>
          </a:xfrm>
          <a:prstGeom prst="rect">
            <a:avLst/>
          </a:prstGeom>
          <a:solidFill>
            <a:srgbClr val="75DFBC"/>
          </a:solidFill>
          <a:ln/>
        </p:spPr>
        <p:txBody>
          <a:bodyPr/>
          <a:lstStyle/>
          <a:p>
            <a:endParaRPr lang="en-US" sz="2000"/>
          </a:p>
        </p:txBody>
      </p:sp>
      <p:sp>
        <p:nvSpPr>
          <p:cNvPr id="13" name="Text 11"/>
          <p:cNvSpPr/>
          <p:nvPr/>
        </p:nvSpPr>
        <p:spPr>
          <a:xfrm>
            <a:off x="886968" y="5505661"/>
            <a:ext cx="5742432" cy="457200"/>
          </a:xfrm>
          <a:prstGeom prst="rect">
            <a:avLst/>
          </a:prstGeom>
          <a:noFill/>
          <a:ln/>
        </p:spPr>
        <p:txBody>
          <a:bodyPr wrap="square" lIns="0" tIns="0" rIns="0" bIns="0" rtlCol="0" anchor="t"/>
          <a:lstStyle/>
          <a:p>
            <a:pPr marL="0" indent="0" algn="l">
              <a:lnSpc>
                <a:spcPct val="105000"/>
              </a:lnSpc>
              <a:buNone/>
            </a:pPr>
            <a:r>
              <a:rPr lang="en-US" dirty="0">
                <a:solidFill>
                  <a:srgbClr val="FFFFFF"/>
                </a:solidFill>
                <a:latin typeface="Arial" pitchFamily="34" charset="0"/>
                <a:ea typeface="Arial" pitchFamily="34" charset="-122"/>
                <a:cs typeface="Arial" pitchFamily="34" charset="-120"/>
              </a:rPr>
              <a:t>More usage → more data → better gen → more usage</a:t>
            </a:r>
            <a:endParaRPr lang="en-US" dirty="0"/>
          </a:p>
        </p:txBody>
      </p:sp>
      <p:sp>
        <p:nvSpPr>
          <p:cNvPr id="14" name="Shape 12"/>
          <p:cNvSpPr/>
          <p:nvPr/>
        </p:nvSpPr>
        <p:spPr>
          <a:xfrm>
            <a:off x="7498080" y="2011680"/>
            <a:ext cx="3291840" cy="3291840"/>
          </a:xfrm>
          <a:prstGeom prst="ellipse">
            <a:avLst/>
          </a:prstGeom>
          <a:ln w="19050">
            <a:solidFill>
              <a:srgbClr val="3A3A3A"/>
            </a:solidFill>
            <a:prstDash val="dash"/>
          </a:ln>
        </p:spPr>
        <p:txBody>
          <a:bodyPr/>
          <a:lstStyle/>
          <a:p>
            <a:endParaRPr lang="en-US" sz="2800"/>
          </a:p>
        </p:txBody>
      </p:sp>
      <p:sp>
        <p:nvSpPr>
          <p:cNvPr id="15" name="Shape 13"/>
          <p:cNvSpPr/>
          <p:nvPr/>
        </p:nvSpPr>
        <p:spPr>
          <a:xfrm>
            <a:off x="8366760" y="2331720"/>
            <a:ext cx="1554480" cy="365760"/>
          </a:xfrm>
          <a:prstGeom prst="roundRect">
            <a:avLst>
              <a:gd name="adj" fmla="val 50000"/>
            </a:avLst>
          </a:prstGeom>
          <a:solidFill>
            <a:srgbClr val="2C2B2B"/>
          </a:solidFill>
          <a:ln w="12700">
            <a:solidFill>
              <a:srgbClr val="75DFBC"/>
            </a:solidFill>
            <a:prstDash val="solid"/>
          </a:ln>
        </p:spPr>
        <p:txBody>
          <a:bodyPr/>
          <a:lstStyle/>
          <a:p>
            <a:endParaRPr lang="en-US" sz="2800"/>
          </a:p>
        </p:txBody>
      </p:sp>
      <p:sp>
        <p:nvSpPr>
          <p:cNvPr id="16" name="Text 14"/>
          <p:cNvSpPr/>
          <p:nvPr/>
        </p:nvSpPr>
        <p:spPr>
          <a:xfrm>
            <a:off x="8366760" y="2331720"/>
            <a:ext cx="1554480" cy="365760"/>
          </a:xfrm>
          <a:prstGeom prst="rect">
            <a:avLst/>
          </a:prstGeom>
          <a:noFill/>
          <a:ln/>
        </p:spPr>
        <p:txBody>
          <a:bodyPr wrap="square" lIns="0" tIns="0" rIns="0" bIns="0" rtlCol="0" anchor="ctr"/>
          <a:lstStyle/>
          <a:p>
            <a:pPr marL="0" indent="0" algn="ctr">
              <a:buNone/>
            </a:pPr>
            <a:r>
              <a:rPr lang="en-US" sz="1600" b="1" dirty="0">
                <a:solidFill>
                  <a:srgbClr val="75DFBC"/>
                </a:solidFill>
                <a:latin typeface="Arial" pitchFamily="34" charset="0"/>
                <a:ea typeface="Arial" pitchFamily="34" charset="-122"/>
                <a:cs typeface="Arial" pitchFamily="34" charset="-120"/>
              </a:rPr>
              <a:t>usage</a:t>
            </a:r>
            <a:endParaRPr lang="en-US" sz="1600" dirty="0"/>
          </a:p>
        </p:txBody>
      </p:sp>
      <p:sp>
        <p:nvSpPr>
          <p:cNvPr id="17" name="Shape 15"/>
          <p:cNvSpPr/>
          <p:nvPr/>
        </p:nvSpPr>
        <p:spPr>
          <a:xfrm>
            <a:off x="9509760" y="3474720"/>
            <a:ext cx="1554480" cy="365760"/>
          </a:xfrm>
          <a:prstGeom prst="roundRect">
            <a:avLst>
              <a:gd name="adj" fmla="val 50000"/>
            </a:avLst>
          </a:prstGeom>
          <a:solidFill>
            <a:srgbClr val="2C2B2B"/>
          </a:solidFill>
          <a:ln w="12700">
            <a:solidFill>
              <a:srgbClr val="75DFBC"/>
            </a:solidFill>
            <a:prstDash val="solid"/>
          </a:ln>
        </p:spPr>
        <p:txBody>
          <a:bodyPr/>
          <a:lstStyle/>
          <a:p>
            <a:endParaRPr lang="en-US" sz="2800"/>
          </a:p>
        </p:txBody>
      </p:sp>
      <p:sp>
        <p:nvSpPr>
          <p:cNvPr id="18" name="Text 16"/>
          <p:cNvSpPr/>
          <p:nvPr/>
        </p:nvSpPr>
        <p:spPr>
          <a:xfrm>
            <a:off x="9509760" y="3474720"/>
            <a:ext cx="1554480" cy="365760"/>
          </a:xfrm>
          <a:prstGeom prst="rect">
            <a:avLst/>
          </a:prstGeom>
          <a:noFill/>
          <a:ln/>
        </p:spPr>
        <p:txBody>
          <a:bodyPr wrap="square" lIns="0" tIns="0" rIns="0" bIns="0" rtlCol="0" anchor="ctr"/>
          <a:lstStyle/>
          <a:p>
            <a:pPr marL="0" indent="0" algn="ctr">
              <a:buNone/>
            </a:pPr>
            <a:r>
              <a:rPr lang="en-US" sz="1600" b="1" dirty="0">
                <a:solidFill>
                  <a:srgbClr val="75DFBC"/>
                </a:solidFill>
                <a:latin typeface="Arial" pitchFamily="34" charset="0"/>
                <a:ea typeface="Arial" pitchFamily="34" charset="-122"/>
                <a:cs typeface="Arial" pitchFamily="34" charset="-120"/>
              </a:rPr>
              <a:t>training data</a:t>
            </a:r>
            <a:endParaRPr lang="en-US" sz="1600" dirty="0"/>
          </a:p>
        </p:txBody>
      </p:sp>
      <p:sp>
        <p:nvSpPr>
          <p:cNvPr id="19" name="Shape 17"/>
          <p:cNvSpPr/>
          <p:nvPr/>
        </p:nvSpPr>
        <p:spPr>
          <a:xfrm>
            <a:off x="8366760" y="4617720"/>
            <a:ext cx="1554480" cy="365760"/>
          </a:xfrm>
          <a:prstGeom prst="roundRect">
            <a:avLst>
              <a:gd name="adj" fmla="val 50000"/>
            </a:avLst>
          </a:prstGeom>
          <a:solidFill>
            <a:srgbClr val="2C2B2B"/>
          </a:solidFill>
          <a:ln w="12700">
            <a:solidFill>
              <a:srgbClr val="75DFBC"/>
            </a:solidFill>
            <a:prstDash val="solid"/>
          </a:ln>
        </p:spPr>
        <p:txBody>
          <a:bodyPr/>
          <a:lstStyle/>
          <a:p>
            <a:endParaRPr lang="en-US" sz="2800"/>
          </a:p>
        </p:txBody>
      </p:sp>
      <p:sp>
        <p:nvSpPr>
          <p:cNvPr id="20" name="Text 18"/>
          <p:cNvSpPr/>
          <p:nvPr/>
        </p:nvSpPr>
        <p:spPr>
          <a:xfrm>
            <a:off x="8366760" y="4617720"/>
            <a:ext cx="1554480" cy="365760"/>
          </a:xfrm>
          <a:prstGeom prst="rect">
            <a:avLst/>
          </a:prstGeom>
          <a:noFill/>
          <a:ln/>
        </p:spPr>
        <p:txBody>
          <a:bodyPr wrap="square" lIns="0" tIns="0" rIns="0" bIns="0" rtlCol="0" anchor="ctr"/>
          <a:lstStyle/>
          <a:p>
            <a:pPr marL="0" indent="0" algn="ctr">
              <a:buNone/>
            </a:pPr>
            <a:r>
              <a:rPr lang="en-US" sz="1600" b="1" dirty="0">
                <a:solidFill>
                  <a:srgbClr val="75DFBC"/>
                </a:solidFill>
                <a:latin typeface="Arial" pitchFamily="34" charset="0"/>
                <a:ea typeface="Arial" pitchFamily="34" charset="-122"/>
                <a:cs typeface="Arial" pitchFamily="34" charset="-120"/>
              </a:rPr>
              <a:t>better output</a:t>
            </a:r>
            <a:endParaRPr lang="en-US" sz="1600" dirty="0"/>
          </a:p>
        </p:txBody>
      </p:sp>
      <p:sp>
        <p:nvSpPr>
          <p:cNvPr id="21" name="Shape 19"/>
          <p:cNvSpPr/>
          <p:nvPr/>
        </p:nvSpPr>
        <p:spPr>
          <a:xfrm>
            <a:off x="7223760" y="3474720"/>
            <a:ext cx="1554480" cy="365760"/>
          </a:xfrm>
          <a:prstGeom prst="roundRect">
            <a:avLst>
              <a:gd name="adj" fmla="val 50000"/>
            </a:avLst>
          </a:prstGeom>
          <a:solidFill>
            <a:srgbClr val="2C2B2B"/>
          </a:solidFill>
          <a:ln w="12700">
            <a:solidFill>
              <a:srgbClr val="75DFBC"/>
            </a:solidFill>
            <a:prstDash val="solid"/>
          </a:ln>
        </p:spPr>
        <p:txBody>
          <a:bodyPr/>
          <a:lstStyle/>
          <a:p>
            <a:endParaRPr lang="en-US" sz="2800"/>
          </a:p>
        </p:txBody>
      </p:sp>
      <p:sp>
        <p:nvSpPr>
          <p:cNvPr id="22" name="Text 20"/>
          <p:cNvSpPr/>
          <p:nvPr/>
        </p:nvSpPr>
        <p:spPr>
          <a:xfrm>
            <a:off x="7223760" y="3474720"/>
            <a:ext cx="1554480" cy="365760"/>
          </a:xfrm>
          <a:prstGeom prst="rect">
            <a:avLst/>
          </a:prstGeom>
          <a:noFill/>
          <a:ln/>
        </p:spPr>
        <p:txBody>
          <a:bodyPr wrap="square" lIns="0" tIns="0" rIns="0" bIns="0" rtlCol="0" anchor="ctr"/>
          <a:lstStyle/>
          <a:p>
            <a:pPr marL="0" indent="0" algn="ctr">
              <a:buNone/>
            </a:pPr>
            <a:r>
              <a:rPr lang="en-US" sz="1600" b="1" dirty="0">
                <a:solidFill>
                  <a:srgbClr val="75DFBC"/>
                </a:solidFill>
                <a:latin typeface="Arial" pitchFamily="34" charset="0"/>
                <a:ea typeface="Arial" pitchFamily="34" charset="-122"/>
                <a:cs typeface="Arial" pitchFamily="34" charset="-120"/>
              </a:rPr>
              <a:t>more trust</a:t>
            </a:r>
            <a:endParaRPr lang="en-US" sz="1600" dirty="0"/>
          </a:p>
        </p:txBody>
      </p:sp>
      <p:sp>
        <p:nvSpPr>
          <p:cNvPr id="23" name="Text 21"/>
          <p:cNvSpPr/>
          <p:nvPr/>
        </p:nvSpPr>
        <p:spPr>
          <a:xfrm>
            <a:off x="8778240" y="3246120"/>
            <a:ext cx="731520" cy="731520"/>
          </a:xfrm>
          <a:prstGeom prst="rect">
            <a:avLst/>
          </a:prstGeom>
          <a:noFill/>
          <a:ln/>
        </p:spPr>
        <p:txBody>
          <a:bodyPr wrap="square" lIns="0" tIns="0" rIns="0" bIns="0" rtlCol="0" anchor="ctr"/>
          <a:lstStyle/>
          <a:p>
            <a:pPr marL="0" indent="0" algn="ctr">
              <a:buNone/>
            </a:pPr>
            <a:r>
              <a:rPr lang="en-US" sz="5400" b="1" dirty="0">
                <a:solidFill>
                  <a:srgbClr val="F1CF25"/>
                </a:solidFill>
                <a:latin typeface="Arial" pitchFamily="34" charset="0"/>
                <a:ea typeface="Arial" pitchFamily="34" charset="-122"/>
                <a:cs typeface="Arial" pitchFamily="34" charset="-120"/>
              </a:rPr>
              <a:t>↻</a:t>
            </a:r>
            <a:endParaRPr lang="en-US" sz="5400" dirty="0"/>
          </a:p>
        </p:txBody>
      </p:sp>
      <p:sp>
        <p:nvSpPr>
          <p:cNvPr id="24" name="Text 22"/>
          <p:cNvSpPr/>
          <p:nvPr/>
        </p:nvSpPr>
        <p:spPr>
          <a:xfrm>
            <a:off x="594360" y="6419088"/>
            <a:ext cx="8229600" cy="274320"/>
          </a:xfrm>
          <a:prstGeom prst="rect">
            <a:avLst/>
          </a:prstGeom>
          <a:noFill/>
          <a:ln/>
        </p:spPr>
        <p:txBody>
          <a:bodyPr wrap="square" lIns="0" tIns="0" rIns="0" bIns="0" rtlCol="0" anchor="ctr"/>
          <a:lstStyle/>
          <a:p>
            <a:pPr marL="0" indent="0" algn="l">
              <a:buNone/>
            </a:pPr>
            <a:r>
              <a:rPr lang="en-US" sz="900" dirty="0">
                <a:solidFill>
                  <a:srgbClr val="6E6E6E"/>
                </a:solidFill>
                <a:latin typeface="Arial" pitchFamily="34" charset="0"/>
                <a:ea typeface="Arial" pitchFamily="34" charset="-122"/>
                <a:cs typeface="Arial" pitchFamily="34" charset="-120"/>
              </a:rPr>
              <a:t>Why LLMs &amp; JS frameworks love Tailwind CSS</a:t>
            </a:r>
            <a:endParaRPr lang="en-US" sz="900" dirty="0"/>
          </a:p>
        </p:txBody>
      </p:sp>
      <p:sp>
        <p:nvSpPr>
          <p:cNvPr id="25" name="Text 23"/>
          <p:cNvSpPr/>
          <p:nvPr/>
        </p:nvSpPr>
        <p:spPr>
          <a:xfrm>
            <a:off x="10134295" y="6419088"/>
            <a:ext cx="1463040" cy="274320"/>
          </a:xfrm>
          <a:prstGeom prst="rect">
            <a:avLst/>
          </a:prstGeom>
          <a:noFill/>
          <a:ln/>
        </p:spPr>
        <p:txBody>
          <a:bodyPr wrap="square" lIns="0" tIns="0" rIns="0" bIns="0" rtlCol="0" anchor="ctr"/>
          <a:lstStyle/>
          <a:p>
            <a:pPr marL="0" indent="0" algn="r">
              <a:buNone/>
            </a:pPr>
            <a:r>
              <a:rPr lang="en-US" sz="900" dirty="0">
                <a:solidFill>
                  <a:srgbClr val="6E6E6E"/>
                </a:solidFill>
                <a:latin typeface="Arial" pitchFamily="34" charset="0"/>
                <a:ea typeface="Arial" pitchFamily="34" charset="-122"/>
                <a:cs typeface="Arial" pitchFamily="34" charset="-120"/>
              </a:rPr>
              <a:t>17 / 29</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222121"/>
        </a:solidFill>
        <a:effectLst/>
      </p:bgPr>
    </p:bg>
    <p:spTree>
      <p:nvGrpSpPr>
        <p:cNvPr id="1" name=""/>
        <p:cNvGrpSpPr/>
        <p:nvPr/>
      </p:nvGrpSpPr>
      <p:grpSpPr>
        <a:xfrm>
          <a:off x="0" y="0"/>
          <a:ext cx="0" cy="0"/>
          <a:chOff x="0" y="0"/>
          <a:chExt cx="0" cy="0"/>
        </a:xfrm>
      </p:grpSpPr>
      <p:sp>
        <p:nvSpPr>
          <p:cNvPr id="2" name="Text 0"/>
          <p:cNvSpPr/>
          <p:nvPr/>
        </p:nvSpPr>
        <p:spPr>
          <a:xfrm>
            <a:off x="594360" y="502920"/>
            <a:ext cx="11002975" cy="274320"/>
          </a:xfrm>
          <a:prstGeom prst="rect">
            <a:avLst/>
          </a:prstGeom>
          <a:noFill/>
          <a:ln/>
        </p:spPr>
        <p:txBody>
          <a:bodyPr wrap="square" lIns="0" tIns="0" rIns="0" bIns="0" rtlCol="0" anchor="ctr"/>
          <a:lstStyle/>
          <a:p>
            <a:pPr marL="0" indent="0" algn="l">
              <a:buNone/>
            </a:pPr>
            <a:r>
              <a:rPr lang="en-US" sz="1200" b="1" kern="0" spc="300" dirty="0">
                <a:solidFill>
                  <a:srgbClr val="75DFBC"/>
                </a:solidFill>
                <a:latin typeface="Arial" pitchFamily="34" charset="0"/>
                <a:ea typeface="Arial" pitchFamily="34" charset="-122"/>
                <a:cs typeface="Arial" pitchFamily="34" charset="-120"/>
              </a:rPr>
              <a:t>WHY IT WORKS</a:t>
            </a:r>
            <a:endParaRPr lang="en-US" sz="1200" dirty="0"/>
          </a:p>
        </p:txBody>
      </p:sp>
      <p:sp>
        <p:nvSpPr>
          <p:cNvPr id="3" name="Shape 1"/>
          <p:cNvSpPr/>
          <p:nvPr/>
        </p:nvSpPr>
        <p:spPr>
          <a:xfrm>
            <a:off x="594360" y="1463040"/>
            <a:ext cx="822960" cy="822960"/>
          </a:xfrm>
          <a:prstGeom prst="ellipse">
            <a:avLst/>
          </a:prstGeom>
          <a:solidFill>
            <a:srgbClr val="75DFBC"/>
          </a:solidFill>
          <a:ln/>
        </p:spPr>
        <p:txBody>
          <a:bodyPr/>
          <a:lstStyle/>
          <a:p>
            <a:endParaRPr lang="en-US"/>
          </a:p>
        </p:txBody>
      </p:sp>
      <p:sp>
        <p:nvSpPr>
          <p:cNvPr id="4" name="Text 2"/>
          <p:cNvSpPr/>
          <p:nvPr/>
        </p:nvSpPr>
        <p:spPr>
          <a:xfrm>
            <a:off x="594360" y="1463040"/>
            <a:ext cx="822960" cy="822960"/>
          </a:xfrm>
          <a:prstGeom prst="rect">
            <a:avLst/>
          </a:prstGeom>
          <a:noFill/>
          <a:ln/>
        </p:spPr>
        <p:txBody>
          <a:bodyPr wrap="square" lIns="0" tIns="0" rIns="0" bIns="0" rtlCol="0" anchor="ctr"/>
          <a:lstStyle/>
          <a:p>
            <a:pPr marL="0" indent="0" algn="ctr">
              <a:buNone/>
            </a:pPr>
            <a:r>
              <a:rPr lang="en-US" sz="2600" b="1" dirty="0">
                <a:solidFill>
                  <a:srgbClr val="222121"/>
                </a:solidFill>
                <a:latin typeface="Arial" pitchFamily="34" charset="0"/>
                <a:ea typeface="Arial" pitchFamily="34" charset="-122"/>
                <a:cs typeface="Arial" pitchFamily="34" charset="-120"/>
              </a:rPr>
              <a:t>6</a:t>
            </a:r>
            <a:endParaRPr lang="en-US" sz="2600" dirty="0"/>
          </a:p>
        </p:txBody>
      </p:sp>
      <p:sp>
        <p:nvSpPr>
          <p:cNvPr id="5" name="Text 3"/>
          <p:cNvSpPr/>
          <p:nvPr/>
        </p:nvSpPr>
        <p:spPr>
          <a:xfrm>
            <a:off x="1691640" y="1463040"/>
            <a:ext cx="9905695" cy="914400"/>
          </a:xfrm>
          <a:prstGeom prst="rect">
            <a:avLst/>
          </a:prstGeom>
          <a:noFill/>
          <a:ln/>
        </p:spPr>
        <p:txBody>
          <a:bodyPr wrap="square" lIns="0" tIns="0" rIns="0" bIns="0" rtlCol="0" anchor="ctr"/>
          <a:lstStyle/>
          <a:p>
            <a:pPr marL="0" indent="0" algn="l">
              <a:lnSpc>
                <a:spcPct val="102000"/>
              </a:lnSpc>
              <a:buNone/>
            </a:pPr>
            <a:r>
              <a:rPr lang="en-US" sz="3000" b="1" dirty="0">
                <a:solidFill>
                  <a:srgbClr val="FFFFFF"/>
                </a:solidFill>
                <a:latin typeface="Arial" pitchFamily="34" charset="0"/>
                <a:ea typeface="Arial" pitchFamily="34" charset="-122"/>
                <a:cs typeface="Arial" pitchFamily="34" charset="-120"/>
              </a:rPr>
              <a:t>Self-documenting = verifiable</a:t>
            </a:r>
            <a:endParaRPr lang="en-US" sz="3000" dirty="0"/>
          </a:p>
        </p:txBody>
      </p:sp>
      <p:sp>
        <p:nvSpPr>
          <p:cNvPr id="6" name="Shape 4"/>
          <p:cNvSpPr/>
          <p:nvPr/>
        </p:nvSpPr>
        <p:spPr>
          <a:xfrm>
            <a:off x="594360" y="2962656"/>
            <a:ext cx="118872" cy="118872"/>
          </a:xfrm>
          <a:prstGeom prst="rect">
            <a:avLst/>
          </a:prstGeom>
          <a:solidFill>
            <a:srgbClr val="75DFBC"/>
          </a:solidFill>
          <a:ln/>
        </p:spPr>
        <p:txBody>
          <a:bodyPr/>
          <a:lstStyle/>
          <a:p>
            <a:endParaRPr lang="en-US" sz="2400"/>
          </a:p>
        </p:txBody>
      </p:sp>
      <p:sp>
        <p:nvSpPr>
          <p:cNvPr id="7" name="Text 5"/>
          <p:cNvSpPr/>
          <p:nvPr/>
        </p:nvSpPr>
        <p:spPr>
          <a:xfrm>
            <a:off x="886968" y="2880360"/>
            <a:ext cx="5742432" cy="457200"/>
          </a:xfrm>
          <a:prstGeom prst="rect">
            <a:avLst/>
          </a:prstGeom>
          <a:noFill/>
          <a:ln/>
        </p:spPr>
        <p:txBody>
          <a:bodyPr wrap="square" lIns="0" tIns="0" rIns="0" bIns="0" rtlCol="0" anchor="t"/>
          <a:lstStyle/>
          <a:p>
            <a:pPr marL="0" indent="0" algn="l">
              <a:lnSpc>
                <a:spcPct val="105000"/>
              </a:lnSpc>
              <a:buNone/>
            </a:pPr>
            <a:r>
              <a:rPr lang="en-US" sz="2000" dirty="0">
                <a:solidFill>
                  <a:srgbClr val="FFFFFF"/>
                </a:solidFill>
                <a:latin typeface="Arial" pitchFamily="34" charset="0"/>
                <a:ea typeface="Arial" pitchFamily="34" charset="-122"/>
                <a:cs typeface="Arial" pitchFamily="34" charset="-120"/>
              </a:rPr>
              <a:t>The class list is the spec</a:t>
            </a:r>
            <a:endParaRPr lang="en-US" sz="2000" dirty="0"/>
          </a:p>
        </p:txBody>
      </p:sp>
      <p:sp>
        <p:nvSpPr>
          <p:cNvPr id="8" name="Shape 6"/>
          <p:cNvSpPr/>
          <p:nvPr/>
        </p:nvSpPr>
        <p:spPr>
          <a:xfrm>
            <a:off x="594360" y="3602736"/>
            <a:ext cx="118872" cy="118872"/>
          </a:xfrm>
          <a:prstGeom prst="rect">
            <a:avLst/>
          </a:prstGeom>
          <a:solidFill>
            <a:srgbClr val="75DFBC"/>
          </a:solidFill>
          <a:ln/>
        </p:spPr>
        <p:txBody>
          <a:bodyPr/>
          <a:lstStyle/>
          <a:p>
            <a:endParaRPr lang="en-US" sz="2400"/>
          </a:p>
        </p:txBody>
      </p:sp>
      <p:sp>
        <p:nvSpPr>
          <p:cNvPr id="9" name="Text 7"/>
          <p:cNvSpPr/>
          <p:nvPr/>
        </p:nvSpPr>
        <p:spPr>
          <a:xfrm>
            <a:off x="886968" y="3520440"/>
            <a:ext cx="5742432" cy="457200"/>
          </a:xfrm>
          <a:prstGeom prst="rect">
            <a:avLst/>
          </a:prstGeom>
          <a:noFill/>
          <a:ln/>
        </p:spPr>
        <p:txBody>
          <a:bodyPr wrap="square" lIns="0" tIns="0" rIns="0" bIns="0" rtlCol="0" anchor="t"/>
          <a:lstStyle/>
          <a:p>
            <a:pPr marL="0" indent="0" algn="l">
              <a:lnSpc>
                <a:spcPct val="105000"/>
              </a:lnSpc>
              <a:buNone/>
            </a:pPr>
            <a:r>
              <a:rPr lang="en-US" sz="2000" dirty="0">
                <a:solidFill>
                  <a:srgbClr val="FFFFFF"/>
                </a:solidFill>
                <a:latin typeface="Arial" pitchFamily="34" charset="0"/>
                <a:ea typeface="Arial" pitchFamily="34" charset="-122"/>
                <a:cs typeface="Arial" pitchFamily="34" charset="-120"/>
              </a:rPr>
              <a:t>Read bg-coral hover:bg-coral/80 px-4 py-2 rounded-lg</a:t>
            </a:r>
            <a:endParaRPr lang="en-US" sz="2000" dirty="0"/>
          </a:p>
        </p:txBody>
      </p:sp>
      <p:sp>
        <p:nvSpPr>
          <p:cNvPr id="10" name="Shape 8"/>
          <p:cNvSpPr/>
          <p:nvPr/>
        </p:nvSpPr>
        <p:spPr>
          <a:xfrm>
            <a:off x="594360" y="4581144"/>
            <a:ext cx="118872" cy="118872"/>
          </a:xfrm>
          <a:prstGeom prst="rect">
            <a:avLst/>
          </a:prstGeom>
          <a:solidFill>
            <a:srgbClr val="75DFBC"/>
          </a:solidFill>
          <a:ln/>
        </p:spPr>
        <p:txBody>
          <a:bodyPr/>
          <a:lstStyle/>
          <a:p>
            <a:endParaRPr lang="en-US" sz="2400"/>
          </a:p>
        </p:txBody>
      </p:sp>
      <p:sp>
        <p:nvSpPr>
          <p:cNvPr id="11" name="Text 9"/>
          <p:cNvSpPr/>
          <p:nvPr/>
        </p:nvSpPr>
        <p:spPr>
          <a:xfrm>
            <a:off x="886968" y="4498848"/>
            <a:ext cx="5742432" cy="457200"/>
          </a:xfrm>
          <a:prstGeom prst="rect">
            <a:avLst/>
          </a:prstGeom>
          <a:noFill/>
          <a:ln/>
        </p:spPr>
        <p:txBody>
          <a:bodyPr wrap="square" lIns="0" tIns="0" rIns="0" bIns="0" rtlCol="0" anchor="t"/>
          <a:lstStyle/>
          <a:p>
            <a:pPr marL="0" indent="0" algn="l">
              <a:lnSpc>
                <a:spcPct val="105000"/>
              </a:lnSpc>
              <a:buNone/>
            </a:pPr>
            <a:r>
              <a:rPr lang="en-US" sz="2000" dirty="0">
                <a:solidFill>
                  <a:srgbClr val="FFFFFF"/>
                </a:solidFill>
                <a:latin typeface="Arial" pitchFamily="34" charset="0"/>
                <a:ea typeface="Arial" pitchFamily="34" charset="-122"/>
                <a:cs typeface="Arial" pitchFamily="34" charset="-120"/>
              </a:rPr>
              <a:t>…and know exactly what it does without running it</a:t>
            </a:r>
            <a:endParaRPr lang="en-US" sz="2000" dirty="0"/>
          </a:p>
        </p:txBody>
      </p:sp>
      <p:sp>
        <p:nvSpPr>
          <p:cNvPr id="12" name="Shape 10"/>
          <p:cNvSpPr/>
          <p:nvPr/>
        </p:nvSpPr>
        <p:spPr>
          <a:xfrm>
            <a:off x="594360" y="5376672"/>
            <a:ext cx="118872" cy="118872"/>
          </a:xfrm>
          <a:prstGeom prst="rect">
            <a:avLst/>
          </a:prstGeom>
          <a:solidFill>
            <a:srgbClr val="F1CF25"/>
          </a:solidFill>
          <a:ln/>
        </p:spPr>
        <p:txBody>
          <a:bodyPr/>
          <a:lstStyle/>
          <a:p>
            <a:endParaRPr lang="en-US" sz="2400"/>
          </a:p>
        </p:txBody>
      </p:sp>
      <p:sp>
        <p:nvSpPr>
          <p:cNvPr id="13" name="Text 11"/>
          <p:cNvSpPr/>
          <p:nvPr/>
        </p:nvSpPr>
        <p:spPr>
          <a:xfrm>
            <a:off x="886968" y="5294376"/>
            <a:ext cx="5742432" cy="457200"/>
          </a:xfrm>
          <a:prstGeom prst="rect">
            <a:avLst/>
          </a:prstGeom>
          <a:noFill/>
          <a:ln/>
        </p:spPr>
        <p:txBody>
          <a:bodyPr wrap="square" lIns="0" tIns="0" rIns="0" bIns="0" rtlCol="0" anchor="t"/>
          <a:lstStyle/>
          <a:p>
            <a:pPr marL="0" indent="0" algn="l">
              <a:lnSpc>
                <a:spcPct val="105000"/>
              </a:lnSpc>
              <a:buNone/>
            </a:pPr>
            <a:r>
              <a:rPr lang="en-US" sz="2000" dirty="0">
                <a:solidFill>
                  <a:srgbClr val="FFFFFF"/>
                </a:solidFill>
                <a:latin typeface="Arial" pitchFamily="34" charset="0"/>
                <a:ea typeface="Arial" pitchFamily="34" charset="-122"/>
                <a:cs typeface="Arial" pitchFamily="34" charset="-120"/>
              </a:rPr>
              <a:t>Faster review = a tighter human + AI loop</a:t>
            </a:r>
            <a:endParaRPr lang="en-US" sz="2000" dirty="0"/>
          </a:p>
        </p:txBody>
      </p:sp>
      <p:sp>
        <p:nvSpPr>
          <p:cNvPr id="14" name="Shape 12"/>
          <p:cNvSpPr/>
          <p:nvPr/>
        </p:nvSpPr>
        <p:spPr>
          <a:xfrm>
            <a:off x="6766560" y="2651760"/>
            <a:ext cx="4828032" cy="3099816"/>
          </a:xfrm>
          <a:prstGeom prst="roundRect">
            <a:avLst>
              <a:gd name="adj" fmla="val 4444"/>
            </a:avLst>
          </a:prstGeom>
          <a:solidFill>
            <a:srgbClr val="2C2B2B"/>
          </a:solidFill>
          <a:ln w="12700">
            <a:solidFill>
              <a:srgbClr val="3A3A3A"/>
            </a:solidFill>
            <a:prstDash val="solid"/>
          </a:ln>
        </p:spPr>
        <p:txBody>
          <a:bodyPr/>
          <a:lstStyle/>
          <a:p>
            <a:endParaRPr lang="en-US" sz="2800" dirty="0"/>
          </a:p>
        </p:txBody>
      </p:sp>
      <p:sp>
        <p:nvSpPr>
          <p:cNvPr id="15" name="Text 13"/>
          <p:cNvSpPr/>
          <p:nvPr/>
        </p:nvSpPr>
        <p:spPr>
          <a:xfrm>
            <a:off x="7040880" y="2880360"/>
            <a:ext cx="4297680" cy="365760"/>
          </a:xfrm>
          <a:prstGeom prst="rect">
            <a:avLst/>
          </a:prstGeom>
          <a:noFill/>
          <a:ln/>
        </p:spPr>
        <p:txBody>
          <a:bodyPr wrap="square" lIns="0" tIns="0" rIns="0" bIns="0" rtlCol="0" anchor="ctr"/>
          <a:lstStyle/>
          <a:p>
            <a:pPr marL="0" indent="0" algn="l">
              <a:buNone/>
            </a:pPr>
            <a:r>
              <a:rPr lang="en-US" i="1" dirty="0">
                <a:solidFill>
                  <a:srgbClr val="6E6E6E"/>
                </a:solidFill>
                <a:latin typeface="Arial" pitchFamily="34" charset="0"/>
                <a:ea typeface="Arial" pitchFamily="34" charset="-122"/>
                <a:cs typeface="Arial" pitchFamily="34" charset="-120"/>
              </a:rPr>
              <a:t>you can verify by reading:</a:t>
            </a:r>
            <a:endParaRPr lang="en-US" dirty="0"/>
          </a:p>
        </p:txBody>
      </p:sp>
      <p:sp>
        <p:nvSpPr>
          <p:cNvPr id="16" name="Text 14"/>
          <p:cNvSpPr/>
          <p:nvPr/>
        </p:nvSpPr>
        <p:spPr>
          <a:xfrm>
            <a:off x="7031736" y="3712464"/>
            <a:ext cx="4297680" cy="914400"/>
          </a:xfrm>
          <a:prstGeom prst="rect">
            <a:avLst/>
          </a:prstGeom>
          <a:noFill/>
          <a:ln/>
        </p:spPr>
        <p:txBody>
          <a:bodyPr wrap="square" lIns="0" tIns="0" rIns="0" bIns="0" rtlCol="0" anchor="t"/>
          <a:lstStyle/>
          <a:p>
            <a:pPr marL="0" indent="0" algn="l">
              <a:lnSpc>
                <a:spcPct val="120000"/>
              </a:lnSpc>
              <a:buNone/>
            </a:pPr>
            <a:r>
              <a:rPr lang="en-US" sz="2000" dirty="0">
                <a:solidFill>
                  <a:srgbClr val="FF6A4C"/>
                </a:solidFill>
                <a:latin typeface="Courier New" pitchFamily="34" charset="0"/>
                <a:ea typeface="Courier New" pitchFamily="34" charset="-122"/>
                <a:cs typeface="Courier New" pitchFamily="34" charset="-120"/>
              </a:rPr>
              <a:t>bg-coral </a:t>
            </a:r>
            <a:r>
              <a:rPr lang="en-US" sz="2000" dirty="0">
                <a:solidFill>
                  <a:srgbClr val="F1CF25"/>
                </a:solidFill>
                <a:latin typeface="Courier New" pitchFamily="34" charset="0"/>
                <a:ea typeface="Courier New" pitchFamily="34" charset="-122"/>
                <a:cs typeface="Courier New" pitchFamily="34" charset="-120"/>
              </a:rPr>
              <a:t>hover:bg-coral/80 </a:t>
            </a:r>
            <a:r>
              <a:rPr lang="en-US" sz="2000" dirty="0">
                <a:solidFill>
                  <a:srgbClr val="75DFBC"/>
                </a:solidFill>
                <a:latin typeface="Courier New" pitchFamily="34" charset="0"/>
                <a:ea typeface="Courier New" pitchFamily="34" charset="-122"/>
                <a:cs typeface="Courier New" pitchFamily="34" charset="-120"/>
              </a:rPr>
              <a:t>px-4 py-2 </a:t>
            </a:r>
            <a:r>
              <a:rPr lang="en-US" sz="2000" dirty="0">
                <a:solidFill>
                  <a:srgbClr val="9CDCFE"/>
                </a:solidFill>
                <a:latin typeface="Courier New" pitchFamily="34" charset="0"/>
                <a:ea typeface="Courier New" pitchFamily="34" charset="-122"/>
                <a:cs typeface="Courier New" pitchFamily="34" charset="-120"/>
              </a:rPr>
              <a:t>rounded-lg</a:t>
            </a:r>
            <a:endParaRPr lang="en-US" sz="2000" dirty="0"/>
          </a:p>
        </p:txBody>
      </p:sp>
      <p:sp>
        <p:nvSpPr>
          <p:cNvPr id="17" name="Text 15"/>
          <p:cNvSpPr/>
          <p:nvPr/>
        </p:nvSpPr>
        <p:spPr>
          <a:xfrm>
            <a:off x="7031736" y="4895737"/>
            <a:ext cx="4297680" cy="731520"/>
          </a:xfrm>
          <a:prstGeom prst="rect">
            <a:avLst/>
          </a:prstGeom>
          <a:noFill/>
          <a:ln/>
        </p:spPr>
        <p:txBody>
          <a:bodyPr wrap="square" lIns="0" tIns="0" rIns="0" bIns="0" rtlCol="0" anchor="t"/>
          <a:lstStyle/>
          <a:p>
            <a:pPr marL="0" indent="0" algn="l">
              <a:lnSpc>
                <a:spcPct val="110000"/>
              </a:lnSpc>
              <a:buNone/>
            </a:pPr>
            <a:r>
              <a:rPr lang="en-US" dirty="0">
                <a:solidFill>
                  <a:srgbClr val="A6A6A6"/>
                </a:solidFill>
                <a:latin typeface="Arial" pitchFamily="34" charset="0"/>
                <a:ea typeface="Arial" pitchFamily="34" charset="-122"/>
                <a:cs typeface="Arial" pitchFamily="34" charset="-120"/>
              </a:rPr>
              <a:t>→ coral button, darkens on hover, comfy padding, soft corners.</a:t>
            </a:r>
            <a:endParaRPr lang="en-US" dirty="0"/>
          </a:p>
        </p:txBody>
      </p:sp>
      <p:sp>
        <p:nvSpPr>
          <p:cNvPr id="18" name="Text 16"/>
          <p:cNvSpPr/>
          <p:nvPr/>
        </p:nvSpPr>
        <p:spPr>
          <a:xfrm>
            <a:off x="594360" y="6419088"/>
            <a:ext cx="8229600" cy="274320"/>
          </a:xfrm>
          <a:prstGeom prst="rect">
            <a:avLst/>
          </a:prstGeom>
          <a:noFill/>
          <a:ln/>
        </p:spPr>
        <p:txBody>
          <a:bodyPr wrap="square" lIns="0" tIns="0" rIns="0" bIns="0" rtlCol="0" anchor="ctr"/>
          <a:lstStyle/>
          <a:p>
            <a:pPr marL="0" indent="0" algn="l">
              <a:buNone/>
            </a:pPr>
            <a:r>
              <a:rPr lang="en-US" sz="900" dirty="0">
                <a:solidFill>
                  <a:srgbClr val="6E6E6E"/>
                </a:solidFill>
                <a:latin typeface="Arial" pitchFamily="34" charset="0"/>
                <a:ea typeface="Arial" pitchFamily="34" charset="-122"/>
                <a:cs typeface="Arial" pitchFamily="34" charset="-120"/>
              </a:rPr>
              <a:t>Why LLMs &amp; JS frameworks love Tailwind CSS</a:t>
            </a:r>
            <a:endParaRPr lang="en-US" sz="900" dirty="0"/>
          </a:p>
        </p:txBody>
      </p:sp>
      <p:sp>
        <p:nvSpPr>
          <p:cNvPr id="19" name="Text 17"/>
          <p:cNvSpPr/>
          <p:nvPr/>
        </p:nvSpPr>
        <p:spPr>
          <a:xfrm>
            <a:off x="10134295" y="6419088"/>
            <a:ext cx="1463040" cy="274320"/>
          </a:xfrm>
          <a:prstGeom prst="rect">
            <a:avLst/>
          </a:prstGeom>
          <a:noFill/>
          <a:ln/>
        </p:spPr>
        <p:txBody>
          <a:bodyPr wrap="square" lIns="0" tIns="0" rIns="0" bIns="0" rtlCol="0" anchor="ctr"/>
          <a:lstStyle/>
          <a:p>
            <a:pPr marL="0" indent="0" algn="r">
              <a:buNone/>
            </a:pPr>
            <a:r>
              <a:rPr lang="en-US" sz="900" dirty="0">
                <a:solidFill>
                  <a:srgbClr val="6E6E6E"/>
                </a:solidFill>
                <a:latin typeface="Arial" pitchFamily="34" charset="0"/>
                <a:ea typeface="Arial" pitchFamily="34" charset="-122"/>
                <a:cs typeface="Arial" pitchFamily="34" charset="-120"/>
              </a:rPr>
              <a:t>18 / 29</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222121"/>
        </a:solidFill>
        <a:effectLst/>
      </p:bgPr>
    </p:bg>
    <p:spTree>
      <p:nvGrpSpPr>
        <p:cNvPr id="1" name=""/>
        <p:cNvGrpSpPr/>
        <p:nvPr/>
      </p:nvGrpSpPr>
      <p:grpSpPr>
        <a:xfrm>
          <a:off x="0" y="0"/>
          <a:ext cx="0" cy="0"/>
          <a:chOff x="0" y="0"/>
          <a:chExt cx="0" cy="0"/>
        </a:xfrm>
      </p:grpSpPr>
      <p:sp>
        <p:nvSpPr>
          <p:cNvPr id="2" name="Text 0"/>
          <p:cNvSpPr/>
          <p:nvPr/>
        </p:nvSpPr>
        <p:spPr>
          <a:xfrm>
            <a:off x="594360" y="502920"/>
            <a:ext cx="11002975" cy="274320"/>
          </a:xfrm>
          <a:prstGeom prst="rect">
            <a:avLst/>
          </a:prstGeom>
          <a:noFill/>
          <a:ln/>
        </p:spPr>
        <p:txBody>
          <a:bodyPr wrap="square" lIns="0" tIns="0" rIns="0" bIns="0" rtlCol="0" anchor="ctr"/>
          <a:lstStyle/>
          <a:p>
            <a:pPr marL="0" indent="0" algn="l">
              <a:buNone/>
            </a:pPr>
            <a:r>
              <a:rPr lang="en-US" sz="1200" b="1" kern="0" spc="300" dirty="0">
                <a:solidFill>
                  <a:srgbClr val="F1CF25"/>
                </a:solidFill>
                <a:latin typeface="Arial" pitchFamily="34" charset="0"/>
                <a:ea typeface="Arial" pitchFamily="34" charset="-122"/>
                <a:cs typeface="Arial" pitchFamily="34" charset="-120"/>
              </a:rPr>
              <a:t>THE JS FRAMEWORK ANGLE</a:t>
            </a:r>
            <a:endParaRPr lang="en-US" sz="1200" dirty="0"/>
          </a:p>
        </p:txBody>
      </p:sp>
      <p:sp>
        <p:nvSpPr>
          <p:cNvPr id="3" name="Text 1"/>
          <p:cNvSpPr/>
          <p:nvPr/>
        </p:nvSpPr>
        <p:spPr>
          <a:xfrm>
            <a:off x="594360" y="868680"/>
            <a:ext cx="11002975" cy="1005840"/>
          </a:xfrm>
          <a:prstGeom prst="rect">
            <a:avLst/>
          </a:prstGeom>
          <a:noFill/>
          <a:ln/>
        </p:spPr>
        <p:txBody>
          <a:bodyPr wrap="square" lIns="0" tIns="0" rIns="0" bIns="0" rtlCol="0" anchor="t"/>
          <a:lstStyle/>
          <a:p>
            <a:pPr marL="0" indent="0" algn="l">
              <a:lnSpc>
                <a:spcPct val="102000"/>
              </a:lnSpc>
              <a:buNone/>
            </a:pPr>
            <a:r>
              <a:rPr lang="en-US" sz="3400" b="1" dirty="0">
                <a:solidFill>
                  <a:srgbClr val="FFFFFF"/>
                </a:solidFill>
                <a:latin typeface="Arial" pitchFamily="34" charset="0"/>
                <a:ea typeface="Arial" pitchFamily="34" charset="-122"/>
                <a:cs typeface="Arial" pitchFamily="34" charset="-120"/>
              </a:rPr>
              <a:t>Components already do this</a:t>
            </a:r>
            <a:endParaRPr lang="en-US" sz="3400" dirty="0"/>
          </a:p>
        </p:txBody>
      </p:sp>
      <p:sp>
        <p:nvSpPr>
          <p:cNvPr id="4" name="Text 2"/>
          <p:cNvSpPr/>
          <p:nvPr/>
        </p:nvSpPr>
        <p:spPr>
          <a:xfrm>
            <a:off x="594360" y="1783080"/>
            <a:ext cx="11002975" cy="822960"/>
          </a:xfrm>
          <a:prstGeom prst="rect">
            <a:avLst/>
          </a:prstGeom>
          <a:noFill/>
          <a:ln/>
        </p:spPr>
        <p:txBody>
          <a:bodyPr wrap="square" lIns="0" tIns="0" rIns="0" bIns="0" rtlCol="0" anchor="ctr"/>
          <a:lstStyle/>
          <a:p>
            <a:pPr marL="0" indent="0" algn="l">
              <a:lnSpc>
                <a:spcPct val="105000"/>
              </a:lnSpc>
              <a:buNone/>
            </a:pPr>
            <a:r>
              <a:rPr lang="en-US" sz="1800" dirty="0">
                <a:solidFill>
                  <a:srgbClr val="A6A6A6"/>
                </a:solidFill>
                <a:latin typeface="Arial" pitchFamily="34" charset="0"/>
                <a:ea typeface="Arial" pitchFamily="34" charset="-122"/>
                <a:cs typeface="Arial" pitchFamily="34" charset="-120"/>
              </a:rPr>
              <a:t>Modern frameworks co-locate template + logic in one unit. Tailwind adds style to the same unit.</a:t>
            </a:r>
            <a:endParaRPr lang="en-US" sz="1800" dirty="0"/>
          </a:p>
        </p:txBody>
      </p:sp>
      <p:sp>
        <p:nvSpPr>
          <p:cNvPr id="5" name="Shape 3"/>
          <p:cNvSpPr/>
          <p:nvPr/>
        </p:nvSpPr>
        <p:spPr>
          <a:xfrm>
            <a:off x="594360" y="2743200"/>
            <a:ext cx="1920240" cy="548640"/>
          </a:xfrm>
          <a:prstGeom prst="roundRect">
            <a:avLst>
              <a:gd name="adj" fmla="val 50000"/>
            </a:avLst>
          </a:prstGeom>
          <a:solidFill>
            <a:srgbClr val="2C2B2B"/>
          </a:solidFill>
          <a:ln w="12700">
            <a:solidFill>
              <a:srgbClr val="75DFBC"/>
            </a:solidFill>
            <a:prstDash val="solid"/>
          </a:ln>
        </p:spPr>
        <p:txBody>
          <a:bodyPr/>
          <a:lstStyle/>
          <a:p>
            <a:endParaRPr lang="en-US"/>
          </a:p>
        </p:txBody>
      </p:sp>
      <p:sp>
        <p:nvSpPr>
          <p:cNvPr id="6" name="Text 4"/>
          <p:cNvSpPr/>
          <p:nvPr/>
        </p:nvSpPr>
        <p:spPr>
          <a:xfrm>
            <a:off x="594360" y="2743200"/>
            <a:ext cx="1920240" cy="548640"/>
          </a:xfrm>
          <a:prstGeom prst="rect">
            <a:avLst/>
          </a:prstGeom>
          <a:noFill/>
          <a:ln/>
        </p:spPr>
        <p:txBody>
          <a:bodyPr wrap="square" lIns="0" tIns="0" rIns="0" bIns="0" rtlCol="0" anchor="ctr"/>
          <a:lstStyle/>
          <a:p>
            <a:pPr marL="0" indent="0" algn="ctr">
              <a:buNone/>
            </a:pPr>
            <a:r>
              <a:rPr lang="en-US" sz="1600" b="1" dirty="0">
                <a:solidFill>
                  <a:srgbClr val="75DFBC"/>
                </a:solidFill>
                <a:latin typeface="Arial" pitchFamily="34" charset="0"/>
                <a:ea typeface="Arial" pitchFamily="34" charset="-122"/>
                <a:cs typeface="Arial" pitchFamily="34" charset="-120"/>
              </a:rPr>
              <a:t>Template</a:t>
            </a:r>
            <a:endParaRPr lang="en-US" sz="1600" dirty="0"/>
          </a:p>
        </p:txBody>
      </p:sp>
      <p:sp>
        <p:nvSpPr>
          <p:cNvPr id="7" name="Text 5"/>
          <p:cNvSpPr/>
          <p:nvPr/>
        </p:nvSpPr>
        <p:spPr>
          <a:xfrm>
            <a:off x="2514600" y="2743200"/>
            <a:ext cx="228600" cy="548640"/>
          </a:xfrm>
          <a:prstGeom prst="rect">
            <a:avLst/>
          </a:prstGeom>
          <a:noFill/>
          <a:ln/>
        </p:spPr>
        <p:txBody>
          <a:bodyPr wrap="square" lIns="0" tIns="0" rIns="0" bIns="0" rtlCol="0" anchor="ctr"/>
          <a:lstStyle/>
          <a:p>
            <a:pPr marL="0" indent="0" algn="ctr">
              <a:buNone/>
            </a:pPr>
            <a:r>
              <a:rPr lang="en-US" sz="2200" b="1" dirty="0">
                <a:solidFill>
                  <a:srgbClr val="FFFFFF"/>
                </a:solidFill>
                <a:latin typeface="Arial" pitchFamily="34" charset="0"/>
                <a:ea typeface="Arial" pitchFamily="34" charset="-122"/>
                <a:cs typeface="Arial" pitchFamily="34" charset="-120"/>
              </a:rPr>
              <a:t>+</a:t>
            </a:r>
            <a:endParaRPr lang="en-US" sz="2200" dirty="0"/>
          </a:p>
        </p:txBody>
      </p:sp>
      <p:sp>
        <p:nvSpPr>
          <p:cNvPr id="8" name="Shape 6"/>
          <p:cNvSpPr/>
          <p:nvPr/>
        </p:nvSpPr>
        <p:spPr>
          <a:xfrm>
            <a:off x="2743200" y="2743200"/>
            <a:ext cx="1920240" cy="548640"/>
          </a:xfrm>
          <a:prstGeom prst="roundRect">
            <a:avLst>
              <a:gd name="adj" fmla="val 50000"/>
            </a:avLst>
          </a:prstGeom>
          <a:solidFill>
            <a:srgbClr val="2C2B2B"/>
          </a:solidFill>
          <a:ln w="12700">
            <a:solidFill>
              <a:srgbClr val="F1CF25"/>
            </a:solidFill>
            <a:prstDash val="solid"/>
          </a:ln>
        </p:spPr>
        <p:txBody>
          <a:bodyPr/>
          <a:lstStyle/>
          <a:p>
            <a:endParaRPr lang="en-US"/>
          </a:p>
        </p:txBody>
      </p:sp>
      <p:sp>
        <p:nvSpPr>
          <p:cNvPr id="9" name="Text 7"/>
          <p:cNvSpPr/>
          <p:nvPr/>
        </p:nvSpPr>
        <p:spPr>
          <a:xfrm>
            <a:off x="2743200" y="2743200"/>
            <a:ext cx="1920240" cy="548640"/>
          </a:xfrm>
          <a:prstGeom prst="rect">
            <a:avLst/>
          </a:prstGeom>
          <a:noFill/>
          <a:ln/>
        </p:spPr>
        <p:txBody>
          <a:bodyPr wrap="square" lIns="0" tIns="0" rIns="0" bIns="0" rtlCol="0" anchor="ctr"/>
          <a:lstStyle/>
          <a:p>
            <a:pPr marL="0" indent="0" algn="ctr">
              <a:buNone/>
            </a:pPr>
            <a:r>
              <a:rPr lang="en-US" sz="1600" b="1" dirty="0">
                <a:solidFill>
                  <a:srgbClr val="F1CF25"/>
                </a:solidFill>
                <a:latin typeface="Arial" pitchFamily="34" charset="0"/>
                <a:ea typeface="Arial" pitchFamily="34" charset="-122"/>
                <a:cs typeface="Arial" pitchFamily="34" charset="-120"/>
              </a:rPr>
              <a:t>Logic</a:t>
            </a:r>
            <a:endParaRPr lang="en-US" sz="1600" dirty="0"/>
          </a:p>
        </p:txBody>
      </p:sp>
      <p:sp>
        <p:nvSpPr>
          <p:cNvPr id="10" name="Text 8"/>
          <p:cNvSpPr/>
          <p:nvPr/>
        </p:nvSpPr>
        <p:spPr>
          <a:xfrm>
            <a:off x="4663440" y="2743200"/>
            <a:ext cx="228600" cy="548640"/>
          </a:xfrm>
          <a:prstGeom prst="rect">
            <a:avLst/>
          </a:prstGeom>
          <a:noFill/>
          <a:ln/>
        </p:spPr>
        <p:txBody>
          <a:bodyPr wrap="square" lIns="0" tIns="0" rIns="0" bIns="0" rtlCol="0" anchor="ctr"/>
          <a:lstStyle/>
          <a:p>
            <a:pPr marL="0" indent="0" algn="ctr">
              <a:buNone/>
            </a:pPr>
            <a:r>
              <a:rPr lang="en-US" sz="2200" b="1" dirty="0">
                <a:solidFill>
                  <a:srgbClr val="FFFFFF"/>
                </a:solidFill>
                <a:latin typeface="Arial" pitchFamily="34" charset="0"/>
                <a:ea typeface="Arial" pitchFamily="34" charset="-122"/>
                <a:cs typeface="Arial" pitchFamily="34" charset="-120"/>
              </a:rPr>
              <a:t>+</a:t>
            </a:r>
            <a:endParaRPr lang="en-US" sz="2200" dirty="0"/>
          </a:p>
        </p:txBody>
      </p:sp>
      <p:sp>
        <p:nvSpPr>
          <p:cNvPr id="11" name="Shape 9"/>
          <p:cNvSpPr/>
          <p:nvPr/>
        </p:nvSpPr>
        <p:spPr>
          <a:xfrm>
            <a:off x="4892040" y="2743200"/>
            <a:ext cx="1920240" cy="548640"/>
          </a:xfrm>
          <a:prstGeom prst="roundRect">
            <a:avLst>
              <a:gd name="adj" fmla="val 50000"/>
            </a:avLst>
          </a:prstGeom>
          <a:solidFill>
            <a:srgbClr val="2C2B2B"/>
          </a:solidFill>
          <a:ln w="12700">
            <a:solidFill>
              <a:srgbClr val="FF6A4C"/>
            </a:solidFill>
            <a:prstDash val="solid"/>
          </a:ln>
        </p:spPr>
        <p:txBody>
          <a:bodyPr/>
          <a:lstStyle/>
          <a:p>
            <a:endParaRPr lang="en-US"/>
          </a:p>
        </p:txBody>
      </p:sp>
      <p:sp>
        <p:nvSpPr>
          <p:cNvPr id="12" name="Text 10"/>
          <p:cNvSpPr/>
          <p:nvPr/>
        </p:nvSpPr>
        <p:spPr>
          <a:xfrm>
            <a:off x="4892040" y="2743200"/>
            <a:ext cx="1920240" cy="548640"/>
          </a:xfrm>
          <a:prstGeom prst="rect">
            <a:avLst/>
          </a:prstGeom>
          <a:noFill/>
          <a:ln/>
        </p:spPr>
        <p:txBody>
          <a:bodyPr wrap="square" lIns="0" tIns="0" rIns="0" bIns="0" rtlCol="0" anchor="ctr"/>
          <a:lstStyle/>
          <a:p>
            <a:pPr marL="0" indent="0" algn="ctr">
              <a:buNone/>
            </a:pPr>
            <a:r>
              <a:rPr lang="en-US" sz="1600" b="1" dirty="0">
                <a:solidFill>
                  <a:srgbClr val="FF6A4C"/>
                </a:solidFill>
                <a:latin typeface="Arial" pitchFamily="34" charset="0"/>
                <a:ea typeface="Arial" pitchFamily="34" charset="-122"/>
                <a:cs typeface="Arial" pitchFamily="34" charset="-120"/>
              </a:rPr>
              <a:t>Style</a:t>
            </a:r>
            <a:endParaRPr lang="en-US" sz="1600" dirty="0"/>
          </a:p>
        </p:txBody>
      </p:sp>
      <p:sp>
        <p:nvSpPr>
          <p:cNvPr id="13" name="Text 11"/>
          <p:cNvSpPr/>
          <p:nvPr/>
        </p:nvSpPr>
        <p:spPr>
          <a:xfrm>
            <a:off x="7269480" y="2743200"/>
            <a:ext cx="4572000" cy="548640"/>
          </a:xfrm>
          <a:prstGeom prst="rect">
            <a:avLst/>
          </a:prstGeom>
          <a:noFill/>
          <a:ln/>
        </p:spPr>
        <p:txBody>
          <a:bodyPr wrap="square" lIns="0" tIns="0" rIns="0" bIns="0" rtlCol="0" anchor="ctr"/>
          <a:lstStyle/>
          <a:p>
            <a:pPr marL="0" indent="0" algn="l">
              <a:buNone/>
            </a:pPr>
            <a:r>
              <a:rPr lang="en-US" sz="1600" i="1" dirty="0">
                <a:solidFill>
                  <a:srgbClr val="75DFBC"/>
                </a:solidFill>
                <a:latin typeface="Arial" pitchFamily="34" charset="0"/>
                <a:ea typeface="Arial" pitchFamily="34" charset="-122"/>
                <a:cs typeface="Arial" pitchFamily="34" charset="-120"/>
              </a:rPr>
              <a:t>= one component, one file, one mental model</a:t>
            </a:r>
            <a:endParaRPr lang="en-US" sz="1600" dirty="0"/>
          </a:p>
        </p:txBody>
      </p:sp>
      <p:sp>
        <p:nvSpPr>
          <p:cNvPr id="14" name="Text 12"/>
          <p:cNvSpPr/>
          <p:nvPr/>
        </p:nvSpPr>
        <p:spPr>
          <a:xfrm>
            <a:off x="594360" y="3749040"/>
            <a:ext cx="11002975" cy="731520"/>
          </a:xfrm>
          <a:prstGeom prst="rect">
            <a:avLst/>
          </a:prstGeom>
          <a:noFill/>
          <a:ln/>
        </p:spPr>
        <p:txBody>
          <a:bodyPr wrap="square" lIns="0" tIns="0" rIns="0" bIns="0" rtlCol="0" anchor="ctr"/>
          <a:lstStyle/>
          <a:p>
            <a:pPr marL="0" indent="0" algn="l">
              <a:lnSpc>
                <a:spcPct val="105000"/>
              </a:lnSpc>
              <a:buNone/>
            </a:pPr>
            <a:r>
              <a:rPr lang="en-US" sz="2000" b="1" dirty="0">
                <a:solidFill>
                  <a:srgbClr val="FFFFFF"/>
                </a:solidFill>
                <a:latin typeface="Arial" pitchFamily="34" charset="0"/>
                <a:ea typeface="Arial" pitchFamily="34" charset="-122"/>
                <a:cs typeface="Arial" pitchFamily="34" charset="-120"/>
              </a:rPr>
              <a:t>Component encapsulation and utility-first both apply locality, at different layers.</a:t>
            </a:r>
            <a:endParaRPr lang="en-US" sz="2000" dirty="0"/>
          </a:p>
        </p:txBody>
      </p:sp>
      <p:sp>
        <p:nvSpPr>
          <p:cNvPr id="15" name="Shape 13"/>
          <p:cNvSpPr/>
          <p:nvPr/>
        </p:nvSpPr>
        <p:spPr>
          <a:xfrm>
            <a:off x="594360" y="5097780"/>
            <a:ext cx="1234440" cy="411480"/>
          </a:xfrm>
          <a:prstGeom prst="roundRect">
            <a:avLst>
              <a:gd name="adj" fmla="val 50000"/>
            </a:avLst>
          </a:prstGeom>
          <a:ln w="12700">
            <a:solidFill>
              <a:srgbClr val="3A3A3A"/>
            </a:solidFill>
            <a:prstDash val="solid"/>
          </a:ln>
        </p:spPr>
        <p:txBody>
          <a:bodyPr/>
          <a:lstStyle/>
          <a:p>
            <a:endParaRPr lang="en-US" sz="2400"/>
          </a:p>
        </p:txBody>
      </p:sp>
      <p:sp>
        <p:nvSpPr>
          <p:cNvPr id="16" name="Text 14"/>
          <p:cNvSpPr/>
          <p:nvPr/>
        </p:nvSpPr>
        <p:spPr>
          <a:xfrm>
            <a:off x="594360" y="5097780"/>
            <a:ext cx="1234440" cy="411480"/>
          </a:xfrm>
          <a:prstGeom prst="rect">
            <a:avLst/>
          </a:prstGeom>
          <a:noFill/>
          <a:ln/>
        </p:spPr>
        <p:txBody>
          <a:bodyPr wrap="square" lIns="0" tIns="0" rIns="0" bIns="0" rtlCol="0" anchor="ctr"/>
          <a:lstStyle/>
          <a:p>
            <a:pPr marL="0" indent="0" algn="ctr">
              <a:buNone/>
            </a:pPr>
            <a:r>
              <a:rPr lang="en-US" sz="1600" b="1" dirty="0">
                <a:solidFill>
                  <a:srgbClr val="A6A6A6"/>
                </a:solidFill>
                <a:latin typeface="Arial" pitchFamily="34" charset="0"/>
                <a:ea typeface="Arial" pitchFamily="34" charset="-122"/>
                <a:cs typeface="Arial" pitchFamily="34" charset="-120"/>
              </a:rPr>
              <a:t>React</a:t>
            </a:r>
            <a:endParaRPr lang="en-US" sz="1600" dirty="0"/>
          </a:p>
        </p:txBody>
      </p:sp>
      <p:sp>
        <p:nvSpPr>
          <p:cNvPr id="17" name="Shape 15"/>
          <p:cNvSpPr/>
          <p:nvPr/>
        </p:nvSpPr>
        <p:spPr>
          <a:xfrm>
            <a:off x="2057400" y="5097780"/>
            <a:ext cx="996696" cy="411480"/>
          </a:xfrm>
          <a:prstGeom prst="roundRect">
            <a:avLst>
              <a:gd name="adj" fmla="val 50000"/>
            </a:avLst>
          </a:prstGeom>
          <a:ln w="12700">
            <a:solidFill>
              <a:srgbClr val="3A3A3A"/>
            </a:solidFill>
            <a:prstDash val="solid"/>
          </a:ln>
        </p:spPr>
        <p:txBody>
          <a:bodyPr/>
          <a:lstStyle/>
          <a:p>
            <a:endParaRPr lang="en-US" sz="2400"/>
          </a:p>
        </p:txBody>
      </p:sp>
      <p:sp>
        <p:nvSpPr>
          <p:cNvPr id="18" name="Text 16"/>
          <p:cNvSpPr/>
          <p:nvPr/>
        </p:nvSpPr>
        <p:spPr>
          <a:xfrm>
            <a:off x="2057400" y="5097780"/>
            <a:ext cx="996696" cy="411480"/>
          </a:xfrm>
          <a:prstGeom prst="rect">
            <a:avLst/>
          </a:prstGeom>
          <a:noFill/>
          <a:ln/>
        </p:spPr>
        <p:txBody>
          <a:bodyPr wrap="square" lIns="0" tIns="0" rIns="0" bIns="0" rtlCol="0" anchor="ctr"/>
          <a:lstStyle/>
          <a:p>
            <a:pPr marL="0" indent="0" algn="ctr">
              <a:buNone/>
            </a:pPr>
            <a:r>
              <a:rPr lang="en-US" sz="1600" b="1" dirty="0">
                <a:solidFill>
                  <a:srgbClr val="A6A6A6"/>
                </a:solidFill>
                <a:latin typeface="Arial" pitchFamily="34" charset="0"/>
                <a:ea typeface="Arial" pitchFamily="34" charset="-122"/>
                <a:cs typeface="Arial" pitchFamily="34" charset="-120"/>
              </a:rPr>
              <a:t>Vue</a:t>
            </a:r>
            <a:endParaRPr lang="en-US" sz="1600" dirty="0"/>
          </a:p>
        </p:txBody>
      </p:sp>
      <p:sp>
        <p:nvSpPr>
          <p:cNvPr id="19" name="Shape 17"/>
          <p:cNvSpPr/>
          <p:nvPr/>
        </p:nvSpPr>
        <p:spPr>
          <a:xfrm>
            <a:off x="3282696" y="5097780"/>
            <a:ext cx="1353312" cy="411480"/>
          </a:xfrm>
          <a:prstGeom prst="roundRect">
            <a:avLst>
              <a:gd name="adj" fmla="val 50000"/>
            </a:avLst>
          </a:prstGeom>
          <a:ln w="12700">
            <a:solidFill>
              <a:srgbClr val="3A3A3A"/>
            </a:solidFill>
            <a:prstDash val="solid"/>
          </a:ln>
        </p:spPr>
        <p:txBody>
          <a:bodyPr/>
          <a:lstStyle/>
          <a:p>
            <a:endParaRPr lang="en-US" sz="2400"/>
          </a:p>
        </p:txBody>
      </p:sp>
      <p:sp>
        <p:nvSpPr>
          <p:cNvPr id="20" name="Text 18"/>
          <p:cNvSpPr/>
          <p:nvPr/>
        </p:nvSpPr>
        <p:spPr>
          <a:xfrm>
            <a:off x="3282696" y="5097780"/>
            <a:ext cx="1353312" cy="411480"/>
          </a:xfrm>
          <a:prstGeom prst="rect">
            <a:avLst/>
          </a:prstGeom>
          <a:noFill/>
          <a:ln/>
        </p:spPr>
        <p:txBody>
          <a:bodyPr wrap="square" lIns="0" tIns="0" rIns="0" bIns="0" rtlCol="0" anchor="ctr"/>
          <a:lstStyle/>
          <a:p>
            <a:pPr marL="0" indent="0" algn="ctr">
              <a:buNone/>
            </a:pPr>
            <a:r>
              <a:rPr lang="en-US" sz="1600" b="1" dirty="0">
                <a:solidFill>
                  <a:srgbClr val="A6A6A6"/>
                </a:solidFill>
                <a:latin typeface="Arial" pitchFamily="34" charset="0"/>
                <a:ea typeface="Arial" pitchFamily="34" charset="-122"/>
                <a:cs typeface="Arial" pitchFamily="34" charset="-120"/>
              </a:rPr>
              <a:t>Svelte</a:t>
            </a:r>
            <a:endParaRPr lang="en-US" sz="1600" dirty="0"/>
          </a:p>
        </p:txBody>
      </p:sp>
      <p:sp>
        <p:nvSpPr>
          <p:cNvPr id="21" name="Shape 19"/>
          <p:cNvSpPr/>
          <p:nvPr/>
        </p:nvSpPr>
        <p:spPr>
          <a:xfrm>
            <a:off x="4864608" y="5097780"/>
            <a:ext cx="1234440" cy="411480"/>
          </a:xfrm>
          <a:prstGeom prst="roundRect">
            <a:avLst>
              <a:gd name="adj" fmla="val 50000"/>
            </a:avLst>
          </a:prstGeom>
          <a:ln w="12700">
            <a:solidFill>
              <a:srgbClr val="3A3A3A"/>
            </a:solidFill>
            <a:prstDash val="solid"/>
          </a:ln>
        </p:spPr>
        <p:txBody>
          <a:bodyPr/>
          <a:lstStyle/>
          <a:p>
            <a:endParaRPr lang="en-US" sz="2400"/>
          </a:p>
        </p:txBody>
      </p:sp>
      <p:sp>
        <p:nvSpPr>
          <p:cNvPr id="22" name="Text 20"/>
          <p:cNvSpPr/>
          <p:nvPr/>
        </p:nvSpPr>
        <p:spPr>
          <a:xfrm>
            <a:off x="4864608" y="5097780"/>
            <a:ext cx="1234440" cy="411480"/>
          </a:xfrm>
          <a:prstGeom prst="rect">
            <a:avLst/>
          </a:prstGeom>
          <a:noFill/>
          <a:ln/>
        </p:spPr>
        <p:txBody>
          <a:bodyPr wrap="square" lIns="0" tIns="0" rIns="0" bIns="0" rtlCol="0" anchor="ctr"/>
          <a:lstStyle/>
          <a:p>
            <a:pPr marL="0" indent="0" algn="ctr">
              <a:buNone/>
            </a:pPr>
            <a:r>
              <a:rPr lang="en-US" sz="1600" b="1" dirty="0">
                <a:solidFill>
                  <a:srgbClr val="A6A6A6"/>
                </a:solidFill>
                <a:latin typeface="Arial" pitchFamily="34" charset="0"/>
                <a:ea typeface="Arial" pitchFamily="34" charset="-122"/>
                <a:cs typeface="Arial" pitchFamily="34" charset="-120"/>
              </a:rPr>
              <a:t>Solid</a:t>
            </a:r>
            <a:endParaRPr lang="en-US" sz="1600" dirty="0"/>
          </a:p>
        </p:txBody>
      </p:sp>
      <p:sp>
        <p:nvSpPr>
          <p:cNvPr id="23" name="Shape 21"/>
          <p:cNvSpPr/>
          <p:nvPr/>
        </p:nvSpPr>
        <p:spPr>
          <a:xfrm>
            <a:off x="6327648" y="5097780"/>
            <a:ext cx="1472184" cy="411480"/>
          </a:xfrm>
          <a:prstGeom prst="roundRect">
            <a:avLst>
              <a:gd name="adj" fmla="val 50000"/>
            </a:avLst>
          </a:prstGeom>
          <a:ln w="12700">
            <a:solidFill>
              <a:srgbClr val="3A3A3A"/>
            </a:solidFill>
            <a:prstDash val="solid"/>
          </a:ln>
        </p:spPr>
        <p:txBody>
          <a:bodyPr/>
          <a:lstStyle/>
          <a:p>
            <a:endParaRPr lang="en-US" sz="2400"/>
          </a:p>
        </p:txBody>
      </p:sp>
      <p:sp>
        <p:nvSpPr>
          <p:cNvPr id="24" name="Text 22"/>
          <p:cNvSpPr/>
          <p:nvPr/>
        </p:nvSpPr>
        <p:spPr>
          <a:xfrm>
            <a:off x="6327648" y="5097780"/>
            <a:ext cx="1472184" cy="411480"/>
          </a:xfrm>
          <a:prstGeom prst="rect">
            <a:avLst/>
          </a:prstGeom>
          <a:noFill/>
          <a:ln/>
        </p:spPr>
        <p:txBody>
          <a:bodyPr wrap="square" lIns="0" tIns="0" rIns="0" bIns="0" rtlCol="0" anchor="ctr"/>
          <a:lstStyle/>
          <a:p>
            <a:pPr marL="0" indent="0" algn="ctr">
              <a:buNone/>
            </a:pPr>
            <a:r>
              <a:rPr lang="en-US" sz="1600" b="1" dirty="0">
                <a:solidFill>
                  <a:srgbClr val="A6A6A6"/>
                </a:solidFill>
                <a:latin typeface="Arial" pitchFamily="34" charset="0"/>
                <a:ea typeface="Arial" pitchFamily="34" charset="-122"/>
                <a:cs typeface="Arial" pitchFamily="34" charset="-120"/>
              </a:rPr>
              <a:t>Angular</a:t>
            </a:r>
            <a:endParaRPr lang="en-US" sz="1600" dirty="0"/>
          </a:p>
        </p:txBody>
      </p:sp>
      <p:sp>
        <p:nvSpPr>
          <p:cNvPr id="25" name="Text 23"/>
          <p:cNvSpPr/>
          <p:nvPr/>
        </p:nvSpPr>
        <p:spPr>
          <a:xfrm>
            <a:off x="594360" y="6419088"/>
            <a:ext cx="8229600" cy="274320"/>
          </a:xfrm>
          <a:prstGeom prst="rect">
            <a:avLst/>
          </a:prstGeom>
          <a:noFill/>
          <a:ln/>
        </p:spPr>
        <p:txBody>
          <a:bodyPr wrap="square" lIns="0" tIns="0" rIns="0" bIns="0" rtlCol="0" anchor="ctr"/>
          <a:lstStyle/>
          <a:p>
            <a:pPr marL="0" indent="0" algn="l">
              <a:buNone/>
            </a:pPr>
            <a:r>
              <a:rPr lang="en-US" sz="900" dirty="0">
                <a:solidFill>
                  <a:srgbClr val="6E6E6E"/>
                </a:solidFill>
                <a:latin typeface="Arial" pitchFamily="34" charset="0"/>
                <a:ea typeface="Arial" pitchFamily="34" charset="-122"/>
                <a:cs typeface="Arial" pitchFamily="34" charset="-120"/>
              </a:rPr>
              <a:t>Why LLMs &amp; JS frameworks love Tailwind CSS</a:t>
            </a:r>
            <a:endParaRPr lang="en-US" sz="900" dirty="0"/>
          </a:p>
        </p:txBody>
      </p:sp>
      <p:sp>
        <p:nvSpPr>
          <p:cNvPr id="26" name="Text 24"/>
          <p:cNvSpPr/>
          <p:nvPr/>
        </p:nvSpPr>
        <p:spPr>
          <a:xfrm>
            <a:off x="10134295" y="6419088"/>
            <a:ext cx="1463040" cy="274320"/>
          </a:xfrm>
          <a:prstGeom prst="rect">
            <a:avLst/>
          </a:prstGeom>
          <a:noFill/>
          <a:ln/>
        </p:spPr>
        <p:txBody>
          <a:bodyPr wrap="square" lIns="0" tIns="0" rIns="0" bIns="0" rtlCol="0" anchor="ctr"/>
          <a:lstStyle/>
          <a:p>
            <a:pPr marL="0" indent="0" algn="r">
              <a:buNone/>
            </a:pPr>
            <a:r>
              <a:rPr lang="en-US" sz="900" dirty="0">
                <a:solidFill>
                  <a:srgbClr val="6E6E6E"/>
                </a:solidFill>
                <a:latin typeface="Arial" pitchFamily="34" charset="0"/>
                <a:ea typeface="Arial" pitchFamily="34" charset="-122"/>
                <a:cs typeface="Arial" pitchFamily="34" charset="-120"/>
              </a:rPr>
              <a:t>19 / 29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222121"/>
        </a:solidFill>
        <a:effectLst/>
      </p:bgPr>
    </p:bg>
    <p:spTree>
      <p:nvGrpSpPr>
        <p:cNvPr id="1" name=""/>
        <p:cNvGrpSpPr/>
        <p:nvPr/>
      </p:nvGrpSpPr>
      <p:grpSpPr>
        <a:xfrm>
          <a:off x="0" y="0"/>
          <a:ext cx="0" cy="0"/>
          <a:chOff x="0" y="0"/>
          <a:chExt cx="0" cy="0"/>
        </a:xfrm>
      </p:grpSpPr>
      <p:sp>
        <p:nvSpPr>
          <p:cNvPr id="2" name="Text 0"/>
          <p:cNvSpPr/>
          <p:nvPr/>
        </p:nvSpPr>
        <p:spPr>
          <a:xfrm>
            <a:off x="594360" y="502920"/>
            <a:ext cx="11002975" cy="274320"/>
          </a:xfrm>
          <a:prstGeom prst="rect">
            <a:avLst/>
          </a:prstGeom>
          <a:noFill/>
          <a:ln/>
        </p:spPr>
        <p:txBody>
          <a:bodyPr wrap="square" lIns="0" tIns="0" rIns="0" bIns="0" rtlCol="0" anchor="ctr"/>
          <a:lstStyle/>
          <a:p>
            <a:pPr marL="0" indent="0" algn="l">
              <a:buNone/>
            </a:pPr>
            <a:r>
              <a:rPr lang="en-US" sz="1200" b="1" kern="0" spc="300" dirty="0">
                <a:solidFill>
                  <a:srgbClr val="F1CF25"/>
                </a:solidFill>
                <a:latin typeface="Arial" pitchFamily="34" charset="0"/>
                <a:ea typeface="Arial" pitchFamily="34" charset="-122"/>
                <a:cs typeface="Arial" pitchFamily="34" charset="-120"/>
              </a:rPr>
              <a:t>THE JS FRAMEWORK ANGLE</a:t>
            </a:r>
            <a:endParaRPr lang="en-US" sz="1200" dirty="0"/>
          </a:p>
        </p:txBody>
      </p:sp>
      <p:sp>
        <p:nvSpPr>
          <p:cNvPr id="3" name="Text 1"/>
          <p:cNvSpPr/>
          <p:nvPr/>
        </p:nvSpPr>
        <p:spPr>
          <a:xfrm>
            <a:off x="594360" y="868680"/>
            <a:ext cx="11002975" cy="1005840"/>
          </a:xfrm>
          <a:prstGeom prst="rect">
            <a:avLst/>
          </a:prstGeom>
          <a:noFill/>
          <a:ln/>
        </p:spPr>
        <p:txBody>
          <a:bodyPr wrap="square" lIns="0" tIns="0" rIns="0" bIns="0" rtlCol="0" anchor="t"/>
          <a:lstStyle/>
          <a:p>
            <a:pPr marL="0" indent="0" algn="l">
              <a:lnSpc>
                <a:spcPct val="102000"/>
              </a:lnSpc>
              <a:buNone/>
            </a:pPr>
            <a:r>
              <a:rPr lang="en-US" sz="3400" b="1" dirty="0">
                <a:solidFill>
                  <a:srgbClr val="FFFFFF"/>
                </a:solidFill>
                <a:latin typeface="Arial" pitchFamily="34" charset="0"/>
                <a:ea typeface="Arial" pitchFamily="34" charset="-122"/>
                <a:cs typeface="Arial" pitchFamily="34" charset="-120"/>
              </a:rPr>
              <a:t>Built for the JS toolchain</a:t>
            </a:r>
            <a:endParaRPr lang="en-US" sz="3400" dirty="0"/>
          </a:p>
        </p:txBody>
      </p:sp>
      <p:sp>
        <p:nvSpPr>
          <p:cNvPr id="4" name="Shape 2"/>
          <p:cNvSpPr/>
          <p:nvPr/>
        </p:nvSpPr>
        <p:spPr>
          <a:xfrm>
            <a:off x="594360" y="1920240"/>
            <a:ext cx="5349240" cy="3857990"/>
          </a:xfrm>
          <a:prstGeom prst="roundRect">
            <a:avLst>
              <a:gd name="adj" fmla="val 3529"/>
            </a:avLst>
          </a:prstGeom>
          <a:solidFill>
            <a:srgbClr val="2C2B2B"/>
          </a:solidFill>
          <a:ln w="12700">
            <a:solidFill>
              <a:srgbClr val="3A3A3A"/>
            </a:solidFill>
            <a:prstDash val="solid"/>
          </a:ln>
        </p:spPr>
        <p:txBody>
          <a:bodyPr/>
          <a:lstStyle/>
          <a:p>
            <a:endParaRPr lang="en-US"/>
          </a:p>
        </p:txBody>
      </p:sp>
      <p:sp>
        <p:nvSpPr>
          <p:cNvPr id="5" name="Text 3"/>
          <p:cNvSpPr/>
          <p:nvPr/>
        </p:nvSpPr>
        <p:spPr>
          <a:xfrm>
            <a:off x="914400" y="2148840"/>
            <a:ext cx="4709160" cy="457200"/>
          </a:xfrm>
          <a:prstGeom prst="rect">
            <a:avLst/>
          </a:prstGeom>
          <a:noFill/>
          <a:ln/>
        </p:spPr>
        <p:txBody>
          <a:bodyPr wrap="square" lIns="0" tIns="0" rIns="0" bIns="0" rtlCol="0" anchor="ctr"/>
          <a:lstStyle/>
          <a:p>
            <a:pPr marL="0" indent="0" algn="l">
              <a:buNone/>
            </a:pPr>
            <a:r>
              <a:rPr lang="en-US" sz="1800" b="1" dirty="0">
                <a:solidFill>
                  <a:srgbClr val="75DFBC"/>
                </a:solidFill>
                <a:latin typeface="Arial" pitchFamily="34" charset="0"/>
                <a:ea typeface="Arial" pitchFamily="34" charset="-122"/>
                <a:cs typeface="Arial" pitchFamily="34" charset="-120"/>
              </a:rPr>
              <a:t>Dynamic composition is trivial</a:t>
            </a:r>
            <a:endParaRPr lang="en-US" sz="1800" dirty="0"/>
          </a:p>
        </p:txBody>
      </p:sp>
      <p:sp>
        <p:nvSpPr>
          <p:cNvPr id="6" name="Text 4"/>
          <p:cNvSpPr/>
          <p:nvPr/>
        </p:nvSpPr>
        <p:spPr>
          <a:xfrm>
            <a:off x="914400" y="3108960"/>
            <a:ext cx="4709160" cy="1463040"/>
          </a:xfrm>
          <a:prstGeom prst="rect">
            <a:avLst/>
          </a:prstGeom>
          <a:noFill/>
          <a:ln/>
        </p:spPr>
        <p:txBody>
          <a:bodyPr wrap="square" lIns="0" tIns="0" rIns="0" bIns="0" rtlCol="0" anchor="t"/>
          <a:lstStyle/>
          <a:p>
            <a:pPr marL="0" indent="0" algn="l">
              <a:lnSpc>
                <a:spcPct val="130000"/>
              </a:lnSpc>
              <a:buNone/>
            </a:pPr>
            <a:r>
              <a:rPr lang="en-US" sz="1600" dirty="0">
                <a:solidFill>
                  <a:srgbClr val="F1CF25"/>
                </a:solidFill>
                <a:latin typeface="Courier New" pitchFamily="34" charset="0"/>
                <a:ea typeface="Courier New" pitchFamily="34" charset="-122"/>
                <a:cs typeface="Courier New" pitchFamily="34" charset="-120"/>
              </a:rPr>
              <a:t>className={cn(base, active &amp;&amp; ‘bg-mint’)}
</a:t>
            </a:r>
            <a:r>
              <a:rPr lang="en-US" sz="1600" dirty="0">
                <a:solidFill>
                  <a:srgbClr val="9CDCFE"/>
                </a:solidFill>
                <a:latin typeface="Courier New" pitchFamily="34" charset="0"/>
                <a:ea typeface="Courier New" pitchFamily="34" charset="-122"/>
                <a:cs typeface="Courier New" pitchFamily="34" charset="-120"/>
              </a:rPr>
              <a:t>:class="{ 'opacity-50': loading }"
</a:t>
            </a:r>
            <a:r>
              <a:rPr lang="en-US" sz="1600" dirty="0">
                <a:solidFill>
                  <a:srgbClr val="75DFBC"/>
                </a:solidFill>
                <a:latin typeface="Courier New" pitchFamily="34" charset="0"/>
                <a:ea typeface="Courier New" pitchFamily="34" charset="-122"/>
                <a:cs typeface="Courier New" pitchFamily="34" charset="-120"/>
              </a:rPr>
              <a:t>class:selected={isSelected}</a:t>
            </a:r>
            <a:endParaRPr lang="en-US" sz="1600" dirty="0"/>
          </a:p>
        </p:txBody>
      </p:sp>
      <p:sp>
        <p:nvSpPr>
          <p:cNvPr id="7" name="Text 5"/>
          <p:cNvSpPr/>
          <p:nvPr/>
        </p:nvSpPr>
        <p:spPr>
          <a:xfrm>
            <a:off x="914400" y="5023850"/>
            <a:ext cx="4709160" cy="548640"/>
          </a:xfrm>
          <a:prstGeom prst="rect">
            <a:avLst/>
          </a:prstGeom>
          <a:noFill/>
          <a:ln/>
        </p:spPr>
        <p:txBody>
          <a:bodyPr wrap="square" lIns="0" tIns="0" rIns="0" bIns="0" rtlCol="0" anchor="t"/>
          <a:lstStyle/>
          <a:p>
            <a:pPr marL="0" indent="0" algn="l">
              <a:lnSpc>
                <a:spcPct val="105000"/>
              </a:lnSpc>
              <a:buNone/>
            </a:pPr>
            <a:r>
              <a:rPr lang="en-US" sz="1600" i="1" dirty="0">
                <a:solidFill>
                  <a:srgbClr val="A6A6A6"/>
                </a:solidFill>
                <a:latin typeface="Arial" pitchFamily="34" charset="0"/>
                <a:ea typeface="Arial" pitchFamily="34" charset="-122"/>
                <a:cs typeface="Arial" pitchFamily="34" charset="-120"/>
              </a:rPr>
              <a:t>JSX &amp; template bindings make class composition a one-liner.</a:t>
            </a:r>
            <a:endParaRPr lang="en-US" sz="1600" dirty="0"/>
          </a:p>
        </p:txBody>
      </p:sp>
      <p:sp>
        <p:nvSpPr>
          <p:cNvPr id="8" name="Shape 6"/>
          <p:cNvSpPr/>
          <p:nvPr/>
        </p:nvSpPr>
        <p:spPr>
          <a:xfrm>
            <a:off x="6263640" y="1920240"/>
            <a:ext cx="5330952" cy="3857990"/>
          </a:xfrm>
          <a:prstGeom prst="roundRect">
            <a:avLst>
              <a:gd name="adj" fmla="val 3529"/>
            </a:avLst>
          </a:prstGeom>
          <a:solidFill>
            <a:srgbClr val="2C2B2B"/>
          </a:solidFill>
          <a:ln w="12700">
            <a:solidFill>
              <a:srgbClr val="3A3A3A"/>
            </a:solidFill>
            <a:prstDash val="solid"/>
          </a:ln>
        </p:spPr>
        <p:txBody>
          <a:bodyPr/>
          <a:lstStyle/>
          <a:p>
            <a:endParaRPr lang="en-US"/>
          </a:p>
        </p:txBody>
      </p:sp>
      <p:sp>
        <p:nvSpPr>
          <p:cNvPr id="9" name="Text 7"/>
          <p:cNvSpPr/>
          <p:nvPr/>
        </p:nvSpPr>
        <p:spPr>
          <a:xfrm>
            <a:off x="6583680" y="2148840"/>
            <a:ext cx="4709160" cy="457200"/>
          </a:xfrm>
          <a:prstGeom prst="rect">
            <a:avLst/>
          </a:prstGeom>
          <a:noFill/>
          <a:ln/>
        </p:spPr>
        <p:txBody>
          <a:bodyPr wrap="square" lIns="0" tIns="0" rIns="0" bIns="0" rtlCol="0" anchor="ctr"/>
          <a:lstStyle/>
          <a:p>
            <a:pPr marL="0" indent="0" algn="l">
              <a:buNone/>
            </a:pPr>
            <a:r>
              <a:rPr lang="en-US" sz="1800" b="1" dirty="0">
                <a:solidFill>
                  <a:srgbClr val="F1CF25"/>
                </a:solidFill>
                <a:latin typeface="Arial" pitchFamily="34" charset="0"/>
                <a:ea typeface="Arial" pitchFamily="34" charset="-122"/>
                <a:cs typeface="Arial" pitchFamily="34" charset="-120"/>
              </a:rPr>
              <a:t>The build step is already there</a:t>
            </a:r>
            <a:endParaRPr lang="en-US" sz="1800" dirty="0"/>
          </a:p>
        </p:txBody>
      </p:sp>
      <p:sp>
        <p:nvSpPr>
          <p:cNvPr id="10" name="Shape 8"/>
          <p:cNvSpPr/>
          <p:nvPr/>
        </p:nvSpPr>
        <p:spPr>
          <a:xfrm>
            <a:off x="6583680" y="3191256"/>
            <a:ext cx="118872" cy="118872"/>
          </a:xfrm>
          <a:prstGeom prst="rect">
            <a:avLst/>
          </a:prstGeom>
          <a:solidFill>
            <a:srgbClr val="F1CF25"/>
          </a:solidFill>
          <a:ln/>
        </p:spPr>
        <p:txBody>
          <a:bodyPr/>
          <a:lstStyle/>
          <a:p>
            <a:endParaRPr lang="en-US" sz="1600"/>
          </a:p>
        </p:txBody>
      </p:sp>
      <p:sp>
        <p:nvSpPr>
          <p:cNvPr id="11" name="Text 9"/>
          <p:cNvSpPr/>
          <p:nvPr/>
        </p:nvSpPr>
        <p:spPr>
          <a:xfrm>
            <a:off x="6876288" y="3108960"/>
            <a:ext cx="4553712" cy="457200"/>
          </a:xfrm>
          <a:prstGeom prst="rect">
            <a:avLst/>
          </a:prstGeom>
          <a:noFill/>
          <a:ln/>
        </p:spPr>
        <p:txBody>
          <a:bodyPr wrap="square" lIns="0" tIns="0" rIns="0" bIns="0" rtlCol="0" anchor="t"/>
          <a:lstStyle/>
          <a:p>
            <a:pPr marL="0" indent="0" algn="l">
              <a:lnSpc>
                <a:spcPct val="105000"/>
              </a:lnSpc>
              <a:buNone/>
            </a:pPr>
            <a:r>
              <a:rPr lang="en-US" sz="1600" dirty="0">
                <a:solidFill>
                  <a:srgbClr val="FFFFFF"/>
                </a:solidFill>
                <a:latin typeface="Arial" pitchFamily="34" charset="0"/>
                <a:ea typeface="Arial" pitchFamily="34" charset="-122"/>
                <a:cs typeface="Arial" pitchFamily="34" charset="-120"/>
              </a:rPr>
              <a:t>Vite / PostCSS / bundlers = Tailwind's native home</a:t>
            </a:r>
            <a:endParaRPr lang="en-US" sz="1600" dirty="0"/>
          </a:p>
        </p:txBody>
      </p:sp>
      <p:sp>
        <p:nvSpPr>
          <p:cNvPr id="12" name="Shape 10"/>
          <p:cNvSpPr/>
          <p:nvPr/>
        </p:nvSpPr>
        <p:spPr>
          <a:xfrm>
            <a:off x="6583680" y="3739896"/>
            <a:ext cx="118872" cy="118872"/>
          </a:xfrm>
          <a:prstGeom prst="rect">
            <a:avLst/>
          </a:prstGeom>
          <a:solidFill>
            <a:srgbClr val="F1CF25"/>
          </a:solidFill>
          <a:ln/>
        </p:spPr>
        <p:txBody>
          <a:bodyPr/>
          <a:lstStyle/>
          <a:p>
            <a:endParaRPr lang="en-US" sz="1600"/>
          </a:p>
        </p:txBody>
      </p:sp>
      <p:sp>
        <p:nvSpPr>
          <p:cNvPr id="13" name="Text 11"/>
          <p:cNvSpPr/>
          <p:nvPr/>
        </p:nvSpPr>
        <p:spPr>
          <a:xfrm>
            <a:off x="6876288" y="3657600"/>
            <a:ext cx="4553712" cy="457200"/>
          </a:xfrm>
          <a:prstGeom prst="rect">
            <a:avLst/>
          </a:prstGeom>
          <a:noFill/>
          <a:ln/>
        </p:spPr>
        <p:txBody>
          <a:bodyPr wrap="square" lIns="0" tIns="0" rIns="0" bIns="0" rtlCol="0" anchor="t"/>
          <a:lstStyle/>
          <a:p>
            <a:pPr marL="0" indent="0" algn="l">
              <a:lnSpc>
                <a:spcPct val="105000"/>
              </a:lnSpc>
              <a:buNone/>
            </a:pPr>
            <a:r>
              <a:rPr lang="en-US" sz="1600" dirty="0">
                <a:solidFill>
                  <a:srgbClr val="FFFFFF"/>
                </a:solidFill>
                <a:latin typeface="Arial" pitchFamily="34" charset="0"/>
                <a:ea typeface="Arial" pitchFamily="34" charset="-122"/>
                <a:cs typeface="Arial" pitchFamily="34" charset="-120"/>
              </a:rPr>
              <a:t>JIT compiler + content scanning</a:t>
            </a:r>
            <a:endParaRPr lang="en-US" sz="1600" dirty="0"/>
          </a:p>
        </p:txBody>
      </p:sp>
      <p:sp>
        <p:nvSpPr>
          <p:cNvPr id="14" name="Shape 12"/>
          <p:cNvSpPr/>
          <p:nvPr/>
        </p:nvSpPr>
        <p:spPr>
          <a:xfrm>
            <a:off x="6583680" y="4288536"/>
            <a:ext cx="118872" cy="118872"/>
          </a:xfrm>
          <a:prstGeom prst="rect">
            <a:avLst/>
          </a:prstGeom>
          <a:solidFill>
            <a:srgbClr val="F1CF25"/>
          </a:solidFill>
          <a:ln/>
        </p:spPr>
        <p:txBody>
          <a:bodyPr/>
          <a:lstStyle/>
          <a:p>
            <a:endParaRPr lang="en-US" sz="1600"/>
          </a:p>
        </p:txBody>
      </p:sp>
      <p:sp>
        <p:nvSpPr>
          <p:cNvPr id="15" name="Text 13"/>
          <p:cNvSpPr/>
          <p:nvPr/>
        </p:nvSpPr>
        <p:spPr>
          <a:xfrm>
            <a:off x="6876288" y="4206240"/>
            <a:ext cx="4553712" cy="457200"/>
          </a:xfrm>
          <a:prstGeom prst="rect">
            <a:avLst/>
          </a:prstGeom>
          <a:noFill/>
          <a:ln/>
        </p:spPr>
        <p:txBody>
          <a:bodyPr wrap="square" lIns="0" tIns="0" rIns="0" bIns="0" rtlCol="0" anchor="t"/>
          <a:lstStyle/>
          <a:p>
            <a:pPr marL="0" indent="0" algn="l">
              <a:lnSpc>
                <a:spcPct val="105000"/>
              </a:lnSpc>
              <a:buNone/>
            </a:pPr>
            <a:r>
              <a:rPr lang="en-US" sz="1600" dirty="0">
                <a:solidFill>
                  <a:srgbClr val="FFFFFF"/>
                </a:solidFill>
                <a:latin typeface="Arial" pitchFamily="34" charset="0"/>
                <a:ea typeface="Arial" pitchFamily="34" charset="-122"/>
                <a:cs typeface="Arial" pitchFamily="34" charset="-120"/>
              </a:rPr>
              <a:t>Tree-shaking → ship only the utilities you use</a:t>
            </a:r>
            <a:endParaRPr lang="en-US" sz="1600" dirty="0"/>
          </a:p>
        </p:txBody>
      </p:sp>
      <p:sp>
        <p:nvSpPr>
          <p:cNvPr id="16" name="Text 14"/>
          <p:cNvSpPr/>
          <p:nvPr/>
        </p:nvSpPr>
        <p:spPr>
          <a:xfrm>
            <a:off x="6563641" y="5023850"/>
            <a:ext cx="4709160" cy="548640"/>
          </a:xfrm>
          <a:prstGeom prst="rect">
            <a:avLst/>
          </a:prstGeom>
          <a:noFill/>
          <a:ln/>
        </p:spPr>
        <p:txBody>
          <a:bodyPr wrap="square" lIns="0" tIns="0" rIns="0" bIns="0" rtlCol="0" anchor="t"/>
          <a:lstStyle/>
          <a:p>
            <a:pPr marL="0" indent="0" algn="l">
              <a:lnSpc>
                <a:spcPct val="105000"/>
              </a:lnSpc>
              <a:buNone/>
            </a:pPr>
            <a:r>
              <a:rPr lang="en-US" sz="1600" i="1" dirty="0">
                <a:solidFill>
                  <a:srgbClr val="A6A6A6"/>
                </a:solidFill>
                <a:latin typeface="Arial" pitchFamily="34" charset="0"/>
                <a:ea typeface="Arial" pitchFamily="34" charset="-122"/>
                <a:cs typeface="Arial" pitchFamily="34" charset="-120"/>
              </a:rPr>
              <a:t>Tailwind is a build-tool-native idea. It belongs to the JS ecosystem.</a:t>
            </a:r>
            <a:endParaRPr lang="en-US" sz="1600" dirty="0"/>
          </a:p>
        </p:txBody>
      </p:sp>
      <p:sp>
        <p:nvSpPr>
          <p:cNvPr id="17" name="Text 15"/>
          <p:cNvSpPr/>
          <p:nvPr/>
        </p:nvSpPr>
        <p:spPr>
          <a:xfrm>
            <a:off x="594360" y="6419088"/>
            <a:ext cx="8229600" cy="274320"/>
          </a:xfrm>
          <a:prstGeom prst="rect">
            <a:avLst/>
          </a:prstGeom>
          <a:noFill/>
          <a:ln/>
        </p:spPr>
        <p:txBody>
          <a:bodyPr wrap="square" lIns="0" tIns="0" rIns="0" bIns="0" rtlCol="0" anchor="ctr"/>
          <a:lstStyle/>
          <a:p>
            <a:pPr marL="0" indent="0" algn="l">
              <a:buNone/>
            </a:pPr>
            <a:r>
              <a:rPr lang="en-US" sz="900" dirty="0">
                <a:solidFill>
                  <a:srgbClr val="6E6E6E"/>
                </a:solidFill>
                <a:latin typeface="Arial" pitchFamily="34" charset="0"/>
                <a:ea typeface="Arial" pitchFamily="34" charset="-122"/>
                <a:cs typeface="Arial" pitchFamily="34" charset="-120"/>
              </a:rPr>
              <a:t>Why LLMs &amp; JS frameworks love Tailwind CSS</a:t>
            </a:r>
            <a:endParaRPr lang="en-US" sz="900" dirty="0"/>
          </a:p>
        </p:txBody>
      </p:sp>
      <p:sp>
        <p:nvSpPr>
          <p:cNvPr id="18" name="Text 16"/>
          <p:cNvSpPr/>
          <p:nvPr/>
        </p:nvSpPr>
        <p:spPr>
          <a:xfrm>
            <a:off x="10134295" y="6419088"/>
            <a:ext cx="1463040" cy="274320"/>
          </a:xfrm>
          <a:prstGeom prst="rect">
            <a:avLst/>
          </a:prstGeom>
          <a:noFill/>
          <a:ln/>
        </p:spPr>
        <p:txBody>
          <a:bodyPr wrap="square" lIns="0" tIns="0" rIns="0" bIns="0" rtlCol="0" anchor="ctr"/>
          <a:lstStyle/>
          <a:p>
            <a:pPr marL="0" indent="0" algn="r">
              <a:buNone/>
            </a:pPr>
            <a:r>
              <a:rPr lang="en-US" sz="900" dirty="0">
                <a:solidFill>
                  <a:srgbClr val="6E6E6E"/>
                </a:solidFill>
                <a:latin typeface="Arial" pitchFamily="34" charset="0"/>
                <a:ea typeface="Arial" pitchFamily="34" charset="-122"/>
                <a:cs typeface="Arial" pitchFamily="34" charset="-120"/>
              </a:rPr>
              <a:t>20 / 29</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222121"/>
        </a:solidFill>
        <a:effectLst/>
      </p:bgPr>
    </p:bg>
    <p:spTree>
      <p:nvGrpSpPr>
        <p:cNvPr id="1" name=""/>
        <p:cNvGrpSpPr/>
        <p:nvPr/>
      </p:nvGrpSpPr>
      <p:grpSpPr>
        <a:xfrm>
          <a:off x="0" y="0"/>
          <a:ext cx="0" cy="0"/>
          <a:chOff x="0" y="0"/>
          <a:chExt cx="0" cy="0"/>
        </a:xfrm>
      </p:grpSpPr>
      <p:sp>
        <p:nvSpPr>
          <p:cNvPr id="2" name="Text 0"/>
          <p:cNvSpPr/>
          <p:nvPr/>
        </p:nvSpPr>
        <p:spPr>
          <a:xfrm>
            <a:off x="594360" y="502920"/>
            <a:ext cx="11002975" cy="274320"/>
          </a:xfrm>
          <a:prstGeom prst="rect">
            <a:avLst/>
          </a:prstGeom>
          <a:noFill/>
          <a:ln/>
        </p:spPr>
        <p:txBody>
          <a:bodyPr wrap="square" lIns="0" tIns="0" rIns="0" bIns="0" rtlCol="0" anchor="ctr"/>
          <a:lstStyle/>
          <a:p>
            <a:pPr marL="0" indent="0" algn="l">
              <a:buNone/>
            </a:pPr>
            <a:r>
              <a:rPr lang="en-US" sz="1200" b="1" kern="0" spc="300" dirty="0">
                <a:solidFill>
                  <a:srgbClr val="75DFBC"/>
                </a:solidFill>
                <a:latin typeface="Arial" pitchFamily="34" charset="0"/>
                <a:ea typeface="Arial" pitchFamily="34" charset="-122"/>
                <a:cs typeface="Arial" pitchFamily="34" charset="-120"/>
              </a:rPr>
              <a:t>THE TYPESCRIPT ANGLE</a:t>
            </a:r>
            <a:endParaRPr lang="en-US" sz="1200" dirty="0"/>
          </a:p>
        </p:txBody>
      </p:sp>
      <p:sp>
        <p:nvSpPr>
          <p:cNvPr id="3" name="Text 1"/>
          <p:cNvSpPr/>
          <p:nvPr/>
        </p:nvSpPr>
        <p:spPr>
          <a:xfrm>
            <a:off x="594360" y="868680"/>
            <a:ext cx="11002975" cy="1005840"/>
          </a:xfrm>
          <a:prstGeom prst="rect">
            <a:avLst/>
          </a:prstGeom>
          <a:noFill/>
          <a:ln/>
        </p:spPr>
        <p:txBody>
          <a:bodyPr wrap="square" lIns="0" tIns="0" rIns="0" bIns="0" rtlCol="0" anchor="t"/>
          <a:lstStyle/>
          <a:p>
            <a:pPr marL="0" indent="0" algn="l">
              <a:lnSpc>
                <a:spcPct val="102000"/>
              </a:lnSpc>
              <a:buNone/>
            </a:pPr>
            <a:r>
              <a:rPr lang="en-US" sz="3400" b="1" dirty="0">
                <a:solidFill>
                  <a:srgbClr val="FFFFFF"/>
                </a:solidFill>
                <a:latin typeface="Arial" pitchFamily="34" charset="0"/>
                <a:ea typeface="Arial" pitchFamily="34" charset="-122"/>
                <a:cs typeface="Arial" pitchFamily="34" charset="-120"/>
              </a:rPr>
              <a:t>TypeScript ♥ Tailwind</a:t>
            </a:r>
            <a:endParaRPr lang="en-US" sz="3400" dirty="0"/>
          </a:p>
        </p:txBody>
      </p:sp>
      <p:sp>
        <p:nvSpPr>
          <p:cNvPr id="4" name="Text 2"/>
          <p:cNvSpPr/>
          <p:nvPr/>
        </p:nvSpPr>
        <p:spPr>
          <a:xfrm>
            <a:off x="594360" y="1783080"/>
            <a:ext cx="11002975" cy="457200"/>
          </a:xfrm>
          <a:prstGeom prst="rect">
            <a:avLst/>
          </a:prstGeom>
          <a:noFill/>
          <a:ln/>
        </p:spPr>
        <p:txBody>
          <a:bodyPr wrap="square" lIns="0" tIns="0" rIns="0" bIns="0" rtlCol="0" anchor="ctr"/>
          <a:lstStyle/>
          <a:p>
            <a:pPr marL="0" indent="0" algn="l">
              <a:buNone/>
            </a:pPr>
            <a:r>
              <a:rPr lang="en-US" sz="1800" dirty="0">
                <a:solidFill>
                  <a:srgbClr val="A6A6A6"/>
                </a:solidFill>
                <a:latin typeface="Arial" pitchFamily="34" charset="0"/>
                <a:ea typeface="Arial" pitchFamily="34" charset="-122"/>
                <a:cs typeface="Arial" pitchFamily="34" charset="-120"/>
              </a:rPr>
              <a:t>Same philosophy: a constrained, named vocabulary that catches mistakes early.</a:t>
            </a:r>
            <a:endParaRPr lang="en-US" sz="1800" dirty="0"/>
          </a:p>
        </p:txBody>
      </p:sp>
      <p:sp>
        <p:nvSpPr>
          <p:cNvPr id="5" name="Shape 3"/>
          <p:cNvSpPr/>
          <p:nvPr/>
        </p:nvSpPr>
        <p:spPr>
          <a:xfrm>
            <a:off x="594360" y="2377440"/>
            <a:ext cx="11002975" cy="3502152"/>
          </a:xfrm>
          <a:prstGeom prst="roundRect">
            <a:avLst>
              <a:gd name="adj" fmla="val 2963"/>
            </a:avLst>
          </a:prstGeom>
          <a:solidFill>
            <a:srgbClr val="171717"/>
          </a:solidFill>
          <a:ln w="12700">
            <a:solidFill>
              <a:srgbClr val="3A3A3A"/>
            </a:solidFill>
            <a:prstDash val="solid"/>
          </a:ln>
        </p:spPr>
        <p:txBody>
          <a:bodyPr/>
          <a:lstStyle/>
          <a:p>
            <a:endParaRPr lang="en-US"/>
          </a:p>
        </p:txBody>
      </p:sp>
      <p:sp>
        <p:nvSpPr>
          <p:cNvPr id="6" name="Shape 4"/>
          <p:cNvSpPr/>
          <p:nvPr/>
        </p:nvSpPr>
        <p:spPr>
          <a:xfrm>
            <a:off x="813816" y="2560320"/>
            <a:ext cx="100584" cy="100584"/>
          </a:xfrm>
          <a:prstGeom prst="ellipse">
            <a:avLst/>
          </a:prstGeom>
          <a:solidFill>
            <a:srgbClr val="FF6A4C"/>
          </a:solidFill>
          <a:ln/>
        </p:spPr>
        <p:txBody>
          <a:bodyPr/>
          <a:lstStyle/>
          <a:p>
            <a:endParaRPr lang="en-US"/>
          </a:p>
        </p:txBody>
      </p:sp>
      <p:sp>
        <p:nvSpPr>
          <p:cNvPr id="7" name="Shape 5"/>
          <p:cNvSpPr/>
          <p:nvPr/>
        </p:nvSpPr>
        <p:spPr>
          <a:xfrm>
            <a:off x="1014984" y="2560320"/>
            <a:ext cx="100584" cy="100584"/>
          </a:xfrm>
          <a:prstGeom prst="ellipse">
            <a:avLst/>
          </a:prstGeom>
          <a:solidFill>
            <a:srgbClr val="F1CF25"/>
          </a:solidFill>
          <a:ln/>
        </p:spPr>
        <p:txBody>
          <a:bodyPr/>
          <a:lstStyle/>
          <a:p>
            <a:endParaRPr lang="en-US"/>
          </a:p>
        </p:txBody>
      </p:sp>
      <p:sp>
        <p:nvSpPr>
          <p:cNvPr id="8" name="Shape 6"/>
          <p:cNvSpPr/>
          <p:nvPr/>
        </p:nvSpPr>
        <p:spPr>
          <a:xfrm>
            <a:off x="1216152" y="2560320"/>
            <a:ext cx="100584" cy="100584"/>
          </a:xfrm>
          <a:prstGeom prst="ellipse">
            <a:avLst/>
          </a:prstGeom>
          <a:solidFill>
            <a:srgbClr val="75DFBC"/>
          </a:solidFill>
          <a:ln/>
        </p:spPr>
        <p:txBody>
          <a:bodyPr/>
          <a:lstStyle/>
          <a:p>
            <a:endParaRPr lang="en-US"/>
          </a:p>
        </p:txBody>
      </p:sp>
      <p:sp>
        <p:nvSpPr>
          <p:cNvPr id="9" name="Text 7"/>
          <p:cNvSpPr/>
          <p:nvPr/>
        </p:nvSpPr>
        <p:spPr>
          <a:xfrm>
            <a:off x="1508760" y="2450592"/>
            <a:ext cx="9905695" cy="292608"/>
          </a:xfrm>
          <a:prstGeom prst="rect">
            <a:avLst/>
          </a:prstGeom>
          <a:noFill/>
          <a:ln/>
        </p:spPr>
        <p:txBody>
          <a:bodyPr wrap="square" lIns="0" tIns="0" rIns="0" bIns="0" rtlCol="0" anchor="ctr"/>
          <a:lstStyle/>
          <a:p>
            <a:pPr marL="0" indent="0" algn="l">
              <a:buNone/>
            </a:pPr>
            <a:r>
              <a:rPr lang="en-US" sz="1600" dirty="0">
                <a:solidFill>
                  <a:srgbClr val="6E6E6E"/>
                </a:solidFill>
                <a:latin typeface="Courier New" pitchFamily="34" charset="0"/>
                <a:ea typeface="Courier New" pitchFamily="34" charset="-122"/>
                <a:cs typeface="Courier New" pitchFamily="34" charset="-120"/>
              </a:rPr>
              <a:t>button.tsx  ·  class-variance-authority</a:t>
            </a:r>
            <a:endParaRPr lang="en-US" sz="1600" dirty="0"/>
          </a:p>
        </p:txBody>
      </p:sp>
      <p:sp>
        <p:nvSpPr>
          <p:cNvPr id="10" name="Text 8"/>
          <p:cNvSpPr/>
          <p:nvPr/>
        </p:nvSpPr>
        <p:spPr>
          <a:xfrm>
            <a:off x="886968" y="2926080"/>
            <a:ext cx="10417759" cy="2667324"/>
          </a:xfrm>
          <a:prstGeom prst="rect">
            <a:avLst/>
          </a:prstGeom>
          <a:noFill/>
          <a:ln/>
        </p:spPr>
        <p:txBody>
          <a:bodyPr wrap="square" lIns="0" tIns="0" rIns="0" bIns="0" rtlCol="0" anchor="t"/>
          <a:lstStyle/>
          <a:p>
            <a:pPr marL="0" indent="0" algn="l">
              <a:lnSpc>
                <a:spcPct val="115000"/>
              </a:lnSpc>
              <a:buNone/>
            </a:pPr>
            <a:r>
              <a:rPr lang="en-US" sz="2000" dirty="0">
                <a:solidFill>
                  <a:srgbClr val="D8D8D8"/>
                </a:solidFill>
                <a:latin typeface="Cascadia Code" panose="020B0609020000020004" pitchFamily="49" charset="0"/>
                <a:ea typeface="Courier New" pitchFamily="34" charset="-122"/>
                <a:cs typeface="Cascadia Code" panose="020B0609020000020004" pitchFamily="49" charset="0"/>
              </a:rPr>
              <a:t>const button = </a:t>
            </a:r>
            <a:r>
              <a:rPr lang="en-US" sz="2000" dirty="0">
                <a:solidFill>
                  <a:srgbClr val="75DFBC"/>
                </a:solidFill>
                <a:latin typeface="Cascadia Code" panose="020B0609020000020004" pitchFamily="49" charset="0"/>
                <a:ea typeface="Courier New" pitchFamily="34" charset="-122"/>
                <a:cs typeface="Cascadia Code" panose="020B0609020000020004" pitchFamily="49" charset="0"/>
              </a:rPr>
              <a:t>cva</a:t>
            </a:r>
            <a:r>
              <a:rPr lang="en-US" sz="2000" dirty="0">
                <a:solidFill>
                  <a:srgbClr val="D8D8D8"/>
                </a:solidFill>
                <a:latin typeface="Cascadia Code" panose="020B0609020000020004" pitchFamily="49" charset="0"/>
                <a:ea typeface="Courier New" pitchFamily="34" charset="-122"/>
                <a:cs typeface="Cascadia Code" panose="020B0609020000020004" pitchFamily="49" charset="0"/>
              </a:rPr>
              <a:t>("rounded-lg font-bold", {</a:t>
            </a:r>
            <a:endParaRPr lang="en-US" sz="2000" dirty="0">
              <a:latin typeface="Cascadia Code" panose="020B0609020000020004" pitchFamily="49" charset="0"/>
              <a:cs typeface="Cascadia Code" panose="020B0609020000020004" pitchFamily="49" charset="0"/>
            </a:endParaRPr>
          </a:p>
          <a:p>
            <a:pPr marL="0" indent="0" algn="l">
              <a:lnSpc>
                <a:spcPct val="115000"/>
              </a:lnSpc>
              <a:buNone/>
            </a:pPr>
            <a:r>
              <a:rPr lang="en-US" sz="2000" dirty="0">
                <a:solidFill>
                  <a:srgbClr val="9CDCFE"/>
                </a:solidFill>
                <a:latin typeface="Cascadia Code" panose="020B0609020000020004" pitchFamily="49" charset="0"/>
                <a:ea typeface="Courier New" pitchFamily="34" charset="-122"/>
                <a:cs typeface="Cascadia Code" panose="020B0609020000020004" pitchFamily="49" charset="0"/>
              </a:rPr>
              <a:t>  variants</a:t>
            </a:r>
            <a:r>
              <a:rPr lang="en-US" sz="2000" dirty="0">
                <a:solidFill>
                  <a:srgbClr val="D8D8D8"/>
                </a:solidFill>
                <a:latin typeface="Cascadia Code" panose="020B0609020000020004" pitchFamily="49" charset="0"/>
                <a:ea typeface="Courier New" pitchFamily="34" charset="-122"/>
                <a:cs typeface="Cascadia Code" panose="020B0609020000020004" pitchFamily="49" charset="0"/>
              </a:rPr>
              <a:t>: {</a:t>
            </a:r>
            <a:endParaRPr lang="en-US" sz="2000" dirty="0">
              <a:latin typeface="Cascadia Code" panose="020B0609020000020004" pitchFamily="49" charset="0"/>
              <a:cs typeface="Cascadia Code" panose="020B0609020000020004" pitchFamily="49" charset="0"/>
            </a:endParaRPr>
          </a:p>
          <a:p>
            <a:pPr marL="0" indent="0" algn="l">
              <a:lnSpc>
                <a:spcPct val="115000"/>
              </a:lnSpc>
              <a:buNone/>
            </a:pPr>
            <a:r>
              <a:rPr lang="en-US" sz="2000" dirty="0">
                <a:solidFill>
                  <a:srgbClr val="9CDCFE"/>
                </a:solidFill>
                <a:latin typeface="Cascadia Code" panose="020B0609020000020004" pitchFamily="49" charset="0"/>
                <a:ea typeface="Courier New" pitchFamily="34" charset="-122"/>
                <a:cs typeface="Cascadia Code" panose="020B0609020000020004" pitchFamily="49" charset="0"/>
              </a:rPr>
              <a:t>    variant</a:t>
            </a:r>
            <a:r>
              <a:rPr lang="en-US" sz="2000" dirty="0">
                <a:solidFill>
                  <a:srgbClr val="D8D8D8"/>
                </a:solidFill>
                <a:latin typeface="Cascadia Code" panose="020B0609020000020004" pitchFamily="49" charset="0"/>
                <a:ea typeface="Courier New" pitchFamily="34" charset="-122"/>
                <a:cs typeface="Cascadia Code" panose="020B0609020000020004" pitchFamily="49" charset="0"/>
              </a:rPr>
              <a:t>: { primary: </a:t>
            </a:r>
            <a:r>
              <a:rPr lang="en-US" sz="2000" dirty="0">
                <a:solidFill>
                  <a:srgbClr val="F1CF25"/>
                </a:solidFill>
                <a:latin typeface="Cascadia Code" panose="020B0609020000020004" pitchFamily="49" charset="0"/>
                <a:ea typeface="Courier New" pitchFamily="34" charset="-122"/>
                <a:cs typeface="Cascadia Code" panose="020B0609020000020004" pitchFamily="49" charset="0"/>
              </a:rPr>
              <a:t>"bg-mint text-ink"</a:t>
            </a:r>
            <a:r>
              <a:rPr lang="en-US" sz="2000" dirty="0">
                <a:solidFill>
                  <a:srgbClr val="D8D8D8"/>
                </a:solidFill>
                <a:latin typeface="Cascadia Code" panose="020B0609020000020004" pitchFamily="49" charset="0"/>
                <a:ea typeface="Courier New" pitchFamily="34" charset="-122"/>
                <a:cs typeface="Cascadia Code" panose="020B0609020000020004" pitchFamily="49" charset="0"/>
              </a:rPr>
              <a:t>,</a:t>
            </a:r>
            <a:endParaRPr lang="en-US" sz="2000" dirty="0">
              <a:latin typeface="Cascadia Code" panose="020B0609020000020004" pitchFamily="49" charset="0"/>
              <a:cs typeface="Cascadia Code" panose="020B0609020000020004" pitchFamily="49" charset="0"/>
            </a:endParaRPr>
          </a:p>
          <a:p>
            <a:pPr marL="0" indent="0" algn="l">
              <a:lnSpc>
                <a:spcPct val="115000"/>
              </a:lnSpc>
              <a:buNone/>
            </a:pPr>
            <a:r>
              <a:rPr lang="en-US" sz="2000" dirty="0">
                <a:solidFill>
                  <a:srgbClr val="D8D8D8"/>
                </a:solidFill>
                <a:latin typeface="Cascadia Code" panose="020B0609020000020004" pitchFamily="49" charset="0"/>
                <a:ea typeface="Courier New" pitchFamily="34" charset="-122"/>
                <a:cs typeface="Cascadia Code" panose="020B0609020000020004" pitchFamily="49" charset="0"/>
              </a:rPr>
              <a:t>               destructive: </a:t>
            </a:r>
            <a:r>
              <a:rPr lang="en-US" sz="2000" dirty="0">
                <a:solidFill>
                  <a:srgbClr val="F1CF25"/>
                </a:solidFill>
                <a:latin typeface="Cascadia Code" panose="020B0609020000020004" pitchFamily="49" charset="0"/>
                <a:ea typeface="Courier New" pitchFamily="34" charset="-122"/>
                <a:cs typeface="Cascadia Code" panose="020B0609020000020004" pitchFamily="49" charset="0"/>
              </a:rPr>
              <a:t>"bg-coral text-ink"</a:t>
            </a:r>
            <a:r>
              <a:rPr lang="en-US" sz="2000" dirty="0">
                <a:solidFill>
                  <a:srgbClr val="D8D8D8"/>
                </a:solidFill>
                <a:latin typeface="Cascadia Code" panose="020B0609020000020004" pitchFamily="49" charset="0"/>
                <a:ea typeface="Courier New" pitchFamily="34" charset="-122"/>
                <a:cs typeface="Cascadia Code" panose="020B0609020000020004" pitchFamily="49" charset="0"/>
              </a:rPr>
              <a:t> },</a:t>
            </a:r>
            <a:endParaRPr lang="en-US" sz="2000" dirty="0">
              <a:latin typeface="Cascadia Code" panose="020B0609020000020004" pitchFamily="49" charset="0"/>
              <a:cs typeface="Cascadia Code" panose="020B0609020000020004" pitchFamily="49" charset="0"/>
            </a:endParaRPr>
          </a:p>
          <a:p>
            <a:pPr marL="0" indent="0" algn="l">
              <a:lnSpc>
                <a:spcPct val="115000"/>
              </a:lnSpc>
              <a:buNone/>
            </a:pPr>
            <a:r>
              <a:rPr lang="en-US" sz="2000" dirty="0">
                <a:solidFill>
                  <a:srgbClr val="9CDCFE"/>
                </a:solidFill>
                <a:latin typeface="Cascadia Code" panose="020B0609020000020004" pitchFamily="49" charset="0"/>
                <a:ea typeface="Courier New" pitchFamily="34" charset="-122"/>
                <a:cs typeface="Cascadia Code" panose="020B0609020000020004" pitchFamily="49" charset="0"/>
              </a:rPr>
              <a:t>    size</a:t>
            </a:r>
            <a:r>
              <a:rPr lang="en-US" sz="2000" dirty="0">
                <a:solidFill>
                  <a:srgbClr val="D8D8D8"/>
                </a:solidFill>
                <a:latin typeface="Cascadia Code" panose="020B0609020000020004" pitchFamily="49" charset="0"/>
                <a:ea typeface="Courier New" pitchFamily="34" charset="-122"/>
                <a:cs typeface="Cascadia Code" panose="020B0609020000020004" pitchFamily="49" charset="0"/>
              </a:rPr>
              <a:t>: { sm: </a:t>
            </a:r>
            <a:r>
              <a:rPr lang="en-US" sz="2000" dirty="0">
                <a:solidFill>
                  <a:srgbClr val="F1CF25"/>
                </a:solidFill>
                <a:latin typeface="Cascadia Code" panose="020B0609020000020004" pitchFamily="49" charset="0"/>
                <a:ea typeface="Courier New" pitchFamily="34" charset="-122"/>
                <a:cs typeface="Cascadia Code" panose="020B0609020000020004" pitchFamily="49" charset="0"/>
              </a:rPr>
              <a:t>"h-8 px-3"</a:t>
            </a:r>
            <a:r>
              <a:rPr lang="en-US" sz="2000" dirty="0">
                <a:solidFill>
                  <a:srgbClr val="D8D8D8"/>
                </a:solidFill>
                <a:latin typeface="Cascadia Code" panose="020B0609020000020004" pitchFamily="49" charset="0"/>
                <a:ea typeface="Courier New" pitchFamily="34" charset="-122"/>
                <a:cs typeface="Cascadia Code" panose="020B0609020000020004" pitchFamily="49" charset="0"/>
              </a:rPr>
              <a:t>, lg: </a:t>
            </a:r>
            <a:r>
              <a:rPr lang="en-US" sz="2000" dirty="0">
                <a:solidFill>
                  <a:srgbClr val="F1CF25"/>
                </a:solidFill>
                <a:latin typeface="Cascadia Code" panose="020B0609020000020004" pitchFamily="49" charset="0"/>
                <a:ea typeface="Courier New" pitchFamily="34" charset="-122"/>
                <a:cs typeface="Cascadia Code" panose="020B0609020000020004" pitchFamily="49" charset="0"/>
              </a:rPr>
              <a:t>"h-12 px-6"</a:t>
            </a:r>
            <a:r>
              <a:rPr lang="en-US" sz="2000" dirty="0">
                <a:solidFill>
                  <a:srgbClr val="D8D8D8"/>
                </a:solidFill>
                <a:latin typeface="Cascadia Code" panose="020B0609020000020004" pitchFamily="49" charset="0"/>
                <a:ea typeface="Courier New" pitchFamily="34" charset="-122"/>
                <a:cs typeface="Cascadia Code" panose="020B0609020000020004" pitchFamily="49" charset="0"/>
              </a:rPr>
              <a:t> },</a:t>
            </a:r>
            <a:endParaRPr lang="en-US" sz="2000" dirty="0">
              <a:latin typeface="Cascadia Code" panose="020B0609020000020004" pitchFamily="49" charset="0"/>
              <a:cs typeface="Cascadia Code" panose="020B0609020000020004" pitchFamily="49" charset="0"/>
            </a:endParaRPr>
          </a:p>
          <a:p>
            <a:pPr marL="0" indent="0" algn="l">
              <a:lnSpc>
                <a:spcPct val="115000"/>
              </a:lnSpc>
              <a:buNone/>
            </a:pPr>
            <a:r>
              <a:rPr lang="en-US" sz="2000" dirty="0">
                <a:solidFill>
                  <a:srgbClr val="D8D8D8"/>
                </a:solidFill>
                <a:latin typeface="Cascadia Code" panose="020B0609020000020004" pitchFamily="49" charset="0"/>
                <a:ea typeface="Courier New" pitchFamily="34" charset="-122"/>
                <a:cs typeface="Cascadia Code" panose="020B0609020000020004" pitchFamily="49" charset="0"/>
              </a:rPr>
              <a:t>  },</a:t>
            </a:r>
            <a:endParaRPr lang="en-US" sz="2000" dirty="0">
              <a:latin typeface="Cascadia Code" panose="020B0609020000020004" pitchFamily="49" charset="0"/>
              <a:cs typeface="Cascadia Code" panose="020B0609020000020004" pitchFamily="49" charset="0"/>
            </a:endParaRPr>
          </a:p>
          <a:p>
            <a:pPr marL="0" indent="0" algn="l">
              <a:lnSpc>
                <a:spcPct val="115000"/>
              </a:lnSpc>
              <a:buNone/>
            </a:pPr>
            <a:r>
              <a:rPr lang="en-US" sz="2000" dirty="0">
                <a:solidFill>
                  <a:srgbClr val="D8D8D8"/>
                </a:solidFill>
                <a:latin typeface="Cascadia Code" panose="020B0609020000020004" pitchFamily="49" charset="0"/>
                <a:ea typeface="Courier New" pitchFamily="34" charset="-122"/>
                <a:cs typeface="Cascadia Code" panose="020B0609020000020004" pitchFamily="49" charset="0"/>
              </a:rPr>
              <a:t>})</a:t>
            </a:r>
            <a:r>
              <a:rPr lang="en-US" sz="2000" dirty="0">
                <a:solidFill>
                  <a:srgbClr val="6E6E6E"/>
                </a:solidFill>
                <a:latin typeface="Cascadia Code" panose="020B0609020000020004" pitchFamily="49" charset="0"/>
                <a:ea typeface="Courier New" pitchFamily="34" charset="-122"/>
                <a:cs typeface="Cascadia Code" panose="020B0609020000020004" pitchFamily="49" charset="0"/>
              </a:rPr>
              <a:t>   // ← variants are now type-checked &amp; autocompleted</a:t>
            </a:r>
            <a:endParaRPr lang="en-US" sz="2000" dirty="0">
              <a:latin typeface="Cascadia Code" panose="020B0609020000020004" pitchFamily="49" charset="0"/>
              <a:cs typeface="Cascadia Code" panose="020B0609020000020004" pitchFamily="49" charset="0"/>
            </a:endParaRPr>
          </a:p>
        </p:txBody>
      </p:sp>
      <p:sp>
        <p:nvSpPr>
          <p:cNvPr id="11" name="Shape 9"/>
          <p:cNvSpPr/>
          <p:nvPr/>
        </p:nvSpPr>
        <p:spPr>
          <a:xfrm>
            <a:off x="594360" y="5943600"/>
            <a:ext cx="969264" cy="411480"/>
          </a:xfrm>
          <a:prstGeom prst="roundRect">
            <a:avLst>
              <a:gd name="adj" fmla="val 50000"/>
            </a:avLst>
          </a:prstGeom>
          <a:solidFill>
            <a:srgbClr val="2C2B2B"/>
          </a:solidFill>
          <a:ln w="12700">
            <a:solidFill>
              <a:srgbClr val="75DFBC"/>
            </a:solidFill>
            <a:prstDash val="solid"/>
          </a:ln>
        </p:spPr>
        <p:txBody>
          <a:bodyPr/>
          <a:lstStyle/>
          <a:p>
            <a:endParaRPr lang="en-US"/>
          </a:p>
        </p:txBody>
      </p:sp>
      <p:sp>
        <p:nvSpPr>
          <p:cNvPr id="12" name="Text 10"/>
          <p:cNvSpPr/>
          <p:nvPr/>
        </p:nvSpPr>
        <p:spPr>
          <a:xfrm>
            <a:off x="594360" y="5943600"/>
            <a:ext cx="969264" cy="411480"/>
          </a:xfrm>
          <a:prstGeom prst="rect">
            <a:avLst/>
          </a:prstGeom>
          <a:noFill/>
          <a:ln/>
        </p:spPr>
        <p:txBody>
          <a:bodyPr wrap="square" lIns="0" tIns="0" rIns="0" bIns="0" rtlCol="0" anchor="ctr"/>
          <a:lstStyle/>
          <a:p>
            <a:pPr marL="0" indent="0" algn="ctr">
              <a:buNone/>
            </a:pPr>
            <a:r>
              <a:rPr lang="en-US" sz="1300" b="1" dirty="0">
                <a:solidFill>
                  <a:srgbClr val="75DFBC"/>
                </a:solidFill>
                <a:latin typeface="Arial" pitchFamily="34" charset="0"/>
                <a:ea typeface="Arial" pitchFamily="34" charset="-122"/>
                <a:cs typeface="Arial" pitchFamily="34" charset="-120"/>
              </a:rPr>
              <a:t>cva</a:t>
            </a:r>
            <a:endParaRPr lang="en-US" sz="1300" dirty="0"/>
          </a:p>
        </p:txBody>
      </p:sp>
      <p:sp>
        <p:nvSpPr>
          <p:cNvPr id="13" name="Shape 11"/>
          <p:cNvSpPr/>
          <p:nvPr/>
        </p:nvSpPr>
        <p:spPr>
          <a:xfrm>
            <a:off x="1792224" y="5943600"/>
            <a:ext cx="2505456" cy="411480"/>
          </a:xfrm>
          <a:prstGeom prst="roundRect">
            <a:avLst>
              <a:gd name="adj" fmla="val 50000"/>
            </a:avLst>
          </a:prstGeom>
          <a:solidFill>
            <a:srgbClr val="2C2B2B"/>
          </a:solidFill>
          <a:ln w="12700">
            <a:solidFill>
              <a:srgbClr val="75DFBC"/>
            </a:solidFill>
            <a:prstDash val="solid"/>
          </a:ln>
        </p:spPr>
        <p:txBody>
          <a:bodyPr/>
          <a:lstStyle/>
          <a:p>
            <a:endParaRPr lang="en-US"/>
          </a:p>
        </p:txBody>
      </p:sp>
      <p:sp>
        <p:nvSpPr>
          <p:cNvPr id="14" name="Text 12"/>
          <p:cNvSpPr/>
          <p:nvPr/>
        </p:nvSpPr>
        <p:spPr>
          <a:xfrm>
            <a:off x="1792224" y="5943600"/>
            <a:ext cx="2505456" cy="411480"/>
          </a:xfrm>
          <a:prstGeom prst="rect">
            <a:avLst/>
          </a:prstGeom>
          <a:noFill/>
          <a:ln/>
        </p:spPr>
        <p:txBody>
          <a:bodyPr wrap="square" lIns="0" tIns="0" rIns="0" bIns="0" rtlCol="0" anchor="ctr"/>
          <a:lstStyle/>
          <a:p>
            <a:pPr marL="0" indent="0" algn="ctr">
              <a:buNone/>
            </a:pPr>
            <a:r>
              <a:rPr lang="en-US" sz="1300" b="1" dirty="0">
                <a:solidFill>
                  <a:srgbClr val="75DFBC"/>
                </a:solidFill>
                <a:latin typeface="Arial" pitchFamily="34" charset="0"/>
                <a:ea typeface="Arial" pitchFamily="34" charset="-122"/>
                <a:cs typeface="Arial" pitchFamily="34" charset="-120"/>
              </a:rPr>
              <a:t>tailwind-variants</a:t>
            </a:r>
            <a:endParaRPr lang="en-US" sz="1300" dirty="0"/>
          </a:p>
        </p:txBody>
      </p:sp>
      <p:sp>
        <p:nvSpPr>
          <p:cNvPr id="15" name="Shape 13"/>
          <p:cNvSpPr/>
          <p:nvPr/>
        </p:nvSpPr>
        <p:spPr>
          <a:xfrm>
            <a:off x="4526280" y="5943600"/>
            <a:ext cx="2176272" cy="411480"/>
          </a:xfrm>
          <a:prstGeom prst="roundRect">
            <a:avLst>
              <a:gd name="adj" fmla="val 50000"/>
            </a:avLst>
          </a:prstGeom>
          <a:solidFill>
            <a:srgbClr val="2C2B2B"/>
          </a:solidFill>
          <a:ln w="12700">
            <a:solidFill>
              <a:srgbClr val="75DFBC"/>
            </a:solidFill>
            <a:prstDash val="solid"/>
          </a:ln>
        </p:spPr>
        <p:txBody>
          <a:bodyPr/>
          <a:lstStyle/>
          <a:p>
            <a:endParaRPr lang="en-US"/>
          </a:p>
        </p:txBody>
      </p:sp>
      <p:sp>
        <p:nvSpPr>
          <p:cNvPr id="16" name="Text 14"/>
          <p:cNvSpPr/>
          <p:nvPr/>
        </p:nvSpPr>
        <p:spPr>
          <a:xfrm>
            <a:off x="4526280" y="5943600"/>
            <a:ext cx="2176272" cy="411480"/>
          </a:xfrm>
          <a:prstGeom prst="rect">
            <a:avLst/>
          </a:prstGeom>
          <a:noFill/>
          <a:ln/>
        </p:spPr>
        <p:txBody>
          <a:bodyPr wrap="square" lIns="0" tIns="0" rIns="0" bIns="0" rtlCol="0" anchor="ctr"/>
          <a:lstStyle/>
          <a:p>
            <a:pPr marL="0" indent="0" algn="ctr">
              <a:buNone/>
            </a:pPr>
            <a:r>
              <a:rPr lang="en-US" sz="1300" b="1" dirty="0">
                <a:solidFill>
                  <a:srgbClr val="75DFBC"/>
                </a:solidFill>
                <a:latin typeface="Arial" pitchFamily="34" charset="0"/>
                <a:ea typeface="Arial" pitchFamily="34" charset="-122"/>
                <a:cs typeface="Arial" pitchFamily="34" charset="-120"/>
              </a:rPr>
              <a:t>tailwind-merge</a:t>
            </a:r>
            <a:endParaRPr lang="en-US" sz="1300" dirty="0"/>
          </a:p>
        </p:txBody>
      </p:sp>
      <p:sp>
        <p:nvSpPr>
          <p:cNvPr id="17" name="Shape 15"/>
          <p:cNvSpPr/>
          <p:nvPr/>
        </p:nvSpPr>
        <p:spPr>
          <a:xfrm>
            <a:off x="6931152" y="5943600"/>
            <a:ext cx="1627632" cy="411480"/>
          </a:xfrm>
          <a:prstGeom prst="roundRect">
            <a:avLst>
              <a:gd name="adj" fmla="val 50000"/>
            </a:avLst>
          </a:prstGeom>
          <a:solidFill>
            <a:srgbClr val="2C2B2B"/>
          </a:solidFill>
          <a:ln w="12700">
            <a:solidFill>
              <a:srgbClr val="75DFBC"/>
            </a:solidFill>
            <a:prstDash val="solid"/>
          </a:ln>
        </p:spPr>
        <p:txBody>
          <a:bodyPr/>
          <a:lstStyle/>
          <a:p>
            <a:endParaRPr lang="en-US"/>
          </a:p>
        </p:txBody>
      </p:sp>
      <p:sp>
        <p:nvSpPr>
          <p:cNvPr id="18" name="Text 16"/>
          <p:cNvSpPr/>
          <p:nvPr/>
        </p:nvSpPr>
        <p:spPr>
          <a:xfrm>
            <a:off x="6931152" y="5943600"/>
            <a:ext cx="1627632" cy="411480"/>
          </a:xfrm>
          <a:prstGeom prst="rect">
            <a:avLst/>
          </a:prstGeom>
          <a:noFill/>
          <a:ln/>
        </p:spPr>
        <p:txBody>
          <a:bodyPr wrap="square" lIns="0" tIns="0" rIns="0" bIns="0" rtlCol="0" anchor="ctr"/>
          <a:lstStyle/>
          <a:p>
            <a:pPr marL="0" indent="0" algn="ctr">
              <a:buNone/>
            </a:pPr>
            <a:r>
              <a:rPr lang="en-US" sz="1300" b="1" dirty="0">
                <a:solidFill>
                  <a:srgbClr val="75DFBC"/>
                </a:solidFill>
                <a:latin typeface="Arial" pitchFamily="34" charset="0"/>
                <a:ea typeface="Arial" pitchFamily="34" charset="-122"/>
                <a:cs typeface="Arial" pitchFamily="34" charset="-120"/>
              </a:rPr>
              <a:t>clsx / cn</a:t>
            </a:r>
            <a:endParaRPr lang="en-US" sz="1300" dirty="0"/>
          </a:p>
        </p:txBody>
      </p:sp>
      <p:sp>
        <p:nvSpPr>
          <p:cNvPr id="19" name="Text 17"/>
          <p:cNvSpPr/>
          <p:nvPr/>
        </p:nvSpPr>
        <p:spPr>
          <a:xfrm>
            <a:off x="594360" y="6419088"/>
            <a:ext cx="8229600" cy="274320"/>
          </a:xfrm>
          <a:prstGeom prst="rect">
            <a:avLst/>
          </a:prstGeom>
          <a:noFill/>
          <a:ln/>
        </p:spPr>
        <p:txBody>
          <a:bodyPr wrap="square" lIns="0" tIns="0" rIns="0" bIns="0" rtlCol="0" anchor="ctr"/>
          <a:lstStyle/>
          <a:p>
            <a:pPr marL="0" indent="0" algn="l">
              <a:buNone/>
            </a:pPr>
            <a:r>
              <a:rPr lang="en-US" sz="900" dirty="0">
                <a:solidFill>
                  <a:srgbClr val="6E6E6E"/>
                </a:solidFill>
                <a:latin typeface="Arial" pitchFamily="34" charset="0"/>
                <a:ea typeface="Arial" pitchFamily="34" charset="-122"/>
                <a:cs typeface="Arial" pitchFamily="34" charset="-120"/>
              </a:rPr>
              <a:t>Why LLMs &amp; JS frameworks love Tailwind CSS</a:t>
            </a:r>
            <a:endParaRPr lang="en-US" sz="900" dirty="0"/>
          </a:p>
        </p:txBody>
      </p:sp>
      <p:sp>
        <p:nvSpPr>
          <p:cNvPr id="20" name="Text 18"/>
          <p:cNvSpPr/>
          <p:nvPr/>
        </p:nvSpPr>
        <p:spPr>
          <a:xfrm>
            <a:off x="10134295" y="6419088"/>
            <a:ext cx="1463040" cy="274320"/>
          </a:xfrm>
          <a:prstGeom prst="rect">
            <a:avLst/>
          </a:prstGeom>
          <a:noFill/>
          <a:ln/>
        </p:spPr>
        <p:txBody>
          <a:bodyPr wrap="square" lIns="0" tIns="0" rIns="0" bIns="0" rtlCol="0" anchor="ctr"/>
          <a:lstStyle/>
          <a:p>
            <a:pPr marL="0" indent="0" algn="r">
              <a:buNone/>
            </a:pPr>
            <a:r>
              <a:rPr lang="en-US" sz="900" dirty="0">
                <a:solidFill>
                  <a:srgbClr val="6E6E6E"/>
                </a:solidFill>
                <a:latin typeface="Arial" pitchFamily="34" charset="0"/>
                <a:ea typeface="Arial" pitchFamily="34" charset="-122"/>
                <a:cs typeface="Arial" pitchFamily="34" charset="-120"/>
              </a:rPr>
              <a:t>21 / 29</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2C2B2B"/>
        </a:solidFill>
        <a:effectLst/>
      </p:bgPr>
    </p:bg>
    <p:spTree>
      <p:nvGrpSpPr>
        <p:cNvPr id="1" name=""/>
        <p:cNvGrpSpPr/>
        <p:nvPr/>
      </p:nvGrpSpPr>
      <p:grpSpPr>
        <a:xfrm>
          <a:off x="0" y="0"/>
          <a:ext cx="0" cy="0"/>
          <a:chOff x="0" y="0"/>
          <a:chExt cx="0" cy="0"/>
        </a:xfrm>
      </p:grpSpPr>
      <p:sp>
        <p:nvSpPr>
          <p:cNvPr id="2" name="Shape 0"/>
          <p:cNvSpPr/>
          <p:nvPr/>
        </p:nvSpPr>
        <p:spPr>
          <a:xfrm>
            <a:off x="594360" y="1280160"/>
            <a:ext cx="2194560" cy="502920"/>
          </a:xfrm>
          <a:prstGeom prst="roundRect">
            <a:avLst>
              <a:gd name="adj" fmla="val 50000"/>
            </a:avLst>
          </a:prstGeom>
          <a:solidFill>
            <a:srgbClr val="75DFBC"/>
          </a:solidFill>
          <a:ln/>
        </p:spPr>
        <p:txBody>
          <a:bodyPr/>
          <a:lstStyle/>
          <a:p>
            <a:endParaRPr lang="en-US"/>
          </a:p>
        </p:txBody>
      </p:sp>
      <p:sp>
        <p:nvSpPr>
          <p:cNvPr id="3" name="Text 1"/>
          <p:cNvSpPr/>
          <p:nvPr/>
        </p:nvSpPr>
        <p:spPr>
          <a:xfrm>
            <a:off x="594360" y="1280160"/>
            <a:ext cx="2194560" cy="502920"/>
          </a:xfrm>
          <a:prstGeom prst="rect">
            <a:avLst/>
          </a:prstGeom>
          <a:noFill/>
          <a:ln/>
        </p:spPr>
        <p:txBody>
          <a:bodyPr wrap="square" lIns="0" tIns="0" rIns="0" bIns="0" rtlCol="0" anchor="ctr"/>
          <a:lstStyle/>
          <a:p>
            <a:pPr marL="0" indent="0" algn="ctr">
              <a:buNone/>
            </a:pPr>
            <a:r>
              <a:rPr lang="en-US" sz="1500" b="1" dirty="0">
                <a:solidFill>
                  <a:srgbClr val="222121"/>
                </a:solidFill>
                <a:latin typeface="Arial" pitchFamily="34" charset="0"/>
                <a:ea typeface="Arial" pitchFamily="34" charset="-122"/>
                <a:cs typeface="Arial" pitchFamily="34" charset="-120"/>
              </a:rPr>
              <a:t>LIVE DEMO</a:t>
            </a:r>
            <a:endParaRPr lang="en-US" sz="1500" dirty="0"/>
          </a:p>
        </p:txBody>
      </p:sp>
      <p:sp>
        <p:nvSpPr>
          <p:cNvPr id="4" name="Text 2"/>
          <p:cNvSpPr/>
          <p:nvPr/>
        </p:nvSpPr>
        <p:spPr>
          <a:xfrm>
            <a:off x="594360" y="1965960"/>
            <a:ext cx="11002975" cy="1005840"/>
          </a:xfrm>
          <a:prstGeom prst="rect">
            <a:avLst/>
          </a:prstGeom>
          <a:noFill/>
          <a:ln/>
        </p:spPr>
        <p:txBody>
          <a:bodyPr wrap="square" lIns="0" tIns="0" rIns="0" bIns="0" rtlCol="0" anchor="t"/>
          <a:lstStyle/>
          <a:p>
            <a:pPr marL="0" indent="0" algn="l">
              <a:lnSpc>
                <a:spcPct val="102000"/>
              </a:lnSpc>
              <a:buNone/>
            </a:pPr>
            <a:r>
              <a:rPr lang="en-US" sz="3600" b="1" dirty="0">
                <a:solidFill>
                  <a:srgbClr val="FFFFFF"/>
                </a:solidFill>
                <a:latin typeface="Arial" pitchFamily="34" charset="0"/>
                <a:ea typeface="Arial" pitchFamily="34" charset="-122"/>
                <a:cs typeface="Arial" pitchFamily="34" charset="-120"/>
              </a:rPr>
              <a:t>Demo 2: typed variants, live</a:t>
            </a:r>
            <a:endParaRPr lang="en-US" sz="3600" dirty="0"/>
          </a:p>
        </p:txBody>
      </p:sp>
      <p:sp>
        <p:nvSpPr>
          <p:cNvPr id="5" name="Shape 3"/>
          <p:cNvSpPr/>
          <p:nvPr/>
        </p:nvSpPr>
        <p:spPr>
          <a:xfrm>
            <a:off x="594360" y="3191256"/>
            <a:ext cx="118872" cy="118872"/>
          </a:xfrm>
          <a:prstGeom prst="rect">
            <a:avLst/>
          </a:prstGeom>
          <a:solidFill>
            <a:srgbClr val="75DFBC"/>
          </a:solidFill>
          <a:ln/>
        </p:spPr>
        <p:txBody>
          <a:bodyPr/>
          <a:lstStyle/>
          <a:p>
            <a:endParaRPr lang="en-US"/>
          </a:p>
        </p:txBody>
      </p:sp>
      <p:sp>
        <p:nvSpPr>
          <p:cNvPr id="6" name="Text 4"/>
          <p:cNvSpPr/>
          <p:nvPr/>
        </p:nvSpPr>
        <p:spPr>
          <a:xfrm>
            <a:off x="886968" y="3108960"/>
            <a:ext cx="10710367" cy="457200"/>
          </a:xfrm>
          <a:prstGeom prst="rect">
            <a:avLst/>
          </a:prstGeom>
          <a:noFill/>
          <a:ln/>
        </p:spPr>
        <p:txBody>
          <a:bodyPr wrap="square" lIns="0" tIns="0" rIns="0" bIns="0" rtlCol="0" anchor="t"/>
          <a:lstStyle/>
          <a:p>
            <a:pPr marL="0" indent="0" algn="l">
              <a:lnSpc>
                <a:spcPct val="105000"/>
              </a:lnSpc>
              <a:buNone/>
            </a:pPr>
            <a:r>
              <a:rPr lang="en-US" sz="1800" dirty="0">
                <a:solidFill>
                  <a:srgbClr val="FFFFFF"/>
                </a:solidFill>
                <a:latin typeface="Arial" pitchFamily="34" charset="0"/>
                <a:ea typeface="Arial" pitchFamily="34" charset="-122"/>
                <a:cs typeface="Arial" pitchFamily="34" charset="-120"/>
              </a:rPr>
              <a:t>Toggle variant × size: the class string updates in real time</a:t>
            </a:r>
            <a:endParaRPr lang="en-US" sz="1800" dirty="0"/>
          </a:p>
        </p:txBody>
      </p:sp>
      <p:sp>
        <p:nvSpPr>
          <p:cNvPr id="7" name="Shape 5"/>
          <p:cNvSpPr/>
          <p:nvPr/>
        </p:nvSpPr>
        <p:spPr>
          <a:xfrm>
            <a:off x="594360" y="3831336"/>
            <a:ext cx="118872" cy="118872"/>
          </a:xfrm>
          <a:prstGeom prst="rect">
            <a:avLst/>
          </a:prstGeom>
          <a:solidFill>
            <a:srgbClr val="F1CF25"/>
          </a:solidFill>
          <a:ln/>
        </p:spPr>
        <p:txBody>
          <a:bodyPr/>
          <a:lstStyle/>
          <a:p>
            <a:endParaRPr lang="en-US"/>
          </a:p>
        </p:txBody>
      </p:sp>
      <p:sp>
        <p:nvSpPr>
          <p:cNvPr id="8" name="Text 6"/>
          <p:cNvSpPr/>
          <p:nvPr/>
        </p:nvSpPr>
        <p:spPr>
          <a:xfrm>
            <a:off x="886968" y="3749040"/>
            <a:ext cx="10710367" cy="457200"/>
          </a:xfrm>
          <a:prstGeom prst="rect">
            <a:avLst/>
          </a:prstGeom>
          <a:noFill/>
          <a:ln/>
        </p:spPr>
        <p:txBody>
          <a:bodyPr wrap="square" lIns="0" tIns="0" rIns="0" bIns="0" rtlCol="0" anchor="t"/>
          <a:lstStyle/>
          <a:p>
            <a:pPr marL="0" indent="0" algn="l">
              <a:lnSpc>
                <a:spcPct val="105000"/>
              </a:lnSpc>
              <a:buNone/>
            </a:pPr>
            <a:r>
              <a:rPr lang="en-US" sz="1800" dirty="0">
                <a:solidFill>
                  <a:srgbClr val="FFFFFF"/>
                </a:solidFill>
                <a:latin typeface="Arial" pitchFamily="34" charset="0"/>
                <a:ea typeface="Arial" pitchFamily="34" charset="-122"/>
                <a:cs typeface="Arial" pitchFamily="34" charset="-120"/>
              </a:rPr>
              <a:t>Every variant is autocompleted AND type-checked in the editor</a:t>
            </a:r>
            <a:endParaRPr lang="en-US" sz="1800" dirty="0"/>
          </a:p>
        </p:txBody>
      </p:sp>
      <p:sp>
        <p:nvSpPr>
          <p:cNvPr id="9" name="Shape 7"/>
          <p:cNvSpPr/>
          <p:nvPr/>
        </p:nvSpPr>
        <p:spPr>
          <a:xfrm>
            <a:off x="594360" y="4471416"/>
            <a:ext cx="118872" cy="118872"/>
          </a:xfrm>
          <a:prstGeom prst="rect">
            <a:avLst/>
          </a:prstGeom>
          <a:solidFill>
            <a:srgbClr val="75DFBC"/>
          </a:solidFill>
          <a:ln/>
        </p:spPr>
        <p:txBody>
          <a:bodyPr/>
          <a:lstStyle/>
          <a:p>
            <a:endParaRPr lang="en-US"/>
          </a:p>
        </p:txBody>
      </p:sp>
      <p:sp>
        <p:nvSpPr>
          <p:cNvPr id="10" name="Text 8"/>
          <p:cNvSpPr/>
          <p:nvPr/>
        </p:nvSpPr>
        <p:spPr>
          <a:xfrm>
            <a:off x="886968" y="4389120"/>
            <a:ext cx="10710367" cy="457200"/>
          </a:xfrm>
          <a:prstGeom prst="rect">
            <a:avLst/>
          </a:prstGeom>
          <a:noFill/>
          <a:ln/>
        </p:spPr>
        <p:txBody>
          <a:bodyPr wrap="square" lIns="0" tIns="0" rIns="0" bIns="0" rtlCol="0" anchor="t"/>
          <a:lstStyle/>
          <a:p>
            <a:pPr marL="0" indent="0" algn="l">
              <a:lnSpc>
                <a:spcPct val="105000"/>
              </a:lnSpc>
              <a:buNone/>
            </a:pPr>
            <a:r>
              <a:rPr lang="en-US" sz="1800" dirty="0">
                <a:solidFill>
                  <a:srgbClr val="FFFFFF"/>
                </a:solidFill>
                <a:latin typeface="Arial" pitchFamily="34" charset="0"/>
                <a:ea typeface="Arial" pitchFamily="34" charset="-122"/>
                <a:cs typeface="Arial" pitchFamily="34" charset="-120"/>
              </a:rPr>
              <a:t>A wrong variant is a red squiggle at compile time</a:t>
            </a:r>
            <a:endParaRPr lang="en-US" sz="1800" dirty="0"/>
          </a:p>
        </p:txBody>
      </p:sp>
      <p:sp>
        <p:nvSpPr>
          <p:cNvPr id="11" name="Text 9"/>
          <p:cNvSpPr/>
          <p:nvPr/>
        </p:nvSpPr>
        <p:spPr>
          <a:xfrm>
            <a:off x="594360" y="5212080"/>
            <a:ext cx="11002975" cy="457200"/>
          </a:xfrm>
          <a:prstGeom prst="rect">
            <a:avLst/>
          </a:prstGeom>
          <a:noFill/>
          <a:ln/>
        </p:spPr>
        <p:txBody>
          <a:bodyPr wrap="square" lIns="0" tIns="0" rIns="0" bIns="0" rtlCol="0" anchor="ctr"/>
          <a:lstStyle/>
          <a:p>
            <a:pPr marL="0" indent="0" algn="l">
              <a:buNone/>
            </a:pPr>
            <a:r>
              <a:rPr lang="en-US" sz="1600" dirty="0">
                <a:solidFill>
                  <a:srgbClr val="A6A6A6"/>
                </a:solidFill>
                <a:latin typeface="Courier New" pitchFamily="34" charset="0"/>
                <a:ea typeface="Courier New" pitchFamily="34" charset="-122"/>
                <a:cs typeface="Courier New" pitchFamily="34" charset="-120"/>
              </a:rPr>
              <a:t>→ open the cva Button playground   ·   then show IntelliSense on  &lt;Button variant="</a:t>
            </a:r>
            <a:endParaRPr lang="en-US" sz="1600" dirty="0"/>
          </a:p>
        </p:txBody>
      </p:sp>
      <p:sp>
        <p:nvSpPr>
          <p:cNvPr id="12" name="Text 10"/>
          <p:cNvSpPr/>
          <p:nvPr/>
        </p:nvSpPr>
        <p:spPr>
          <a:xfrm>
            <a:off x="594360" y="6419088"/>
            <a:ext cx="8229600" cy="274320"/>
          </a:xfrm>
          <a:prstGeom prst="rect">
            <a:avLst/>
          </a:prstGeom>
          <a:noFill/>
          <a:ln/>
        </p:spPr>
        <p:txBody>
          <a:bodyPr wrap="square" lIns="0" tIns="0" rIns="0" bIns="0" rtlCol="0" anchor="ctr"/>
          <a:lstStyle/>
          <a:p>
            <a:pPr marL="0" indent="0" algn="l">
              <a:buNone/>
            </a:pPr>
            <a:r>
              <a:rPr lang="en-US" sz="900" dirty="0">
                <a:solidFill>
                  <a:srgbClr val="6E6E6E"/>
                </a:solidFill>
                <a:latin typeface="Arial" pitchFamily="34" charset="0"/>
                <a:ea typeface="Arial" pitchFamily="34" charset="-122"/>
                <a:cs typeface="Arial" pitchFamily="34" charset="-120"/>
              </a:rPr>
              <a:t>Why LLMs &amp; JS frameworks love Tailwind CSS</a:t>
            </a:r>
            <a:endParaRPr lang="en-US" sz="900" dirty="0"/>
          </a:p>
        </p:txBody>
      </p:sp>
      <p:sp>
        <p:nvSpPr>
          <p:cNvPr id="13" name="Text 11"/>
          <p:cNvSpPr/>
          <p:nvPr/>
        </p:nvSpPr>
        <p:spPr>
          <a:xfrm>
            <a:off x="10134295" y="6419088"/>
            <a:ext cx="1463040" cy="274320"/>
          </a:xfrm>
          <a:prstGeom prst="rect">
            <a:avLst/>
          </a:prstGeom>
          <a:noFill/>
          <a:ln/>
        </p:spPr>
        <p:txBody>
          <a:bodyPr wrap="square" lIns="0" tIns="0" rIns="0" bIns="0" rtlCol="0" anchor="ctr"/>
          <a:lstStyle/>
          <a:p>
            <a:pPr marL="0" indent="0" algn="r">
              <a:buNone/>
            </a:pPr>
            <a:r>
              <a:rPr lang="en-US" sz="900" dirty="0">
                <a:solidFill>
                  <a:srgbClr val="6E6E6E"/>
                </a:solidFill>
                <a:latin typeface="Arial" pitchFamily="34" charset="0"/>
                <a:ea typeface="Arial" pitchFamily="34" charset="-122"/>
                <a:cs typeface="Arial" pitchFamily="34" charset="-120"/>
              </a:rPr>
              <a:t>22 / 29</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2C2B2B"/>
        </a:solidFill>
        <a:effectLst/>
      </p:bgPr>
    </p:bg>
    <p:spTree>
      <p:nvGrpSpPr>
        <p:cNvPr id="1" name=""/>
        <p:cNvGrpSpPr/>
        <p:nvPr/>
      </p:nvGrpSpPr>
      <p:grpSpPr>
        <a:xfrm>
          <a:off x="0" y="0"/>
          <a:ext cx="0" cy="0"/>
          <a:chOff x="0" y="0"/>
          <a:chExt cx="0" cy="0"/>
        </a:xfrm>
      </p:grpSpPr>
      <p:sp>
        <p:nvSpPr>
          <p:cNvPr id="2" name="Shape 0"/>
          <p:cNvSpPr/>
          <p:nvPr/>
        </p:nvSpPr>
        <p:spPr>
          <a:xfrm>
            <a:off x="594360" y="1280160"/>
            <a:ext cx="2194560" cy="502920"/>
          </a:xfrm>
          <a:prstGeom prst="roundRect">
            <a:avLst>
              <a:gd name="adj" fmla="val 50000"/>
            </a:avLst>
          </a:prstGeom>
          <a:solidFill>
            <a:srgbClr val="75DFBC"/>
          </a:solidFill>
          <a:ln/>
        </p:spPr>
        <p:txBody>
          <a:bodyPr/>
          <a:lstStyle/>
          <a:p>
            <a:endParaRPr lang="en-US"/>
          </a:p>
        </p:txBody>
      </p:sp>
      <p:sp>
        <p:nvSpPr>
          <p:cNvPr id="3" name="Text 1"/>
          <p:cNvSpPr/>
          <p:nvPr/>
        </p:nvSpPr>
        <p:spPr>
          <a:xfrm>
            <a:off x="594360" y="1280160"/>
            <a:ext cx="2194560" cy="502920"/>
          </a:xfrm>
          <a:prstGeom prst="rect">
            <a:avLst/>
          </a:prstGeom>
          <a:noFill/>
          <a:ln/>
        </p:spPr>
        <p:txBody>
          <a:bodyPr wrap="square" lIns="0" tIns="0" rIns="0" bIns="0" rtlCol="0" anchor="ctr"/>
          <a:lstStyle/>
          <a:p>
            <a:pPr marL="0" indent="0" algn="ctr">
              <a:buNone/>
            </a:pPr>
            <a:r>
              <a:rPr lang="en-US" sz="1500" b="1" dirty="0">
                <a:solidFill>
                  <a:srgbClr val="222121"/>
                </a:solidFill>
                <a:latin typeface="Arial" pitchFamily="34" charset="0"/>
                <a:ea typeface="Arial" pitchFamily="34" charset="-122"/>
                <a:cs typeface="Arial" pitchFamily="34" charset="-120"/>
              </a:rPr>
              <a:t>LIVE DEMO</a:t>
            </a:r>
            <a:endParaRPr lang="en-US" sz="1500" dirty="0"/>
          </a:p>
        </p:txBody>
      </p:sp>
      <p:sp>
        <p:nvSpPr>
          <p:cNvPr id="4" name="Text 2"/>
          <p:cNvSpPr/>
          <p:nvPr/>
        </p:nvSpPr>
        <p:spPr>
          <a:xfrm>
            <a:off x="594360" y="1965960"/>
            <a:ext cx="11002975" cy="1005840"/>
          </a:xfrm>
          <a:prstGeom prst="rect">
            <a:avLst/>
          </a:prstGeom>
          <a:noFill/>
          <a:ln/>
        </p:spPr>
        <p:txBody>
          <a:bodyPr wrap="square" lIns="0" tIns="0" rIns="0" bIns="0" rtlCol="0" anchor="t"/>
          <a:lstStyle/>
          <a:p>
            <a:pPr marL="0" indent="0" algn="l">
              <a:lnSpc>
                <a:spcPct val="102000"/>
              </a:lnSpc>
              <a:buNone/>
            </a:pPr>
            <a:r>
              <a:rPr lang="en-US" sz="3600" b="1" dirty="0">
                <a:solidFill>
                  <a:srgbClr val="FFFFFF"/>
                </a:solidFill>
                <a:latin typeface="Arial" pitchFamily="34" charset="0"/>
                <a:ea typeface="Arial" pitchFamily="34" charset="-122"/>
                <a:cs typeface="Arial" pitchFamily="34" charset="-120"/>
              </a:rPr>
              <a:t>Demo 3: watch it edit ONE file</a:t>
            </a:r>
            <a:endParaRPr lang="en-US" sz="3600" dirty="0"/>
          </a:p>
        </p:txBody>
      </p:sp>
      <p:sp>
        <p:nvSpPr>
          <p:cNvPr id="5" name="Shape 3"/>
          <p:cNvSpPr/>
          <p:nvPr/>
        </p:nvSpPr>
        <p:spPr>
          <a:xfrm>
            <a:off x="594360" y="3191256"/>
            <a:ext cx="118872" cy="118872"/>
          </a:xfrm>
          <a:prstGeom prst="rect">
            <a:avLst/>
          </a:prstGeom>
          <a:solidFill>
            <a:srgbClr val="F1CF25"/>
          </a:solidFill>
          <a:ln/>
        </p:spPr>
        <p:txBody>
          <a:bodyPr/>
          <a:lstStyle/>
          <a:p>
            <a:endParaRPr lang="en-US"/>
          </a:p>
        </p:txBody>
      </p:sp>
      <p:sp>
        <p:nvSpPr>
          <p:cNvPr id="6" name="Text 4"/>
          <p:cNvSpPr/>
          <p:nvPr/>
        </p:nvSpPr>
        <p:spPr>
          <a:xfrm>
            <a:off x="886968" y="3108960"/>
            <a:ext cx="10710367" cy="457200"/>
          </a:xfrm>
          <a:prstGeom prst="rect">
            <a:avLst/>
          </a:prstGeom>
          <a:noFill/>
          <a:ln/>
        </p:spPr>
        <p:txBody>
          <a:bodyPr wrap="square" lIns="0" tIns="0" rIns="0" bIns="0" rtlCol="0" anchor="t"/>
          <a:lstStyle/>
          <a:p>
            <a:pPr marL="0" indent="0" algn="l">
              <a:lnSpc>
                <a:spcPct val="105000"/>
              </a:lnSpc>
              <a:buNone/>
            </a:pPr>
            <a:r>
              <a:rPr lang="en-US" sz="1800" dirty="0">
                <a:solidFill>
                  <a:srgbClr val="FFFFFF"/>
                </a:solidFill>
                <a:latin typeface="Arial" pitchFamily="34" charset="0"/>
                <a:ea typeface="Arial" pitchFamily="34" charset="-122"/>
                <a:cs typeface="Arial" pitchFamily="34" charset="-120"/>
              </a:rPr>
              <a:t>Prompt: “add a success variant, then a loading state with a spinner”</a:t>
            </a:r>
            <a:endParaRPr lang="en-US" sz="1800" dirty="0"/>
          </a:p>
        </p:txBody>
      </p:sp>
      <p:sp>
        <p:nvSpPr>
          <p:cNvPr id="7" name="Shape 5"/>
          <p:cNvSpPr/>
          <p:nvPr/>
        </p:nvSpPr>
        <p:spPr>
          <a:xfrm>
            <a:off x="594360" y="3831336"/>
            <a:ext cx="118872" cy="118872"/>
          </a:xfrm>
          <a:prstGeom prst="rect">
            <a:avLst/>
          </a:prstGeom>
          <a:solidFill>
            <a:srgbClr val="75DFBC"/>
          </a:solidFill>
          <a:ln/>
        </p:spPr>
        <p:txBody>
          <a:bodyPr/>
          <a:lstStyle/>
          <a:p>
            <a:endParaRPr lang="en-US"/>
          </a:p>
        </p:txBody>
      </p:sp>
      <p:sp>
        <p:nvSpPr>
          <p:cNvPr id="8" name="Text 6"/>
          <p:cNvSpPr/>
          <p:nvPr/>
        </p:nvSpPr>
        <p:spPr>
          <a:xfrm>
            <a:off x="886968" y="3749040"/>
            <a:ext cx="10710367" cy="457200"/>
          </a:xfrm>
          <a:prstGeom prst="rect">
            <a:avLst/>
          </a:prstGeom>
          <a:noFill/>
          <a:ln/>
        </p:spPr>
        <p:txBody>
          <a:bodyPr wrap="square" lIns="0" tIns="0" rIns="0" bIns="0" rtlCol="0" anchor="t"/>
          <a:lstStyle/>
          <a:p>
            <a:pPr marL="0" indent="0" algn="l">
              <a:lnSpc>
                <a:spcPct val="105000"/>
              </a:lnSpc>
              <a:buNone/>
            </a:pPr>
            <a:r>
              <a:rPr lang="en-US" sz="1800" dirty="0">
                <a:solidFill>
                  <a:srgbClr val="FFFFFF"/>
                </a:solidFill>
                <a:latin typeface="Arial" pitchFamily="34" charset="0"/>
                <a:ea typeface="Arial" pitchFamily="34" charset="-122"/>
                <a:cs typeface="Arial" pitchFamily="34" charset="-120"/>
              </a:rPr>
              <a:t>The diff lands entirely inside button.tsx. Nothing else moves.</a:t>
            </a:r>
            <a:endParaRPr lang="en-US" sz="1800" dirty="0"/>
          </a:p>
        </p:txBody>
      </p:sp>
      <p:sp>
        <p:nvSpPr>
          <p:cNvPr id="9" name="Shape 7"/>
          <p:cNvSpPr/>
          <p:nvPr/>
        </p:nvSpPr>
        <p:spPr>
          <a:xfrm>
            <a:off x="594360" y="4471416"/>
            <a:ext cx="118872" cy="118872"/>
          </a:xfrm>
          <a:prstGeom prst="rect">
            <a:avLst/>
          </a:prstGeom>
          <a:solidFill>
            <a:srgbClr val="75DFBC"/>
          </a:solidFill>
          <a:ln/>
        </p:spPr>
        <p:txBody>
          <a:bodyPr/>
          <a:lstStyle/>
          <a:p>
            <a:endParaRPr lang="en-US"/>
          </a:p>
        </p:txBody>
      </p:sp>
      <p:sp>
        <p:nvSpPr>
          <p:cNvPr id="10" name="Text 8"/>
          <p:cNvSpPr/>
          <p:nvPr/>
        </p:nvSpPr>
        <p:spPr>
          <a:xfrm>
            <a:off x="886968" y="4389120"/>
            <a:ext cx="10710367" cy="457200"/>
          </a:xfrm>
          <a:prstGeom prst="rect">
            <a:avLst/>
          </a:prstGeom>
          <a:noFill/>
          <a:ln/>
        </p:spPr>
        <p:txBody>
          <a:bodyPr wrap="square" lIns="0" tIns="0" rIns="0" bIns="0" rtlCol="0" anchor="t"/>
          <a:lstStyle/>
          <a:p>
            <a:pPr marL="0" indent="0" algn="l">
              <a:lnSpc>
                <a:spcPct val="105000"/>
              </a:lnSpc>
              <a:buNone/>
            </a:pPr>
            <a:r>
              <a:rPr lang="en-US" sz="1800" dirty="0">
                <a:solidFill>
                  <a:srgbClr val="FFFFFF"/>
                </a:solidFill>
                <a:latin typeface="Arial" pitchFamily="34" charset="0"/>
                <a:ea typeface="Arial" pitchFamily="34" charset="-122"/>
                <a:cs typeface="Arial" pitchFamily="34" charset="-120"/>
              </a:rPr>
              <a:t>No cascade to chase, no stylesheet to hunt down</a:t>
            </a:r>
            <a:endParaRPr lang="en-US" sz="1800" dirty="0"/>
          </a:p>
        </p:txBody>
      </p:sp>
      <p:sp>
        <p:nvSpPr>
          <p:cNvPr id="11" name="Text 9"/>
          <p:cNvSpPr/>
          <p:nvPr/>
        </p:nvSpPr>
        <p:spPr>
          <a:xfrm>
            <a:off x="594360" y="5212080"/>
            <a:ext cx="11002975" cy="457200"/>
          </a:xfrm>
          <a:prstGeom prst="rect">
            <a:avLst/>
          </a:prstGeom>
          <a:noFill/>
          <a:ln/>
        </p:spPr>
        <p:txBody>
          <a:bodyPr wrap="square" lIns="0" tIns="0" rIns="0" bIns="0" rtlCol="0" anchor="ctr"/>
          <a:lstStyle/>
          <a:p>
            <a:pPr marL="0" indent="0" algn="l">
              <a:buNone/>
            </a:pPr>
            <a:r>
              <a:rPr lang="en-US" sz="1500" dirty="0">
                <a:solidFill>
                  <a:srgbClr val="75DFBC"/>
                </a:solidFill>
                <a:latin typeface="Courier New" pitchFamily="34" charset="0"/>
                <a:ea typeface="Courier New" pitchFamily="34" charset="-122"/>
                <a:cs typeface="Courier New" pitchFamily="34" charset="-120"/>
              </a:rPr>
              <a:t>Local edit = safe edit. That is the payoff of everything before it.</a:t>
            </a:r>
            <a:endParaRPr lang="en-US" sz="1500" dirty="0"/>
          </a:p>
        </p:txBody>
      </p:sp>
      <p:sp>
        <p:nvSpPr>
          <p:cNvPr id="12" name="Text 10"/>
          <p:cNvSpPr/>
          <p:nvPr/>
        </p:nvSpPr>
        <p:spPr>
          <a:xfrm>
            <a:off x="594360" y="6419088"/>
            <a:ext cx="8229600" cy="274320"/>
          </a:xfrm>
          <a:prstGeom prst="rect">
            <a:avLst/>
          </a:prstGeom>
          <a:noFill/>
          <a:ln/>
        </p:spPr>
        <p:txBody>
          <a:bodyPr wrap="square" lIns="0" tIns="0" rIns="0" bIns="0" rtlCol="0" anchor="ctr"/>
          <a:lstStyle/>
          <a:p>
            <a:pPr marL="0" indent="0" algn="l">
              <a:buNone/>
            </a:pPr>
            <a:r>
              <a:rPr lang="en-US" sz="900" dirty="0">
                <a:solidFill>
                  <a:srgbClr val="6E6E6E"/>
                </a:solidFill>
                <a:latin typeface="Arial" pitchFamily="34" charset="0"/>
                <a:ea typeface="Arial" pitchFamily="34" charset="-122"/>
                <a:cs typeface="Arial" pitchFamily="34" charset="-120"/>
              </a:rPr>
              <a:t>Why LLMs &amp; JS frameworks love Tailwind CSS</a:t>
            </a:r>
            <a:endParaRPr lang="en-US" sz="900" dirty="0"/>
          </a:p>
        </p:txBody>
      </p:sp>
      <p:sp>
        <p:nvSpPr>
          <p:cNvPr id="13" name="Text 11"/>
          <p:cNvSpPr/>
          <p:nvPr/>
        </p:nvSpPr>
        <p:spPr>
          <a:xfrm>
            <a:off x="10134295" y="6419088"/>
            <a:ext cx="1463040" cy="274320"/>
          </a:xfrm>
          <a:prstGeom prst="rect">
            <a:avLst/>
          </a:prstGeom>
          <a:noFill/>
          <a:ln/>
        </p:spPr>
        <p:txBody>
          <a:bodyPr wrap="square" lIns="0" tIns="0" rIns="0" bIns="0" rtlCol="0" anchor="ctr"/>
          <a:lstStyle/>
          <a:p>
            <a:pPr marL="0" indent="0" algn="r">
              <a:buNone/>
            </a:pPr>
            <a:r>
              <a:rPr lang="en-US" sz="900" dirty="0">
                <a:solidFill>
                  <a:srgbClr val="6E6E6E"/>
                </a:solidFill>
                <a:latin typeface="Arial" pitchFamily="34" charset="0"/>
                <a:ea typeface="Arial" pitchFamily="34" charset="-122"/>
                <a:cs typeface="Arial" pitchFamily="34" charset="-120"/>
              </a:rPr>
              <a:t>23 / 29</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222121"/>
        </a:solidFill>
        <a:effectLst/>
      </p:bgPr>
    </p:bg>
    <p:spTree>
      <p:nvGrpSpPr>
        <p:cNvPr id="1" name=""/>
        <p:cNvGrpSpPr/>
        <p:nvPr/>
      </p:nvGrpSpPr>
      <p:grpSpPr>
        <a:xfrm>
          <a:off x="0" y="0"/>
          <a:ext cx="0" cy="0"/>
          <a:chOff x="0" y="0"/>
          <a:chExt cx="0" cy="0"/>
        </a:xfrm>
      </p:grpSpPr>
      <p:sp>
        <p:nvSpPr>
          <p:cNvPr id="2" name="Text 0"/>
          <p:cNvSpPr/>
          <p:nvPr/>
        </p:nvSpPr>
        <p:spPr>
          <a:xfrm>
            <a:off x="594360" y="502920"/>
            <a:ext cx="11002975" cy="274320"/>
          </a:xfrm>
          <a:prstGeom prst="rect">
            <a:avLst/>
          </a:prstGeom>
          <a:noFill/>
          <a:ln/>
        </p:spPr>
        <p:txBody>
          <a:bodyPr wrap="square" lIns="0" tIns="0" rIns="0" bIns="0" rtlCol="0" anchor="ctr"/>
          <a:lstStyle/>
          <a:p>
            <a:pPr marL="0" indent="0" algn="l">
              <a:buNone/>
            </a:pPr>
            <a:r>
              <a:rPr lang="en-US" sz="1200" b="1" kern="0" spc="300" dirty="0">
                <a:solidFill>
                  <a:srgbClr val="F1CF25"/>
                </a:solidFill>
                <a:latin typeface="Arial" pitchFamily="34" charset="0"/>
                <a:ea typeface="Arial" pitchFamily="34" charset="-122"/>
                <a:cs typeface="Arial" pitchFamily="34" charset="-120"/>
              </a:rPr>
              <a:t>THE PROOF</a:t>
            </a:r>
            <a:endParaRPr lang="en-US" sz="1200" dirty="0"/>
          </a:p>
        </p:txBody>
      </p:sp>
      <p:sp>
        <p:nvSpPr>
          <p:cNvPr id="3" name="Text 1"/>
          <p:cNvSpPr/>
          <p:nvPr/>
        </p:nvSpPr>
        <p:spPr>
          <a:xfrm>
            <a:off x="594360" y="868680"/>
            <a:ext cx="11002975" cy="1005840"/>
          </a:xfrm>
          <a:prstGeom prst="rect">
            <a:avLst/>
          </a:prstGeom>
          <a:noFill/>
          <a:ln/>
        </p:spPr>
        <p:txBody>
          <a:bodyPr wrap="square" lIns="0" tIns="0" rIns="0" bIns="0" rtlCol="0" anchor="t"/>
          <a:lstStyle/>
          <a:p>
            <a:pPr marL="0" indent="0" algn="l">
              <a:lnSpc>
                <a:spcPct val="102000"/>
              </a:lnSpc>
              <a:buNone/>
            </a:pPr>
            <a:r>
              <a:rPr lang="en-US" sz="3200" b="1" dirty="0">
                <a:solidFill>
                  <a:srgbClr val="FFFFFF"/>
                </a:solidFill>
                <a:latin typeface="Arial" pitchFamily="34" charset="0"/>
                <a:ea typeface="Arial" pitchFamily="34" charset="-122"/>
                <a:cs typeface="Arial" pitchFamily="34" charset="-120"/>
              </a:rPr>
              <a:t>shadcn/ui is the thesis, shipped</a:t>
            </a:r>
            <a:endParaRPr lang="en-US" sz="3200" dirty="0"/>
          </a:p>
        </p:txBody>
      </p:sp>
      <p:sp>
        <p:nvSpPr>
          <p:cNvPr id="4" name="Shape 2"/>
          <p:cNvSpPr/>
          <p:nvPr/>
        </p:nvSpPr>
        <p:spPr>
          <a:xfrm>
            <a:off x="594360" y="2093976"/>
            <a:ext cx="118872" cy="118872"/>
          </a:xfrm>
          <a:prstGeom prst="rect">
            <a:avLst/>
          </a:prstGeom>
          <a:solidFill>
            <a:srgbClr val="75DFBC"/>
          </a:solidFill>
          <a:ln/>
        </p:spPr>
        <p:txBody>
          <a:bodyPr/>
          <a:lstStyle/>
          <a:p>
            <a:endParaRPr lang="en-US"/>
          </a:p>
        </p:txBody>
      </p:sp>
      <p:sp>
        <p:nvSpPr>
          <p:cNvPr id="5" name="Text 3"/>
          <p:cNvSpPr/>
          <p:nvPr/>
        </p:nvSpPr>
        <p:spPr>
          <a:xfrm>
            <a:off x="886968" y="2011680"/>
            <a:ext cx="10710367" cy="457200"/>
          </a:xfrm>
          <a:prstGeom prst="rect">
            <a:avLst/>
          </a:prstGeom>
          <a:noFill/>
          <a:ln/>
        </p:spPr>
        <p:txBody>
          <a:bodyPr wrap="square" lIns="0" tIns="0" rIns="0" bIns="0" rtlCol="0" anchor="t"/>
          <a:lstStyle/>
          <a:p>
            <a:pPr marL="0" indent="0" algn="l">
              <a:lnSpc>
                <a:spcPct val="105000"/>
              </a:lnSpc>
              <a:buNone/>
            </a:pPr>
            <a:r>
              <a:rPr lang="en-US" sz="1800" dirty="0">
                <a:solidFill>
                  <a:srgbClr val="FFFFFF"/>
                </a:solidFill>
                <a:latin typeface="Arial" pitchFamily="34" charset="0"/>
                <a:ea typeface="Arial" pitchFamily="34" charset="-122"/>
                <a:cs typeface="Arial" pitchFamily="34" charset="-120"/>
              </a:rPr>
              <a:t>Copy-paste components: Tailwind + TypeScript + cva</a:t>
            </a:r>
            <a:endParaRPr lang="en-US" sz="1800" dirty="0"/>
          </a:p>
        </p:txBody>
      </p:sp>
      <p:sp>
        <p:nvSpPr>
          <p:cNvPr id="6" name="Shape 4"/>
          <p:cNvSpPr/>
          <p:nvPr/>
        </p:nvSpPr>
        <p:spPr>
          <a:xfrm>
            <a:off x="594360" y="2779776"/>
            <a:ext cx="118872" cy="118872"/>
          </a:xfrm>
          <a:prstGeom prst="rect">
            <a:avLst/>
          </a:prstGeom>
          <a:solidFill>
            <a:srgbClr val="75DFBC"/>
          </a:solidFill>
          <a:ln/>
        </p:spPr>
        <p:txBody>
          <a:bodyPr/>
          <a:lstStyle/>
          <a:p>
            <a:endParaRPr lang="en-US"/>
          </a:p>
        </p:txBody>
      </p:sp>
      <p:sp>
        <p:nvSpPr>
          <p:cNvPr id="7" name="Text 5"/>
          <p:cNvSpPr/>
          <p:nvPr/>
        </p:nvSpPr>
        <p:spPr>
          <a:xfrm>
            <a:off x="886968" y="2697480"/>
            <a:ext cx="10710367" cy="457200"/>
          </a:xfrm>
          <a:prstGeom prst="rect">
            <a:avLst/>
          </a:prstGeom>
          <a:noFill/>
          <a:ln/>
        </p:spPr>
        <p:txBody>
          <a:bodyPr wrap="square" lIns="0" tIns="0" rIns="0" bIns="0" rtlCol="0" anchor="t"/>
          <a:lstStyle/>
          <a:p>
            <a:pPr marL="0" indent="0" algn="l">
              <a:lnSpc>
                <a:spcPct val="105000"/>
              </a:lnSpc>
              <a:buNone/>
            </a:pPr>
            <a:r>
              <a:rPr lang="en-US" sz="1800" dirty="0">
                <a:solidFill>
                  <a:srgbClr val="FFFFFF"/>
                </a:solidFill>
                <a:latin typeface="Arial" pitchFamily="34" charset="0"/>
                <a:ea typeface="Arial" pitchFamily="34" charset="-122"/>
                <a:cs typeface="Arial" pitchFamily="34" charset="-120"/>
              </a:rPr>
              <a:t>It exists because devs and LLMs both read and modify it trivially</a:t>
            </a:r>
            <a:endParaRPr lang="en-US" sz="1800" dirty="0"/>
          </a:p>
        </p:txBody>
      </p:sp>
      <p:sp>
        <p:nvSpPr>
          <p:cNvPr id="8" name="Shape 6"/>
          <p:cNvSpPr/>
          <p:nvPr/>
        </p:nvSpPr>
        <p:spPr>
          <a:xfrm>
            <a:off x="594360" y="3465576"/>
            <a:ext cx="118872" cy="118872"/>
          </a:xfrm>
          <a:prstGeom prst="rect">
            <a:avLst/>
          </a:prstGeom>
          <a:solidFill>
            <a:srgbClr val="75DFBC"/>
          </a:solidFill>
          <a:ln/>
        </p:spPr>
        <p:txBody>
          <a:bodyPr/>
          <a:lstStyle/>
          <a:p>
            <a:endParaRPr lang="en-US"/>
          </a:p>
        </p:txBody>
      </p:sp>
      <p:sp>
        <p:nvSpPr>
          <p:cNvPr id="9" name="Text 7"/>
          <p:cNvSpPr/>
          <p:nvPr/>
        </p:nvSpPr>
        <p:spPr>
          <a:xfrm>
            <a:off x="886968" y="3383280"/>
            <a:ext cx="10710367" cy="457200"/>
          </a:xfrm>
          <a:prstGeom prst="rect">
            <a:avLst/>
          </a:prstGeom>
          <a:noFill/>
          <a:ln/>
        </p:spPr>
        <p:txBody>
          <a:bodyPr wrap="square" lIns="0" tIns="0" rIns="0" bIns="0" rtlCol="0" anchor="t"/>
          <a:lstStyle/>
          <a:p>
            <a:pPr marL="0" indent="0" algn="l">
              <a:lnSpc>
                <a:spcPct val="105000"/>
              </a:lnSpc>
              <a:buNone/>
            </a:pPr>
            <a:r>
              <a:rPr lang="en-US" sz="1800" dirty="0">
                <a:solidFill>
                  <a:srgbClr val="FFFFFF"/>
                </a:solidFill>
                <a:latin typeface="Arial" pitchFamily="34" charset="0"/>
                <a:ea typeface="Arial" pitchFamily="34" charset="-122"/>
                <a:cs typeface="Arial" pitchFamily="34" charset="-120"/>
              </a:rPr>
              <a:t>v0, bolt, Lovable, Cursor, Artifacts all target it by default</a:t>
            </a:r>
            <a:endParaRPr lang="en-US" sz="1800" dirty="0"/>
          </a:p>
        </p:txBody>
      </p:sp>
      <p:sp>
        <p:nvSpPr>
          <p:cNvPr id="10" name="Shape 8"/>
          <p:cNvSpPr/>
          <p:nvPr/>
        </p:nvSpPr>
        <p:spPr>
          <a:xfrm>
            <a:off x="594360" y="4297680"/>
            <a:ext cx="11002975" cy="1371600"/>
          </a:xfrm>
          <a:prstGeom prst="roundRect">
            <a:avLst>
              <a:gd name="adj" fmla="val 8000"/>
            </a:avLst>
          </a:prstGeom>
          <a:solidFill>
            <a:srgbClr val="2C2B2B"/>
          </a:solidFill>
          <a:ln w="12700">
            <a:solidFill>
              <a:srgbClr val="75DFBC"/>
            </a:solidFill>
            <a:prstDash val="solid"/>
          </a:ln>
        </p:spPr>
        <p:txBody>
          <a:bodyPr/>
          <a:lstStyle/>
          <a:p>
            <a:endParaRPr lang="en-US"/>
          </a:p>
        </p:txBody>
      </p:sp>
      <p:sp>
        <p:nvSpPr>
          <p:cNvPr id="11" name="Text 9"/>
          <p:cNvSpPr/>
          <p:nvPr/>
        </p:nvSpPr>
        <p:spPr>
          <a:xfrm>
            <a:off x="960120" y="4297680"/>
            <a:ext cx="10271455" cy="1371600"/>
          </a:xfrm>
          <a:prstGeom prst="rect">
            <a:avLst/>
          </a:prstGeom>
          <a:noFill/>
          <a:ln/>
        </p:spPr>
        <p:txBody>
          <a:bodyPr wrap="square" lIns="0" tIns="0" rIns="0" bIns="0" rtlCol="0" anchor="ctr"/>
          <a:lstStyle/>
          <a:p>
            <a:pPr marL="0" indent="0" algn="l">
              <a:buNone/>
            </a:pPr>
            <a:r>
              <a:rPr lang="en-US" sz="2600" b="1" dirty="0">
                <a:solidFill>
                  <a:srgbClr val="FFFFFF"/>
                </a:solidFill>
                <a:latin typeface="Arial" pitchFamily="34" charset="0"/>
                <a:ea typeface="Arial" pitchFamily="34" charset="-122"/>
                <a:cs typeface="Arial" pitchFamily="34" charset="-120"/>
              </a:rPr>
              <a:t>One stack: </a:t>
            </a:r>
            <a:r>
              <a:rPr lang="en-US" sz="2600" b="1" dirty="0">
                <a:solidFill>
                  <a:srgbClr val="75DFBC"/>
                </a:solidFill>
                <a:latin typeface="Arial" pitchFamily="34" charset="0"/>
                <a:ea typeface="Arial" pitchFamily="34" charset="-122"/>
                <a:cs typeface="Arial" pitchFamily="34" charset="-120"/>
              </a:rPr>
              <a:t>Tailwind + TypeScript</a:t>
            </a:r>
            <a:r>
              <a:rPr lang="en-US" sz="2600" b="1" dirty="0">
                <a:solidFill>
                  <a:srgbClr val="FFFFFF"/>
                </a:solidFill>
                <a:latin typeface="Arial" pitchFamily="34" charset="0"/>
                <a:ea typeface="Arial" pitchFamily="34" charset="-122"/>
                <a:cs typeface="Arial" pitchFamily="34" charset="-120"/>
              </a:rPr>
              <a:t>.</a:t>
            </a:r>
            <a:endParaRPr lang="en-US" sz="2600" dirty="0"/>
          </a:p>
        </p:txBody>
      </p:sp>
      <p:sp>
        <p:nvSpPr>
          <p:cNvPr id="12" name="Text 10"/>
          <p:cNvSpPr/>
          <p:nvPr/>
        </p:nvSpPr>
        <p:spPr>
          <a:xfrm>
            <a:off x="594360" y="6419088"/>
            <a:ext cx="8229600" cy="274320"/>
          </a:xfrm>
          <a:prstGeom prst="rect">
            <a:avLst/>
          </a:prstGeom>
          <a:noFill/>
          <a:ln/>
        </p:spPr>
        <p:txBody>
          <a:bodyPr wrap="square" lIns="0" tIns="0" rIns="0" bIns="0" rtlCol="0" anchor="ctr"/>
          <a:lstStyle/>
          <a:p>
            <a:pPr marL="0" indent="0" algn="l">
              <a:buNone/>
            </a:pPr>
            <a:r>
              <a:rPr lang="en-US" sz="900" dirty="0">
                <a:solidFill>
                  <a:srgbClr val="6E6E6E"/>
                </a:solidFill>
                <a:latin typeface="Arial" pitchFamily="34" charset="0"/>
                <a:ea typeface="Arial" pitchFamily="34" charset="-122"/>
                <a:cs typeface="Arial" pitchFamily="34" charset="-120"/>
              </a:rPr>
              <a:t>Why LLMs &amp; JS frameworks love Tailwind CSS</a:t>
            </a:r>
            <a:endParaRPr lang="en-US" sz="900" dirty="0"/>
          </a:p>
        </p:txBody>
      </p:sp>
      <p:sp>
        <p:nvSpPr>
          <p:cNvPr id="13" name="Text 11"/>
          <p:cNvSpPr/>
          <p:nvPr/>
        </p:nvSpPr>
        <p:spPr>
          <a:xfrm>
            <a:off x="10134295" y="6419088"/>
            <a:ext cx="1463040" cy="274320"/>
          </a:xfrm>
          <a:prstGeom prst="rect">
            <a:avLst/>
          </a:prstGeom>
          <a:noFill/>
          <a:ln/>
        </p:spPr>
        <p:txBody>
          <a:bodyPr wrap="square" lIns="0" tIns="0" rIns="0" bIns="0" rtlCol="0" anchor="ctr"/>
          <a:lstStyle/>
          <a:p>
            <a:pPr marL="0" indent="0" algn="r">
              <a:buNone/>
            </a:pPr>
            <a:r>
              <a:rPr lang="en-US" sz="900" dirty="0">
                <a:solidFill>
                  <a:srgbClr val="6E6E6E"/>
                </a:solidFill>
                <a:latin typeface="Arial" pitchFamily="34" charset="0"/>
                <a:ea typeface="Arial" pitchFamily="34" charset="-122"/>
                <a:cs typeface="Arial" pitchFamily="34" charset="-120"/>
              </a:rPr>
              <a:t>24 / 29</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222121"/>
        </a:solidFill>
        <a:effectLst/>
      </p:bgPr>
    </p:bg>
    <p:spTree>
      <p:nvGrpSpPr>
        <p:cNvPr id="1" name=""/>
        <p:cNvGrpSpPr/>
        <p:nvPr/>
      </p:nvGrpSpPr>
      <p:grpSpPr>
        <a:xfrm>
          <a:off x="0" y="0"/>
          <a:ext cx="0" cy="0"/>
          <a:chOff x="0" y="0"/>
          <a:chExt cx="0" cy="0"/>
        </a:xfrm>
      </p:grpSpPr>
      <p:sp>
        <p:nvSpPr>
          <p:cNvPr id="2" name="Text 0"/>
          <p:cNvSpPr/>
          <p:nvPr/>
        </p:nvSpPr>
        <p:spPr>
          <a:xfrm>
            <a:off x="594360" y="502920"/>
            <a:ext cx="11002975" cy="274320"/>
          </a:xfrm>
          <a:prstGeom prst="rect">
            <a:avLst/>
          </a:prstGeom>
          <a:noFill/>
          <a:ln/>
        </p:spPr>
        <p:txBody>
          <a:bodyPr wrap="square" lIns="0" tIns="0" rIns="0" bIns="0" rtlCol="0" anchor="ctr"/>
          <a:lstStyle/>
          <a:p>
            <a:pPr marL="0" indent="0" algn="l">
              <a:buNone/>
            </a:pPr>
            <a:r>
              <a:rPr lang="en-US" sz="1200" b="1" kern="0" spc="300" dirty="0">
                <a:solidFill>
                  <a:srgbClr val="FF6A4C"/>
                </a:solidFill>
                <a:latin typeface="Arial" pitchFamily="34" charset="0"/>
                <a:ea typeface="Arial" pitchFamily="34" charset="-122"/>
                <a:cs typeface="Arial" pitchFamily="34" charset="-120"/>
              </a:rPr>
              <a:t>OBJECTIONS</a:t>
            </a:r>
            <a:endParaRPr lang="en-US" sz="1200" dirty="0"/>
          </a:p>
        </p:txBody>
      </p:sp>
      <p:sp>
        <p:nvSpPr>
          <p:cNvPr id="3" name="Text 1"/>
          <p:cNvSpPr/>
          <p:nvPr/>
        </p:nvSpPr>
        <p:spPr>
          <a:xfrm>
            <a:off x="594360" y="868680"/>
            <a:ext cx="11002975" cy="1005840"/>
          </a:xfrm>
          <a:prstGeom prst="rect">
            <a:avLst/>
          </a:prstGeom>
          <a:noFill/>
          <a:ln/>
        </p:spPr>
        <p:txBody>
          <a:bodyPr wrap="square" lIns="0" tIns="0" rIns="0" bIns="0" rtlCol="0" anchor="t"/>
          <a:lstStyle/>
          <a:p>
            <a:pPr marL="0" indent="0" algn="l">
              <a:lnSpc>
                <a:spcPct val="102000"/>
              </a:lnSpc>
              <a:buNone/>
            </a:pPr>
            <a:r>
              <a:rPr lang="en-US" sz="3400" b="1" dirty="0">
                <a:solidFill>
                  <a:srgbClr val="FFFFFF"/>
                </a:solidFill>
                <a:latin typeface="Arial" pitchFamily="34" charset="0"/>
                <a:ea typeface="Arial" pitchFamily="34" charset="-122"/>
                <a:cs typeface="Arial" pitchFamily="34" charset="-120"/>
              </a:rPr>
              <a:t>“But Tailwind is…”</a:t>
            </a:r>
            <a:endParaRPr lang="en-US" sz="3400" dirty="0"/>
          </a:p>
        </p:txBody>
      </p:sp>
      <p:sp>
        <p:nvSpPr>
          <p:cNvPr id="4" name="Shape 2"/>
          <p:cNvSpPr/>
          <p:nvPr/>
        </p:nvSpPr>
        <p:spPr>
          <a:xfrm>
            <a:off x="594360" y="1965960"/>
            <a:ext cx="11002975" cy="1051560"/>
          </a:xfrm>
          <a:prstGeom prst="roundRect">
            <a:avLst>
              <a:gd name="adj" fmla="val 10435"/>
            </a:avLst>
          </a:prstGeom>
          <a:solidFill>
            <a:srgbClr val="2C2B2B"/>
          </a:solidFill>
          <a:ln w="12700">
            <a:solidFill>
              <a:srgbClr val="3A3A3A"/>
            </a:solidFill>
            <a:prstDash val="solid"/>
          </a:ln>
        </p:spPr>
        <p:txBody>
          <a:bodyPr/>
          <a:lstStyle/>
          <a:p>
            <a:endParaRPr lang="en-US"/>
          </a:p>
        </p:txBody>
      </p:sp>
      <p:sp>
        <p:nvSpPr>
          <p:cNvPr id="5" name="Text 3"/>
          <p:cNvSpPr/>
          <p:nvPr/>
        </p:nvSpPr>
        <p:spPr>
          <a:xfrm>
            <a:off x="914400" y="2130552"/>
            <a:ext cx="3291840" cy="731520"/>
          </a:xfrm>
          <a:prstGeom prst="rect">
            <a:avLst/>
          </a:prstGeom>
          <a:noFill/>
          <a:ln/>
        </p:spPr>
        <p:txBody>
          <a:bodyPr wrap="square" lIns="0" tIns="0" rIns="0" bIns="0" rtlCol="0" anchor="ctr"/>
          <a:lstStyle/>
          <a:p>
            <a:pPr marL="0" indent="0" algn="l">
              <a:lnSpc>
                <a:spcPct val="100000"/>
              </a:lnSpc>
              <a:buNone/>
            </a:pPr>
            <a:r>
              <a:rPr lang="en-US" b="1" dirty="0">
                <a:solidFill>
                  <a:srgbClr val="FF6A4C"/>
                </a:solidFill>
                <a:latin typeface="Arial" pitchFamily="34" charset="0"/>
                <a:ea typeface="Arial" pitchFamily="34" charset="-122"/>
                <a:cs typeface="Arial" pitchFamily="34" charset="-120"/>
              </a:rPr>
              <a:t>“ugly class soup”</a:t>
            </a:r>
            <a:endParaRPr lang="en-US" dirty="0"/>
          </a:p>
        </p:txBody>
      </p:sp>
      <p:sp>
        <p:nvSpPr>
          <p:cNvPr id="6" name="Text 4"/>
          <p:cNvSpPr/>
          <p:nvPr/>
        </p:nvSpPr>
        <p:spPr>
          <a:xfrm>
            <a:off x="4343400" y="2103120"/>
            <a:ext cx="6933895" cy="822960"/>
          </a:xfrm>
          <a:prstGeom prst="rect">
            <a:avLst/>
          </a:prstGeom>
          <a:noFill/>
          <a:ln/>
        </p:spPr>
        <p:txBody>
          <a:bodyPr wrap="square" lIns="0" tIns="0" rIns="0" bIns="0" rtlCol="0" anchor="ctr"/>
          <a:lstStyle/>
          <a:p>
            <a:pPr marL="0" indent="0" algn="l">
              <a:lnSpc>
                <a:spcPct val="105000"/>
              </a:lnSpc>
              <a:buNone/>
            </a:pPr>
            <a:r>
              <a:rPr lang="en-US" dirty="0">
                <a:solidFill>
                  <a:srgbClr val="FFFFFF"/>
                </a:solidFill>
                <a:latin typeface="Arial" pitchFamily="34" charset="0"/>
                <a:ea typeface="Arial" pitchFamily="34" charset="-122"/>
                <a:cs typeface="Arial" pitchFamily="34" charset="-120"/>
              </a:rPr>
              <a:t>Extract components in your framework, not @apply. The soup lives in ONE place you rarely re-read.</a:t>
            </a:r>
            <a:endParaRPr lang="en-US" dirty="0"/>
          </a:p>
        </p:txBody>
      </p:sp>
      <p:sp>
        <p:nvSpPr>
          <p:cNvPr id="7" name="Shape 5"/>
          <p:cNvSpPr/>
          <p:nvPr/>
        </p:nvSpPr>
        <p:spPr>
          <a:xfrm>
            <a:off x="594360" y="3200400"/>
            <a:ext cx="11002975" cy="1051560"/>
          </a:xfrm>
          <a:prstGeom prst="roundRect">
            <a:avLst>
              <a:gd name="adj" fmla="val 10435"/>
            </a:avLst>
          </a:prstGeom>
          <a:solidFill>
            <a:srgbClr val="2C2B2B"/>
          </a:solidFill>
          <a:ln w="12700">
            <a:solidFill>
              <a:srgbClr val="3A3A3A"/>
            </a:solidFill>
            <a:prstDash val="solid"/>
          </a:ln>
        </p:spPr>
        <p:txBody>
          <a:bodyPr/>
          <a:lstStyle/>
          <a:p>
            <a:endParaRPr lang="en-US"/>
          </a:p>
        </p:txBody>
      </p:sp>
      <p:sp>
        <p:nvSpPr>
          <p:cNvPr id="8" name="Text 6"/>
          <p:cNvSpPr/>
          <p:nvPr/>
        </p:nvSpPr>
        <p:spPr>
          <a:xfrm>
            <a:off x="914400" y="3364992"/>
            <a:ext cx="3291840" cy="731520"/>
          </a:xfrm>
          <a:prstGeom prst="rect">
            <a:avLst/>
          </a:prstGeom>
          <a:noFill/>
          <a:ln/>
        </p:spPr>
        <p:txBody>
          <a:bodyPr wrap="square" lIns="0" tIns="0" rIns="0" bIns="0" rtlCol="0" anchor="ctr"/>
          <a:lstStyle/>
          <a:p>
            <a:pPr marL="0" indent="0" algn="l">
              <a:lnSpc>
                <a:spcPct val="100000"/>
              </a:lnSpc>
              <a:buNone/>
            </a:pPr>
            <a:r>
              <a:rPr lang="en-US" b="1" dirty="0">
                <a:solidFill>
                  <a:srgbClr val="F1CF25"/>
                </a:solidFill>
                <a:latin typeface="Arial" pitchFamily="34" charset="0"/>
                <a:ea typeface="Arial" pitchFamily="34" charset="-122"/>
                <a:cs typeface="Arial" pitchFamily="34" charset="-120"/>
              </a:rPr>
              <a:t>“a steep learning curve”</a:t>
            </a:r>
            <a:endParaRPr lang="en-US" dirty="0"/>
          </a:p>
        </p:txBody>
      </p:sp>
      <p:sp>
        <p:nvSpPr>
          <p:cNvPr id="9" name="Text 7"/>
          <p:cNvSpPr/>
          <p:nvPr/>
        </p:nvSpPr>
        <p:spPr>
          <a:xfrm>
            <a:off x="4343400" y="3337560"/>
            <a:ext cx="6933895" cy="822960"/>
          </a:xfrm>
          <a:prstGeom prst="rect">
            <a:avLst/>
          </a:prstGeom>
          <a:noFill/>
          <a:ln/>
        </p:spPr>
        <p:txBody>
          <a:bodyPr wrap="square" lIns="0" tIns="0" rIns="0" bIns="0" rtlCol="0" anchor="ctr"/>
          <a:lstStyle/>
          <a:p>
            <a:pPr marL="0" indent="0" algn="l">
              <a:lnSpc>
                <a:spcPct val="105000"/>
              </a:lnSpc>
              <a:buNone/>
            </a:pPr>
            <a:r>
              <a:rPr lang="en-US" dirty="0">
                <a:solidFill>
                  <a:srgbClr val="FFFFFF"/>
                </a:solidFill>
                <a:latin typeface="Arial" pitchFamily="34" charset="0"/>
                <a:ea typeface="Arial" pitchFamily="34" charset="-122"/>
                <a:cs typeface="Arial" pitchFamily="34" charset="-120"/>
              </a:rPr>
              <a:t>It's a closed set + IntelliSense. Learn it once; it transfers to every project and every model.</a:t>
            </a:r>
            <a:endParaRPr lang="en-US" dirty="0"/>
          </a:p>
        </p:txBody>
      </p:sp>
      <p:sp>
        <p:nvSpPr>
          <p:cNvPr id="10" name="Shape 8"/>
          <p:cNvSpPr/>
          <p:nvPr/>
        </p:nvSpPr>
        <p:spPr>
          <a:xfrm>
            <a:off x="594360" y="4434840"/>
            <a:ext cx="11002975" cy="1051560"/>
          </a:xfrm>
          <a:prstGeom prst="roundRect">
            <a:avLst>
              <a:gd name="adj" fmla="val 10435"/>
            </a:avLst>
          </a:prstGeom>
          <a:solidFill>
            <a:srgbClr val="2C2B2B"/>
          </a:solidFill>
          <a:ln w="12700">
            <a:solidFill>
              <a:srgbClr val="3A3A3A"/>
            </a:solidFill>
            <a:prstDash val="solid"/>
          </a:ln>
        </p:spPr>
        <p:txBody>
          <a:bodyPr/>
          <a:lstStyle/>
          <a:p>
            <a:endParaRPr lang="en-US"/>
          </a:p>
        </p:txBody>
      </p:sp>
      <p:sp>
        <p:nvSpPr>
          <p:cNvPr id="11" name="Text 9"/>
          <p:cNvSpPr/>
          <p:nvPr/>
        </p:nvSpPr>
        <p:spPr>
          <a:xfrm>
            <a:off x="914400" y="4599432"/>
            <a:ext cx="3291840" cy="731520"/>
          </a:xfrm>
          <a:prstGeom prst="rect">
            <a:avLst/>
          </a:prstGeom>
          <a:noFill/>
          <a:ln/>
        </p:spPr>
        <p:txBody>
          <a:bodyPr wrap="square" lIns="0" tIns="0" rIns="0" bIns="0" rtlCol="0" anchor="ctr"/>
          <a:lstStyle/>
          <a:p>
            <a:pPr marL="0" indent="0" algn="l">
              <a:lnSpc>
                <a:spcPct val="100000"/>
              </a:lnSpc>
              <a:buNone/>
            </a:pPr>
            <a:r>
              <a:rPr lang="en-US" b="1" dirty="0">
                <a:solidFill>
                  <a:srgbClr val="75DFBC"/>
                </a:solidFill>
                <a:latin typeface="Arial" pitchFamily="34" charset="0"/>
                <a:ea typeface="Arial" pitchFamily="34" charset="-122"/>
                <a:cs typeface="Arial" pitchFamily="34" charset="-120"/>
              </a:rPr>
              <a:t>“just inline styles”</a:t>
            </a:r>
            <a:endParaRPr lang="en-US" dirty="0"/>
          </a:p>
        </p:txBody>
      </p:sp>
      <p:sp>
        <p:nvSpPr>
          <p:cNvPr id="12" name="Text 10"/>
          <p:cNvSpPr/>
          <p:nvPr/>
        </p:nvSpPr>
        <p:spPr>
          <a:xfrm>
            <a:off x="4343400" y="4572000"/>
            <a:ext cx="6933895" cy="822960"/>
          </a:xfrm>
          <a:prstGeom prst="rect">
            <a:avLst/>
          </a:prstGeom>
          <a:noFill/>
          <a:ln/>
        </p:spPr>
        <p:txBody>
          <a:bodyPr wrap="square" lIns="0" tIns="0" rIns="0" bIns="0" rtlCol="0" anchor="ctr"/>
          <a:lstStyle/>
          <a:p>
            <a:pPr marL="0" indent="0" algn="l">
              <a:lnSpc>
                <a:spcPct val="105000"/>
              </a:lnSpc>
              <a:buNone/>
            </a:pPr>
            <a:r>
              <a:rPr lang="en-US" dirty="0">
                <a:solidFill>
                  <a:srgbClr val="FFFFFF"/>
                </a:solidFill>
                <a:latin typeface="Arial" pitchFamily="34" charset="0"/>
                <a:ea typeface="Arial" pitchFamily="34" charset="-122"/>
                <a:cs typeface="Arial" pitchFamily="34" charset="-120"/>
              </a:rPr>
              <a:t>No: design tokens + hover: / md: / dark: variants + purge. Inline styles can't do any of that.</a:t>
            </a:r>
            <a:endParaRPr lang="en-US" dirty="0"/>
          </a:p>
        </p:txBody>
      </p:sp>
      <p:sp>
        <p:nvSpPr>
          <p:cNvPr id="13" name="Text 11"/>
          <p:cNvSpPr/>
          <p:nvPr/>
        </p:nvSpPr>
        <p:spPr>
          <a:xfrm>
            <a:off x="594360" y="6419088"/>
            <a:ext cx="8229600" cy="274320"/>
          </a:xfrm>
          <a:prstGeom prst="rect">
            <a:avLst/>
          </a:prstGeom>
          <a:noFill/>
          <a:ln/>
        </p:spPr>
        <p:txBody>
          <a:bodyPr wrap="square" lIns="0" tIns="0" rIns="0" bIns="0" rtlCol="0" anchor="ctr"/>
          <a:lstStyle/>
          <a:p>
            <a:pPr marL="0" indent="0" algn="l">
              <a:buNone/>
            </a:pPr>
            <a:r>
              <a:rPr lang="en-US" sz="900" dirty="0">
                <a:solidFill>
                  <a:srgbClr val="6E6E6E"/>
                </a:solidFill>
                <a:latin typeface="Arial" pitchFamily="34" charset="0"/>
                <a:ea typeface="Arial" pitchFamily="34" charset="-122"/>
                <a:cs typeface="Arial" pitchFamily="34" charset="-120"/>
              </a:rPr>
              <a:t>Why LLMs &amp; JS frameworks love Tailwind CSS</a:t>
            </a:r>
            <a:endParaRPr lang="en-US" sz="900" dirty="0"/>
          </a:p>
        </p:txBody>
      </p:sp>
      <p:sp>
        <p:nvSpPr>
          <p:cNvPr id="14" name="Text 12"/>
          <p:cNvSpPr/>
          <p:nvPr/>
        </p:nvSpPr>
        <p:spPr>
          <a:xfrm>
            <a:off x="10134295" y="6419088"/>
            <a:ext cx="1463040" cy="274320"/>
          </a:xfrm>
          <a:prstGeom prst="rect">
            <a:avLst/>
          </a:prstGeom>
          <a:noFill/>
          <a:ln/>
        </p:spPr>
        <p:txBody>
          <a:bodyPr wrap="square" lIns="0" tIns="0" rIns="0" bIns="0" rtlCol="0" anchor="ctr"/>
          <a:lstStyle/>
          <a:p>
            <a:pPr marL="0" indent="0" algn="r">
              <a:buNone/>
            </a:pPr>
            <a:r>
              <a:rPr lang="en-US" sz="900" dirty="0">
                <a:solidFill>
                  <a:srgbClr val="6E6E6E"/>
                </a:solidFill>
                <a:latin typeface="Arial" pitchFamily="34" charset="0"/>
                <a:ea typeface="Arial" pitchFamily="34" charset="-122"/>
                <a:cs typeface="Arial" pitchFamily="34" charset="-120"/>
              </a:rPr>
              <a:t>25 / 29</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222121"/>
        </a:solidFill>
        <a:effectLst/>
      </p:bgPr>
    </p:bg>
    <p:spTree>
      <p:nvGrpSpPr>
        <p:cNvPr id="1" name=""/>
        <p:cNvGrpSpPr/>
        <p:nvPr/>
      </p:nvGrpSpPr>
      <p:grpSpPr>
        <a:xfrm>
          <a:off x="0" y="0"/>
          <a:ext cx="0" cy="0"/>
          <a:chOff x="0" y="0"/>
          <a:chExt cx="0" cy="0"/>
        </a:xfrm>
      </p:grpSpPr>
      <p:sp>
        <p:nvSpPr>
          <p:cNvPr id="2" name="Text 0"/>
          <p:cNvSpPr/>
          <p:nvPr/>
        </p:nvSpPr>
        <p:spPr>
          <a:xfrm>
            <a:off x="594360" y="502920"/>
            <a:ext cx="11002975" cy="274320"/>
          </a:xfrm>
          <a:prstGeom prst="rect">
            <a:avLst/>
          </a:prstGeom>
          <a:noFill/>
          <a:ln/>
        </p:spPr>
        <p:txBody>
          <a:bodyPr wrap="square" lIns="0" tIns="0" rIns="0" bIns="0" rtlCol="0" anchor="ctr"/>
          <a:lstStyle/>
          <a:p>
            <a:pPr marL="0" indent="0" algn="l">
              <a:buNone/>
            </a:pPr>
            <a:r>
              <a:rPr lang="en-US" sz="1200" b="1" kern="0" spc="300" dirty="0">
                <a:solidFill>
                  <a:srgbClr val="75DFBC"/>
                </a:solidFill>
                <a:latin typeface="Arial" pitchFamily="34" charset="0"/>
                <a:ea typeface="Arial" pitchFamily="34" charset="-122"/>
                <a:cs typeface="Arial" pitchFamily="34" charset="-120"/>
              </a:rPr>
              <a:t>MONDAY MORNING</a:t>
            </a:r>
            <a:endParaRPr lang="en-US" sz="1200" dirty="0"/>
          </a:p>
        </p:txBody>
      </p:sp>
      <p:sp>
        <p:nvSpPr>
          <p:cNvPr id="3" name="Text 1"/>
          <p:cNvSpPr/>
          <p:nvPr/>
        </p:nvSpPr>
        <p:spPr>
          <a:xfrm>
            <a:off x="594360" y="868680"/>
            <a:ext cx="11002975" cy="1005840"/>
          </a:xfrm>
          <a:prstGeom prst="rect">
            <a:avLst/>
          </a:prstGeom>
          <a:noFill/>
          <a:ln/>
        </p:spPr>
        <p:txBody>
          <a:bodyPr wrap="square" lIns="0" tIns="0" rIns="0" bIns="0" rtlCol="0" anchor="t"/>
          <a:lstStyle/>
          <a:p>
            <a:pPr marL="0" indent="0" algn="l">
              <a:lnSpc>
                <a:spcPct val="102000"/>
              </a:lnSpc>
              <a:buNone/>
            </a:pPr>
            <a:r>
              <a:rPr lang="en-US" sz="3000" b="1" dirty="0">
                <a:solidFill>
                  <a:srgbClr val="FFFFFF"/>
                </a:solidFill>
                <a:latin typeface="Arial" pitchFamily="34" charset="0"/>
                <a:ea typeface="Arial" pitchFamily="34" charset="-122"/>
                <a:cs typeface="Arial" pitchFamily="34" charset="-120"/>
              </a:rPr>
              <a:t>How to adopt (and convince the team)</a:t>
            </a:r>
            <a:endParaRPr lang="en-US" sz="3000" dirty="0"/>
          </a:p>
        </p:txBody>
      </p:sp>
      <p:sp>
        <p:nvSpPr>
          <p:cNvPr id="4" name="Shape 2"/>
          <p:cNvSpPr/>
          <p:nvPr/>
        </p:nvSpPr>
        <p:spPr>
          <a:xfrm>
            <a:off x="594360" y="1965960"/>
            <a:ext cx="548640" cy="548640"/>
          </a:xfrm>
          <a:prstGeom prst="ellipse">
            <a:avLst/>
          </a:prstGeom>
          <a:solidFill>
            <a:srgbClr val="75DFBC"/>
          </a:solidFill>
          <a:ln/>
        </p:spPr>
        <p:txBody>
          <a:bodyPr/>
          <a:lstStyle/>
          <a:p>
            <a:endParaRPr lang="en-US"/>
          </a:p>
        </p:txBody>
      </p:sp>
      <p:sp>
        <p:nvSpPr>
          <p:cNvPr id="5" name="Text 3"/>
          <p:cNvSpPr/>
          <p:nvPr/>
        </p:nvSpPr>
        <p:spPr>
          <a:xfrm>
            <a:off x="594360" y="1965960"/>
            <a:ext cx="548640" cy="548640"/>
          </a:xfrm>
          <a:prstGeom prst="rect">
            <a:avLst/>
          </a:prstGeom>
          <a:noFill/>
          <a:ln/>
        </p:spPr>
        <p:txBody>
          <a:bodyPr wrap="square" lIns="0" tIns="0" rIns="0" bIns="0" rtlCol="0" anchor="ctr"/>
          <a:lstStyle/>
          <a:p>
            <a:pPr marL="0" indent="0" algn="ctr">
              <a:buNone/>
            </a:pPr>
            <a:r>
              <a:rPr lang="en-US" sz="2600" b="1" dirty="0">
                <a:solidFill>
                  <a:srgbClr val="222121"/>
                </a:solidFill>
                <a:latin typeface="Arial" pitchFamily="34" charset="0"/>
                <a:ea typeface="Arial" pitchFamily="34" charset="-122"/>
                <a:cs typeface="Arial" pitchFamily="34" charset="-120"/>
              </a:rPr>
              <a:t>1</a:t>
            </a:r>
            <a:endParaRPr lang="en-US" sz="2600" dirty="0"/>
          </a:p>
        </p:txBody>
      </p:sp>
      <p:sp>
        <p:nvSpPr>
          <p:cNvPr id="6" name="Text 4"/>
          <p:cNvSpPr/>
          <p:nvPr/>
        </p:nvSpPr>
        <p:spPr>
          <a:xfrm>
            <a:off x="1417320" y="1965960"/>
            <a:ext cx="10180015" cy="548640"/>
          </a:xfrm>
          <a:prstGeom prst="rect">
            <a:avLst/>
          </a:prstGeom>
          <a:noFill/>
          <a:ln/>
        </p:spPr>
        <p:txBody>
          <a:bodyPr wrap="square" lIns="0" tIns="0" rIns="0" bIns="0" rtlCol="0" anchor="ctr"/>
          <a:lstStyle/>
          <a:p>
            <a:pPr marL="0" indent="0" algn="l">
              <a:buNone/>
            </a:pPr>
            <a:r>
              <a:rPr lang="en-US" sz="1800" dirty="0">
                <a:solidFill>
                  <a:srgbClr val="FFFFFF"/>
                </a:solidFill>
                <a:latin typeface="Arial" pitchFamily="34" charset="0"/>
                <a:ea typeface="Arial" pitchFamily="34" charset="-122"/>
                <a:cs typeface="Arial" pitchFamily="34" charset="-120"/>
              </a:rPr>
              <a:t>Start in NEW components. No big-bang rewrite.</a:t>
            </a:r>
            <a:endParaRPr lang="en-US" sz="1800" dirty="0"/>
          </a:p>
        </p:txBody>
      </p:sp>
      <p:sp>
        <p:nvSpPr>
          <p:cNvPr id="7" name="Shape 5"/>
          <p:cNvSpPr/>
          <p:nvPr/>
        </p:nvSpPr>
        <p:spPr>
          <a:xfrm>
            <a:off x="594360" y="2743200"/>
            <a:ext cx="548640" cy="548640"/>
          </a:xfrm>
          <a:prstGeom prst="ellipse">
            <a:avLst/>
          </a:prstGeom>
          <a:solidFill>
            <a:srgbClr val="F1CF25"/>
          </a:solidFill>
          <a:ln/>
        </p:spPr>
        <p:txBody>
          <a:bodyPr/>
          <a:lstStyle/>
          <a:p>
            <a:endParaRPr lang="en-US"/>
          </a:p>
        </p:txBody>
      </p:sp>
      <p:sp>
        <p:nvSpPr>
          <p:cNvPr id="8" name="Text 6"/>
          <p:cNvSpPr/>
          <p:nvPr/>
        </p:nvSpPr>
        <p:spPr>
          <a:xfrm>
            <a:off x="594360" y="2743200"/>
            <a:ext cx="548640" cy="548640"/>
          </a:xfrm>
          <a:prstGeom prst="rect">
            <a:avLst/>
          </a:prstGeom>
          <a:noFill/>
          <a:ln/>
        </p:spPr>
        <p:txBody>
          <a:bodyPr wrap="square" lIns="0" tIns="0" rIns="0" bIns="0" rtlCol="0" anchor="ctr"/>
          <a:lstStyle/>
          <a:p>
            <a:pPr marL="0" indent="0" algn="ctr">
              <a:buNone/>
            </a:pPr>
            <a:r>
              <a:rPr lang="en-US" sz="2600" b="1" dirty="0">
                <a:solidFill>
                  <a:srgbClr val="222121"/>
                </a:solidFill>
                <a:latin typeface="Arial" pitchFamily="34" charset="0"/>
                <a:ea typeface="Arial" pitchFamily="34" charset="-122"/>
                <a:cs typeface="Arial" pitchFamily="34" charset="-120"/>
              </a:rPr>
              <a:t>2</a:t>
            </a:r>
            <a:endParaRPr lang="en-US" sz="2600" dirty="0"/>
          </a:p>
        </p:txBody>
      </p:sp>
      <p:sp>
        <p:nvSpPr>
          <p:cNvPr id="9" name="Text 7"/>
          <p:cNvSpPr/>
          <p:nvPr/>
        </p:nvSpPr>
        <p:spPr>
          <a:xfrm>
            <a:off x="1417320" y="2743200"/>
            <a:ext cx="10180015" cy="548640"/>
          </a:xfrm>
          <a:prstGeom prst="rect">
            <a:avLst/>
          </a:prstGeom>
          <a:noFill/>
          <a:ln/>
        </p:spPr>
        <p:txBody>
          <a:bodyPr wrap="square" lIns="0" tIns="0" rIns="0" bIns="0" rtlCol="0" anchor="ctr"/>
          <a:lstStyle/>
          <a:p>
            <a:pPr marL="0" indent="0" algn="l">
              <a:buNone/>
            </a:pPr>
            <a:r>
              <a:rPr lang="en-US" sz="1800" dirty="0">
                <a:solidFill>
                  <a:srgbClr val="FFFFFF"/>
                </a:solidFill>
                <a:latin typeface="Arial" pitchFamily="34" charset="0"/>
                <a:ea typeface="Arial" pitchFamily="34" charset="-122"/>
                <a:cs typeface="Arial" pitchFamily="34" charset="-120"/>
              </a:rPr>
              <a:t>Add the Tailwind IntelliSense + Prettier class-sorter plugins</a:t>
            </a:r>
            <a:endParaRPr lang="en-US" sz="1800" dirty="0"/>
          </a:p>
        </p:txBody>
      </p:sp>
      <p:sp>
        <p:nvSpPr>
          <p:cNvPr id="10" name="Shape 8"/>
          <p:cNvSpPr/>
          <p:nvPr/>
        </p:nvSpPr>
        <p:spPr>
          <a:xfrm>
            <a:off x="594360" y="3520440"/>
            <a:ext cx="548640" cy="548640"/>
          </a:xfrm>
          <a:prstGeom prst="ellipse">
            <a:avLst/>
          </a:prstGeom>
          <a:solidFill>
            <a:srgbClr val="75DFBC"/>
          </a:solidFill>
          <a:ln/>
        </p:spPr>
        <p:txBody>
          <a:bodyPr/>
          <a:lstStyle/>
          <a:p>
            <a:endParaRPr lang="en-US"/>
          </a:p>
        </p:txBody>
      </p:sp>
      <p:sp>
        <p:nvSpPr>
          <p:cNvPr id="11" name="Text 9"/>
          <p:cNvSpPr/>
          <p:nvPr/>
        </p:nvSpPr>
        <p:spPr>
          <a:xfrm>
            <a:off x="594360" y="3520440"/>
            <a:ext cx="548640" cy="548640"/>
          </a:xfrm>
          <a:prstGeom prst="rect">
            <a:avLst/>
          </a:prstGeom>
          <a:noFill/>
          <a:ln/>
        </p:spPr>
        <p:txBody>
          <a:bodyPr wrap="square" lIns="0" tIns="0" rIns="0" bIns="0" rtlCol="0" anchor="ctr"/>
          <a:lstStyle/>
          <a:p>
            <a:pPr marL="0" indent="0" algn="ctr">
              <a:buNone/>
            </a:pPr>
            <a:r>
              <a:rPr lang="en-US" sz="2600" b="1" dirty="0">
                <a:solidFill>
                  <a:srgbClr val="222121"/>
                </a:solidFill>
                <a:latin typeface="Arial" pitchFamily="34" charset="0"/>
                <a:ea typeface="Arial" pitchFamily="34" charset="-122"/>
                <a:cs typeface="Arial" pitchFamily="34" charset="-120"/>
              </a:rPr>
              <a:t>3</a:t>
            </a:r>
            <a:endParaRPr lang="en-US" sz="2600" dirty="0"/>
          </a:p>
        </p:txBody>
      </p:sp>
      <p:sp>
        <p:nvSpPr>
          <p:cNvPr id="12" name="Text 10"/>
          <p:cNvSpPr/>
          <p:nvPr/>
        </p:nvSpPr>
        <p:spPr>
          <a:xfrm>
            <a:off x="1417320" y="3520440"/>
            <a:ext cx="10180015" cy="548640"/>
          </a:xfrm>
          <a:prstGeom prst="rect">
            <a:avLst/>
          </a:prstGeom>
          <a:noFill/>
          <a:ln/>
        </p:spPr>
        <p:txBody>
          <a:bodyPr wrap="square" lIns="0" tIns="0" rIns="0" bIns="0" rtlCol="0" anchor="ctr"/>
          <a:lstStyle/>
          <a:p>
            <a:pPr marL="0" indent="0" algn="l">
              <a:buNone/>
            </a:pPr>
            <a:r>
              <a:rPr lang="en-US" sz="1800" dirty="0">
                <a:solidFill>
                  <a:srgbClr val="FFFFFF"/>
                </a:solidFill>
                <a:latin typeface="Arial" pitchFamily="34" charset="0"/>
                <a:ea typeface="Arial" pitchFamily="34" charset="-122"/>
                <a:cs typeface="Arial" pitchFamily="34" charset="-120"/>
              </a:rPr>
              <a:t>Adopt cn() + cva for anything with variants</a:t>
            </a:r>
            <a:endParaRPr lang="en-US" sz="1800" dirty="0"/>
          </a:p>
        </p:txBody>
      </p:sp>
      <p:sp>
        <p:nvSpPr>
          <p:cNvPr id="13" name="Shape 11"/>
          <p:cNvSpPr/>
          <p:nvPr/>
        </p:nvSpPr>
        <p:spPr>
          <a:xfrm>
            <a:off x="594360" y="4297680"/>
            <a:ext cx="548640" cy="548640"/>
          </a:xfrm>
          <a:prstGeom prst="ellipse">
            <a:avLst/>
          </a:prstGeom>
          <a:solidFill>
            <a:srgbClr val="F1CF25"/>
          </a:solidFill>
          <a:ln/>
        </p:spPr>
        <p:txBody>
          <a:bodyPr/>
          <a:lstStyle/>
          <a:p>
            <a:endParaRPr lang="en-US"/>
          </a:p>
        </p:txBody>
      </p:sp>
      <p:sp>
        <p:nvSpPr>
          <p:cNvPr id="14" name="Text 12"/>
          <p:cNvSpPr/>
          <p:nvPr/>
        </p:nvSpPr>
        <p:spPr>
          <a:xfrm>
            <a:off x="594360" y="4297680"/>
            <a:ext cx="548640" cy="548640"/>
          </a:xfrm>
          <a:prstGeom prst="rect">
            <a:avLst/>
          </a:prstGeom>
          <a:noFill/>
          <a:ln/>
        </p:spPr>
        <p:txBody>
          <a:bodyPr wrap="square" lIns="0" tIns="0" rIns="0" bIns="0" rtlCol="0" anchor="ctr"/>
          <a:lstStyle/>
          <a:p>
            <a:pPr marL="0" indent="0" algn="ctr">
              <a:buNone/>
            </a:pPr>
            <a:r>
              <a:rPr lang="en-US" sz="2600" b="1" dirty="0">
                <a:solidFill>
                  <a:srgbClr val="222121"/>
                </a:solidFill>
                <a:latin typeface="Arial" pitchFamily="34" charset="0"/>
                <a:ea typeface="Arial" pitchFamily="34" charset="-122"/>
                <a:cs typeface="Arial" pitchFamily="34" charset="-120"/>
              </a:rPr>
              <a:t>4</a:t>
            </a:r>
            <a:endParaRPr lang="en-US" sz="2600" dirty="0"/>
          </a:p>
        </p:txBody>
      </p:sp>
      <p:sp>
        <p:nvSpPr>
          <p:cNvPr id="15" name="Text 13"/>
          <p:cNvSpPr/>
          <p:nvPr/>
        </p:nvSpPr>
        <p:spPr>
          <a:xfrm>
            <a:off x="1417320" y="4297680"/>
            <a:ext cx="10180015" cy="548640"/>
          </a:xfrm>
          <a:prstGeom prst="rect">
            <a:avLst/>
          </a:prstGeom>
          <a:noFill/>
          <a:ln/>
        </p:spPr>
        <p:txBody>
          <a:bodyPr wrap="square" lIns="0" tIns="0" rIns="0" bIns="0" rtlCol="0" anchor="ctr"/>
          <a:lstStyle/>
          <a:p>
            <a:pPr marL="0" indent="0" algn="l">
              <a:buNone/>
            </a:pPr>
            <a:r>
              <a:rPr lang="en-US" sz="1800" dirty="0">
                <a:solidFill>
                  <a:srgbClr val="FFFFFF"/>
                </a:solidFill>
                <a:latin typeface="Arial" pitchFamily="34" charset="0"/>
                <a:ea typeface="Arial" pitchFamily="34" charset="-122"/>
                <a:cs typeface="Arial" pitchFamily="34" charset="-120"/>
              </a:rPr>
              <a:t>Steal shamelessly from shadcn/ui</a:t>
            </a:r>
            <a:endParaRPr lang="en-US" sz="1800" dirty="0"/>
          </a:p>
        </p:txBody>
      </p:sp>
      <p:sp>
        <p:nvSpPr>
          <p:cNvPr id="16" name="Shape 14"/>
          <p:cNvSpPr/>
          <p:nvPr/>
        </p:nvSpPr>
        <p:spPr>
          <a:xfrm>
            <a:off x="594360" y="5074920"/>
            <a:ext cx="548640" cy="548640"/>
          </a:xfrm>
          <a:prstGeom prst="ellipse">
            <a:avLst/>
          </a:prstGeom>
          <a:solidFill>
            <a:srgbClr val="75DFBC"/>
          </a:solidFill>
          <a:ln/>
        </p:spPr>
        <p:txBody>
          <a:bodyPr/>
          <a:lstStyle/>
          <a:p>
            <a:endParaRPr lang="en-US"/>
          </a:p>
        </p:txBody>
      </p:sp>
      <p:sp>
        <p:nvSpPr>
          <p:cNvPr id="17" name="Text 15"/>
          <p:cNvSpPr/>
          <p:nvPr/>
        </p:nvSpPr>
        <p:spPr>
          <a:xfrm>
            <a:off x="594360" y="5074920"/>
            <a:ext cx="548640" cy="548640"/>
          </a:xfrm>
          <a:prstGeom prst="rect">
            <a:avLst/>
          </a:prstGeom>
          <a:noFill/>
          <a:ln/>
        </p:spPr>
        <p:txBody>
          <a:bodyPr wrap="square" lIns="0" tIns="0" rIns="0" bIns="0" rtlCol="0" anchor="ctr"/>
          <a:lstStyle/>
          <a:p>
            <a:pPr marL="0" indent="0" algn="ctr">
              <a:buNone/>
            </a:pPr>
            <a:r>
              <a:rPr lang="en-US" sz="2600" b="1" dirty="0">
                <a:solidFill>
                  <a:srgbClr val="222121"/>
                </a:solidFill>
                <a:latin typeface="Arial" pitchFamily="34" charset="0"/>
                <a:ea typeface="Arial" pitchFamily="34" charset="-122"/>
                <a:cs typeface="Arial" pitchFamily="34" charset="-120"/>
              </a:rPr>
              <a:t>5</a:t>
            </a:r>
            <a:endParaRPr lang="en-US" sz="2600" dirty="0"/>
          </a:p>
        </p:txBody>
      </p:sp>
      <p:sp>
        <p:nvSpPr>
          <p:cNvPr id="18" name="Text 16"/>
          <p:cNvSpPr/>
          <p:nvPr/>
        </p:nvSpPr>
        <p:spPr>
          <a:xfrm>
            <a:off x="1417320" y="5074920"/>
            <a:ext cx="10180015" cy="548640"/>
          </a:xfrm>
          <a:prstGeom prst="rect">
            <a:avLst/>
          </a:prstGeom>
          <a:noFill/>
          <a:ln/>
        </p:spPr>
        <p:txBody>
          <a:bodyPr wrap="square" lIns="0" tIns="0" rIns="0" bIns="0" rtlCol="0" anchor="ctr"/>
          <a:lstStyle/>
          <a:p>
            <a:pPr marL="0" indent="0" algn="l">
              <a:buNone/>
            </a:pPr>
            <a:r>
              <a:rPr lang="en-US" sz="1800" dirty="0">
                <a:solidFill>
                  <a:srgbClr val="FFFFFF"/>
                </a:solidFill>
                <a:latin typeface="Arial" pitchFamily="34" charset="0"/>
                <a:ea typeface="Arial" pitchFamily="34" charset="-122"/>
                <a:cs typeface="Arial" pitchFamily="34" charset="-120"/>
              </a:rPr>
              <a:t>Let the LLM speed compound. Measure PR velocity.</a:t>
            </a:r>
            <a:endParaRPr lang="en-US" sz="1800" dirty="0"/>
          </a:p>
        </p:txBody>
      </p:sp>
      <p:sp>
        <p:nvSpPr>
          <p:cNvPr id="19" name="Text 17"/>
          <p:cNvSpPr/>
          <p:nvPr/>
        </p:nvSpPr>
        <p:spPr>
          <a:xfrm>
            <a:off x="594360" y="6419088"/>
            <a:ext cx="8229600" cy="274320"/>
          </a:xfrm>
          <a:prstGeom prst="rect">
            <a:avLst/>
          </a:prstGeom>
          <a:noFill/>
          <a:ln/>
        </p:spPr>
        <p:txBody>
          <a:bodyPr wrap="square" lIns="0" tIns="0" rIns="0" bIns="0" rtlCol="0" anchor="ctr"/>
          <a:lstStyle/>
          <a:p>
            <a:pPr marL="0" indent="0" algn="l">
              <a:buNone/>
            </a:pPr>
            <a:r>
              <a:rPr lang="en-US" sz="900" dirty="0">
                <a:solidFill>
                  <a:srgbClr val="6E6E6E"/>
                </a:solidFill>
                <a:latin typeface="Arial" pitchFamily="34" charset="0"/>
                <a:ea typeface="Arial" pitchFamily="34" charset="-122"/>
                <a:cs typeface="Arial" pitchFamily="34" charset="-120"/>
              </a:rPr>
              <a:t>Why LLMs &amp; JS frameworks love Tailwind CSS</a:t>
            </a:r>
            <a:endParaRPr lang="en-US" sz="900" dirty="0"/>
          </a:p>
        </p:txBody>
      </p:sp>
      <p:sp>
        <p:nvSpPr>
          <p:cNvPr id="20" name="Text 18"/>
          <p:cNvSpPr/>
          <p:nvPr/>
        </p:nvSpPr>
        <p:spPr>
          <a:xfrm>
            <a:off x="10134295" y="6419088"/>
            <a:ext cx="1463040" cy="274320"/>
          </a:xfrm>
          <a:prstGeom prst="rect">
            <a:avLst/>
          </a:prstGeom>
          <a:noFill/>
          <a:ln/>
        </p:spPr>
        <p:txBody>
          <a:bodyPr wrap="square" lIns="0" tIns="0" rIns="0" bIns="0" rtlCol="0" anchor="ctr"/>
          <a:lstStyle/>
          <a:p>
            <a:pPr marL="0" indent="0" algn="r">
              <a:buNone/>
            </a:pPr>
            <a:r>
              <a:rPr lang="en-US" sz="900" dirty="0">
                <a:solidFill>
                  <a:srgbClr val="6E6E6E"/>
                </a:solidFill>
                <a:latin typeface="Arial" pitchFamily="34" charset="0"/>
                <a:ea typeface="Arial" pitchFamily="34" charset="-122"/>
                <a:cs typeface="Arial" pitchFamily="34" charset="-120"/>
              </a:rPr>
              <a:t>26 / 29</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222121"/>
        </a:solidFill>
        <a:effectLst/>
      </p:bgPr>
    </p:bg>
    <p:spTree>
      <p:nvGrpSpPr>
        <p:cNvPr id="1" name=""/>
        <p:cNvGrpSpPr/>
        <p:nvPr/>
      </p:nvGrpSpPr>
      <p:grpSpPr>
        <a:xfrm>
          <a:off x="0" y="0"/>
          <a:ext cx="0" cy="0"/>
          <a:chOff x="0" y="0"/>
          <a:chExt cx="0" cy="0"/>
        </a:xfrm>
      </p:grpSpPr>
      <p:sp>
        <p:nvSpPr>
          <p:cNvPr id="2" name="Text 0"/>
          <p:cNvSpPr/>
          <p:nvPr/>
        </p:nvSpPr>
        <p:spPr>
          <a:xfrm>
            <a:off x="594360" y="502920"/>
            <a:ext cx="11002975" cy="274320"/>
          </a:xfrm>
          <a:prstGeom prst="rect">
            <a:avLst/>
          </a:prstGeom>
          <a:noFill/>
          <a:ln/>
        </p:spPr>
        <p:txBody>
          <a:bodyPr wrap="square" lIns="0" tIns="0" rIns="0" bIns="0" rtlCol="0" anchor="ctr"/>
          <a:lstStyle/>
          <a:p>
            <a:pPr marL="0" indent="0" algn="l">
              <a:buNone/>
            </a:pPr>
            <a:r>
              <a:rPr lang="en-US" sz="1200" b="1" kern="0" spc="300" dirty="0">
                <a:solidFill>
                  <a:srgbClr val="75DFBC"/>
                </a:solidFill>
                <a:latin typeface="Arial" pitchFamily="34" charset="0"/>
                <a:ea typeface="Arial" pitchFamily="34" charset="-122"/>
                <a:cs typeface="Arial" pitchFamily="34" charset="-120"/>
              </a:rPr>
              <a:t>TAKEAWAYS</a:t>
            </a:r>
            <a:endParaRPr lang="en-US" sz="1200" dirty="0"/>
          </a:p>
        </p:txBody>
      </p:sp>
      <p:sp>
        <p:nvSpPr>
          <p:cNvPr id="3" name="Text 1"/>
          <p:cNvSpPr/>
          <p:nvPr/>
        </p:nvSpPr>
        <p:spPr>
          <a:xfrm>
            <a:off x="594360" y="868680"/>
            <a:ext cx="11002975" cy="1005840"/>
          </a:xfrm>
          <a:prstGeom prst="rect">
            <a:avLst/>
          </a:prstGeom>
          <a:noFill/>
          <a:ln/>
        </p:spPr>
        <p:txBody>
          <a:bodyPr wrap="square" lIns="0" tIns="0" rIns="0" bIns="0" rtlCol="0" anchor="t"/>
          <a:lstStyle/>
          <a:p>
            <a:pPr marL="0" indent="0" algn="l">
              <a:lnSpc>
                <a:spcPct val="102000"/>
              </a:lnSpc>
              <a:buNone/>
            </a:pPr>
            <a:r>
              <a:rPr lang="en-US" sz="3400" b="1" dirty="0">
                <a:solidFill>
                  <a:srgbClr val="FFFFFF"/>
                </a:solidFill>
                <a:latin typeface="Arial" pitchFamily="34" charset="0"/>
                <a:ea typeface="Arial" pitchFamily="34" charset="-122"/>
                <a:cs typeface="Arial" pitchFamily="34" charset="-120"/>
              </a:rPr>
              <a:t>What to remember</a:t>
            </a:r>
            <a:endParaRPr lang="en-US" sz="3400" dirty="0"/>
          </a:p>
        </p:txBody>
      </p:sp>
      <p:sp>
        <p:nvSpPr>
          <p:cNvPr id="4" name="Shape 2"/>
          <p:cNvSpPr/>
          <p:nvPr/>
        </p:nvSpPr>
        <p:spPr>
          <a:xfrm>
            <a:off x="594360" y="2011680"/>
            <a:ext cx="603504" cy="603504"/>
          </a:xfrm>
          <a:prstGeom prst="ellipse">
            <a:avLst/>
          </a:prstGeom>
          <a:solidFill>
            <a:srgbClr val="75DFBC"/>
          </a:solidFill>
          <a:ln/>
        </p:spPr>
        <p:txBody>
          <a:bodyPr/>
          <a:lstStyle/>
          <a:p>
            <a:endParaRPr lang="en-US"/>
          </a:p>
        </p:txBody>
      </p:sp>
      <p:sp>
        <p:nvSpPr>
          <p:cNvPr id="5" name="Text 3"/>
          <p:cNvSpPr/>
          <p:nvPr/>
        </p:nvSpPr>
        <p:spPr>
          <a:xfrm>
            <a:off x="594360" y="2011680"/>
            <a:ext cx="603504" cy="603504"/>
          </a:xfrm>
          <a:prstGeom prst="rect">
            <a:avLst/>
          </a:prstGeom>
          <a:noFill/>
          <a:ln/>
        </p:spPr>
        <p:txBody>
          <a:bodyPr wrap="square" lIns="0" tIns="0" rIns="0" bIns="0" rtlCol="0" anchor="ctr"/>
          <a:lstStyle/>
          <a:p>
            <a:pPr marL="0" indent="0" algn="ctr">
              <a:buNone/>
            </a:pPr>
            <a:r>
              <a:rPr lang="en-US" sz="2600" b="1" dirty="0">
                <a:solidFill>
                  <a:srgbClr val="222121"/>
                </a:solidFill>
                <a:latin typeface="Arial" pitchFamily="34" charset="0"/>
                <a:ea typeface="Arial" pitchFamily="34" charset="-122"/>
                <a:cs typeface="Arial" pitchFamily="34" charset="-120"/>
              </a:rPr>
              <a:t>1</a:t>
            </a:r>
            <a:endParaRPr lang="en-US" sz="2600" dirty="0"/>
          </a:p>
        </p:txBody>
      </p:sp>
      <p:sp>
        <p:nvSpPr>
          <p:cNvPr id="6" name="Text 4"/>
          <p:cNvSpPr/>
          <p:nvPr/>
        </p:nvSpPr>
        <p:spPr>
          <a:xfrm>
            <a:off x="1508760" y="2011680"/>
            <a:ext cx="10088575" cy="822960"/>
          </a:xfrm>
          <a:prstGeom prst="rect">
            <a:avLst/>
          </a:prstGeom>
          <a:noFill/>
          <a:ln/>
        </p:spPr>
        <p:txBody>
          <a:bodyPr wrap="square" lIns="0" tIns="0" rIns="0" bIns="0" rtlCol="0" anchor="ctr"/>
          <a:lstStyle/>
          <a:p>
            <a:pPr marL="0" indent="0" algn="l">
              <a:lnSpc>
                <a:spcPct val="103000"/>
              </a:lnSpc>
              <a:buNone/>
            </a:pPr>
            <a:r>
              <a:rPr lang="en-US" sz="1900" b="1" dirty="0">
                <a:solidFill>
                  <a:srgbClr val="FFFFFF"/>
                </a:solidFill>
                <a:latin typeface="Arial" pitchFamily="34" charset="0"/>
                <a:ea typeface="Arial" pitchFamily="34" charset="-122"/>
                <a:cs typeface="Arial" pitchFamily="34" charset="-120"/>
              </a:rPr>
              <a:t>The friction was locality</a:t>
            </a:r>
            <a:endParaRPr lang="en-US" sz="1900" dirty="0"/>
          </a:p>
        </p:txBody>
      </p:sp>
      <p:sp>
        <p:nvSpPr>
          <p:cNvPr id="7" name="Shape 5"/>
          <p:cNvSpPr/>
          <p:nvPr/>
        </p:nvSpPr>
        <p:spPr>
          <a:xfrm>
            <a:off x="594360" y="2926080"/>
            <a:ext cx="603504" cy="603504"/>
          </a:xfrm>
          <a:prstGeom prst="ellipse">
            <a:avLst/>
          </a:prstGeom>
          <a:solidFill>
            <a:srgbClr val="F1CF25"/>
          </a:solidFill>
          <a:ln/>
        </p:spPr>
        <p:txBody>
          <a:bodyPr/>
          <a:lstStyle/>
          <a:p>
            <a:endParaRPr lang="en-US"/>
          </a:p>
        </p:txBody>
      </p:sp>
      <p:sp>
        <p:nvSpPr>
          <p:cNvPr id="8" name="Text 6"/>
          <p:cNvSpPr/>
          <p:nvPr/>
        </p:nvSpPr>
        <p:spPr>
          <a:xfrm>
            <a:off x="594360" y="2926080"/>
            <a:ext cx="603504" cy="603504"/>
          </a:xfrm>
          <a:prstGeom prst="rect">
            <a:avLst/>
          </a:prstGeom>
          <a:noFill/>
          <a:ln/>
        </p:spPr>
        <p:txBody>
          <a:bodyPr wrap="square" lIns="0" tIns="0" rIns="0" bIns="0" rtlCol="0" anchor="ctr"/>
          <a:lstStyle/>
          <a:p>
            <a:pPr marL="0" indent="0" algn="ctr">
              <a:buNone/>
            </a:pPr>
            <a:r>
              <a:rPr lang="en-US" sz="2600" b="1" dirty="0">
                <a:solidFill>
                  <a:srgbClr val="222121"/>
                </a:solidFill>
                <a:latin typeface="Arial" pitchFamily="34" charset="0"/>
                <a:ea typeface="Arial" pitchFamily="34" charset="-122"/>
                <a:cs typeface="Arial" pitchFamily="34" charset="-120"/>
              </a:rPr>
              <a:t>2</a:t>
            </a:r>
            <a:endParaRPr lang="en-US" sz="2600" dirty="0"/>
          </a:p>
        </p:txBody>
      </p:sp>
      <p:sp>
        <p:nvSpPr>
          <p:cNvPr id="9" name="Text 7"/>
          <p:cNvSpPr/>
          <p:nvPr/>
        </p:nvSpPr>
        <p:spPr>
          <a:xfrm>
            <a:off x="1508760" y="2926080"/>
            <a:ext cx="10088575" cy="822960"/>
          </a:xfrm>
          <a:prstGeom prst="rect">
            <a:avLst/>
          </a:prstGeom>
          <a:noFill/>
          <a:ln/>
        </p:spPr>
        <p:txBody>
          <a:bodyPr wrap="square" lIns="0" tIns="0" rIns="0" bIns="0" rtlCol="0" anchor="ctr"/>
          <a:lstStyle/>
          <a:p>
            <a:pPr marL="0" indent="0" algn="l">
              <a:lnSpc>
                <a:spcPct val="103000"/>
              </a:lnSpc>
              <a:buNone/>
            </a:pPr>
            <a:r>
              <a:rPr lang="en-US" sz="1900" b="1" dirty="0">
                <a:solidFill>
                  <a:srgbClr val="FFFFFF"/>
                </a:solidFill>
                <a:latin typeface="Arial" pitchFamily="34" charset="0"/>
                <a:ea typeface="Arial" pitchFamily="34" charset="-122"/>
                <a:cs typeface="Arial" pitchFamily="34" charset="-120"/>
              </a:rPr>
              <a:t>LLMs love Tailwind: co-located, closed-vocabulary, deterministic, everywhere in training</a:t>
            </a:r>
            <a:endParaRPr lang="en-US" sz="1900" dirty="0"/>
          </a:p>
        </p:txBody>
      </p:sp>
      <p:sp>
        <p:nvSpPr>
          <p:cNvPr id="10" name="Shape 8"/>
          <p:cNvSpPr/>
          <p:nvPr/>
        </p:nvSpPr>
        <p:spPr>
          <a:xfrm>
            <a:off x="594360" y="3840480"/>
            <a:ext cx="603504" cy="603504"/>
          </a:xfrm>
          <a:prstGeom prst="ellipse">
            <a:avLst/>
          </a:prstGeom>
          <a:solidFill>
            <a:srgbClr val="FF6A4C"/>
          </a:solidFill>
          <a:ln/>
        </p:spPr>
        <p:txBody>
          <a:bodyPr/>
          <a:lstStyle/>
          <a:p>
            <a:endParaRPr lang="en-US"/>
          </a:p>
        </p:txBody>
      </p:sp>
      <p:sp>
        <p:nvSpPr>
          <p:cNvPr id="11" name="Text 9"/>
          <p:cNvSpPr/>
          <p:nvPr/>
        </p:nvSpPr>
        <p:spPr>
          <a:xfrm>
            <a:off x="594360" y="3840480"/>
            <a:ext cx="603504" cy="603504"/>
          </a:xfrm>
          <a:prstGeom prst="rect">
            <a:avLst/>
          </a:prstGeom>
          <a:noFill/>
          <a:ln/>
        </p:spPr>
        <p:txBody>
          <a:bodyPr wrap="square" lIns="0" tIns="0" rIns="0" bIns="0" rtlCol="0" anchor="ctr"/>
          <a:lstStyle/>
          <a:p>
            <a:pPr marL="0" indent="0" algn="ctr">
              <a:buNone/>
            </a:pPr>
            <a:r>
              <a:rPr lang="en-US" sz="2600" b="1" dirty="0">
                <a:solidFill>
                  <a:srgbClr val="222121"/>
                </a:solidFill>
                <a:latin typeface="Arial" pitchFamily="34" charset="0"/>
                <a:ea typeface="Arial" pitchFamily="34" charset="-122"/>
                <a:cs typeface="Arial" pitchFamily="34" charset="-120"/>
              </a:rPr>
              <a:t>3</a:t>
            </a:r>
            <a:endParaRPr lang="en-US" sz="2600" dirty="0"/>
          </a:p>
        </p:txBody>
      </p:sp>
      <p:sp>
        <p:nvSpPr>
          <p:cNvPr id="12" name="Text 10"/>
          <p:cNvSpPr/>
          <p:nvPr/>
        </p:nvSpPr>
        <p:spPr>
          <a:xfrm>
            <a:off x="1508760" y="3840480"/>
            <a:ext cx="10088575" cy="822960"/>
          </a:xfrm>
          <a:prstGeom prst="rect">
            <a:avLst/>
          </a:prstGeom>
          <a:noFill/>
          <a:ln/>
        </p:spPr>
        <p:txBody>
          <a:bodyPr wrap="square" lIns="0" tIns="0" rIns="0" bIns="0" rtlCol="0" anchor="ctr"/>
          <a:lstStyle/>
          <a:p>
            <a:pPr marL="0" indent="0" algn="l">
              <a:lnSpc>
                <a:spcPct val="103000"/>
              </a:lnSpc>
              <a:buNone/>
            </a:pPr>
            <a:r>
              <a:rPr lang="en-US" sz="1900" b="1" dirty="0">
                <a:solidFill>
                  <a:srgbClr val="FFFFFF"/>
                </a:solidFill>
                <a:latin typeface="Arial" pitchFamily="34" charset="0"/>
                <a:ea typeface="Arial" pitchFamily="34" charset="-122"/>
                <a:cs typeface="Arial" pitchFamily="34" charset="-120"/>
              </a:rPr>
              <a:t>Components, utilities, and TS types: locality at three layers</a:t>
            </a:r>
            <a:endParaRPr lang="en-US" sz="1900" dirty="0"/>
          </a:p>
        </p:txBody>
      </p:sp>
      <p:sp>
        <p:nvSpPr>
          <p:cNvPr id="13" name="Shape 11"/>
          <p:cNvSpPr/>
          <p:nvPr/>
        </p:nvSpPr>
        <p:spPr>
          <a:xfrm>
            <a:off x="594360" y="4754880"/>
            <a:ext cx="603504" cy="603504"/>
          </a:xfrm>
          <a:prstGeom prst="ellipse">
            <a:avLst/>
          </a:prstGeom>
          <a:solidFill>
            <a:srgbClr val="75DFBC"/>
          </a:solidFill>
          <a:ln/>
        </p:spPr>
        <p:txBody>
          <a:bodyPr/>
          <a:lstStyle/>
          <a:p>
            <a:endParaRPr lang="en-US"/>
          </a:p>
        </p:txBody>
      </p:sp>
      <p:sp>
        <p:nvSpPr>
          <p:cNvPr id="14" name="Text 12"/>
          <p:cNvSpPr/>
          <p:nvPr/>
        </p:nvSpPr>
        <p:spPr>
          <a:xfrm>
            <a:off x="594360" y="4754880"/>
            <a:ext cx="603504" cy="603504"/>
          </a:xfrm>
          <a:prstGeom prst="rect">
            <a:avLst/>
          </a:prstGeom>
          <a:noFill/>
          <a:ln/>
        </p:spPr>
        <p:txBody>
          <a:bodyPr wrap="square" lIns="0" tIns="0" rIns="0" bIns="0" rtlCol="0" anchor="ctr"/>
          <a:lstStyle/>
          <a:p>
            <a:pPr marL="0" indent="0" algn="ctr">
              <a:buNone/>
            </a:pPr>
            <a:r>
              <a:rPr lang="en-US" sz="2600" b="1" dirty="0">
                <a:solidFill>
                  <a:srgbClr val="222121"/>
                </a:solidFill>
                <a:latin typeface="Arial" pitchFamily="34" charset="0"/>
                <a:ea typeface="Arial" pitchFamily="34" charset="-122"/>
                <a:cs typeface="Arial" pitchFamily="34" charset="-120"/>
              </a:rPr>
              <a:t>4</a:t>
            </a:r>
            <a:endParaRPr lang="en-US" sz="2600" dirty="0"/>
          </a:p>
        </p:txBody>
      </p:sp>
      <p:sp>
        <p:nvSpPr>
          <p:cNvPr id="15" name="Text 13"/>
          <p:cNvSpPr/>
          <p:nvPr/>
        </p:nvSpPr>
        <p:spPr>
          <a:xfrm>
            <a:off x="1508760" y="4754880"/>
            <a:ext cx="10088575" cy="822960"/>
          </a:xfrm>
          <a:prstGeom prst="rect">
            <a:avLst/>
          </a:prstGeom>
          <a:noFill/>
          <a:ln/>
        </p:spPr>
        <p:txBody>
          <a:bodyPr wrap="square" lIns="0" tIns="0" rIns="0" bIns="0" rtlCol="0" anchor="ctr"/>
          <a:lstStyle/>
          <a:p>
            <a:pPr marL="0" indent="0" algn="l">
              <a:lnSpc>
                <a:spcPct val="103000"/>
              </a:lnSpc>
              <a:buNone/>
            </a:pPr>
            <a:r>
              <a:rPr lang="en-US" sz="1900" b="1" dirty="0">
                <a:solidFill>
                  <a:srgbClr val="FFFFFF"/>
                </a:solidFill>
                <a:latin typeface="Arial" pitchFamily="34" charset="0"/>
                <a:ea typeface="Arial" pitchFamily="34" charset="-122"/>
                <a:cs typeface="Arial" pitchFamily="34" charset="-120"/>
              </a:rPr>
              <a:t>The machines already voted. Now you have the ammunition.</a:t>
            </a:r>
            <a:endParaRPr lang="en-US" sz="1900" dirty="0"/>
          </a:p>
        </p:txBody>
      </p:sp>
      <p:sp>
        <p:nvSpPr>
          <p:cNvPr id="16" name="Text 14"/>
          <p:cNvSpPr/>
          <p:nvPr/>
        </p:nvSpPr>
        <p:spPr>
          <a:xfrm>
            <a:off x="594360" y="6419088"/>
            <a:ext cx="8229600" cy="274320"/>
          </a:xfrm>
          <a:prstGeom prst="rect">
            <a:avLst/>
          </a:prstGeom>
          <a:noFill/>
          <a:ln/>
        </p:spPr>
        <p:txBody>
          <a:bodyPr wrap="square" lIns="0" tIns="0" rIns="0" bIns="0" rtlCol="0" anchor="ctr"/>
          <a:lstStyle/>
          <a:p>
            <a:pPr marL="0" indent="0" algn="l">
              <a:buNone/>
            </a:pPr>
            <a:r>
              <a:rPr lang="en-US" sz="900" dirty="0">
                <a:solidFill>
                  <a:srgbClr val="6E6E6E"/>
                </a:solidFill>
                <a:latin typeface="Arial" pitchFamily="34" charset="0"/>
                <a:ea typeface="Arial" pitchFamily="34" charset="-122"/>
                <a:cs typeface="Arial" pitchFamily="34" charset="-120"/>
              </a:rPr>
              <a:t>Why LLMs &amp; JS frameworks love Tailwind CSS</a:t>
            </a:r>
            <a:endParaRPr lang="en-US" sz="900" dirty="0"/>
          </a:p>
        </p:txBody>
      </p:sp>
      <p:sp>
        <p:nvSpPr>
          <p:cNvPr id="17" name="Text 15"/>
          <p:cNvSpPr/>
          <p:nvPr/>
        </p:nvSpPr>
        <p:spPr>
          <a:xfrm>
            <a:off x="10134295" y="6419088"/>
            <a:ext cx="1463040" cy="274320"/>
          </a:xfrm>
          <a:prstGeom prst="rect">
            <a:avLst/>
          </a:prstGeom>
          <a:noFill/>
          <a:ln/>
        </p:spPr>
        <p:txBody>
          <a:bodyPr wrap="square" lIns="0" tIns="0" rIns="0" bIns="0" rtlCol="0" anchor="ctr"/>
          <a:lstStyle/>
          <a:p>
            <a:pPr marL="0" indent="0" algn="r">
              <a:buNone/>
            </a:pPr>
            <a:r>
              <a:rPr lang="en-US" sz="900" dirty="0">
                <a:solidFill>
                  <a:srgbClr val="6E6E6E"/>
                </a:solidFill>
                <a:latin typeface="Arial" pitchFamily="34" charset="0"/>
                <a:ea typeface="Arial" pitchFamily="34" charset="-122"/>
                <a:cs typeface="Arial" pitchFamily="34" charset="-120"/>
              </a:rPr>
              <a:t>27 / 29</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222121"/>
        </a:solidFill>
        <a:effectLst/>
      </p:bgPr>
    </p:bg>
    <p:spTree>
      <p:nvGrpSpPr>
        <p:cNvPr id="1" name=""/>
        <p:cNvGrpSpPr/>
        <p:nvPr/>
      </p:nvGrpSpPr>
      <p:grpSpPr>
        <a:xfrm>
          <a:off x="0" y="0"/>
          <a:ext cx="0" cy="0"/>
          <a:chOff x="0" y="0"/>
          <a:chExt cx="0" cy="0"/>
        </a:xfrm>
      </p:grpSpPr>
      <p:sp>
        <p:nvSpPr>
          <p:cNvPr id="2" name="Text 0"/>
          <p:cNvSpPr/>
          <p:nvPr/>
        </p:nvSpPr>
        <p:spPr>
          <a:xfrm>
            <a:off x="594360" y="502920"/>
            <a:ext cx="11002975" cy="274320"/>
          </a:xfrm>
          <a:prstGeom prst="rect">
            <a:avLst/>
          </a:prstGeom>
          <a:noFill/>
          <a:ln/>
        </p:spPr>
        <p:txBody>
          <a:bodyPr wrap="square" lIns="0" tIns="0" rIns="0" bIns="0" rtlCol="0" anchor="ctr"/>
          <a:lstStyle/>
          <a:p>
            <a:pPr marL="0" indent="0" algn="l">
              <a:buNone/>
            </a:pPr>
            <a:r>
              <a:rPr lang="en-US" sz="1200" b="1" kern="0" spc="300" dirty="0">
                <a:solidFill>
                  <a:srgbClr val="75DFBC"/>
                </a:solidFill>
                <a:latin typeface="Arial" pitchFamily="34" charset="0"/>
                <a:ea typeface="Arial" pitchFamily="34" charset="-122"/>
                <a:cs typeface="Arial" pitchFamily="34" charset="-120"/>
              </a:rPr>
              <a:t>GO DEEPER</a:t>
            </a:r>
            <a:endParaRPr lang="en-US" sz="1200" dirty="0"/>
          </a:p>
        </p:txBody>
      </p:sp>
      <p:sp>
        <p:nvSpPr>
          <p:cNvPr id="3" name="Text 1"/>
          <p:cNvSpPr/>
          <p:nvPr/>
        </p:nvSpPr>
        <p:spPr>
          <a:xfrm>
            <a:off x="594360" y="868680"/>
            <a:ext cx="11002975" cy="1005840"/>
          </a:xfrm>
          <a:prstGeom prst="rect">
            <a:avLst/>
          </a:prstGeom>
          <a:noFill/>
          <a:ln/>
        </p:spPr>
        <p:txBody>
          <a:bodyPr wrap="square" lIns="0" tIns="0" rIns="0" bIns="0" rtlCol="0" anchor="t"/>
          <a:lstStyle/>
          <a:p>
            <a:pPr marL="0" indent="0" algn="l">
              <a:lnSpc>
                <a:spcPct val="102000"/>
              </a:lnSpc>
              <a:buNone/>
            </a:pPr>
            <a:r>
              <a:rPr lang="en-US" sz="3400" b="1" dirty="0">
                <a:solidFill>
                  <a:srgbClr val="FFFFFF"/>
                </a:solidFill>
                <a:latin typeface="Arial" pitchFamily="34" charset="0"/>
                <a:ea typeface="Arial" pitchFamily="34" charset="-122"/>
                <a:cs typeface="Arial" pitchFamily="34" charset="-120"/>
              </a:rPr>
              <a:t>Resources</a:t>
            </a:r>
            <a:endParaRPr lang="en-US" sz="3400" dirty="0"/>
          </a:p>
        </p:txBody>
      </p:sp>
      <p:sp>
        <p:nvSpPr>
          <p:cNvPr id="4" name="Shape 2"/>
          <p:cNvSpPr/>
          <p:nvPr/>
        </p:nvSpPr>
        <p:spPr>
          <a:xfrm>
            <a:off x="592332" y="2148840"/>
            <a:ext cx="118872" cy="118872"/>
          </a:xfrm>
          <a:prstGeom prst="rect">
            <a:avLst/>
          </a:prstGeom>
          <a:solidFill>
            <a:srgbClr val="75DFBC"/>
          </a:solidFill>
          <a:ln/>
        </p:spPr>
        <p:txBody>
          <a:bodyPr/>
          <a:lstStyle/>
          <a:p>
            <a:endParaRPr lang="en-US" sz="2400"/>
          </a:p>
        </p:txBody>
      </p:sp>
      <p:sp>
        <p:nvSpPr>
          <p:cNvPr id="5" name="Text 3"/>
          <p:cNvSpPr/>
          <p:nvPr/>
        </p:nvSpPr>
        <p:spPr>
          <a:xfrm>
            <a:off x="886968" y="2011680"/>
            <a:ext cx="5044288" cy="365760"/>
          </a:xfrm>
          <a:prstGeom prst="rect">
            <a:avLst/>
          </a:prstGeom>
          <a:noFill/>
          <a:ln/>
        </p:spPr>
        <p:txBody>
          <a:bodyPr wrap="square" lIns="0" tIns="0" rIns="0" bIns="0" rtlCol="0" anchor="ctr"/>
          <a:lstStyle/>
          <a:p>
            <a:pPr marL="0" indent="0" algn="l">
              <a:buNone/>
            </a:pPr>
            <a:r>
              <a:rPr lang="en-US" b="1" dirty="0">
                <a:solidFill>
                  <a:srgbClr val="75DFBC"/>
                </a:solidFill>
                <a:latin typeface="Courier New" pitchFamily="34" charset="0"/>
                <a:ea typeface="Courier New" pitchFamily="34" charset="-122"/>
                <a:cs typeface="Courier New" pitchFamily="34" charset="-120"/>
              </a:rPr>
              <a:t>tailwindcss.com</a:t>
            </a:r>
            <a:endParaRPr lang="en-US" dirty="0"/>
          </a:p>
        </p:txBody>
      </p:sp>
      <p:sp>
        <p:nvSpPr>
          <p:cNvPr id="6" name="Text 4"/>
          <p:cNvSpPr/>
          <p:nvPr/>
        </p:nvSpPr>
        <p:spPr>
          <a:xfrm>
            <a:off x="886968" y="2395728"/>
            <a:ext cx="5044288" cy="365760"/>
          </a:xfrm>
          <a:prstGeom prst="rect">
            <a:avLst/>
          </a:prstGeom>
          <a:noFill/>
          <a:ln/>
        </p:spPr>
        <p:txBody>
          <a:bodyPr wrap="square" lIns="0" tIns="0" rIns="0" bIns="0" rtlCol="0" anchor="ctr"/>
          <a:lstStyle/>
          <a:p>
            <a:pPr marL="0" indent="0" algn="l">
              <a:buNone/>
            </a:pPr>
            <a:r>
              <a:rPr lang="en-US" dirty="0">
                <a:solidFill>
                  <a:srgbClr val="A6A6A6"/>
                </a:solidFill>
                <a:latin typeface="Arial" pitchFamily="34" charset="0"/>
                <a:ea typeface="Arial" pitchFamily="34" charset="-122"/>
                <a:cs typeface="Arial" pitchFamily="34" charset="-120"/>
              </a:rPr>
              <a:t>docs + the JIT engine</a:t>
            </a:r>
            <a:endParaRPr lang="en-US" dirty="0"/>
          </a:p>
        </p:txBody>
      </p:sp>
      <p:sp>
        <p:nvSpPr>
          <p:cNvPr id="7" name="Shape 5"/>
          <p:cNvSpPr/>
          <p:nvPr/>
        </p:nvSpPr>
        <p:spPr>
          <a:xfrm>
            <a:off x="6278728" y="2057400"/>
            <a:ext cx="118872" cy="118872"/>
          </a:xfrm>
          <a:prstGeom prst="rect">
            <a:avLst/>
          </a:prstGeom>
          <a:solidFill>
            <a:srgbClr val="F1CF25"/>
          </a:solidFill>
          <a:ln/>
        </p:spPr>
        <p:txBody>
          <a:bodyPr/>
          <a:lstStyle/>
          <a:p>
            <a:endParaRPr lang="en-US" sz="2400"/>
          </a:p>
        </p:txBody>
      </p:sp>
      <p:sp>
        <p:nvSpPr>
          <p:cNvPr id="8" name="Text 6"/>
          <p:cNvSpPr/>
          <p:nvPr/>
        </p:nvSpPr>
        <p:spPr>
          <a:xfrm>
            <a:off x="6571336" y="2011680"/>
            <a:ext cx="5044288" cy="365760"/>
          </a:xfrm>
          <a:prstGeom prst="rect">
            <a:avLst/>
          </a:prstGeom>
          <a:noFill/>
          <a:ln/>
        </p:spPr>
        <p:txBody>
          <a:bodyPr wrap="square" lIns="0" tIns="0" rIns="0" bIns="0" rtlCol="0" anchor="ctr"/>
          <a:lstStyle/>
          <a:p>
            <a:pPr marL="0" indent="0" algn="l">
              <a:buNone/>
            </a:pPr>
            <a:r>
              <a:rPr lang="en-US" b="1" dirty="0">
                <a:solidFill>
                  <a:srgbClr val="75DFBC"/>
                </a:solidFill>
                <a:latin typeface="Courier New" pitchFamily="34" charset="0"/>
                <a:ea typeface="Courier New" pitchFamily="34" charset="-122"/>
                <a:cs typeface="Courier New" pitchFamily="34" charset="-120"/>
              </a:rPr>
              <a:t>ui.shadcn.com</a:t>
            </a:r>
            <a:endParaRPr lang="en-US" dirty="0"/>
          </a:p>
        </p:txBody>
      </p:sp>
      <p:sp>
        <p:nvSpPr>
          <p:cNvPr id="9" name="Text 7"/>
          <p:cNvSpPr/>
          <p:nvPr/>
        </p:nvSpPr>
        <p:spPr>
          <a:xfrm>
            <a:off x="6571336" y="2395728"/>
            <a:ext cx="5044288" cy="365760"/>
          </a:xfrm>
          <a:prstGeom prst="rect">
            <a:avLst/>
          </a:prstGeom>
          <a:noFill/>
          <a:ln/>
        </p:spPr>
        <p:txBody>
          <a:bodyPr wrap="square" lIns="0" tIns="0" rIns="0" bIns="0" rtlCol="0" anchor="ctr"/>
          <a:lstStyle/>
          <a:p>
            <a:pPr marL="0" indent="0" algn="l">
              <a:buNone/>
            </a:pPr>
            <a:r>
              <a:rPr lang="en-US" dirty="0">
                <a:solidFill>
                  <a:srgbClr val="A6A6A6"/>
                </a:solidFill>
                <a:latin typeface="Arial" pitchFamily="34" charset="0"/>
                <a:ea typeface="Arial" pitchFamily="34" charset="-122"/>
                <a:cs typeface="Arial" pitchFamily="34" charset="-120"/>
              </a:rPr>
              <a:t>the copy-paste component standard</a:t>
            </a:r>
            <a:endParaRPr lang="en-US" dirty="0"/>
          </a:p>
        </p:txBody>
      </p:sp>
      <p:sp>
        <p:nvSpPr>
          <p:cNvPr id="10" name="Shape 8"/>
          <p:cNvSpPr/>
          <p:nvPr/>
        </p:nvSpPr>
        <p:spPr>
          <a:xfrm>
            <a:off x="582907" y="3232404"/>
            <a:ext cx="118872" cy="118872"/>
          </a:xfrm>
          <a:prstGeom prst="rect">
            <a:avLst/>
          </a:prstGeom>
          <a:solidFill>
            <a:srgbClr val="75DFBC"/>
          </a:solidFill>
          <a:ln/>
        </p:spPr>
        <p:txBody>
          <a:bodyPr/>
          <a:lstStyle/>
          <a:p>
            <a:endParaRPr lang="en-US" sz="2400"/>
          </a:p>
        </p:txBody>
      </p:sp>
      <p:sp>
        <p:nvSpPr>
          <p:cNvPr id="11" name="Text 9"/>
          <p:cNvSpPr/>
          <p:nvPr/>
        </p:nvSpPr>
        <p:spPr>
          <a:xfrm>
            <a:off x="886968" y="3108960"/>
            <a:ext cx="5044288" cy="365760"/>
          </a:xfrm>
          <a:prstGeom prst="rect">
            <a:avLst/>
          </a:prstGeom>
          <a:noFill/>
          <a:ln/>
        </p:spPr>
        <p:txBody>
          <a:bodyPr wrap="square" lIns="0" tIns="0" rIns="0" bIns="0" rtlCol="0" anchor="ctr"/>
          <a:lstStyle/>
          <a:p>
            <a:pPr marL="0" indent="0" algn="l">
              <a:buNone/>
            </a:pPr>
            <a:r>
              <a:rPr lang="en-US" b="1" dirty="0">
                <a:solidFill>
                  <a:srgbClr val="75DFBC"/>
                </a:solidFill>
                <a:latin typeface="Courier New" pitchFamily="34" charset="0"/>
                <a:ea typeface="Courier New" pitchFamily="34" charset="-122"/>
                <a:cs typeface="Courier New" pitchFamily="34" charset="-120"/>
              </a:rPr>
              <a:t>cva.style</a:t>
            </a:r>
            <a:endParaRPr lang="en-US" dirty="0"/>
          </a:p>
        </p:txBody>
      </p:sp>
      <p:sp>
        <p:nvSpPr>
          <p:cNvPr id="12" name="Text 10"/>
          <p:cNvSpPr/>
          <p:nvPr/>
        </p:nvSpPr>
        <p:spPr>
          <a:xfrm>
            <a:off x="886968" y="3493008"/>
            <a:ext cx="5044288" cy="365760"/>
          </a:xfrm>
          <a:prstGeom prst="rect">
            <a:avLst/>
          </a:prstGeom>
          <a:noFill/>
          <a:ln/>
        </p:spPr>
        <p:txBody>
          <a:bodyPr wrap="square" lIns="0" tIns="0" rIns="0" bIns="0" rtlCol="0" anchor="ctr"/>
          <a:lstStyle/>
          <a:p>
            <a:pPr marL="0" indent="0" algn="l">
              <a:buNone/>
            </a:pPr>
            <a:r>
              <a:rPr lang="en-US" dirty="0">
                <a:solidFill>
                  <a:srgbClr val="A6A6A6"/>
                </a:solidFill>
                <a:latin typeface="Arial" pitchFamily="34" charset="0"/>
                <a:ea typeface="Arial" pitchFamily="34" charset="-122"/>
                <a:cs typeface="Arial" pitchFamily="34" charset="-120"/>
              </a:rPr>
              <a:t>class-variance-authority</a:t>
            </a:r>
            <a:endParaRPr lang="en-US" dirty="0"/>
          </a:p>
        </p:txBody>
      </p:sp>
      <p:sp>
        <p:nvSpPr>
          <p:cNvPr id="13" name="Shape 11"/>
          <p:cNvSpPr/>
          <p:nvPr/>
        </p:nvSpPr>
        <p:spPr>
          <a:xfrm>
            <a:off x="6278728" y="3154680"/>
            <a:ext cx="118872" cy="118872"/>
          </a:xfrm>
          <a:prstGeom prst="rect">
            <a:avLst/>
          </a:prstGeom>
          <a:solidFill>
            <a:srgbClr val="F1CF25"/>
          </a:solidFill>
          <a:ln/>
        </p:spPr>
        <p:txBody>
          <a:bodyPr/>
          <a:lstStyle/>
          <a:p>
            <a:endParaRPr lang="en-US" sz="2400"/>
          </a:p>
        </p:txBody>
      </p:sp>
      <p:sp>
        <p:nvSpPr>
          <p:cNvPr id="14" name="Text 12"/>
          <p:cNvSpPr/>
          <p:nvPr/>
        </p:nvSpPr>
        <p:spPr>
          <a:xfrm>
            <a:off x="6571336" y="3108960"/>
            <a:ext cx="5044288" cy="365760"/>
          </a:xfrm>
          <a:prstGeom prst="rect">
            <a:avLst/>
          </a:prstGeom>
          <a:noFill/>
          <a:ln/>
        </p:spPr>
        <p:txBody>
          <a:bodyPr wrap="square" lIns="0" tIns="0" rIns="0" bIns="0" rtlCol="0" anchor="ctr"/>
          <a:lstStyle/>
          <a:p>
            <a:pPr marL="0" indent="0" algn="l">
              <a:buNone/>
            </a:pPr>
            <a:r>
              <a:rPr lang="en-US" b="1" dirty="0">
                <a:solidFill>
                  <a:srgbClr val="75DFBC"/>
                </a:solidFill>
                <a:latin typeface="Courier New" pitchFamily="34" charset="0"/>
                <a:ea typeface="Courier New" pitchFamily="34" charset="-122"/>
                <a:cs typeface="Courier New" pitchFamily="34" charset="-120"/>
              </a:rPr>
              <a:t>github.com/dcastil/tailwind-merge</a:t>
            </a:r>
            <a:endParaRPr lang="en-US" dirty="0"/>
          </a:p>
        </p:txBody>
      </p:sp>
      <p:sp>
        <p:nvSpPr>
          <p:cNvPr id="15" name="Text 13"/>
          <p:cNvSpPr/>
          <p:nvPr/>
        </p:nvSpPr>
        <p:spPr>
          <a:xfrm>
            <a:off x="6571336" y="3493008"/>
            <a:ext cx="5044288" cy="365760"/>
          </a:xfrm>
          <a:prstGeom prst="rect">
            <a:avLst/>
          </a:prstGeom>
          <a:noFill/>
          <a:ln/>
        </p:spPr>
        <p:txBody>
          <a:bodyPr wrap="square" lIns="0" tIns="0" rIns="0" bIns="0" rtlCol="0" anchor="ctr"/>
          <a:lstStyle/>
          <a:p>
            <a:pPr marL="0" indent="0" algn="l">
              <a:buNone/>
            </a:pPr>
            <a:r>
              <a:rPr lang="en-US" dirty="0">
                <a:solidFill>
                  <a:srgbClr val="A6A6A6"/>
                </a:solidFill>
                <a:latin typeface="Arial" pitchFamily="34" charset="0"/>
                <a:ea typeface="Arial" pitchFamily="34" charset="-122"/>
                <a:cs typeface="Arial" pitchFamily="34" charset="-120"/>
              </a:rPr>
              <a:t>conflict-safe class merging</a:t>
            </a:r>
            <a:endParaRPr lang="en-US" dirty="0"/>
          </a:p>
        </p:txBody>
      </p:sp>
      <p:sp>
        <p:nvSpPr>
          <p:cNvPr id="16" name="Shape 14"/>
          <p:cNvSpPr/>
          <p:nvPr/>
        </p:nvSpPr>
        <p:spPr>
          <a:xfrm>
            <a:off x="606304" y="4193177"/>
            <a:ext cx="118872" cy="118872"/>
          </a:xfrm>
          <a:prstGeom prst="rect">
            <a:avLst/>
          </a:prstGeom>
          <a:solidFill>
            <a:srgbClr val="75DFBC"/>
          </a:solidFill>
          <a:ln/>
        </p:spPr>
        <p:txBody>
          <a:bodyPr/>
          <a:lstStyle/>
          <a:p>
            <a:endParaRPr lang="en-US" sz="2400"/>
          </a:p>
        </p:txBody>
      </p:sp>
      <p:sp>
        <p:nvSpPr>
          <p:cNvPr id="17" name="Text 15"/>
          <p:cNvSpPr/>
          <p:nvPr/>
        </p:nvSpPr>
        <p:spPr>
          <a:xfrm>
            <a:off x="886968" y="4206240"/>
            <a:ext cx="5044288" cy="365760"/>
          </a:xfrm>
          <a:prstGeom prst="rect">
            <a:avLst/>
          </a:prstGeom>
          <a:noFill/>
          <a:ln/>
        </p:spPr>
        <p:txBody>
          <a:bodyPr wrap="square" lIns="0" tIns="0" rIns="0" bIns="0" rtlCol="0" anchor="ctr"/>
          <a:lstStyle/>
          <a:p>
            <a:pPr marL="0" indent="0" algn="l">
              <a:buNone/>
            </a:pPr>
            <a:r>
              <a:rPr lang="en-US" b="1" dirty="0">
                <a:solidFill>
                  <a:srgbClr val="75DFBC"/>
                </a:solidFill>
                <a:latin typeface="Courier New" pitchFamily="34" charset="0"/>
                <a:ea typeface="Courier New" pitchFamily="34" charset="-122"/>
                <a:cs typeface="Courier New" pitchFamily="34" charset="-120"/>
              </a:rPr>
              <a:t>htmx.org/essays/locality-of-behaviour</a:t>
            </a:r>
            <a:endParaRPr lang="en-US" dirty="0"/>
          </a:p>
        </p:txBody>
      </p:sp>
      <p:sp>
        <p:nvSpPr>
          <p:cNvPr id="18" name="Text 16"/>
          <p:cNvSpPr/>
          <p:nvPr/>
        </p:nvSpPr>
        <p:spPr>
          <a:xfrm>
            <a:off x="886968" y="4590288"/>
            <a:ext cx="5044288" cy="365760"/>
          </a:xfrm>
          <a:prstGeom prst="rect">
            <a:avLst/>
          </a:prstGeom>
          <a:noFill/>
          <a:ln/>
        </p:spPr>
        <p:txBody>
          <a:bodyPr wrap="square" lIns="0" tIns="0" rIns="0" bIns="0" rtlCol="0" anchor="ctr"/>
          <a:lstStyle/>
          <a:p>
            <a:pPr marL="0" indent="0" algn="l">
              <a:buNone/>
            </a:pPr>
            <a:r>
              <a:rPr lang="en-US" dirty="0">
                <a:solidFill>
                  <a:srgbClr val="A6A6A6"/>
                </a:solidFill>
                <a:latin typeface="Arial" pitchFamily="34" charset="0"/>
                <a:ea typeface="Arial" pitchFamily="34" charset="-122"/>
                <a:cs typeface="Arial" pitchFamily="34" charset="-120"/>
              </a:rPr>
              <a:t>the locality essay</a:t>
            </a:r>
            <a:endParaRPr lang="en-US" dirty="0"/>
          </a:p>
        </p:txBody>
      </p:sp>
      <p:sp>
        <p:nvSpPr>
          <p:cNvPr id="19" name="Shape 17"/>
          <p:cNvSpPr/>
          <p:nvPr/>
        </p:nvSpPr>
        <p:spPr>
          <a:xfrm>
            <a:off x="6278728" y="4251960"/>
            <a:ext cx="118872" cy="118872"/>
          </a:xfrm>
          <a:prstGeom prst="rect">
            <a:avLst/>
          </a:prstGeom>
          <a:solidFill>
            <a:srgbClr val="F1CF25"/>
          </a:solidFill>
          <a:ln/>
        </p:spPr>
        <p:txBody>
          <a:bodyPr/>
          <a:lstStyle/>
          <a:p>
            <a:endParaRPr lang="en-US" sz="2400"/>
          </a:p>
        </p:txBody>
      </p:sp>
      <p:sp>
        <p:nvSpPr>
          <p:cNvPr id="20" name="Text 18"/>
          <p:cNvSpPr/>
          <p:nvPr/>
        </p:nvSpPr>
        <p:spPr>
          <a:xfrm>
            <a:off x="6571336" y="4206240"/>
            <a:ext cx="5044288" cy="365760"/>
          </a:xfrm>
          <a:prstGeom prst="rect">
            <a:avLst/>
          </a:prstGeom>
          <a:noFill/>
          <a:ln/>
        </p:spPr>
        <p:txBody>
          <a:bodyPr wrap="square" lIns="0" tIns="0" rIns="0" bIns="0" rtlCol="0" anchor="ctr"/>
          <a:lstStyle/>
          <a:p>
            <a:pPr marL="0" indent="0" algn="l">
              <a:buNone/>
            </a:pPr>
            <a:r>
              <a:rPr lang="en-US" b="1" dirty="0">
                <a:solidFill>
                  <a:srgbClr val="75DFBC"/>
                </a:solidFill>
                <a:latin typeface="Courier New" pitchFamily="34" charset="0"/>
                <a:ea typeface="Courier New" pitchFamily="34" charset="-122"/>
                <a:cs typeface="Courier New" pitchFamily="34" charset="-120"/>
              </a:rPr>
              <a:t>v0.dev</a:t>
            </a:r>
            <a:endParaRPr lang="en-US" dirty="0"/>
          </a:p>
        </p:txBody>
      </p:sp>
      <p:sp>
        <p:nvSpPr>
          <p:cNvPr id="21" name="Text 19"/>
          <p:cNvSpPr/>
          <p:nvPr/>
        </p:nvSpPr>
        <p:spPr>
          <a:xfrm>
            <a:off x="6571336" y="4590288"/>
            <a:ext cx="5044288" cy="365760"/>
          </a:xfrm>
          <a:prstGeom prst="rect">
            <a:avLst/>
          </a:prstGeom>
          <a:noFill/>
          <a:ln/>
        </p:spPr>
        <p:txBody>
          <a:bodyPr wrap="square" lIns="0" tIns="0" rIns="0" bIns="0" rtlCol="0" anchor="ctr"/>
          <a:lstStyle/>
          <a:p>
            <a:pPr marL="0" indent="0" algn="l">
              <a:buNone/>
            </a:pPr>
            <a:r>
              <a:rPr lang="en-US" dirty="0">
                <a:solidFill>
                  <a:srgbClr val="A6A6A6"/>
                </a:solidFill>
                <a:latin typeface="Arial" pitchFamily="34" charset="0"/>
                <a:ea typeface="Arial" pitchFamily="34" charset="-122"/>
                <a:cs typeface="Arial" pitchFamily="34" charset="-120"/>
              </a:rPr>
              <a:t>see the machines vote, live</a:t>
            </a:r>
            <a:endParaRPr lang="en-US" dirty="0"/>
          </a:p>
        </p:txBody>
      </p:sp>
      <p:sp>
        <p:nvSpPr>
          <p:cNvPr id="22" name="Text 20"/>
          <p:cNvSpPr/>
          <p:nvPr/>
        </p:nvSpPr>
        <p:spPr>
          <a:xfrm>
            <a:off x="594360" y="6419088"/>
            <a:ext cx="8229600" cy="274320"/>
          </a:xfrm>
          <a:prstGeom prst="rect">
            <a:avLst/>
          </a:prstGeom>
          <a:noFill/>
          <a:ln/>
        </p:spPr>
        <p:txBody>
          <a:bodyPr wrap="square" lIns="0" tIns="0" rIns="0" bIns="0" rtlCol="0" anchor="ctr"/>
          <a:lstStyle/>
          <a:p>
            <a:pPr marL="0" indent="0" algn="l">
              <a:buNone/>
            </a:pPr>
            <a:r>
              <a:rPr lang="en-US" sz="900" dirty="0">
                <a:solidFill>
                  <a:srgbClr val="6E6E6E"/>
                </a:solidFill>
                <a:latin typeface="Arial" pitchFamily="34" charset="0"/>
                <a:ea typeface="Arial" pitchFamily="34" charset="-122"/>
                <a:cs typeface="Arial" pitchFamily="34" charset="-120"/>
              </a:rPr>
              <a:t>Why LLMs &amp; JS frameworks love Tailwind CSS</a:t>
            </a:r>
            <a:endParaRPr lang="en-US" sz="900" dirty="0"/>
          </a:p>
        </p:txBody>
      </p:sp>
      <p:sp>
        <p:nvSpPr>
          <p:cNvPr id="23" name="Text 21"/>
          <p:cNvSpPr/>
          <p:nvPr/>
        </p:nvSpPr>
        <p:spPr>
          <a:xfrm>
            <a:off x="10134295" y="6419088"/>
            <a:ext cx="1463040" cy="274320"/>
          </a:xfrm>
          <a:prstGeom prst="rect">
            <a:avLst/>
          </a:prstGeom>
          <a:noFill/>
          <a:ln/>
        </p:spPr>
        <p:txBody>
          <a:bodyPr wrap="square" lIns="0" tIns="0" rIns="0" bIns="0" rtlCol="0" anchor="ctr"/>
          <a:lstStyle/>
          <a:p>
            <a:pPr marL="0" indent="0" algn="r">
              <a:buNone/>
            </a:pPr>
            <a:r>
              <a:rPr lang="en-US" sz="900" dirty="0">
                <a:solidFill>
                  <a:srgbClr val="6E6E6E"/>
                </a:solidFill>
                <a:latin typeface="Arial" pitchFamily="34" charset="0"/>
                <a:ea typeface="Arial" pitchFamily="34" charset="-122"/>
                <a:cs typeface="Arial" pitchFamily="34" charset="-120"/>
              </a:rPr>
              <a:t>28 / 29</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222121"/>
        </a:solidFill>
        <a:effectLst/>
      </p:bgPr>
    </p:bg>
    <p:spTree>
      <p:nvGrpSpPr>
        <p:cNvPr id="1" name="">
          <a:extLst>
            <a:ext uri="{FF2B5EF4-FFF2-40B4-BE49-F238E27FC236}">
              <a16:creationId xmlns:a16="http://schemas.microsoft.com/office/drawing/2014/main" id="{91F1A212-8E57-6816-E45C-C202E54FFB15}"/>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FDFC6324-4D3C-F263-D3FB-B7304428462B}"/>
              </a:ext>
            </a:extLst>
          </p:cNvPr>
          <p:cNvSpPr txBox="1"/>
          <p:nvPr/>
        </p:nvSpPr>
        <p:spPr>
          <a:xfrm>
            <a:off x="1119674" y="2736502"/>
            <a:ext cx="10030408" cy="1384995"/>
          </a:xfrm>
          <a:prstGeom prst="rect">
            <a:avLst/>
          </a:prstGeom>
          <a:noFill/>
        </p:spPr>
        <p:txBody>
          <a:bodyPr wrap="square">
            <a:spAutoFit/>
          </a:bodyPr>
          <a:lstStyle/>
          <a:p>
            <a:r>
              <a:rPr lang="en-GB" sz="2800" dirty="0">
                <a:solidFill>
                  <a:schemeClr val="accent4">
                    <a:lumMod val="20000"/>
                    <a:lumOff val="80000"/>
                  </a:schemeClr>
                </a:solidFill>
              </a:rPr>
              <a:t>Knowledge atrophy </a:t>
            </a:r>
            <a:r>
              <a:rPr lang="en-GB" sz="2800" dirty="0">
                <a:solidFill>
                  <a:schemeClr val="accent4"/>
                </a:solidFill>
              </a:rPr>
              <a:t>is the gradual weakening of human thinking and problem-solving skills through overreliance on AI to do our mental work.</a:t>
            </a:r>
          </a:p>
        </p:txBody>
      </p:sp>
    </p:spTree>
    <p:extLst>
      <p:ext uri="{BB962C8B-B14F-4D97-AF65-F5344CB8AC3E}">
        <p14:creationId xmlns:p14="http://schemas.microsoft.com/office/powerpoint/2010/main" val="1771380820"/>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56B4D6A6-A061-9EE8-289A-08D42F3815C3}"/>
              </a:ext>
            </a:extLst>
          </p:cNvPr>
          <p:cNvSpPr txBox="1"/>
          <p:nvPr/>
        </p:nvSpPr>
        <p:spPr>
          <a:xfrm>
            <a:off x="1377244" y="3075057"/>
            <a:ext cx="4616071" cy="1938992"/>
          </a:xfrm>
          <a:prstGeom prst="rect">
            <a:avLst/>
          </a:prstGeom>
          <a:noFill/>
        </p:spPr>
        <p:txBody>
          <a:bodyPr wrap="square" rtlCol="0">
            <a:spAutoFit/>
          </a:bodyPr>
          <a:lstStyle/>
          <a:p>
            <a:pPr algn="ctr"/>
            <a:r>
              <a:rPr lang="en-US" sz="4000" dirty="0">
                <a:solidFill>
                  <a:schemeClr val="tx2">
                    <a:lumMod val="90000"/>
                    <a:lumOff val="10000"/>
                  </a:schemeClr>
                </a:solidFill>
              </a:rPr>
              <a:t>Thank you!</a:t>
            </a:r>
          </a:p>
          <a:p>
            <a:pPr algn="ctr"/>
            <a:endParaRPr lang="en-US" sz="4000" dirty="0">
              <a:solidFill>
                <a:schemeClr val="tx2">
                  <a:lumMod val="90000"/>
                  <a:lumOff val="10000"/>
                </a:schemeClr>
              </a:solidFill>
            </a:endParaRPr>
          </a:p>
          <a:p>
            <a:pPr algn="ctr"/>
            <a:r>
              <a:rPr lang="en-US" sz="4000" dirty="0">
                <a:solidFill>
                  <a:schemeClr val="tx2">
                    <a:lumMod val="90000"/>
                    <a:lumOff val="10000"/>
                  </a:schemeClr>
                </a:solidFill>
              </a:rPr>
              <a:t>@DevlinDuldulao</a:t>
            </a:r>
          </a:p>
        </p:txBody>
      </p:sp>
      <p:sp>
        <p:nvSpPr>
          <p:cNvPr id="4" name="TextBox 3">
            <a:extLst>
              <a:ext uri="{FF2B5EF4-FFF2-40B4-BE49-F238E27FC236}">
                <a16:creationId xmlns:a16="http://schemas.microsoft.com/office/drawing/2014/main" id="{5904F4B3-E994-6BEE-60A6-D12023533FAF}"/>
              </a:ext>
            </a:extLst>
          </p:cNvPr>
          <p:cNvSpPr txBox="1"/>
          <p:nvPr/>
        </p:nvSpPr>
        <p:spPr>
          <a:xfrm>
            <a:off x="8136190" y="5852011"/>
            <a:ext cx="1959428" cy="369332"/>
          </a:xfrm>
          <a:prstGeom prst="rect">
            <a:avLst/>
          </a:prstGeom>
          <a:noFill/>
        </p:spPr>
        <p:txBody>
          <a:bodyPr wrap="square" rtlCol="0">
            <a:spAutoFit/>
          </a:bodyPr>
          <a:lstStyle/>
          <a:p>
            <a:pPr algn="ctr"/>
            <a:r>
              <a:rPr lang="en-US" dirty="0">
                <a:solidFill>
                  <a:schemeClr val="tx2">
                    <a:lumMod val="90000"/>
                    <a:lumOff val="10000"/>
                  </a:schemeClr>
                </a:solidFill>
              </a:rPr>
              <a:t>Social Links</a:t>
            </a:r>
          </a:p>
        </p:txBody>
      </p:sp>
      <p:pic>
        <p:nvPicPr>
          <p:cNvPr id="6" name="Picture 5">
            <a:extLst>
              <a:ext uri="{FF2B5EF4-FFF2-40B4-BE49-F238E27FC236}">
                <a16:creationId xmlns:a16="http://schemas.microsoft.com/office/drawing/2014/main" id="{39B6EB2D-569B-CB31-99FE-EFA1309A340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677809" y="886733"/>
            <a:ext cx="4876190" cy="4876190"/>
          </a:xfrm>
          <a:prstGeom prst="rect">
            <a:avLst/>
          </a:prstGeom>
        </p:spPr>
      </p:pic>
    </p:spTree>
    <p:extLst>
      <p:ext uri="{BB962C8B-B14F-4D97-AF65-F5344CB8AC3E}">
        <p14:creationId xmlns:p14="http://schemas.microsoft.com/office/powerpoint/2010/main" val="21887558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6" presetClass="entr" presetSubtype="0" fill="hold" nodeType="clickEffect">
                                  <p:stCondLst>
                                    <p:cond delay="0"/>
                                  </p:stCondLst>
                                  <p:iterate type="lt">
                                    <p:tmPct val="10000"/>
                                  </p:iterate>
                                  <p:childTnLst>
                                    <p:set>
                                      <p:cBhvr>
                                        <p:cTn id="6" dur="1" fill="hold">
                                          <p:stCondLst>
                                            <p:cond delay="0"/>
                                          </p:stCondLst>
                                        </p:cTn>
                                        <p:tgtEl>
                                          <p:spTgt spid="3">
                                            <p:txEl>
                                              <p:pRg st="0" end="0"/>
                                            </p:txEl>
                                          </p:spTgt>
                                        </p:tgtEl>
                                        <p:attrNameLst>
                                          <p:attrName>style.visibility</p:attrName>
                                        </p:attrNameLst>
                                      </p:cBhvr>
                                      <p:to>
                                        <p:strVal val="visible"/>
                                      </p:to>
                                    </p:set>
                                    <p:anim by="(-#ppt_w*2)" calcmode="lin" valueType="num">
                                      <p:cBhvr rctx="PPT">
                                        <p:cTn id="7" dur="500" autoRev="1" fill="hold">
                                          <p:stCondLst>
                                            <p:cond delay="0"/>
                                          </p:stCondLst>
                                        </p:cTn>
                                        <p:tgtEl>
                                          <p:spTgt spid="3">
                                            <p:txEl>
                                              <p:pRg st="0" end="0"/>
                                            </p:txEl>
                                          </p:spTgt>
                                        </p:tgtEl>
                                        <p:attrNameLst>
                                          <p:attrName>ppt_w</p:attrName>
                                        </p:attrNameLst>
                                      </p:cBhvr>
                                    </p:anim>
                                    <p:anim by="(#ppt_w*0.50)" calcmode="lin" valueType="num">
                                      <p:cBhvr>
                                        <p:cTn id="8" dur="500" decel="50000" autoRev="1" fill="hold">
                                          <p:stCondLst>
                                            <p:cond delay="0"/>
                                          </p:stCondLst>
                                        </p:cTn>
                                        <p:tgtEl>
                                          <p:spTgt spid="3">
                                            <p:txEl>
                                              <p:pRg st="0" end="0"/>
                                            </p:txEl>
                                          </p:spTgt>
                                        </p:tgtEl>
                                        <p:attrNameLst>
                                          <p:attrName>ppt_x</p:attrName>
                                        </p:attrNameLst>
                                      </p:cBhvr>
                                    </p:anim>
                                    <p:anim from="(-#ppt_h/2)" to="(#ppt_y)" calcmode="lin" valueType="num">
                                      <p:cBhvr>
                                        <p:cTn id="9" dur="1000" fill="hold">
                                          <p:stCondLst>
                                            <p:cond delay="0"/>
                                          </p:stCondLst>
                                        </p:cTn>
                                        <p:tgtEl>
                                          <p:spTgt spid="3">
                                            <p:txEl>
                                              <p:pRg st="0" end="0"/>
                                            </p:txEl>
                                          </p:spTgt>
                                        </p:tgtEl>
                                        <p:attrNameLst>
                                          <p:attrName>ppt_y</p:attrName>
                                        </p:attrNameLst>
                                      </p:cBhvr>
                                    </p:anim>
                                    <p:animRot by="21600000">
                                      <p:cBhvr>
                                        <p:cTn id="10" dur="1000" fill="hold">
                                          <p:stCondLst>
                                            <p:cond delay="0"/>
                                          </p:stCondLst>
                                        </p:cTn>
                                        <p:tgtEl>
                                          <p:spTgt spid="3">
                                            <p:txEl>
                                              <p:pRg st="0" end="0"/>
                                            </p:txEl>
                                          </p:spTgt>
                                        </p:tgtEl>
                                        <p:attrNameLst>
                                          <p:attrName>r</p:attrName>
                                        </p:attrNameLst>
                                      </p:cBhvr>
                                    </p:animRot>
                                  </p:childTnLst>
                                </p:cTn>
                              </p:par>
                            </p:childTnLst>
                          </p:cTn>
                        </p:par>
                      </p:childTnLst>
                    </p:cTn>
                  </p:par>
                  <p:par>
                    <p:cTn id="11" fill="hold">
                      <p:stCondLst>
                        <p:cond delay="indefinite"/>
                      </p:stCondLst>
                      <p:childTnLst>
                        <p:par>
                          <p:cTn id="12" fill="hold">
                            <p:stCondLst>
                              <p:cond delay="0"/>
                            </p:stCondLst>
                            <p:childTnLst>
                              <p:par>
                                <p:cTn id="13" presetID="56" presetClass="entr" presetSubtype="0" fill="hold" nodeType="clickEffect">
                                  <p:stCondLst>
                                    <p:cond delay="0"/>
                                  </p:stCondLst>
                                  <p:iterate type="lt">
                                    <p:tmPct val="10000"/>
                                  </p:iterate>
                                  <p:childTnLst>
                                    <p:set>
                                      <p:cBhvr>
                                        <p:cTn id="14" dur="1" fill="hold">
                                          <p:stCondLst>
                                            <p:cond delay="0"/>
                                          </p:stCondLst>
                                        </p:cTn>
                                        <p:tgtEl>
                                          <p:spTgt spid="3">
                                            <p:txEl>
                                              <p:pRg st="2" end="2"/>
                                            </p:txEl>
                                          </p:spTgt>
                                        </p:tgtEl>
                                        <p:attrNameLst>
                                          <p:attrName>style.visibility</p:attrName>
                                        </p:attrNameLst>
                                      </p:cBhvr>
                                      <p:to>
                                        <p:strVal val="visible"/>
                                      </p:to>
                                    </p:set>
                                    <p:anim by="(-#ppt_w*2)" calcmode="lin" valueType="num">
                                      <p:cBhvr rctx="PPT">
                                        <p:cTn id="15" dur="500" autoRev="1" fill="hold">
                                          <p:stCondLst>
                                            <p:cond delay="0"/>
                                          </p:stCondLst>
                                        </p:cTn>
                                        <p:tgtEl>
                                          <p:spTgt spid="3">
                                            <p:txEl>
                                              <p:pRg st="2" end="2"/>
                                            </p:txEl>
                                          </p:spTgt>
                                        </p:tgtEl>
                                        <p:attrNameLst>
                                          <p:attrName>ppt_w</p:attrName>
                                        </p:attrNameLst>
                                      </p:cBhvr>
                                    </p:anim>
                                    <p:anim by="(#ppt_w*0.50)" calcmode="lin" valueType="num">
                                      <p:cBhvr>
                                        <p:cTn id="16" dur="500" decel="50000" autoRev="1" fill="hold">
                                          <p:stCondLst>
                                            <p:cond delay="0"/>
                                          </p:stCondLst>
                                        </p:cTn>
                                        <p:tgtEl>
                                          <p:spTgt spid="3">
                                            <p:txEl>
                                              <p:pRg st="2" end="2"/>
                                            </p:txEl>
                                          </p:spTgt>
                                        </p:tgtEl>
                                        <p:attrNameLst>
                                          <p:attrName>ppt_x</p:attrName>
                                        </p:attrNameLst>
                                      </p:cBhvr>
                                    </p:anim>
                                    <p:anim from="(-#ppt_h/2)" to="(#ppt_y)" calcmode="lin" valueType="num">
                                      <p:cBhvr>
                                        <p:cTn id="17" dur="1000" fill="hold">
                                          <p:stCondLst>
                                            <p:cond delay="0"/>
                                          </p:stCondLst>
                                        </p:cTn>
                                        <p:tgtEl>
                                          <p:spTgt spid="3">
                                            <p:txEl>
                                              <p:pRg st="2" end="2"/>
                                            </p:txEl>
                                          </p:spTgt>
                                        </p:tgtEl>
                                        <p:attrNameLst>
                                          <p:attrName>ppt_y</p:attrName>
                                        </p:attrNameLst>
                                      </p:cBhvr>
                                    </p:anim>
                                    <p:animRot by="21600000">
                                      <p:cBhvr>
                                        <p:cTn id="18" dur="1000" fill="hold">
                                          <p:stCondLst>
                                            <p:cond delay="0"/>
                                          </p:stCondLst>
                                        </p:cTn>
                                        <p:tgtEl>
                                          <p:spTgt spid="3">
                                            <p:txEl>
                                              <p:pRg st="2" end="2"/>
                                            </p:txEl>
                                          </p:spTgt>
                                        </p:tgtEl>
                                        <p:attrNameLst>
                                          <p:attrName>r</p:attrName>
                                        </p:attrNameLst>
                                      </p:cBhvr>
                                    </p:animRo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48141450-2387-4aca-b41f-19cd6be9dd3c}" enabled="1" method="Standard" siteId="{adf10e2b-b6e9-41d6-be2f-c12bb566019c}" contentBits="0" removed="0"/>
</clbl:labelList>
</file>

<file path=docProps/app.xml><?xml version="1.0" encoding="utf-8"?>
<Properties xmlns="http://schemas.openxmlformats.org/officeDocument/2006/extended-properties" xmlns:vt="http://schemas.openxmlformats.org/officeDocument/2006/docPropsVTypes">
  <TotalTime>98</TotalTime>
  <Words>6567</Words>
  <Application>Microsoft Office PowerPoint</Application>
  <PresentationFormat>Widescreen</PresentationFormat>
  <Paragraphs>493</Paragraphs>
  <Slides>30</Slides>
  <Notes>30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30</vt:i4>
      </vt:variant>
    </vt:vector>
  </HeadingPairs>
  <TitlesOfParts>
    <vt:vector size="35" baseType="lpstr">
      <vt:lpstr>Aptos</vt:lpstr>
      <vt:lpstr>Arial</vt:lpstr>
      <vt:lpstr>Cascadia Code</vt:lpstr>
      <vt:lpstr>Courier New</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Why LLMs &amp; JS frameworks love Tailwind CSS</dc:title>
  <dc:subject>PptxGenJS Presentation</dc:subject>
  <dc:creator>Devlin Duldulao</dc:creator>
  <cp:lastModifiedBy>Duldulao, Devlin (DNV External)</cp:lastModifiedBy>
  <cp:revision>21</cp:revision>
  <dcterms:created xsi:type="dcterms:W3CDTF">2026-07-14T15:54:22Z</dcterms:created>
  <dcterms:modified xsi:type="dcterms:W3CDTF">2026-08-23T07:27:16Z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178c0f71-65dc-41d1-a799-91080a268621_Enabled">
    <vt:lpwstr>true</vt:lpwstr>
  </property>
  <property fmtid="{D5CDD505-2E9C-101B-9397-08002B2CF9AE}" pid="3" name="MSIP_Label_178c0f71-65dc-41d1-a799-91080a268621_SetDate">
    <vt:lpwstr>2026-07-14T16:34:20Z</vt:lpwstr>
  </property>
  <property fmtid="{D5CDD505-2E9C-101B-9397-08002B2CF9AE}" pid="4" name="MSIP_Label_178c0f71-65dc-41d1-a799-91080a268621_Method">
    <vt:lpwstr>Standard</vt:lpwstr>
  </property>
  <property fmtid="{D5CDD505-2E9C-101B-9397-08002B2CF9AE}" pid="5" name="MSIP_Label_178c0f71-65dc-41d1-a799-91080a268621_Name">
    <vt:lpwstr>Internal - Crayon Group Only</vt:lpwstr>
  </property>
  <property fmtid="{D5CDD505-2E9C-101B-9397-08002B2CF9AE}" pid="6" name="MSIP_Label_178c0f71-65dc-41d1-a799-91080a268621_SiteId">
    <vt:lpwstr>8f47ad71-44ca-48bf-afe3-56b9360a4495</vt:lpwstr>
  </property>
  <property fmtid="{D5CDD505-2E9C-101B-9397-08002B2CF9AE}" pid="7" name="MSIP_Label_178c0f71-65dc-41d1-a799-91080a268621_ActionId">
    <vt:lpwstr>005b6897-af3e-4122-9270-827420e2aab7</vt:lpwstr>
  </property>
  <property fmtid="{D5CDD505-2E9C-101B-9397-08002B2CF9AE}" pid="8" name="MSIP_Label_178c0f71-65dc-41d1-a799-91080a268621_ContentBits">
    <vt:lpwstr>2</vt:lpwstr>
  </property>
  <property fmtid="{D5CDD505-2E9C-101B-9397-08002B2CF9AE}" pid="9" name="MSIP_Label_178c0f71-65dc-41d1-a799-91080a268621_Tag">
    <vt:lpwstr>50, 3, 0, 1</vt:lpwstr>
  </property>
  <property fmtid="{D5CDD505-2E9C-101B-9397-08002B2CF9AE}" pid="10" name="ClassificationContentMarkingFooterLocations">
    <vt:lpwstr>Office Theme:3</vt:lpwstr>
  </property>
  <property fmtid="{D5CDD505-2E9C-101B-9397-08002B2CF9AE}" pid="11" name="ClassificationContentMarkingFooterText">
    <vt:lpwstr>Internal Only</vt:lpwstr>
  </property>
  <property fmtid="{D5CDD505-2E9C-101B-9397-08002B2CF9AE}" pid="12" name="DocumentInfoFinished">
    <vt:lpwstr>True</vt:lpwstr>
  </property>
</Properties>
</file>
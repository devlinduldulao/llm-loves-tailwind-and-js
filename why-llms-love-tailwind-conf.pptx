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316" r:id="rId2"/>
    <p:sldId id="317" r:id="rId3"/>
    <p:sldId id="318" r:id="rId4"/>
    <p:sldId id="301" r:id="rId5"/>
    <p:sldId id="300" r:id="rId6"/>
    <p:sldId id="319" r:id="rId7"/>
    <p:sldId id="261" r:id="rId8"/>
    <p:sldId id="263" r:id="rId9"/>
    <p:sldId id="265" r:id="rId10"/>
    <p:sldId id="266" r:id="rId11"/>
    <p:sldId id="320" r:id="rId12"/>
    <p:sldId id="321" r:id="rId13"/>
    <p:sldId id="334" r:id="rId14"/>
    <p:sldId id="328" r:id="rId15"/>
    <p:sldId id="336" r:id="rId16"/>
    <p:sldId id="330" r:id="rId17"/>
    <p:sldId id="329" r:id="rId18"/>
    <p:sldId id="335" r:id="rId19"/>
    <p:sldId id="322" r:id="rId20"/>
    <p:sldId id="323" r:id="rId21"/>
    <p:sldId id="331" r:id="rId22"/>
    <p:sldId id="324" r:id="rId23"/>
    <p:sldId id="332" r:id="rId24"/>
    <p:sldId id="325" r:id="rId25"/>
    <p:sldId id="333" r:id="rId26"/>
    <p:sldId id="326" r:id="rId27"/>
    <p:sldId id="314" r:id="rId28"/>
    <p:sldId id="310" r:id="rId29"/>
    <p:sldId id="315"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60" autoAdjust="0"/>
    <p:restoredTop sz="67119" autoAdjust="0"/>
  </p:normalViewPr>
  <p:slideViewPr>
    <p:cSldViewPr snapToGrid="0" snapToObjects="1">
      <p:cViewPr varScale="1">
        <p:scale>
          <a:sx n="64" d="100"/>
          <a:sy n="64" d="100"/>
        </p:scale>
        <p:origin x="1301" y="5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a:p>
            <a:endParaRPr lang="en-GB" dirty="0"/>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a:p>
            <a:endParaRPr lang="en-GB"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endParaRPr lang="en-US" dirty="0"/>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26457331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6754506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a:t>
            </a:r>
          </a:p>
          <a:p>
            <a:endParaRPr lang="en-US" dirty="0"/>
          </a:p>
          <a:p>
            <a:r>
              <a:rPr lang="en-US" dirty="0"/>
              <a:t>the registry serves JSON definitions, </a:t>
            </a:r>
          </a:p>
          <a:p>
            <a:endParaRPr lang="en-US" dirty="0"/>
          </a:p>
          <a:p>
            <a:r>
              <a:rPr lang="en-US" dirty="0"/>
              <a:t>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t>
            </a:r>
          </a:p>
          <a:p>
            <a:endParaRPr lang="en-US" dirty="0"/>
          </a:p>
          <a:p>
            <a:r>
              <a:rPr lang="en-US" dirty="0"/>
              <a:t>and nothing links back afterward since the component never lands in </a:t>
            </a:r>
            <a:r>
              <a:rPr lang="en-US" sz="1200" kern="1200" dirty="0" err="1">
                <a:solidFill>
                  <a:schemeClr val="tx1"/>
                </a:solidFill>
                <a:latin typeface="+mn-lt"/>
                <a:ea typeface="+mn-ea"/>
                <a:cs typeface="+mn-cs"/>
              </a:rPr>
              <a:t>node_modules</a:t>
            </a:r>
            <a:r>
              <a:rPr lang="en-US" dirty="0"/>
              <a:t>. </a:t>
            </a:r>
          </a:p>
          <a:p>
            <a:endParaRPr lang="en-US" dirty="0"/>
          </a:p>
          <a:p>
            <a:r>
              <a:rPr lang="en-US" dirty="0"/>
              <a:t>The three boxes at the bottom are the layers inside each file. </a:t>
            </a:r>
          </a:p>
          <a:p>
            <a:endParaRPr lang="en-US" dirty="0"/>
          </a:p>
          <a:p>
            <a:r>
              <a:rPr lang="en-US" dirty="0"/>
              <a:t>Base UI handles keyboard, focus, and ARIA, </a:t>
            </a:r>
          </a:p>
          <a:p>
            <a:endParaRPr lang="en-US" dirty="0"/>
          </a:p>
          <a:p>
            <a:r>
              <a:rPr lang="en-US" dirty="0"/>
              <a:t>Tailwind carries every visual decision as editable classes, </a:t>
            </a:r>
          </a:p>
          <a:p>
            <a:endParaRPr lang="en-US" dirty="0"/>
          </a:p>
          <a:p>
            <a:r>
              <a:rPr lang="en-US" dirty="0"/>
              <a:t>and your theme tokens supply the values. That's why customizing means opening the file instead of overriding from outside. </a:t>
            </a:r>
          </a:p>
          <a:p>
            <a:endParaRPr lang="en-US" dirty="0"/>
          </a:p>
          <a:p>
            <a:r>
              <a:rPr lang="en-US" dirty="0"/>
              <a:t>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a:t>
            </a:r>
          </a:p>
          <a:p>
            <a:endParaRPr lang="en-US" dirty="0"/>
          </a:p>
          <a:p>
            <a:r>
              <a:rPr lang="en-US" dirty="0"/>
              <a:t>Row 4 is the separate win: Base UI supplies the keyboard, focus, and ARIA behavior that's genuinely hard to get right by hand.</a:t>
            </a:r>
          </a:p>
        </p:txBody>
      </p:sp>
    </p:spTree>
    <p:extLst>
      <p:ext uri="{BB962C8B-B14F-4D97-AF65-F5344CB8AC3E}">
        <p14:creationId xmlns:p14="http://schemas.microsoft.com/office/powerpoint/2010/main" val="11578531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7233014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t>
            </a:r>
          </a:p>
          <a:p>
            <a:pPr rtl="0"/>
            <a:endParaRPr lang="en-US" dirty="0"/>
          </a:p>
          <a:p>
            <a:pPr rtl="0"/>
            <a:r>
              <a:rPr lang="en-US" dirty="0"/>
              <a:t>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p>
          <a:p>
            <a:pPr rtl="0"/>
            <a:endParaRPr lang="en-US" dirty="0"/>
          </a:p>
          <a:p>
            <a:pPr rtl="0"/>
            <a:r>
              <a:rPr lang="en-US" dirty="0" err="1"/>
              <a:t>shadcn</a:t>
            </a:r>
            <a:r>
              <a:rPr lang="en-US" dirty="0"/>
              <a:t> passed 109,000 GitHub stars by March 2026, </a:t>
            </a:r>
          </a:p>
          <a:p>
            <a:pPr rtl="0"/>
            <a:endParaRPr lang="en-US" dirty="0"/>
          </a:p>
          <a:p>
            <a:pPr rtl="0"/>
            <a:r>
              <a:rPr lang="en-US" dirty="0"/>
              <a:t>Tailwind ranked first in State of CSS 2025 with 2,041 of roughly 2,863 framework-using respondents, and </a:t>
            </a:r>
            <a:r>
              <a:rPr lang="en-US" dirty="0" err="1"/>
              <a:t>shadcn</a:t>
            </a:r>
            <a:r>
              <a:rPr lang="en-US" dirty="0"/>
              <a:t> now ships official AI skills for agents. </a:t>
            </a:r>
          </a:p>
        </p:txBody>
      </p:sp>
    </p:spTree>
    <p:extLst>
      <p:ext uri="{BB962C8B-B14F-4D97-AF65-F5344CB8AC3E}">
        <p14:creationId xmlns:p14="http://schemas.microsoft.com/office/powerpoint/2010/main" val="223943998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9142551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TypeScript became GitHub's most-used language in August 2025 at 2,636,006 monthly contributors, up about 1.05 million year over year, which GitHub credits to typed languages being more reliable for agent-assisted coding and frameworks scaffolding TypeScript by default.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package hallucination rates across the 2026 frontier cohort were consistently lower for JavaScript than Python, 2.62% versus 6.63% for Claude Sonnet 4.6.</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807594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Four channels for the same ground truth, and they're not interchangeable.</a:t>
            </a:r>
          </a:p>
          <a:p>
            <a:pPr rtl="0"/>
            <a:endParaRPr lang="en-US" dirty="0"/>
          </a:p>
          <a:p>
            <a:pPr rtl="0"/>
            <a:r>
              <a:rPr lang="en-US" sz="1200" kern="1200" dirty="0">
                <a:solidFill>
                  <a:schemeClr val="tx1"/>
                </a:solidFill>
                <a:latin typeface="+mn-lt"/>
                <a:ea typeface="+mn-ea"/>
                <a:cs typeface="+mn-cs"/>
              </a:rPr>
              <a:t>AGENTS.md</a:t>
            </a:r>
            <a:r>
              <a:rPr lang="en-US" dirty="0"/>
              <a:t> holds facts that don't change — the pinned version, the import styles. </a:t>
            </a:r>
            <a:endParaRPr lang="en-US" baseline="0" dirty="0"/>
          </a:p>
          <a:p>
            <a:pPr rtl="0"/>
            <a:endParaRPr lang="en-US" baseline="0" dirty="0"/>
          </a:p>
          <a:p>
            <a:pPr rtl="0"/>
            <a:r>
              <a:rPr lang="en-US" dirty="0"/>
              <a:t>An MCP docs server fetching current docs on demand instead of a snapshot that goes stale. </a:t>
            </a:r>
          </a:p>
          <a:p>
            <a:pPr rtl="0"/>
            <a:endParaRPr lang="en-US" dirty="0"/>
          </a:p>
          <a:p>
            <a:pPr rtl="0"/>
            <a:r>
              <a:rPr lang="en-US" dirty="0"/>
              <a:t>A skill packages the procedures: which command, which flags, what to check. </a:t>
            </a:r>
          </a:p>
          <a:p>
            <a:pPr rtl="0"/>
            <a:endParaRPr lang="en-US" dirty="0"/>
          </a:p>
          <a:p>
            <a:pPr rtl="0"/>
            <a:r>
              <a:rPr lang="en-US" dirty="0"/>
              <a:t>Copying and pasting prompt context is gray because it dies with the chat, though it's still the fastest way to try something once.</a:t>
            </a:r>
          </a:p>
        </p:txBody>
      </p:sp>
    </p:spTree>
    <p:extLst>
      <p:ext uri="{BB962C8B-B14F-4D97-AF65-F5344CB8AC3E}">
        <p14:creationId xmlns:p14="http://schemas.microsoft.com/office/powerpoint/2010/main" val="133104093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Tree>
    <p:extLst>
      <p:ext uri="{BB962C8B-B14F-4D97-AF65-F5344CB8AC3E}">
        <p14:creationId xmlns:p14="http://schemas.microsoft.com/office/powerpoint/2010/main" val="3337599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models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481174" y="1901952"/>
            <a:ext cx="3730752" cy="292608"/>
          </a:xfrm>
          <a:prstGeom prst="rect">
            <a:avLst/>
          </a:prstGeom>
          <a:noFill/>
          <a:ln/>
        </p:spPr>
        <p:txBody>
          <a:bodyPr wrap="square" lIns="0" tIns="0" rIns="0" bIns="0" rtlCol="0" anchor="ctr"/>
          <a:lstStyle/>
          <a:p>
            <a:pPr marL="0" indent="0" algn="l">
              <a:buNone/>
            </a:pPr>
            <a:r>
              <a:rPr lang="en-US" dirty="0">
                <a:solidFill>
                  <a:schemeClr val="bg2">
                    <a:lumMod val="90000"/>
                  </a:schemeClr>
                </a:solidFill>
                <a:latin typeface="Courier New" pitchFamily="34" charset="0"/>
                <a:ea typeface="Courier New" pitchFamily="34" charset="-122"/>
                <a:cs typeface="Courier New" pitchFamily="34" charset="-120"/>
              </a:rPr>
              <a:t>styles.css</a:t>
            </a:r>
            <a:endParaRPr lang="en-US" dirty="0">
              <a:solidFill>
                <a:schemeClr val="bg2">
                  <a:lumMod val="90000"/>
                </a:schemeClr>
              </a:solidFill>
            </a:endParaRPr>
          </a:p>
        </p:txBody>
      </p:sp>
      <p:sp>
        <p:nvSpPr>
          <p:cNvPr id="16" name="Text 14"/>
          <p:cNvSpPr/>
          <p:nvPr/>
        </p:nvSpPr>
        <p:spPr>
          <a:xfrm>
            <a:off x="5927962" y="2377440"/>
            <a:ext cx="5721810" cy="3332696"/>
          </a:xfrm>
          <a:prstGeom prst="rect">
            <a:avLst/>
          </a:prstGeom>
          <a:noFill/>
          <a:ln/>
        </p:spPr>
        <p:txBody>
          <a:bodyPr wrap="square" lIns="0" tIns="0" rIns="0" bIns="0" rtlCol="0" anchor="t"/>
          <a:lstStyle/>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what does 'featured' even mean?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__header</a:t>
            </a:r>
            <a:r>
              <a:rPr lang="en-US" sz="2000" dirty="0">
                <a:solidFill>
                  <a:srgbClr val="FF6A4C"/>
                </a:solidFill>
                <a:latin typeface="Courier New" pitchFamily="34" charset="0"/>
                <a:ea typeface="Courier New" pitchFamily="34" charset="-122"/>
                <a:cs typeface="Courier New" pitchFamily="34" charset="-120"/>
              </a:rPr>
              <a:t>--featured</a:t>
            </a:r>
            <a:r>
              <a:rPr lang="en-US" sz="2000" dirty="0">
                <a:solidFill>
                  <a:srgbClr val="D8D8D8"/>
                </a:solidFill>
                <a:latin typeface="Courier New" pitchFamily="34" charset="0"/>
                <a:ea typeface="Courier New" pitchFamily="34" charset="-122"/>
                <a:cs typeface="Courier New" pitchFamily="34" charset="-120"/>
              </a:rPr>
              <a:t> {</a:t>
            </a:r>
            <a:endParaRPr lang="en-US" sz="2000" dirty="0"/>
          </a:p>
          <a:p>
            <a:pPr marL="0" indent="0" algn="l">
              <a:lnSpc>
                <a:spcPct val="115000"/>
              </a:lnSpc>
              <a:buNone/>
            </a:pPr>
            <a:r>
              <a:rPr lang="en-US" sz="2000" dirty="0">
                <a:solidFill>
                  <a:srgbClr val="9CDCFE"/>
                </a:solidFill>
                <a:latin typeface="Courier New" pitchFamily="34" charset="0"/>
                <a:ea typeface="Courier New" pitchFamily="34" charset="-122"/>
                <a:cs typeface="Courier New" pitchFamily="34" charset="-120"/>
              </a:rPr>
              <a:t>  border-color</a:t>
            </a:r>
            <a:r>
              <a:rPr lang="en-US" sz="2000" dirty="0">
                <a:solidFill>
                  <a:srgbClr val="D8D8D8"/>
                </a:solidFill>
                <a:latin typeface="Courier New" pitchFamily="34" charset="0"/>
                <a:ea typeface="Courier New" pitchFamily="34" charset="-122"/>
                <a:cs typeface="Courier New" pitchFamily="34" charset="-120"/>
              </a:rPr>
              <a:t>: </a:t>
            </a:r>
            <a:r>
              <a:rPr lang="en-US" sz="2000" dirty="0">
                <a:solidFill>
                  <a:srgbClr val="F1CF25"/>
                </a:solidFill>
                <a:latin typeface="Courier New" pitchFamily="34" charset="0"/>
                <a:ea typeface="Courier New" pitchFamily="34" charset="-122"/>
                <a:cs typeface="Courier New" pitchFamily="34" charset="-120"/>
              </a:rPr>
              <a:t>#75dfbc;</a:t>
            </a:r>
            <a:endParaRPr lang="en-US" sz="2000" dirty="0"/>
          </a:p>
          <a:p>
            <a:pPr marL="0" indent="0" algn="l">
              <a:lnSpc>
                <a:spcPct val="115000"/>
              </a:lnSpc>
              <a:buNone/>
            </a:pPr>
            <a:r>
              <a:rPr lang="en-US" sz="2000" dirty="0">
                <a:solidFill>
                  <a:srgbClr val="D8D8D8"/>
                </a:solidFill>
                <a:latin typeface="Courier New" pitchFamily="34" charset="0"/>
                <a:ea typeface="Courier New" pitchFamily="34" charset="-122"/>
                <a:cs typeface="Courier New" pitchFamily="34" charset="-120"/>
              </a:rPr>
              <a:t>}</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__cta</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__badge</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endParaRPr lang="en-US" sz="3000" dirty="0">
              <a:solidFill>
                <a:schemeClr val="bg2">
                  <a:lumMod val="25000"/>
                </a:schemeClr>
              </a:solidFill>
            </a:endParaRPr>
          </a:p>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became separation of context</a:t>
            </a:r>
            <a:endParaRPr lang="en-US" sz="3000" dirty="0">
              <a:solidFill>
                <a:schemeClr val="bg2">
                  <a:lumMod val="25000"/>
                </a:schemeClr>
              </a:solidFill>
            </a:endParaRP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lumMod val="95000"/>
                  </a:schemeClr>
                </a:solidFill>
                <a:latin typeface="Courier New" pitchFamily="34" charset="0"/>
                <a:ea typeface="Courier New" pitchFamily="34" charset="-122"/>
                <a:cs typeface="Courier New" pitchFamily="34" charset="-120"/>
              </a:rPr>
              <a:t>PricingCard.tsx (the whole component)</a:t>
            </a:r>
            <a:endParaRPr lang="en-US" sz="1600" dirty="0">
              <a:solidFill>
                <a:schemeClr val="bg1">
                  <a:lumMod val="95000"/>
                </a:schemeClr>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rgbClr val="6E6E6E"/>
                </a:solidFill>
                <a:latin typeface="Courier New" pitchFamily="34" charset="0"/>
                <a:ea typeface="Courier New" pitchFamily="34" charset="-122"/>
                <a:cs typeface="Courier New" pitchFamily="34" charset="-120"/>
              </a:rPr>
              <a:t>// no CSS file. no class names. no cascade.</a:t>
            </a:r>
            <a:endParaRPr lang="en-US" sz="2400" dirty="0"/>
          </a:p>
          <a:p>
            <a:pPr marL="0" indent="0" algn="l">
              <a:lnSpc>
                <a:spcPct val="115000"/>
              </a:lnSpc>
              <a:buNone/>
            </a:pP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a:t>
            </a:r>
            <a:r>
              <a:rPr lang="en-US" sz="2400" dirty="0">
                <a:solidFill>
                  <a:srgbClr val="D8D8D8"/>
                </a:solidFill>
                <a:latin typeface="Courier New" pitchFamily="34" charset="0"/>
                <a:ea typeface="Courier New" pitchFamily="34" charset="-122"/>
                <a:cs typeface="Courier New" pitchFamily="34" charset="-120"/>
              </a:rPr>
              <a:t> className=</a:t>
            </a:r>
            <a:r>
              <a:rPr lang="en-US" sz="2400" dirty="0">
                <a:solidFill>
                  <a:srgbClr val="75DFBC"/>
                </a:solidFill>
                <a:latin typeface="Courier New" pitchFamily="34" charset="0"/>
                <a:ea typeface="Courier New" pitchFamily="34" charset="-122"/>
                <a:cs typeface="Courier New" pitchFamily="34" charset="-120"/>
              </a:rPr>
              <a:t>{cn(</a:t>
            </a:r>
            <a:endParaRPr lang="en-US" sz="2400" dirty="0"/>
          </a:p>
          <a:p>
            <a:pPr marL="0" indent="0" algn="l">
              <a:lnSpc>
                <a:spcPct val="115000"/>
              </a:lnSpc>
              <a:buNone/>
            </a:pPr>
            <a:r>
              <a:rPr lang="en-US" sz="2400" dirty="0">
                <a:solidFill>
                  <a:srgbClr val="F1CF25"/>
                </a:solidFill>
                <a:latin typeface="Courier New" pitchFamily="34" charset="0"/>
                <a:ea typeface="Courier New" pitchFamily="34" charset="-122"/>
                <a:cs typeface="Courier New" pitchFamily="34" charset="-120"/>
              </a:rPr>
              <a:t>  "rounded-lg px-4 py-3 font-bold"</a:t>
            </a:r>
            <a:r>
              <a:rPr lang="en-US" sz="2400" dirty="0">
                <a:solidFill>
                  <a:srgbClr val="D8D8D8"/>
                </a:solidFill>
                <a:latin typeface="Courier New" pitchFamily="34" charset="0"/>
                <a:ea typeface="Courier New" pitchFamily="34" charset="-122"/>
                <a:cs typeface="Courier New" pitchFamily="34" charset="-120"/>
              </a:rPr>
              <a:t>,</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  featured</a:t>
            </a:r>
            <a:r>
              <a:rPr lang="en-US" sz="2400" dirty="0">
                <a:solidFill>
                  <a:srgbClr val="D8D8D8"/>
                </a:solidFill>
                <a:latin typeface="Courier New" pitchFamily="34" charset="0"/>
                <a:ea typeface="Courier New" pitchFamily="34" charset="-122"/>
                <a:cs typeface="Courier New" pitchFamily="34" charset="-120"/>
              </a:rPr>
              <a:t> &amp;&amp; </a:t>
            </a:r>
            <a:r>
              <a:rPr lang="en-US" sz="2400" dirty="0">
                <a:solidFill>
                  <a:srgbClr val="F1CF25"/>
                </a:solidFill>
                <a:latin typeface="Courier New" pitchFamily="34" charset="0"/>
                <a:ea typeface="Courier New" pitchFamily="34" charset="-122"/>
                <a:cs typeface="Courier New" pitchFamily="34" charset="-120"/>
              </a:rPr>
              <a:t>"bg-mint text-ink hover:bg-mint/80"</a:t>
            </a:r>
            <a:endParaRPr lang="en-US" sz="2400" dirty="0"/>
          </a:p>
          <a:p>
            <a:pPr marL="0" indent="0" algn="l">
              <a:lnSpc>
                <a:spcPct val="115000"/>
              </a:lnSpc>
              <a:buNone/>
            </a:pPr>
            <a:r>
              <a:rPr lang="en-US" sz="2400" dirty="0">
                <a:solidFill>
                  <a:srgbClr val="75DFBC"/>
                </a:solidFill>
                <a:latin typeface="Courier New" pitchFamily="34" charset="0"/>
                <a:ea typeface="Courier New" pitchFamily="34" charset="-122"/>
                <a:cs typeface="Courier New" pitchFamily="34" charset="-120"/>
              </a:rPr>
              <a:t>)}&gt;</a:t>
            </a:r>
            <a:endParaRPr lang="en-US" sz="2400" dirty="0"/>
          </a:p>
          <a:p>
            <a:pPr marL="0" indent="0" algn="l">
              <a:lnSpc>
                <a:spcPct val="115000"/>
              </a:lnSpc>
              <a:buNone/>
            </a:pPr>
            <a:r>
              <a:rPr lang="en-US" sz="2400" dirty="0">
                <a:solidFill>
                  <a:srgbClr val="D8D8D8"/>
                </a:solidFill>
                <a:latin typeface="Courier New" pitchFamily="34" charset="0"/>
                <a:ea typeface="Courier New" pitchFamily="34" charset="-122"/>
                <a:cs typeface="Courier New" pitchFamily="34" charset="-120"/>
              </a:rPr>
              <a:t>  Choose plan</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&lt;/button&gt;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1C8D49-AEF8-2514-AAF0-8B3DE0AC8F6C}"/>
              </a:ext>
            </a:extLst>
          </p:cNvPr>
          <p:cNvPicPr>
            <a:picLocks noChangeAspect="1"/>
          </p:cNvPicPr>
          <p:nvPr/>
        </p:nvPicPr>
        <p:blipFill>
          <a:blip r:embed="rId3"/>
          <a:stretch>
            <a:fillRect/>
          </a:stretch>
        </p:blipFill>
        <p:spPr>
          <a:xfrm>
            <a:off x="105885" y="0"/>
            <a:ext cx="11980230" cy="6858000"/>
          </a:xfrm>
          <a:prstGeom prst="rect">
            <a:avLst/>
          </a:prstGeom>
        </p:spPr>
      </p:pic>
    </p:spTree>
    <p:extLst>
      <p:ext uri="{BB962C8B-B14F-4D97-AF65-F5344CB8AC3E}">
        <p14:creationId xmlns:p14="http://schemas.microsoft.com/office/powerpoint/2010/main" val="90735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a:t>
            </a:r>
            <a:r>
              <a:rPr lang="en-GB" sz="3600" dirty="0" err="1"/>
              <a:t>TailwindCSS</a:t>
            </a:r>
            <a:r>
              <a:rPr lang="en-GB" sz="3600" dirty="0"/>
              <a:t> and Shad-</a:t>
            </a:r>
            <a:r>
              <a:rPr lang="en-GB" sz="3600" dirty="0" err="1"/>
              <a:t>cn</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646</TotalTime>
  <Words>2178</Words>
  <Application>Microsoft Office PowerPoint</Application>
  <PresentationFormat>Widescreen</PresentationFormat>
  <Paragraphs>166</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Arial</vt:lpstr>
      <vt:lpstr>Brush Script MT</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144</cp:revision>
  <dcterms:created xsi:type="dcterms:W3CDTF">2026-07-14T15:54:22Z</dcterms:created>
  <dcterms:modified xsi:type="dcterms:W3CDTF">2026-09-01T22:10:40Z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
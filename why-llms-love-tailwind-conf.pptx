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316" r:id="rId2"/>
    <p:sldId id="317" r:id="rId3"/>
    <p:sldId id="318" r:id="rId4"/>
    <p:sldId id="256" r:id="rId5"/>
    <p:sldId id="301" r:id="rId6"/>
    <p:sldId id="300" r:id="rId7"/>
    <p:sldId id="319" r:id="rId8"/>
    <p:sldId id="261" r:id="rId9"/>
    <p:sldId id="263" r:id="rId10"/>
    <p:sldId id="265" r:id="rId11"/>
    <p:sldId id="266" r:id="rId12"/>
    <p:sldId id="320" r:id="rId13"/>
    <p:sldId id="321" r:id="rId14"/>
    <p:sldId id="334" r:id="rId15"/>
    <p:sldId id="328" r:id="rId16"/>
    <p:sldId id="336" r:id="rId17"/>
    <p:sldId id="330" r:id="rId18"/>
    <p:sldId id="337" r:id="rId19"/>
    <p:sldId id="329" r:id="rId20"/>
    <p:sldId id="339" r:id="rId21"/>
    <p:sldId id="335" r:id="rId22"/>
    <p:sldId id="322" r:id="rId23"/>
    <p:sldId id="323" r:id="rId24"/>
    <p:sldId id="331" r:id="rId25"/>
    <p:sldId id="324" r:id="rId26"/>
    <p:sldId id="332" r:id="rId27"/>
    <p:sldId id="325" r:id="rId28"/>
    <p:sldId id="333" r:id="rId29"/>
    <p:sldId id="326" r:id="rId30"/>
    <p:sldId id="314" r:id="rId31"/>
    <p:sldId id="310" r:id="rId32"/>
    <p:sldId id="315"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49" autoAdjust="0"/>
    <p:restoredTop sz="50177" autoAdjust="0"/>
  </p:normalViewPr>
  <p:slideViewPr>
    <p:cSldViewPr snapToGrid="0" snapToObjects="1">
      <p:cViewPr varScale="1">
        <p:scale>
          <a:sx n="71" d="100"/>
          <a:sy n="71" d="100"/>
        </p:scale>
        <p:origin x="3040" y="17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endParaRPr lang="en-US" dirty="0"/>
          </a:p>
          <a:p>
            <a:r>
              <a:rPr lang="en-US" dirty="0"/>
              <a:t>Vanilla CSS in 2005. </a:t>
            </a:r>
          </a:p>
          <a:p>
            <a:endParaRPr lang="en-US" dirty="0"/>
          </a:p>
          <a:p>
            <a:r>
              <a:rPr lang="en-US" dirty="0"/>
              <a:t>Then OOCSS in 2009, object-oriented CSS, which said reuse objects, not pages. </a:t>
            </a:r>
          </a:p>
          <a:p>
            <a:endParaRPr lang="en-US" dirty="0"/>
          </a:p>
          <a:p>
            <a:r>
              <a:rPr lang="en-US" dirty="0"/>
              <a:t>BEM in 2010, block element modifier, which tried to make naming systematic. </a:t>
            </a:r>
          </a:p>
          <a:p>
            <a:endParaRPr lang="en-US" dirty="0"/>
          </a:p>
          <a:p>
            <a:r>
              <a:rPr lang="en-US" dirty="0"/>
              <a:t>SMACSS in 2011, scalable and modular architecture. </a:t>
            </a:r>
          </a:p>
          <a:p>
            <a:endParaRPr lang="en-US" dirty="0"/>
          </a:p>
          <a:p>
            <a:r>
              <a:rPr lang="en-US" dirty="0"/>
              <a:t>Atomic CSS in 2013. </a:t>
            </a:r>
          </a:p>
          <a:p>
            <a:endParaRPr lang="en-US" dirty="0"/>
          </a:p>
          <a:p>
            <a:r>
              <a:rPr lang="en-US" dirty="0"/>
              <a:t>CSS Modules in 2015, which scoped names to a file. </a:t>
            </a:r>
          </a:p>
          <a:p>
            <a:endParaRPr lang="en-US" dirty="0"/>
          </a:p>
          <a:p>
            <a:r>
              <a:rPr lang="en-US" dirty="0"/>
              <a:t>CSS in JS in 2016, which put styles back into JavaScript. </a:t>
            </a:r>
          </a:p>
          <a:p>
            <a:endParaRPr lang="en-US" dirty="0"/>
          </a:p>
          <a:p>
            <a:r>
              <a:rPr lang="en-US" dirty="0"/>
              <a:t>Then Tailwind, from 2017 on.</a:t>
            </a:r>
          </a:p>
          <a:p>
            <a:endParaRPr lang="en-US" dirty="0"/>
          </a:p>
          <a:p>
            <a:endParaRPr lang="en-US" dirty="0"/>
          </a:p>
          <a:p>
            <a:r>
              <a:rPr lang="en-US" dirty="0"/>
              <a:t>Every one of these tried to answer the same two questions. Where do styles live? And what do we name them? That is the whole war. Location, and naming.</a:t>
            </a:r>
          </a:p>
          <a:p>
            <a:endParaRPr lang="en-US" dirty="0"/>
          </a:p>
          <a:p>
            <a:r>
              <a:rPr lang="en-US" dirty="0"/>
              <a:t>Most of these methodologies answered those questions with more rules. More naming conventions. More files. More process. </a:t>
            </a:r>
          </a:p>
          <a:p>
            <a:r>
              <a:rPr lang="en-US" dirty="0"/>
              <a:t>Tailwind is interesting because it mostly deletes those questions instead of answering them better. You stop inventing names. You stop splitting the look into another file.</a:t>
            </a:r>
          </a:p>
          <a:p>
            <a:endParaRPr lang="en-US"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what happened in the past two years. The machines have voted.</a:t>
            </a:r>
          </a:p>
          <a:p>
            <a:endParaRPr lang="en-US" dirty="0"/>
          </a:p>
          <a:p>
            <a:r>
              <a:rPr lang="en-US" dirty="0"/>
              <a:t>v0 from Vercel generates UI in Tailwind. </a:t>
            </a:r>
          </a:p>
          <a:p>
            <a:endParaRPr lang="en-US" dirty="0"/>
          </a:p>
          <a:p>
            <a:r>
              <a:rPr lang="en-US" dirty="0" err="1"/>
              <a:t>bolt.new</a:t>
            </a:r>
            <a:r>
              <a:rPr lang="en-US" dirty="0"/>
              <a:t> from StackBlitz does the same. </a:t>
            </a:r>
          </a:p>
          <a:p>
            <a:endParaRPr lang="en-US" dirty="0"/>
          </a:p>
          <a:p>
            <a:r>
              <a:rPr lang="en-US" dirty="0"/>
              <a:t>Lovable generates full apps in Tailwind. </a:t>
            </a:r>
          </a:p>
          <a:p>
            <a:endParaRPr lang="en-US" dirty="0"/>
          </a:p>
          <a:p>
            <a:r>
              <a:rPr lang="en-US" dirty="0"/>
              <a:t>Claude Artifacts from Anthropic. </a:t>
            </a:r>
          </a:p>
          <a:p>
            <a:endParaRPr lang="en-US" dirty="0"/>
          </a:p>
          <a:p>
            <a:r>
              <a:rPr lang="en-US" dirty="0" err="1"/>
              <a:t>shadcn</a:t>
            </a:r>
            <a:r>
              <a:rPr lang="en-US" dirty="0"/>
              <a:t> is the default component system the AI tools reach for. </a:t>
            </a:r>
          </a:p>
          <a:p>
            <a:endParaRPr lang="en-US" dirty="0"/>
          </a:p>
          <a:p>
            <a:r>
              <a:rPr lang="en-US" dirty="0"/>
              <a:t>Cursor and Copilot lean Tailwind every time you ask for a component.</a:t>
            </a:r>
          </a:p>
          <a:p>
            <a:endParaRPr lang="en-US" dirty="0"/>
          </a:p>
          <a:p>
            <a:r>
              <a:rPr lang="en-US" dirty="0"/>
              <a:t>Every major AI UI generator defaults to Tailwind. Not because Tailwind won a popularity contest with humans. Because the way Tailwind is shaped matches the way a language model, and a teammate, actually understand code. And for the news flash, </a:t>
            </a:r>
            <a:r>
              <a:rPr lang="en-US" dirty="0" err="1"/>
              <a:t>Tailwindcss</a:t>
            </a:r>
            <a:r>
              <a:rPr lang="en-US" dirty="0"/>
              <a:t> is joining Shopify. The reason is they have a new hydrogen framework that is using React Server Component.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number one. Naming things.</a:t>
            </a:r>
          </a:p>
          <a:p>
            <a:endParaRPr lang="en-US" dirty="0"/>
          </a:p>
          <a:p>
            <a:r>
              <a:rPr lang="en-US" dirty="0"/>
              <a:t>Semantic CSS makes you invent a name for every element, and those names are project-specific. </a:t>
            </a:r>
          </a:p>
          <a:p>
            <a:r>
              <a:rPr lang="en-US" dirty="0"/>
              <a:t>Then they drift. card. Card. cardWrapper. card-box. Four names for the same idea, invented by four people, or by one person on four different days.</a:t>
            </a:r>
          </a:p>
          <a:p>
            <a:endParaRPr lang="en-US" dirty="0"/>
          </a:p>
          <a:p>
            <a:r>
              <a:rPr lang="en-US" dirty="0"/>
              <a:t>Humans invent inconsistently. Models invent inconsistently. </a:t>
            </a:r>
          </a:p>
          <a:p>
            <a:endParaRPr lang="en-US" dirty="0"/>
          </a:p>
          <a:p>
            <a:r>
              <a:rPr lang="en-US" dirty="0"/>
              <a:t>This styling here for example. card header featured. What does featured even mean in this file? Is it a thicker border? A badge? A different button color? You cannot know until you read the CSS.</a:t>
            </a:r>
          </a:p>
          <a:p>
            <a:endParaRPr lang="en-US" dirty="0"/>
          </a:p>
          <a:p>
            <a:r>
              <a:rPr lang="en-US" dirty="0"/>
              <a:t>Tailwind deletes the naming decision. You do not name the thing. You describe the look with a closed vocabulary.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Separation of concerns.</a:t>
            </a:r>
          </a:p>
          <a:p>
            <a:endParaRPr lang="en-US" dirty="0"/>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endParaRPr lang="en-US" dirty="0"/>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a:t>
            </a:r>
          </a:p>
          <a:p>
            <a:endParaRPr lang="en-US" dirty="0"/>
          </a:p>
          <a:p>
            <a:r>
              <a:rPr lang="en-US" dirty="0"/>
              <a:t>Before </a:t>
            </a:r>
            <a:r>
              <a:rPr lang="en-US" dirty="0" err="1"/>
              <a:t>vibecoding</a:t>
            </a:r>
            <a:r>
              <a:rPr lang="en-US" dirty="0"/>
              <a:t> days, you can say that this is ugly, but using </a:t>
            </a:r>
            <a:r>
              <a:rPr lang="en-US" dirty="0" err="1"/>
              <a:t>shadcn</a:t>
            </a:r>
            <a:r>
              <a:rPr lang="en-US" dirty="0"/>
              <a:t> </a:t>
            </a:r>
            <a:r>
              <a:rPr lang="en-US" dirty="0" err="1"/>
              <a:t>ui</a:t>
            </a:r>
            <a:r>
              <a:rPr lang="en-US" dirty="0"/>
              <a:t> I saw how to write best practice </a:t>
            </a:r>
            <a:r>
              <a:rPr lang="en-US" dirty="0" err="1"/>
              <a:t>tailwindcss</a:t>
            </a:r>
            <a:r>
              <a:rPr lang="en-US" dirty="0"/>
              <a:t> code in components. You will see later how in my demo.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Tailwindcss</a:t>
            </a:r>
            <a:r>
              <a:rPr lang="en-US" dirty="0"/>
              <a:t> rules in priorities looks like this.</a:t>
            </a:r>
          </a:p>
          <a:p>
            <a:endParaRPr lang="en-US" dirty="0"/>
          </a:p>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And </a:t>
            </a:r>
            <a:r>
              <a:rPr lang="en-US" dirty="0" err="1"/>
              <a:t>tailwindcss</a:t>
            </a:r>
            <a:r>
              <a:rPr lang="en-US" dirty="0"/>
              <a:t> gives you some solutions to your common </a:t>
            </a:r>
            <a:r>
              <a:rPr lang="en-US" dirty="0" err="1"/>
              <a:t>css</a:t>
            </a:r>
            <a:r>
              <a:rPr lang="en-US" dirty="0"/>
              <a:t> problems.</a:t>
            </a:r>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859122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a:p>
            <a:endParaRPr lang="en-US" dirty="0"/>
          </a:p>
          <a:p>
            <a:r>
              <a:rPr lang="en-US" dirty="0"/>
              <a:t>Being compliant in accessibility is a headache if you will write them manually. Especially in Europe, any public facing app should be accessible by default.</a:t>
            </a:r>
          </a:p>
        </p:txBody>
      </p:sp>
    </p:spTree>
    <p:extLst>
      <p:ext uri="{BB962C8B-B14F-4D97-AF65-F5344CB8AC3E}">
        <p14:creationId xmlns:p14="http://schemas.microsoft.com/office/powerpoint/2010/main" val="1157853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7233014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and </a:t>
            </a:r>
            <a:r>
              <a:rPr lang="en-US" dirty="0" err="1"/>
              <a:t>shadcn</a:t>
            </a:r>
            <a:r>
              <a:rPr lang="en-US" dirty="0"/>
              <a:t> now ships official AI skills for agents.</a:t>
            </a:r>
          </a:p>
        </p:txBody>
      </p:sp>
    </p:spTree>
    <p:extLst>
      <p:ext uri="{BB962C8B-B14F-4D97-AF65-F5344CB8AC3E}">
        <p14:creationId xmlns:p14="http://schemas.microsoft.com/office/powerpoint/2010/main" val="22394399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914255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kern="1200" dirty="0" err="1">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p:nvPr>
        </p:nvSpPr>
        <p:spPr>
          <a:xfrm>
            <a:off x="600670" y="5929931"/>
            <a:ext cx="10985502" cy="318490"/>
          </a:xfrm>
          <a:prstGeom prst="rect">
            <a:avLst/>
          </a:prstGeom>
        </p:spPr>
        <p:txBody>
          <a:bodyPr lIns="45699" tIns="45699" rIns="45699" bIns="45699"/>
          <a:lstStyle>
            <a:lvl1pPr marL="114300" indent="0">
              <a:lnSpc>
                <a:spcPct val="100000"/>
              </a:lnSpc>
              <a:spcBef>
                <a:spcPts val="0"/>
              </a:spcBef>
              <a:buClrTx/>
              <a:buSzTx/>
              <a:buFontTx/>
              <a:buNone/>
              <a:defRPr sz="1800" b="1"/>
            </a:lvl1pPr>
            <a:lvl2pPr marL="411051" indent="-138446">
              <a:lnSpc>
                <a:spcPct val="100000"/>
              </a:lnSpc>
              <a:spcBef>
                <a:spcPts val="0"/>
              </a:spcBef>
              <a:buClrTx/>
              <a:buSzPts val="3600"/>
              <a:buFontTx/>
              <a:defRPr sz="1800" b="1"/>
            </a:lvl2pPr>
            <a:lvl3pPr marL="639651" indent="-138446">
              <a:lnSpc>
                <a:spcPct val="100000"/>
              </a:lnSpc>
              <a:spcBef>
                <a:spcPts val="0"/>
              </a:spcBef>
              <a:buClrTx/>
              <a:buSzPts val="3600"/>
              <a:buFontTx/>
              <a:defRPr sz="1800" b="1"/>
            </a:lvl3pPr>
            <a:lvl4pPr marL="868251" indent="-138446">
              <a:lnSpc>
                <a:spcPct val="100000"/>
              </a:lnSpc>
              <a:spcBef>
                <a:spcPts val="0"/>
              </a:spcBef>
              <a:buClrTx/>
              <a:buSzPts val="3600"/>
              <a:buFontTx/>
              <a:defRPr sz="1800" b="1"/>
            </a:lvl4pPr>
            <a:lvl5pPr marL="1096851" indent="-138446">
              <a:lnSpc>
                <a:spcPct val="100000"/>
              </a:lnSpc>
              <a:spcBef>
                <a:spcPts val="0"/>
              </a:spcBef>
              <a:buClrTx/>
              <a:buSzPts val="3600"/>
              <a:buFontTx/>
              <a:defRPr sz="1800" b="1"/>
            </a:lvl5pPr>
          </a:lstStyle>
          <a:p>
            <a:r>
              <a:t>Body Level One</a:t>
            </a:r>
          </a:p>
          <a:p>
            <a:pPr lvl="1"/>
            <a:r>
              <a:t>Body Level Two</a:t>
            </a:r>
          </a:p>
          <a:p>
            <a:pPr lvl="2"/>
            <a:r>
              <a:t>Body Level Three</a:t>
            </a:r>
          </a:p>
          <a:p>
            <a:pPr lvl="3"/>
            <a:r>
              <a:t>Body Level Four</a:t>
            </a:r>
          </a:p>
          <a:p>
            <a:pPr lvl="4"/>
            <a:r>
              <a:t>Body Level Five</a:t>
            </a:r>
          </a:p>
        </p:txBody>
      </p:sp>
      <p:sp>
        <p:nvSpPr>
          <p:cNvPr id="12" name="Title Text"/>
          <p:cNvSpPr txBox="1">
            <a:spLocks noGrp="1"/>
          </p:cNvSpPr>
          <p:nvPr>
            <p:ph type="title"/>
          </p:nvPr>
        </p:nvSpPr>
        <p:spPr>
          <a:xfrm>
            <a:off x="603248" y="1287495"/>
            <a:ext cx="10985503" cy="2324101"/>
          </a:xfrm>
          <a:prstGeom prst="rect">
            <a:avLst/>
          </a:prstGeom>
        </p:spPr>
        <p:txBody>
          <a:bodyPr anchor="b"/>
          <a:lstStyle>
            <a:lvl1pPr>
              <a:defRPr sz="5800"/>
            </a:lvl1pPr>
          </a:lstStyle>
          <a:p>
            <a:r>
              <a:t>Title Text</a:t>
            </a:r>
          </a:p>
        </p:txBody>
      </p:sp>
      <p:sp>
        <p:nvSpPr>
          <p:cNvPr id="13" name="Google Shape;12;p2"/>
          <p:cNvSpPr txBox="1">
            <a:spLocks noGrp="1"/>
          </p:cNvSpPr>
          <p:nvPr>
            <p:ph type="body" sz="quarter" idx="21"/>
          </p:nvPr>
        </p:nvSpPr>
        <p:spPr>
          <a:xfrm>
            <a:off x="600671" y="3611595"/>
            <a:ext cx="10985501" cy="952501"/>
          </a:xfrm>
          <a:prstGeom prst="rect">
            <a:avLst/>
          </a:prstGeom>
        </p:spPr>
        <p:txBody>
          <a:bodyPr/>
          <a:lstStyle>
            <a:lvl1pPr marL="114300" indent="0">
              <a:lnSpc>
                <a:spcPct val="100000"/>
              </a:lnSpc>
              <a:spcBef>
                <a:spcPts val="0"/>
              </a:spcBef>
              <a:buClrTx/>
              <a:buSzTx/>
              <a:buFontTx/>
              <a:buNone/>
              <a:defRPr sz="5500" b="1"/>
            </a:lvl1pPr>
          </a:lstStyle>
          <a:p>
            <a:pPr marL="228600" indent="0">
              <a:lnSpc>
                <a:spcPct val="100000"/>
              </a:lnSpc>
              <a:spcBef>
                <a:spcPts val="0"/>
              </a:spcBef>
              <a:buClrTx/>
              <a:buSzTx/>
              <a:buFontTx/>
              <a:buNone/>
              <a:defRPr sz="5500" b="1"/>
            </a:pPr>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45209457"/>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9" Type="http://schemas.openxmlformats.org/officeDocument/2006/relationships/image" Target="../media/image38.png"/><Relationship Id="rId21" Type="http://schemas.openxmlformats.org/officeDocument/2006/relationships/image" Target="../media/image20.png"/><Relationship Id="rId34" Type="http://schemas.openxmlformats.org/officeDocument/2006/relationships/image" Target="../media/image33.png"/><Relationship Id="rId42" Type="http://schemas.openxmlformats.org/officeDocument/2006/relationships/image" Target="../media/image41.png"/><Relationship Id="rId47" Type="http://schemas.openxmlformats.org/officeDocument/2006/relationships/image" Target="../media/image46.png"/><Relationship Id="rId50" Type="http://schemas.openxmlformats.org/officeDocument/2006/relationships/image" Target="../media/image49.png"/><Relationship Id="rId55" Type="http://schemas.openxmlformats.org/officeDocument/2006/relationships/image" Target="../media/image54.png"/><Relationship Id="rId7" Type="http://schemas.openxmlformats.org/officeDocument/2006/relationships/image" Target="../media/image6.png"/><Relationship Id="rId2" Type="http://schemas.openxmlformats.org/officeDocument/2006/relationships/image" Target="../media/image1.png"/><Relationship Id="rId16" Type="http://schemas.openxmlformats.org/officeDocument/2006/relationships/image" Target="../media/image15.png"/><Relationship Id="rId29" Type="http://schemas.openxmlformats.org/officeDocument/2006/relationships/image" Target="../media/image28.png"/><Relationship Id="rId11" Type="http://schemas.openxmlformats.org/officeDocument/2006/relationships/image" Target="../media/image10.png"/><Relationship Id="rId24" Type="http://schemas.openxmlformats.org/officeDocument/2006/relationships/image" Target="../media/image23.png"/><Relationship Id="rId32" Type="http://schemas.openxmlformats.org/officeDocument/2006/relationships/image" Target="../media/image31.png"/><Relationship Id="rId37" Type="http://schemas.openxmlformats.org/officeDocument/2006/relationships/image" Target="../media/image36.png"/><Relationship Id="rId40" Type="http://schemas.openxmlformats.org/officeDocument/2006/relationships/image" Target="../media/image39.png"/><Relationship Id="rId45" Type="http://schemas.openxmlformats.org/officeDocument/2006/relationships/image" Target="../media/image44.png"/><Relationship Id="rId53" Type="http://schemas.openxmlformats.org/officeDocument/2006/relationships/image" Target="../media/image52.png"/><Relationship Id="rId5" Type="http://schemas.openxmlformats.org/officeDocument/2006/relationships/image" Target="../media/image4.png"/><Relationship Id="rId10" Type="http://schemas.openxmlformats.org/officeDocument/2006/relationships/image" Target="../media/image9.png"/><Relationship Id="rId19" Type="http://schemas.openxmlformats.org/officeDocument/2006/relationships/image" Target="../media/image18.png"/><Relationship Id="rId31" Type="http://schemas.openxmlformats.org/officeDocument/2006/relationships/image" Target="../media/image30.png"/><Relationship Id="rId44" Type="http://schemas.openxmlformats.org/officeDocument/2006/relationships/image" Target="../media/image43.png"/><Relationship Id="rId52" Type="http://schemas.openxmlformats.org/officeDocument/2006/relationships/image" Target="../media/image51.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 Id="rId30" Type="http://schemas.openxmlformats.org/officeDocument/2006/relationships/image" Target="../media/image29.png"/><Relationship Id="rId35" Type="http://schemas.openxmlformats.org/officeDocument/2006/relationships/image" Target="../media/image34.png"/><Relationship Id="rId43" Type="http://schemas.openxmlformats.org/officeDocument/2006/relationships/image" Target="../media/image42.png"/><Relationship Id="rId48" Type="http://schemas.openxmlformats.org/officeDocument/2006/relationships/image" Target="../media/image47.png"/><Relationship Id="rId8" Type="http://schemas.openxmlformats.org/officeDocument/2006/relationships/image" Target="../media/image7.png"/><Relationship Id="rId51" Type="http://schemas.openxmlformats.org/officeDocument/2006/relationships/image" Target="../media/image50.png"/><Relationship Id="rId3" Type="http://schemas.openxmlformats.org/officeDocument/2006/relationships/image" Target="../media/image2.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33" Type="http://schemas.openxmlformats.org/officeDocument/2006/relationships/image" Target="../media/image32.png"/><Relationship Id="rId38" Type="http://schemas.openxmlformats.org/officeDocument/2006/relationships/image" Target="../media/image37.png"/><Relationship Id="rId46" Type="http://schemas.openxmlformats.org/officeDocument/2006/relationships/image" Target="../media/image45.png"/><Relationship Id="rId20" Type="http://schemas.openxmlformats.org/officeDocument/2006/relationships/image" Target="../media/image19.png"/><Relationship Id="rId41" Type="http://schemas.openxmlformats.org/officeDocument/2006/relationships/image" Target="../media/image40.png"/><Relationship Id="rId54"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image" Target="../media/image5.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36" Type="http://schemas.openxmlformats.org/officeDocument/2006/relationships/image" Target="../media/image35.png"/><Relationship Id="rId49" Type="http://schemas.openxmlformats.org/officeDocument/2006/relationships/image" Target="../media/image48.png"/></Relationships>
</file>

<file path=ppt/slides/_rels/slide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Google Shape;86;p19"/>
          <p:cNvSpPr/>
          <p:nvPr/>
        </p:nvSpPr>
        <p:spPr>
          <a:xfrm>
            <a:off x="31750" y="31750"/>
            <a:ext cx="12128551" cy="1220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2" name="Google Shape;87;p19"/>
          <p:cNvSpPr txBox="1"/>
          <p:nvPr/>
        </p:nvSpPr>
        <p:spPr>
          <a:xfrm>
            <a:off x="106750" y="74076"/>
            <a:ext cx="11978400" cy="2700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900">
                <a:solidFill>
                  <a:srgbClr val="034D40"/>
                </a:solidFill>
                <a:latin typeface="Arial Black"/>
                <a:ea typeface="Arial Black"/>
                <a:cs typeface="Arial Black"/>
                <a:sym typeface="Arial Black"/>
              </a:defRPr>
            </a:lvl1pPr>
          </a:lstStyle>
          <a:p>
            <a:r>
              <a:rPr sz="1950"/>
              <a:t>Titanium Sponsors</a:t>
            </a:r>
          </a:p>
        </p:txBody>
      </p:sp>
      <p:grpSp>
        <p:nvGrpSpPr>
          <p:cNvPr id="176" name="Google Shape;88;p19"/>
          <p:cNvGrpSpPr/>
          <p:nvPr/>
        </p:nvGrpSpPr>
        <p:grpSpPr>
          <a:xfrm>
            <a:off x="1656137" y="393862"/>
            <a:ext cx="9500364" cy="782324"/>
            <a:chOff x="0" y="0"/>
            <a:chExt cx="19000725" cy="1564645"/>
          </a:xfrm>
        </p:grpSpPr>
        <p:pic>
          <p:nvPicPr>
            <p:cNvPr id="173" name="Google Shape;89;p19" descr="Google Shape;89;p19"/>
            <p:cNvPicPr>
              <a:picLocks noChangeAspect="1"/>
            </p:cNvPicPr>
            <p:nvPr/>
          </p:nvPicPr>
          <p:blipFill>
            <a:blip r:embed="rId2"/>
            <a:stretch>
              <a:fillRect/>
            </a:stretch>
          </p:blipFill>
          <p:spPr>
            <a:xfrm>
              <a:off x="-1" y="0"/>
              <a:ext cx="4629130" cy="1564646"/>
            </a:xfrm>
            <a:prstGeom prst="rect">
              <a:avLst/>
            </a:prstGeom>
            <a:ln w="12700" cap="flat">
              <a:noFill/>
              <a:miter lim="400000"/>
            </a:ln>
            <a:effectLst/>
          </p:spPr>
        </p:pic>
        <p:pic>
          <p:nvPicPr>
            <p:cNvPr id="174" name="Google Shape;90;p19" descr="Google Shape;90;p19"/>
            <p:cNvPicPr>
              <a:picLocks noChangeAspect="1"/>
            </p:cNvPicPr>
            <p:nvPr/>
          </p:nvPicPr>
          <p:blipFill>
            <a:blip r:embed="rId3"/>
            <a:stretch>
              <a:fillRect/>
            </a:stretch>
          </p:blipFill>
          <p:spPr>
            <a:xfrm>
              <a:off x="5091513" y="0"/>
              <a:ext cx="4656681" cy="1564646"/>
            </a:xfrm>
            <a:prstGeom prst="rect">
              <a:avLst/>
            </a:prstGeom>
            <a:ln w="12700" cap="flat">
              <a:noFill/>
              <a:miter lim="400000"/>
            </a:ln>
            <a:effectLst/>
          </p:spPr>
        </p:pic>
        <p:pic>
          <p:nvPicPr>
            <p:cNvPr id="175" name="Google Shape;91;p19" descr="Google Shape;91;p19"/>
            <p:cNvPicPr>
              <a:picLocks noChangeAspect="1"/>
            </p:cNvPicPr>
            <p:nvPr/>
          </p:nvPicPr>
          <p:blipFill>
            <a:blip r:embed="rId4"/>
            <a:stretch>
              <a:fillRect/>
            </a:stretch>
          </p:blipFill>
          <p:spPr>
            <a:xfrm>
              <a:off x="10210582" y="0"/>
              <a:ext cx="8790144" cy="1564646"/>
            </a:xfrm>
            <a:prstGeom prst="rect">
              <a:avLst/>
            </a:prstGeom>
            <a:ln w="12700" cap="flat">
              <a:noFill/>
              <a:miter lim="400000"/>
            </a:ln>
            <a:effectLst/>
          </p:spPr>
        </p:pic>
      </p:grpSp>
      <p:sp>
        <p:nvSpPr>
          <p:cNvPr id="177" name="Google Shape;92;p19"/>
          <p:cNvSpPr/>
          <p:nvPr/>
        </p:nvSpPr>
        <p:spPr>
          <a:xfrm>
            <a:off x="39431" y="1245755"/>
            <a:ext cx="12128551" cy="16255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8" name="Google Shape;93;p19"/>
          <p:cNvSpPr txBox="1"/>
          <p:nvPr/>
        </p:nvSpPr>
        <p:spPr>
          <a:xfrm rot="16200000">
            <a:off x="10888581" y="1794196"/>
            <a:ext cx="1462951" cy="7104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3000">
                <a:solidFill>
                  <a:srgbClr val="034D40"/>
                </a:solidFill>
                <a:latin typeface="Arial Black"/>
                <a:ea typeface="Arial Black"/>
                <a:cs typeface="Arial Black"/>
                <a:sym typeface="Arial Black"/>
              </a:defRPr>
            </a:pPr>
            <a:r>
              <a:rPr sz="1500"/>
              <a:t>Platinum</a:t>
            </a:r>
          </a:p>
          <a:p>
            <a:pPr algn="ctr">
              <a:lnSpc>
                <a:spcPct val="90000"/>
              </a:lnSpc>
              <a:spcBef>
                <a:spcPts val="2250"/>
              </a:spcBef>
              <a:defRPr sz="3000">
                <a:solidFill>
                  <a:srgbClr val="034D40"/>
                </a:solidFill>
                <a:latin typeface="Arial Black"/>
                <a:ea typeface="Arial Black"/>
                <a:cs typeface="Arial Black"/>
                <a:sym typeface="Arial Black"/>
              </a:defRPr>
            </a:pPr>
            <a:r>
              <a:rPr sz="1500"/>
              <a:t> Sponsors</a:t>
            </a:r>
          </a:p>
        </p:txBody>
      </p:sp>
      <p:pic>
        <p:nvPicPr>
          <p:cNvPr id="179" name="Google Shape;94;p19" descr="Google Shape;94;p19"/>
          <p:cNvPicPr>
            <a:picLocks noChangeAspect="1"/>
          </p:cNvPicPr>
          <p:nvPr/>
        </p:nvPicPr>
        <p:blipFill>
          <a:blip r:embed="rId5"/>
          <a:stretch>
            <a:fillRect/>
          </a:stretch>
        </p:blipFill>
        <p:spPr>
          <a:xfrm>
            <a:off x="1748549" y="1437907"/>
            <a:ext cx="2059201" cy="696018"/>
          </a:xfrm>
          <a:prstGeom prst="rect">
            <a:avLst/>
          </a:prstGeom>
          <a:ln w="12700">
            <a:miter lim="400000"/>
          </a:ln>
        </p:spPr>
      </p:pic>
      <p:pic>
        <p:nvPicPr>
          <p:cNvPr id="180" name="Google Shape;95;p19" descr="Google Shape;95;p19"/>
          <p:cNvPicPr>
            <a:picLocks noChangeAspect="1"/>
          </p:cNvPicPr>
          <p:nvPr/>
        </p:nvPicPr>
        <p:blipFill>
          <a:blip r:embed="rId6"/>
          <a:stretch>
            <a:fillRect/>
          </a:stretch>
        </p:blipFill>
        <p:spPr>
          <a:xfrm>
            <a:off x="4034196" y="1379038"/>
            <a:ext cx="2198340" cy="650709"/>
          </a:xfrm>
          <a:prstGeom prst="rect">
            <a:avLst/>
          </a:prstGeom>
          <a:ln w="12700">
            <a:miter lim="400000"/>
          </a:ln>
        </p:spPr>
      </p:pic>
      <p:pic>
        <p:nvPicPr>
          <p:cNvPr id="181" name="Google Shape;96;p19" descr="Google Shape;96;p19"/>
          <p:cNvPicPr>
            <a:picLocks noChangeAspect="1"/>
          </p:cNvPicPr>
          <p:nvPr/>
        </p:nvPicPr>
        <p:blipFill>
          <a:blip r:embed="rId7"/>
          <a:stretch>
            <a:fillRect/>
          </a:stretch>
        </p:blipFill>
        <p:spPr>
          <a:xfrm>
            <a:off x="6511506" y="1354887"/>
            <a:ext cx="2314601" cy="699015"/>
          </a:xfrm>
          <a:prstGeom prst="rect">
            <a:avLst/>
          </a:prstGeom>
          <a:ln w="12700">
            <a:miter lim="400000"/>
          </a:ln>
        </p:spPr>
      </p:pic>
      <p:pic>
        <p:nvPicPr>
          <p:cNvPr id="182" name="Google Shape;97;p19" descr="Google Shape;97;p19"/>
          <p:cNvPicPr>
            <a:picLocks noChangeAspect="1"/>
          </p:cNvPicPr>
          <p:nvPr/>
        </p:nvPicPr>
        <p:blipFill>
          <a:blip r:embed="rId8"/>
          <a:stretch>
            <a:fillRect/>
          </a:stretch>
        </p:blipFill>
        <p:spPr>
          <a:xfrm>
            <a:off x="8842569" y="1398637"/>
            <a:ext cx="2059204" cy="650709"/>
          </a:xfrm>
          <a:prstGeom prst="rect">
            <a:avLst/>
          </a:prstGeom>
          <a:ln w="12700">
            <a:miter lim="400000"/>
          </a:ln>
        </p:spPr>
      </p:pic>
      <p:pic>
        <p:nvPicPr>
          <p:cNvPr id="183" name="Google Shape;98;p19" descr="Google Shape;98;p19"/>
          <p:cNvPicPr>
            <a:picLocks noChangeAspect="1"/>
          </p:cNvPicPr>
          <p:nvPr/>
        </p:nvPicPr>
        <p:blipFill>
          <a:blip r:embed="rId9"/>
          <a:stretch>
            <a:fillRect/>
          </a:stretch>
        </p:blipFill>
        <p:spPr>
          <a:xfrm>
            <a:off x="230325" y="1578831"/>
            <a:ext cx="1425813" cy="975263"/>
          </a:xfrm>
          <a:prstGeom prst="rect">
            <a:avLst/>
          </a:prstGeom>
          <a:ln w="12700">
            <a:miter lim="400000"/>
          </a:ln>
        </p:spPr>
      </p:pic>
      <p:pic>
        <p:nvPicPr>
          <p:cNvPr id="184" name="Google Shape;99;p19" descr="Google Shape;99;p19"/>
          <p:cNvPicPr>
            <a:picLocks noChangeAspect="1"/>
          </p:cNvPicPr>
          <p:nvPr/>
        </p:nvPicPr>
        <p:blipFill>
          <a:blip r:embed="rId10"/>
          <a:stretch>
            <a:fillRect/>
          </a:stretch>
        </p:blipFill>
        <p:spPr>
          <a:xfrm>
            <a:off x="1741500" y="2284676"/>
            <a:ext cx="2457381" cy="196591"/>
          </a:xfrm>
          <a:prstGeom prst="rect">
            <a:avLst/>
          </a:prstGeom>
          <a:ln w="12700">
            <a:miter lim="400000"/>
          </a:ln>
        </p:spPr>
      </p:pic>
      <p:pic>
        <p:nvPicPr>
          <p:cNvPr id="185" name="Google Shape;100;p19" descr="Google Shape;100;p19"/>
          <p:cNvPicPr>
            <a:picLocks noChangeAspect="1"/>
          </p:cNvPicPr>
          <p:nvPr/>
        </p:nvPicPr>
        <p:blipFill>
          <a:blip r:embed="rId11"/>
          <a:stretch>
            <a:fillRect/>
          </a:stretch>
        </p:blipFill>
        <p:spPr>
          <a:xfrm>
            <a:off x="6220894" y="2113636"/>
            <a:ext cx="1763244" cy="595968"/>
          </a:xfrm>
          <a:prstGeom prst="rect">
            <a:avLst/>
          </a:prstGeom>
          <a:ln w="12700">
            <a:miter lim="400000"/>
          </a:ln>
        </p:spPr>
      </p:pic>
      <p:sp>
        <p:nvSpPr>
          <p:cNvPr id="186" name="Google Shape;101;p19"/>
          <p:cNvSpPr/>
          <p:nvPr/>
        </p:nvSpPr>
        <p:spPr>
          <a:xfrm>
            <a:off x="31675" y="2876750"/>
            <a:ext cx="12128551" cy="1409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87" name="Google Shape;102;p19"/>
          <p:cNvSpPr txBox="1"/>
          <p:nvPr/>
        </p:nvSpPr>
        <p:spPr>
          <a:xfrm rot="16200000">
            <a:off x="-111351" y="3162137"/>
            <a:ext cx="1126501" cy="696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2900">
                <a:solidFill>
                  <a:srgbClr val="034D40"/>
                </a:solidFill>
                <a:latin typeface="Arial Black"/>
                <a:ea typeface="Arial Black"/>
                <a:cs typeface="Arial Black"/>
                <a:sym typeface="Arial Black"/>
              </a:defRPr>
            </a:pPr>
            <a:r>
              <a:rPr sz="1450"/>
              <a:t>Gold</a:t>
            </a:r>
            <a:endParaRPr sz="650"/>
          </a:p>
          <a:p>
            <a:pPr algn="ctr">
              <a:lnSpc>
                <a:spcPct val="90000"/>
              </a:lnSpc>
              <a:spcBef>
                <a:spcPts val="2250"/>
              </a:spcBef>
              <a:defRPr sz="2900">
                <a:solidFill>
                  <a:srgbClr val="034D40"/>
                </a:solidFill>
                <a:latin typeface="Arial Black"/>
                <a:ea typeface="Arial Black"/>
                <a:cs typeface="Arial Black"/>
                <a:sym typeface="Arial Black"/>
              </a:defRPr>
            </a:pPr>
            <a:r>
              <a:rPr sz="1450"/>
              <a:t> Sponsors</a:t>
            </a:r>
          </a:p>
        </p:txBody>
      </p:sp>
      <p:pic>
        <p:nvPicPr>
          <p:cNvPr id="188" name="Google Shape;103;p19" descr="Google Shape;103;p19"/>
          <p:cNvPicPr>
            <a:picLocks noChangeAspect="1"/>
          </p:cNvPicPr>
          <p:nvPr/>
        </p:nvPicPr>
        <p:blipFill>
          <a:blip r:embed="rId12"/>
          <a:stretch>
            <a:fillRect/>
          </a:stretch>
        </p:blipFill>
        <p:spPr>
          <a:xfrm>
            <a:off x="2315477" y="2967946"/>
            <a:ext cx="1527479" cy="452134"/>
          </a:xfrm>
          <a:prstGeom prst="rect">
            <a:avLst/>
          </a:prstGeom>
          <a:ln w="12700">
            <a:miter lim="400000"/>
          </a:ln>
        </p:spPr>
      </p:pic>
      <p:pic>
        <p:nvPicPr>
          <p:cNvPr id="189" name="Google Shape;104;p19" descr="Google Shape;104;p19"/>
          <p:cNvPicPr>
            <a:picLocks noChangeAspect="1"/>
          </p:cNvPicPr>
          <p:nvPr/>
        </p:nvPicPr>
        <p:blipFill>
          <a:blip r:embed="rId13"/>
          <a:stretch>
            <a:fillRect/>
          </a:stretch>
        </p:blipFill>
        <p:spPr>
          <a:xfrm>
            <a:off x="954676" y="3592719"/>
            <a:ext cx="1399708" cy="559884"/>
          </a:xfrm>
          <a:prstGeom prst="rect">
            <a:avLst/>
          </a:prstGeom>
          <a:ln w="12700">
            <a:miter lim="400000"/>
          </a:ln>
        </p:spPr>
      </p:pic>
      <p:pic>
        <p:nvPicPr>
          <p:cNvPr id="190" name="Google Shape;106;p19" descr="Google Shape;106;p19"/>
          <p:cNvPicPr>
            <a:picLocks noChangeAspect="1"/>
          </p:cNvPicPr>
          <p:nvPr/>
        </p:nvPicPr>
        <p:blipFill>
          <a:blip r:embed="rId14"/>
          <a:stretch>
            <a:fillRect/>
          </a:stretch>
        </p:blipFill>
        <p:spPr>
          <a:xfrm>
            <a:off x="7353878" y="3690157"/>
            <a:ext cx="1552842" cy="521755"/>
          </a:xfrm>
          <a:prstGeom prst="rect">
            <a:avLst/>
          </a:prstGeom>
          <a:ln w="12700">
            <a:miter lim="400000"/>
          </a:ln>
        </p:spPr>
      </p:pic>
      <p:pic>
        <p:nvPicPr>
          <p:cNvPr id="191" name="Google Shape;107;p19" descr="Google Shape;107;p19"/>
          <p:cNvPicPr>
            <a:picLocks noChangeAspect="1"/>
          </p:cNvPicPr>
          <p:nvPr/>
        </p:nvPicPr>
        <p:blipFill>
          <a:blip r:embed="rId15"/>
          <a:stretch>
            <a:fillRect/>
          </a:stretch>
        </p:blipFill>
        <p:spPr>
          <a:xfrm>
            <a:off x="821371" y="3017970"/>
            <a:ext cx="1666320" cy="559884"/>
          </a:xfrm>
          <a:prstGeom prst="rect">
            <a:avLst/>
          </a:prstGeom>
          <a:ln w="12700">
            <a:miter lim="400000"/>
          </a:ln>
        </p:spPr>
      </p:pic>
      <p:pic>
        <p:nvPicPr>
          <p:cNvPr id="192" name="Google Shape;108;p19" descr="Google Shape;108;p19"/>
          <p:cNvPicPr>
            <a:picLocks noChangeAspect="1"/>
          </p:cNvPicPr>
          <p:nvPr/>
        </p:nvPicPr>
        <p:blipFill>
          <a:blip r:embed="rId16"/>
          <a:stretch>
            <a:fillRect/>
          </a:stretch>
        </p:blipFill>
        <p:spPr>
          <a:xfrm>
            <a:off x="6059985" y="3004119"/>
            <a:ext cx="1278272" cy="559884"/>
          </a:xfrm>
          <a:prstGeom prst="rect">
            <a:avLst/>
          </a:prstGeom>
          <a:ln w="12700">
            <a:miter lim="400000"/>
          </a:ln>
        </p:spPr>
      </p:pic>
      <p:pic>
        <p:nvPicPr>
          <p:cNvPr id="193" name="Google Shape;109;p19" descr="Google Shape;109;p19"/>
          <p:cNvPicPr>
            <a:picLocks noChangeAspect="1"/>
          </p:cNvPicPr>
          <p:nvPr/>
        </p:nvPicPr>
        <p:blipFill>
          <a:blip r:embed="rId17"/>
          <a:stretch>
            <a:fillRect/>
          </a:stretch>
        </p:blipFill>
        <p:spPr>
          <a:xfrm>
            <a:off x="2195542" y="3611023"/>
            <a:ext cx="1676297" cy="559884"/>
          </a:xfrm>
          <a:prstGeom prst="rect">
            <a:avLst/>
          </a:prstGeom>
          <a:ln w="12700">
            <a:miter lim="400000"/>
          </a:ln>
        </p:spPr>
      </p:pic>
      <p:sp>
        <p:nvSpPr>
          <p:cNvPr id="194" name="Google Shape;110;p19"/>
          <p:cNvSpPr/>
          <p:nvPr/>
        </p:nvSpPr>
        <p:spPr>
          <a:xfrm>
            <a:off x="31750" y="4285850"/>
            <a:ext cx="12128551" cy="18286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95" name="Google Shape;111;p19"/>
          <p:cNvSpPr txBox="1"/>
          <p:nvPr/>
        </p:nvSpPr>
        <p:spPr>
          <a:xfrm>
            <a:off x="106750" y="4375789"/>
            <a:ext cx="2493300" cy="2492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600">
                <a:solidFill>
                  <a:srgbClr val="034D40"/>
                </a:solidFill>
                <a:latin typeface="Arial Black"/>
                <a:ea typeface="Arial Black"/>
                <a:cs typeface="Arial Black"/>
                <a:sym typeface="Arial Black"/>
              </a:defRPr>
            </a:lvl1pPr>
          </a:lstStyle>
          <a:p>
            <a:r>
              <a:rPr sz="1800"/>
              <a:t>Friends of KCDC</a:t>
            </a:r>
          </a:p>
        </p:txBody>
      </p:sp>
      <p:pic>
        <p:nvPicPr>
          <p:cNvPr id="196" name="Google Shape;112;p19" descr="Google Shape;112;p19"/>
          <p:cNvPicPr>
            <a:picLocks noChangeAspect="1"/>
          </p:cNvPicPr>
          <p:nvPr/>
        </p:nvPicPr>
        <p:blipFill>
          <a:blip r:embed="rId18"/>
          <a:stretch>
            <a:fillRect/>
          </a:stretch>
        </p:blipFill>
        <p:spPr>
          <a:xfrm>
            <a:off x="2674146" y="4505668"/>
            <a:ext cx="1174160" cy="309979"/>
          </a:xfrm>
          <a:prstGeom prst="rect">
            <a:avLst/>
          </a:prstGeom>
          <a:ln w="12700">
            <a:miter lim="400000"/>
          </a:ln>
        </p:spPr>
      </p:pic>
      <p:pic>
        <p:nvPicPr>
          <p:cNvPr id="197" name="Google Shape;113;p19" descr="Google Shape;113;p19"/>
          <p:cNvPicPr>
            <a:picLocks noChangeAspect="1"/>
          </p:cNvPicPr>
          <p:nvPr/>
        </p:nvPicPr>
        <p:blipFill>
          <a:blip r:embed="rId19"/>
          <a:stretch>
            <a:fillRect/>
          </a:stretch>
        </p:blipFill>
        <p:spPr>
          <a:xfrm>
            <a:off x="4084396" y="4452269"/>
            <a:ext cx="464039" cy="309979"/>
          </a:xfrm>
          <a:prstGeom prst="rect">
            <a:avLst/>
          </a:prstGeom>
          <a:ln w="12700">
            <a:miter lim="400000"/>
          </a:ln>
        </p:spPr>
      </p:pic>
      <p:pic>
        <p:nvPicPr>
          <p:cNvPr id="198" name="Google Shape;114;p19" descr="Google Shape;114;p19"/>
          <p:cNvPicPr>
            <a:picLocks noChangeAspect="1"/>
          </p:cNvPicPr>
          <p:nvPr/>
        </p:nvPicPr>
        <p:blipFill>
          <a:blip r:embed="rId20"/>
          <a:stretch>
            <a:fillRect/>
          </a:stretch>
        </p:blipFill>
        <p:spPr>
          <a:xfrm>
            <a:off x="4784527" y="4439144"/>
            <a:ext cx="742463" cy="309979"/>
          </a:xfrm>
          <a:prstGeom prst="rect">
            <a:avLst/>
          </a:prstGeom>
          <a:ln w="12700">
            <a:miter lim="400000"/>
          </a:ln>
        </p:spPr>
      </p:pic>
      <p:pic>
        <p:nvPicPr>
          <p:cNvPr id="199" name="Google Shape;115;p19" descr="Google Shape;115;p19"/>
          <p:cNvPicPr>
            <a:picLocks noChangeAspect="1"/>
          </p:cNvPicPr>
          <p:nvPr/>
        </p:nvPicPr>
        <p:blipFill>
          <a:blip r:embed="rId21"/>
          <a:stretch>
            <a:fillRect/>
          </a:stretch>
        </p:blipFill>
        <p:spPr>
          <a:xfrm>
            <a:off x="5611726" y="4474661"/>
            <a:ext cx="1342376" cy="238944"/>
          </a:xfrm>
          <a:prstGeom prst="rect">
            <a:avLst/>
          </a:prstGeom>
          <a:ln w="12700">
            <a:miter lim="400000"/>
          </a:ln>
        </p:spPr>
      </p:pic>
      <p:pic>
        <p:nvPicPr>
          <p:cNvPr id="200" name="Google Shape;116;p19" descr="Google Shape;116;p19"/>
          <p:cNvPicPr>
            <a:picLocks noChangeAspect="1"/>
          </p:cNvPicPr>
          <p:nvPr/>
        </p:nvPicPr>
        <p:blipFill>
          <a:blip r:embed="rId22"/>
          <a:stretch>
            <a:fillRect/>
          </a:stretch>
        </p:blipFill>
        <p:spPr>
          <a:xfrm>
            <a:off x="7216898" y="4514219"/>
            <a:ext cx="903809" cy="309979"/>
          </a:xfrm>
          <a:prstGeom prst="rect">
            <a:avLst/>
          </a:prstGeom>
          <a:ln w="12700">
            <a:miter lim="400000"/>
          </a:ln>
        </p:spPr>
      </p:pic>
      <p:pic>
        <p:nvPicPr>
          <p:cNvPr id="201" name="Google Shape;117;p19" descr="Google Shape;117;p19"/>
          <p:cNvPicPr>
            <a:picLocks noChangeAspect="1"/>
          </p:cNvPicPr>
          <p:nvPr/>
        </p:nvPicPr>
        <p:blipFill>
          <a:blip r:embed="rId23"/>
          <a:stretch>
            <a:fillRect/>
          </a:stretch>
        </p:blipFill>
        <p:spPr>
          <a:xfrm>
            <a:off x="9519920" y="4277654"/>
            <a:ext cx="704503" cy="704503"/>
          </a:xfrm>
          <a:prstGeom prst="rect">
            <a:avLst/>
          </a:prstGeom>
          <a:ln w="12700">
            <a:miter lim="400000"/>
          </a:ln>
        </p:spPr>
      </p:pic>
      <p:pic>
        <p:nvPicPr>
          <p:cNvPr id="202" name="Google Shape;118;p19" descr="Google Shape;118;p19"/>
          <p:cNvPicPr>
            <a:picLocks noChangeAspect="1"/>
          </p:cNvPicPr>
          <p:nvPr/>
        </p:nvPicPr>
        <p:blipFill>
          <a:blip r:embed="rId24"/>
          <a:stretch>
            <a:fillRect/>
          </a:stretch>
        </p:blipFill>
        <p:spPr>
          <a:xfrm>
            <a:off x="10431909" y="4476015"/>
            <a:ext cx="704496" cy="309979"/>
          </a:xfrm>
          <a:prstGeom prst="rect">
            <a:avLst/>
          </a:prstGeom>
          <a:ln w="12700">
            <a:miter lim="400000"/>
          </a:ln>
        </p:spPr>
      </p:pic>
      <p:pic>
        <p:nvPicPr>
          <p:cNvPr id="203" name="Google Shape;119;p19" descr="Google Shape;119;p19"/>
          <p:cNvPicPr>
            <a:picLocks noChangeAspect="1"/>
          </p:cNvPicPr>
          <p:nvPr/>
        </p:nvPicPr>
        <p:blipFill>
          <a:blip r:embed="rId25"/>
          <a:stretch>
            <a:fillRect/>
          </a:stretch>
        </p:blipFill>
        <p:spPr>
          <a:xfrm>
            <a:off x="572428" y="4990690"/>
            <a:ext cx="917095" cy="309979"/>
          </a:xfrm>
          <a:prstGeom prst="rect">
            <a:avLst/>
          </a:prstGeom>
          <a:ln w="12700">
            <a:miter lim="400000"/>
          </a:ln>
        </p:spPr>
      </p:pic>
      <p:pic>
        <p:nvPicPr>
          <p:cNvPr id="204" name="Google Shape;120;p19" descr="Google Shape;120;p19"/>
          <p:cNvPicPr>
            <a:picLocks noChangeAspect="1"/>
          </p:cNvPicPr>
          <p:nvPr/>
        </p:nvPicPr>
        <p:blipFill>
          <a:blip r:embed="rId26"/>
          <a:stretch>
            <a:fillRect/>
          </a:stretch>
        </p:blipFill>
        <p:spPr>
          <a:xfrm>
            <a:off x="1858922" y="5035469"/>
            <a:ext cx="1342376" cy="232783"/>
          </a:xfrm>
          <a:prstGeom prst="rect">
            <a:avLst/>
          </a:prstGeom>
          <a:ln w="12700">
            <a:miter lim="400000"/>
          </a:ln>
        </p:spPr>
      </p:pic>
      <p:pic>
        <p:nvPicPr>
          <p:cNvPr id="205" name="Google Shape;121;p19" descr="Google Shape;121;p19"/>
          <p:cNvPicPr>
            <a:picLocks noChangeAspect="1"/>
          </p:cNvPicPr>
          <p:nvPr/>
        </p:nvPicPr>
        <p:blipFill>
          <a:blip r:embed="rId27"/>
          <a:stretch>
            <a:fillRect/>
          </a:stretch>
        </p:blipFill>
        <p:spPr>
          <a:xfrm>
            <a:off x="3425801" y="4995421"/>
            <a:ext cx="1230072" cy="309979"/>
          </a:xfrm>
          <a:prstGeom prst="rect">
            <a:avLst/>
          </a:prstGeom>
          <a:ln w="12700">
            <a:miter lim="400000"/>
          </a:ln>
        </p:spPr>
      </p:pic>
      <p:pic>
        <p:nvPicPr>
          <p:cNvPr id="206" name="Google Shape;122;p19" descr="Google Shape;122;p19"/>
          <p:cNvPicPr>
            <a:picLocks noChangeAspect="1"/>
          </p:cNvPicPr>
          <p:nvPr/>
        </p:nvPicPr>
        <p:blipFill>
          <a:blip r:embed="rId28"/>
          <a:stretch>
            <a:fillRect/>
          </a:stretch>
        </p:blipFill>
        <p:spPr>
          <a:xfrm>
            <a:off x="5002749" y="4988864"/>
            <a:ext cx="794816" cy="309979"/>
          </a:xfrm>
          <a:prstGeom prst="rect">
            <a:avLst/>
          </a:prstGeom>
          <a:ln w="12700">
            <a:miter lim="400000"/>
          </a:ln>
        </p:spPr>
      </p:pic>
      <p:pic>
        <p:nvPicPr>
          <p:cNvPr id="207" name="Google Shape;123;p19" descr="Google Shape;123;p19"/>
          <p:cNvPicPr>
            <a:picLocks noChangeAspect="1"/>
          </p:cNvPicPr>
          <p:nvPr/>
        </p:nvPicPr>
        <p:blipFill>
          <a:blip r:embed="rId29"/>
          <a:stretch>
            <a:fillRect/>
          </a:stretch>
        </p:blipFill>
        <p:spPr>
          <a:xfrm>
            <a:off x="7256027" y="5052575"/>
            <a:ext cx="1342377" cy="177194"/>
          </a:xfrm>
          <a:prstGeom prst="rect">
            <a:avLst/>
          </a:prstGeom>
          <a:ln w="12700">
            <a:miter lim="400000"/>
          </a:ln>
        </p:spPr>
      </p:pic>
      <p:pic>
        <p:nvPicPr>
          <p:cNvPr id="208" name="Google Shape;124;p19" descr="Google Shape;124;p19"/>
          <p:cNvPicPr>
            <a:picLocks noChangeAspect="1"/>
          </p:cNvPicPr>
          <p:nvPr/>
        </p:nvPicPr>
        <p:blipFill>
          <a:blip r:embed="rId30"/>
          <a:stretch>
            <a:fillRect/>
          </a:stretch>
        </p:blipFill>
        <p:spPr>
          <a:xfrm>
            <a:off x="9231119" y="5045191"/>
            <a:ext cx="939328" cy="309979"/>
          </a:xfrm>
          <a:prstGeom prst="rect">
            <a:avLst/>
          </a:prstGeom>
          <a:ln w="12700">
            <a:miter lim="400000"/>
          </a:ln>
        </p:spPr>
      </p:pic>
      <p:pic>
        <p:nvPicPr>
          <p:cNvPr id="209" name="Google Shape;125;p19" descr="Google Shape;125;p19"/>
          <p:cNvPicPr>
            <a:picLocks noChangeAspect="1"/>
          </p:cNvPicPr>
          <p:nvPr/>
        </p:nvPicPr>
        <p:blipFill>
          <a:blip r:embed="rId31"/>
          <a:stretch>
            <a:fillRect/>
          </a:stretch>
        </p:blipFill>
        <p:spPr>
          <a:xfrm>
            <a:off x="10627572" y="4990826"/>
            <a:ext cx="1342378" cy="300693"/>
          </a:xfrm>
          <a:prstGeom prst="rect">
            <a:avLst/>
          </a:prstGeom>
          <a:ln w="12700">
            <a:miter lim="400000"/>
          </a:ln>
        </p:spPr>
      </p:pic>
      <p:pic>
        <p:nvPicPr>
          <p:cNvPr id="210" name="Google Shape;126;p19" descr="Google Shape;126;p19"/>
          <p:cNvPicPr>
            <a:picLocks noChangeAspect="1"/>
          </p:cNvPicPr>
          <p:nvPr/>
        </p:nvPicPr>
        <p:blipFill>
          <a:blip r:embed="rId32"/>
          <a:stretch>
            <a:fillRect/>
          </a:stretch>
        </p:blipFill>
        <p:spPr>
          <a:xfrm>
            <a:off x="230319" y="5666274"/>
            <a:ext cx="1522354" cy="274024"/>
          </a:xfrm>
          <a:prstGeom prst="rect">
            <a:avLst/>
          </a:prstGeom>
          <a:ln w="12700">
            <a:miter lim="400000"/>
          </a:ln>
        </p:spPr>
      </p:pic>
      <p:pic>
        <p:nvPicPr>
          <p:cNvPr id="211" name="Google Shape;127;p19" descr="Google Shape;127;p19"/>
          <p:cNvPicPr>
            <a:picLocks noChangeAspect="1"/>
          </p:cNvPicPr>
          <p:nvPr/>
        </p:nvPicPr>
        <p:blipFill>
          <a:blip r:embed="rId33"/>
          <a:stretch>
            <a:fillRect/>
          </a:stretch>
        </p:blipFill>
        <p:spPr>
          <a:xfrm>
            <a:off x="2476614" y="5498672"/>
            <a:ext cx="603071" cy="309979"/>
          </a:xfrm>
          <a:prstGeom prst="rect">
            <a:avLst/>
          </a:prstGeom>
          <a:ln w="12700">
            <a:miter lim="400000"/>
          </a:ln>
        </p:spPr>
      </p:pic>
      <p:pic>
        <p:nvPicPr>
          <p:cNvPr id="212" name="Google Shape;128;p19" descr="Google Shape;128;p19"/>
          <p:cNvPicPr>
            <a:picLocks noChangeAspect="1"/>
          </p:cNvPicPr>
          <p:nvPr/>
        </p:nvPicPr>
        <p:blipFill>
          <a:blip r:embed="rId34"/>
          <a:stretch>
            <a:fillRect/>
          </a:stretch>
        </p:blipFill>
        <p:spPr>
          <a:xfrm>
            <a:off x="3930870" y="5538579"/>
            <a:ext cx="1210852" cy="309979"/>
          </a:xfrm>
          <a:prstGeom prst="rect">
            <a:avLst/>
          </a:prstGeom>
          <a:ln w="12700">
            <a:miter lim="400000"/>
          </a:ln>
        </p:spPr>
      </p:pic>
      <p:pic>
        <p:nvPicPr>
          <p:cNvPr id="213" name="Google Shape;129;p19" descr="Google Shape;129;p19"/>
          <p:cNvPicPr>
            <a:picLocks noChangeAspect="1"/>
          </p:cNvPicPr>
          <p:nvPr/>
        </p:nvPicPr>
        <p:blipFill>
          <a:blip r:embed="rId35"/>
          <a:stretch>
            <a:fillRect/>
          </a:stretch>
        </p:blipFill>
        <p:spPr>
          <a:xfrm>
            <a:off x="5635477" y="5453326"/>
            <a:ext cx="603076" cy="521755"/>
          </a:xfrm>
          <a:prstGeom prst="rect">
            <a:avLst/>
          </a:prstGeom>
          <a:ln w="12700">
            <a:miter lim="400000"/>
          </a:ln>
        </p:spPr>
      </p:pic>
      <p:pic>
        <p:nvPicPr>
          <p:cNvPr id="214" name="Google Shape;130;p19" descr="Google Shape;130;p19"/>
          <p:cNvPicPr>
            <a:picLocks noChangeAspect="1"/>
          </p:cNvPicPr>
          <p:nvPr/>
        </p:nvPicPr>
        <p:blipFill>
          <a:blip r:embed="rId36"/>
          <a:stretch>
            <a:fillRect/>
          </a:stretch>
        </p:blipFill>
        <p:spPr>
          <a:xfrm>
            <a:off x="6832344" y="5564520"/>
            <a:ext cx="1522355" cy="247383"/>
          </a:xfrm>
          <a:prstGeom prst="rect">
            <a:avLst/>
          </a:prstGeom>
          <a:ln w="12700">
            <a:miter lim="400000"/>
          </a:ln>
        </p:spPr>
      </p:pic>
      <p:pic>
        <p:nvPicPr>
          <p:cNvPr id="215" name="Google Shape;131;p19" descr="Google Shape;131;p19"/>
          <p:cNvPicPr>
            <a:picLocks noChangeAspect="1"/>
          </p:cNvPicPr>
          <p:nvPr/>
        </p:nvPicPr>
        <p:blipFill>
          <a:blip r:embed="rId37"/>
          <a:stretch>
            <a:fillRect/>
          </a:stretch>
        </p:blipFill>
        <p:spPr>
          <a:xfrm>
            <a:off x="8690644" y="5524657"/>
            <a:ext cx="1220386" cy="309979"/>
          </a:xfrm>
          <a:prstGeom prst="rect">
            <a:avLst/>
          </a:prstGeom>
          <a:ln w="12700">
            <a:miter lim="400000"/>
          </a:ln>
        </p:spPr>
      </p:pic>
      <p:pic>
        <p:nvPicPr>
          <p:cNvPr id="216" name="Google Shape;132;p19" descr="Google Shape;132;p19"/>
          <p:cNvPicPr>
            <a:picLocks noChangeAspect="1"/>
          </p:cNvPicPr>
          <p:nvPr/>
        </p:nvPicPr>
        <p:blipFill>
          <a:blip r:embed="rId38"/>
          <a:stretch>
            <a:fillRect/>
          </a:stretch>
        </p:blipFill>
        <p:spPr>
          <a:xfrm>
            <a:off x="10535969" y="5494370"/>
            <a:ext cx="1408991" cy="309979"/>
          </a:xfrm>
          <a:prstGeom prst="rect">
            <a:avLst/>
          </a:prstGeom>
          <a:ln w="12700">
            <a:miter lim="400000"/>
          </a:ln>
        </p:spPr>
      </p:pic>
      <p:sp>
        <p:nvSpPr>
          <p:cNvPr id="217" name="Google Shape;133;p19"/>
          <p:cNvSpPr/>
          <p:nvPr/>
        </p:nvSpPr>
        <p:spPr>
          <a:xfrm>
            <a:off x="31750" y="6129577"/>
            <a:ext cx="12128500" cy="696673"/>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218" name="Google Shape;134;p19"/>
          <p:cNvSpPr txBox="1"/>
          <p:nvPr/>
        </p:nvSpPr>
        <p:spPr>
          <a:xfrm>
            <a:off x="1808625" y="6244009"/>
            <a:ext cx="2905201" cy="3877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2800">
                <a:solidFill>
                  <a:srgbClr val="034D40"/>
                </a:solidFill>
                <a:latin typeface="Arial Black"/>
                <a:ea typeface="Arial Black"/>
                <a:cs typeface="Arial Black"/>
                <a:sym typeface="Arial Black"/>
              </a:defRPr>
            </a:lvl1pPr>
          </a:lstStyle>
          <a:p>
            <a:r>
              <a:rPr sz="1400"/>
              <a:t>Other Awesome Organizations</a:t>
            </a:r>
          </a:p>
        </p:txBody>
      </p:sp>
      <p:pic>
        <p:nvPicPr>
          <p:cNvPr id="219" name="Google Shape;135;p19" descr="Google Shape;135;p19"/>
          <p:cNvPicPr>
            <a:picLocks noChangeAspect="1"/>
          </p:cNvPicPr>
          <p:nvPr/>
        </p:nvPicPr>
        <p:blipFill>
          <a:blip r:embed="rId39"/>
          <a:stretch>
            <a:fillRect/>
          </a:stretch>
        </p:blipFill>
        <p:spPr>
          <a:xfrm>
            <a:off x="4608376" y="6343646"/>
            <a:ext cx="937555" cy="280088"/>
          </a:xfrm>
          <a:prstGeom prst="rect">
            <a:avLst/>
          </a:prstGeom>
          <a:ln w="12700">
            <a:miter lim="400000"/>
          </a:ln>
        </p:spPr>
      </p:pic>
      <p:pic>
        <p:nvPicPr>
          <p:cNvPr id="220" name="Google Shape;136;p19" descr="Google Shape;136;p19"/>
          <p:cNvPicPr>
            <a:picLocks noChangeAspect="1"/>
          </p:cNvPicPr>
          <p:nvPr/>
        </p:nvPicPr>
        <p:blipFill>
          <a:blip r:embed="rId40"/>
          <a:stretch>
            <a:fillRect/>
          </a:stretch>
        </p:blipFill>
        <p:spPr>
          <a:xfrm>
            <a:off x="5797567" y="6231822"/>
            <a:ext cx="503751" cy="503751"/>
          </a:xfrm>
          <a:prstGeom prst="rect">
            <a:avLst/>
          </a:prstGeom>
          <a:ln w="12700">
            <a:miter lim="400000"/>
          </a:ln>
        </p:spPr>
      </p:pic>
      <p:pic>
        <p:nvPicPr>
          <p:cNvPr id="221" name="Google Shape;137;p19" descr="Google Shape;137;p19"/>
          <p:cNvPicPr>
            <a:picLocks noChangeAspect="1"/>
          </p:cNvPicPr>
          <p:nvPr/>
        </p:nvPicPr>
        <p:blipFill>
          <a:blip r:embed="rId41"/>
          <a:stretch>
            <a:fillRect/>
          </a:stretch>
        </p:blipFill>
        <p:spPr>
          <a:xfrm>
            <a:off x="6552953" y="6319526"/>
            <a:ext cx="748288" cy="416052"/>
          </a:xfrm>
          <a:prstGeom prst="rect">
            <a:avLst/>
          </a:prstGeom>
          <a:ln w="12700">
            <a:miter lim="400000"/>
          </a:ln>
        </p:spPr>
      </p:pic>
      <p:pic>
        <p:nvPicPr>
          <p:cNvPr id="222" name="Google Shape;138;p19" descr="Google Shape;138;p19"/>
          <p:cNvPicPr>
            <a:picLocks noChangeAspect="1"/>
          </p:cNvPicPr>
          <p:nvPr/>
        </p:nvPicPr>
        <p:blipFill>
          <a:blip r:embed="rId42"/>
          <a:stretch>
            <a:fillRect/>
          </a:stretch>
        </p:blipFill>
        <p:spPr>
          <a:xfrm>
            <a:off x="11145928" y="4105837"/>
            <a:ext cx="939321" cy="939321"/>
          </a:xfrm>
          <a:prstGeom prst="rect">
            <a:avLst/>
          </a:prstGeom>
          <a:ln w="12700">
            <a:miter lim="400000"/>
          </a:ln>
        </p:spPr>
      </p:pic>
      <p:pic>
        <p:nvPicPr>
          <p:cNvPr id="223" name="Google Shape;140;p19" descr="Google Shape;140;p19"/>
          <p:cNvPicPr>
            <a:picLocks noChangeAspect="1"/>
          </p:cNvPicPr>
          <p:nvPr/>
        </p:nvPicPr>
        <p:blipFill>
          <a:blip r:embed="rId43"/>
          <a:srcRect l="35271" t="34580" r="36799" b="43508"/>
          <a:stretch>
            <a:fillRect/>
          </a:stretch>
        </p:blipFill>
        <p:spPr>
          <a:xfrm>
            <a:off x="5859977" y="4934100"/>
            <a:ext cx="1278263" cy="334251"/>
          </a:xfrm>
          <a:prstGeom prst="rect">
            <a:avLst/>
          </a:prstGeom>
          <a:ln w="12700">
            <a:miter lim="400000"/>
          </a:ln>
        </p:spPr>
      </p:pic>
      <p:pic>
        <p:nvPicPr>
          <p:cNvPr id="224" name="Screenshot 2026-09-07 at 2.39.10 PM.pngGoogle Shape;141;p19" descr="Screenshot 2026-09-07 at 2.39.10 PM.pngGoogle Shape;141;p19"/>
          <p:cNvPicPr>
            <a:picLocks noChangeAspect="1"/>
          </p:cNvPicPr>
          <p:nvPr/>
        </p:nvPicPr>
        <p:blipFill>
          <a:blip r:embed="rId44"/>
          <a:stretch>
            <a:fillRect/>
          </a:stretch>
        </p:blipFill>
        <p:spPr>
          <a:xfrm>
            <a:off x="8272787" y="4475262"/>
            <a:ext cx="1175687" cy="387901"/>
          </a:xfrm>
          <a:prstGeom prst="rect">
            <a:avLst/>
          </a:prstGeom>
          <a:ln w="12700">
            <a:miter lim="400000"/>
          </a:ln>
        </p:spPr>
      </p:pic>
      <p:pic>
        <p:nvPicPr>
          <p:cNvPr id="225" name="Kestra.full.logo.dark.png" descr="Kestra.full.logo.dark.png"/>
          <p:cNvPicPr>
            <a:picLocks noChangeAspect="1"/>
          </p:cNvPicPr>
          <p:nvPr/>
        </p:nvPicPr>
        <p:blipFill>
          <a:blip r:embed="rId45"/>
          <a:stretch>
            <a:fillRect/>
          </a:stretch>
        </p:blipFill>
        <p:spPr>
          <a:xfrm>
            <a:off x="9578292" y="2227400"/>
            <a:ext cx="1529475" cy="349251"/>
          </a:xfrm>
          <a:prstGeom prst="rect">
            <a:avLst/>
          </a:prstGeom>
          <a:ln w="12700">
            <a:miter lim="400000"/>
          </a:ln>
        </p:spPr>
      </p:pic>
      <p:pic>
        <p:nvPicPr>
          <p:cNvPr id="226" name="pasted-movie.png" descr="pasted-movie.png"/>
          <p:cNvPicPr>
            <a:picLocks noChangeAspect="1"/>
          </p:cNvPicPr>
          <p:nvPr/>
        </p:nvPicPr>
        <p:blipFill>
          <a:blip r:embed="rId46"/>
          <a:stretch>
            <a:fillRect/>
          </a:stretch>
        </p:blipFill>
        <p:spPr>
          <a:xfrm>
            <a:off x="7931429" y="2137018"/>
            <a:ext cx="1700075" cy="572586"/>
          </a:xfrm>
          <a:prstGeom prst="rect">
            <a:avLst/>
          </a:prstGeom>
          <a:ln w="12700">
            <a:miter lim="400000"/>
          </a:ln>
        </p:spPr>
      </p:pic>
      <p:pic>
        <p:nvPicPr>
          <p:cNvPr id="227" name="pasted-movie.png" descr="pasted-movie.png"/>
          <p:cNvPicPr>
            <a:picLocks noChangeAspect="1"/>
          </p:cNvPicPr>
          <p:nvPr/>
        </p:nvPicPr>
        <p:blipFill>
          <a:blip r:embed="rId47"/>
          <a:stretch>
            <a:fillRect/>
          </a:stretch>
        </p:blipFill>
        <p:spPr>
          <a:xfrm>
            <a:off x="4239792" y="2181250"/>
            <a:ext cx="1884033" cy="437583"/>
          </a:xfrm>
          <a:prstGeom prst="rect">
            <a:avLst/>
          </a:prstGeom>
          <a:ln w="12700">
            <a:miter lim="400000"/>
          </a:ln>
        </p:spPr>
      </p:pic>
      <p:pic>
        <p:nvPicPr>
          <p:cNvPr id="228" name="pasted-movie.png" descr="pasted-movie.png"/>
          <p:cNvPicPr>
            <a:picLocks noChangeAspect="1"/>
          </p:cNvPicPr>
          <p:nvPr/>
        </p:nvPicPr>
        <p:blipFill>
          <a:blip r:embed="rId48"/>
          <a:stretch>
            <a:fillRect/>
          </a:stretch>
        </p:blipFill>
        <p:spPr>
          <a:xfrm>
            <a:off x="7749448" y="2849304"/>
            <a:ext cx="1230072" cy="922554"/>
          </a:xfrm>
          <a:prstGeom prst="rect">
            <a:avLst/>
          </a:prstGeom>
          <a:ln w="12700">
            <a:miter lim="400000"/>
          </a:ln>
        </p:spPr>
      </p:pic>
      <p:pic>
        <p:nvPicPr>
          <p:cNvPr id="229" name="pasted-movie.png" descr="pasted-movie.png"/>
          <p:cNvPicPr>
            <a:picLocks noChangeAspect="1"/>
          </p:cNvPicPr>
          <p:nvPr/>
        </p:nvPicPr>
        <p:blipFill>
          <a:blip r:embed="rId49"/>
          <a:stretch>
            <a:fillRect/>
          </a:stretch>
        </p:blipFill>
        <p:spPr>
          <a:xfrm>
            <a:off x="5888951" y="3749467"/>
            <a:ext cx="1220386" cy="403136"/>
          </a:xfrm>
          <a:prstGeom prst="rect">
            <a:avLst/>
          </a:prstGeom>
          <a:ln w="12700">
            <a:miter lim="400000"/>
          </a:ln>
        </p:spPr>
      </p:pic>
      <p:pic>
        <p:nvPicPr>
          <p:cNvPr id="230" name="DPL-full-color-2-o.svg" descr="DPL-full-color-2-o.svg"/>
          <p:cNvPicPr>
            <a:picLocks noChangeAspect="1"/>
          </p:cNvPicPr>
          <p:nvPr/>
        </p:nvPicPr>
        <p:blipFill>
          <a:blip r:embed="rId50"/>
          <a:stretch>
            <a:fillRect/>
          </a:stretch>
        </p:blipFill>
        <p:spPr>
          <a:xfrm>
            <a:off x="9242306" y="2984962"/>
            <a:ext cx="1344241" cy="696018"/>
          </a:xfrm>
          <a:prstGeom prst="rect">
            <a:avLst/>
          </a:prstGeom>
          <a:ln w="12700">
            <a:miter lim="400000"/>
          </a:ln>
        </p:spPr>
      </p:pic>
      <p:pic>
        <p:nvPicPr>
          <p:cNvPr id="231" name="pasted-movie.png" descr="pasted-movie.png"/>
          <p:cNvPicPr>
            <a:picLocks noChangeAspect="1"/>
          </p:cNvPicPr>
          <p:nvPr/>
        </p:nvPicPr>
        <p:blipFill>
          <a:blip r:embed="rId51"/>
          <a:srcRect l="10454" t="19945" r="7619"/>
          <a:stretch>
            <a:fillRect/>
          </a:stretch>
        </p:blipFill>
        <p:spPr>
          <a:xfrm>
            <a:off x="10667730" y="3004119"/>
            <a:ext cx="1262049" cy="625054"/>
          </a:xfrm>
          <a:prstGeom prst="rect">
            <a:avLst/>
          </a:prstGeom>
          <a:ln w="12700">
            <a:miter lim="400000"/>
          </a:ln>
        </p:spPr>
      </p:pic>
      <p:pic>
        <p:nvPicPr>
          <p:cNvPr id="232" name="pasted-movie.png" descr="pasted-movie.png"/>
          <p:cNvPicPr>
            <a:picLocks noChangeAspect="1"/>
          </p:cNvPicPr>
          <p:nvPr/>
        </p:nvPicPr>
        <p:blipFill>
          <a:blip r:embed="rId52"/>
          <a:srcRect t="22160" b="22160"/>
          <a:stretch>
            <a:fillRect/>
          </a:stretch>
        </p:blipFill>
        <p:spPr>
          <a:xfrm>
            <a:off x="9005214" y="3686306"/>
            <a:ext cx="1547419" cy="487512"/>
          </a:xfrm>
          <a:prstGeom prst="rect">
            <a:avLst/>
          </a:prstGeom>
          <a:ln w="12700">
            <a:miter lim="400000"/>
          </a:ln>
        </p:spPr>
      </p:pic>
      <p:pic>
        <p:nvPicPr>
          <p:cNvPr id="233" name="pasted-movie.png" descr="pasted-movie.png"/>
          <p:cNvPicPr>
            <a:picLocks noChangeAspect="1"/>
          </p:cNvPicPr>
          <p:nvPr/>
        </p:nvPicPr>
        <p:blipFill>
          <a:blip r:embed="rId53"/>
          <a:stretch>
            <a:fillRect/>
          </a:stretch>
        </p:blipFill>
        <p:spPr>
          <a:xfrm>
            <a:off x="10567265" y="3776466"/>
            <a:ext cx="1346337" cy="387901"/>
          </a:xfrm>
          <a:prstGeom prst="rect">
            <a:avLst/>
          </a:prstGeom>
          <a:ln w="12700">
            <a:miter lim="400000"/>
          </a:ln>
        </p:spPr>
      </p:pic>
      <p:pic>
        <p:nvPicPr>
          <p:cNvPr id="234" name="pasted-movie.png" descr="pasted-movie.png"/>
          <p:cNvPicPr>
            <a:picLocks noChangeAspect="1"/>
          </p:cNvPicPr>
          <p:nvPr/>
        </p:nvPicPr>
        <p:blipFill>
          <a:blip r:embed="rId54"/>
          <a:srcRect t="19950" b="19950"/>
          <a:stretch>
            <a:fillRect/>
          </a:stretch>
        </p:blipFill>
        <p:spPr>
          <a:xfrm>
            <a:off x="3990829" y="3652175"/>
            <a:ext cx="1653671" cy="521760"/>
          </a:xfrm>
          <a:prstGeom prst="rect">
            <a:avLst/>
          </a:prstGeom>
          <a:ln w="12700">
            <a:miter lim="400000"/>
          </a:ln>
        </p:spPr>
      </p:pic>
      <p:pic>
        <p:nvPicPr>
          <p:cNvPr id="235" name="pasted-movie.png" descr="pasted-movie.png"/>
          <p:cNvPicPr>
            <a:picLocks noChangeAspect="1"/>
          </p:cNvPicPr>
          <p:nvPr/>
        </p:nvPicPr>
        <p:blipFill>
          <a:blip r:embed="rId55"/>
          <a:stretch>
            <a:fillRect/>
          </a:stretch>
        </p:blipFill>
        <p:spPr>
          <a:xfrm>
            <a:off x="3986446" y="3085793"/>
            <a:ext cx="1662348" cy="309979"/>
          </a:xfrm>
          <a:prstGeom prst="rect">
            <a:avLst/>
          </a:prstGeom>
          <a:ln w="12700">
            <a:miter lim="400000"/>
          </a:ln>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2005</a:t>
            </a:r>
            <a:endParaRPr lang="en-US" sz="1600" dirty="0">
              <a:solidFill>
                <a:schemeClr val="bg1">
                  <a:lumMod val="75000"/>
                </a:schemeClr>
              </a:solidFill>
            </a:endParaRPr>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2009</a:t>
            </a:r>
            <a:endParaRPr lang="en-US" sz="1600" dirty="0">
              <a:solidFill>
                <a:schemeClr val="bg1">
                  <a:lumMod val="75000"/>
                </a:schemeClr>
              </a:solidFill>
            </a:endParaRPr>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2010</a:t>
            </a:r>
            <a:endParaRPr lang="en-US" sz="1600" dirty="0">
              <a:solidFill>
                <a:schemeClr val="bg1">
                  <a:lumMod val="75000"/>
                </a:schemeClr>
              </a:solidFill>
            </a:endParaRPr>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2011</a:t>
            </a:r>
            <a:endParaRPr lang="en-US" sz="1600" dirty="0">
              <a:solidFill>
                <a:schemeClr val="bg1">
                  <a:lumMod val="75000"/>
                </a:schemeClr>
              </a:solidFill>
            </a:endParaRPr>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2013</a:t>
            </a:r>
            <a:endParaRPr lang="en-US" sz="1600" dirty="0">
              <a:solidFill>
                <a:schemeClr val="bg1">
                  <a:lumMod val="75000"/>
                </a:schemeClr>
              </a:solidFill>
            </a:endParaRPr>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2015</a:t>
            </a:r>
            <a:endParaRPr lang="en-US" sz="1600" dirty="0">
              <a:solidFill>
                <a:schemeClr val="bg1">
                  <a:lumMod val="75000"/>
                </a:schemeClr>
              </a:solidFill>
            </a:endParaRPr>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2016</a:t>
            </a:r>
            <a:endParaRPr lang="en-US" sz="1600" dirty="0">
              <a:solidFill>
                <a:schemeClr val="bg1">
                  <a:lumMod val="75000"/>
                </a:schemeClr>
              </a:solidFill>
            </a:endParaRPr>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00B0F0"/>
            </a:solidFill>
            <a:prstDash val="solid"/>
          </a:ln>
        </p:spPr>
        <p:txBody>
          <a:bodyPr/>
          <a:lstStyle/>
          <a:p>
            <a:endParaRPr lang="en-US" sz="2400">
              <a:solidFill>
                <a:srgbClr val="00B0F0"/>
              </a:solidFill>
            </a:endParaRPr>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00B0F0"/>
                </a:solidFill>
                <a:latin typeface="Arial" pitchFamily="34" charset="0"/>
                <a:ea typeface="Arial" pitchFamily="34" charset="-122"/>
                <a:cs typeface="Arial" pitchFamily="34" charset="-120"/>
              </a:rPr>
              <a:t>Tailwind</a:t>
            </a:r>
            <a:endParaRPr lang="en-US" dirty="0">
              <a:solidFill>
                <a:srgbClr val="00B0F0"/>
              </a:solidFill>
            </a:endParaRPr>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chemeClr val="bg1"/>
                </a:solidFill>
                <a:latin typeface="Courier New" pitchFamily="34" charset="0"/>
                <a:ea typeface="Courier New" pitchFamily="34" charset="-122"/>
                <a:cs typeface="Courier New" pitchFamily="34" charset="-120"/>
              </a:rPr>
              <a:t>2017→</a:t>
            </a:r>
            <a:endParaRPr lang="en-US" sz="1600" dirty="0">
              <a:solidFill>
                <a:schemeClr val="bg1"/>
              </a:solidFill>
            </a:endParaRPr>
          </a:p>
        </p:txBody>
      </p:sp>
    </p:spTree>
    <p:extLst>
      <p:ext uri="{BB962C8B-B14F-4D97-AF65-F5344CB8AC3E}">
        <p14:creationId xmlns:p14="http://schemas.microsoft.com/office/powerpoint/2010/main" val="3337599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v0</a:t>
            </a:r>
            <a:endParaRPr lang="en-US" sz="2000" dirty="0">
              <a:solidFill>
                <a:srgbClr val="FFC000"/>
              </a:solidFill>
            </a:endParaRPr>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chemeClr val="bg1">
                    <a:lumMod val="85000"/>
                  </a:schemeClr>
                </a:solidFill>
                <a:latin typeface="Arial" pitchFamily="34" charset="0"/>
                <a:ea typeface="Arial" pitchFamily="34" charset="-122"/>
                <a:cs typeface="Arial" pitchFamily="34" charset="-120"/>
              </a:rPr>
              <a:t>Vercel</a:t>
            </a:r>
            <a:endParaRPr lang="en-US" dirty="0">
              <a:solidFill>
                <a:schemeClr val="bg1">
                  <a:lumMod val="85000"/>
                </a:schemeClr>
              </a:solidFill>
            </a:endParaRPr>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bolt.new</a:t>
            </a:r>
            <a:endParaRPr lang="en-US" sz="2000" dirty="0">
              <a:solidFill>
                <a:srgbClr val="FFC000"/>
              </a:solidFill>
            </a:endParaRPr>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StackBlitz</a:t>
            </a:r>
            <a:endParaRPr lang="en-US" sz="1600" dirty="0">
              <a:solidFill>
                <a:schemeClr val="bg1">
                  <a:lumMod val="85000"/>
                </a:schemeClr>
              </a:solidFill>
            </a:endParaRPr>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Lovable</a:t>
            </a:r>
            <a:endParaRPr lang="en-US" sz="2000" dirty="0">
              <a:solidFill>
                <a:srgbClr val="FFC000"/>
              </a:solidFill>
            </a:endParaRPr>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full-app gen</a:t>
            </a:r>
            <a:endParaRPr lang="en-US" sz="1600" dirty="0">
              <a:solidFill>
                <a:schemeClr val="bg1">
                  <a:lumMod val="85000"/>
                </a:schemeClr>
              </a:solidFill>
            </a:endParaRPr>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Claude Artifacts</a:t>
            </a:r>
            <a:endParaRPr lang="en-US" sz="2000" dirty="0">
              <a:solidFill>
                <a:srgbClr val="FFC000"/>
              </a:solidFill>
            </a:endParaRPr>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Anthropic</a:t>
            </a:r>
            <a:endParaRPr lang="en-US" sz="1600" dirty="0">
              <a:solidFill>
                <a:schemeClr val="bg1">
                  <a:lumMod val="85000"/>
                </a:schemeClr>
              </a:solidFill>
            </a:endParaRPr>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shadcn/ui</a:t>
            </a:r>
            <a:endParaRPr lang="en-US" sz="2000" dirty="0">
              <a:solidFill>
                <a:srgbClr val="FFC000"/>
              </a:solidFill>
            </a:endParaRPr>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default for AI tools</a:t>
            </a:r>
            <a:endParaRPr lang="en-US" sz="1600" dirty="0">
              <a:solidFill>
                <a:schemeClr val="bg1">
                  <a:lumMod val="85000"/>
                </a:schemeClr>
              </a:solidFill>
            </a:endParaRPr>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Cursor, Copilot</a:t>
            </a:r>
            <a:endParaRPr lang="en-US" sz="2000" dirty="0">
              <a:solidFill>
                <a:srgbClr val="FFC000"/>
              </a:solidFill>
            </a:endParaRPr>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lean Tailwind</a:t>
            </a:r>
            <a:endParaRPr lang="en-US" sz="1600" dirty="0">
              <a:solidFill>
                <a:schemeClr val="bg1">
                  <a:lumMod val="85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ai agents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095847" y="1919494"/>
            <a:ext cx="3730752" cy="292608"/>
          </a:xfrm>
          <a:prstGeom prst="rect">
            <a:avLst/>
          </a:prstGeom>
          <a:noFill/>
          <a:ln/>
        </p:spPr>
        <p:txBody>
          <a:bodyPr wrap="square" lIns="0" tIns="0" rIns="0" bIns="0" rtlCol="0" anchor="ctr"/>
          <a:lstStyle/>
          <a:p>
            <a:pPr marL="0" indent="0" algn="l">
              <a:buNone/>
            </a:pPr>
            <a:r>
              <a:rPr lang="en-US" dirty="0">
                <a:solidFill>
                  <a:schemeClr val="bg1"/>
                </a:solidFill>
                <a:latin typeface="Courier New" pitchFamily="34" charset="0"/>
                <a:ea typeface="Courier New" pitchFamily="34" charset="-122"/>
                <a:cs typeface="Courier New" pitchFamily="34" charset="-120"/>
              </a:rPr>
              <a:t>styles.css</a:t>
            </a:r>
            <a:endParaRPr lang="en-US" dirty="0">
              <a:solidFill>
                <a:schemeClr val="bg1"/>
              </a:solidFill>
            </a:endParaRPr>
          </a:p>
        </p:txBody>
      </p:sp>
      <p:sp>
        <p:nvSpPr>
          <p:cNvPr id="16" name="Text 14"/>
          <p:cNvSpPr/>
          <p:nvPr/>
        </p:nvSpPr>
        <p:spPr>
          <a:xfrm>
            <a:off x="5927962" y="2699238"/>
            <a:ext cx="5721810" cy="3010898"/>
          </a:xfrm>
          <a:prstGeom prst="rect">
            <a:avLst/>
          </a:prstGeom>
          <a:noFill/>
          <a:ln/>
        </p:spPr>
        <p:txBody>
          <a:bodyPr wrap="square" lIns="0" tIns="0" rIns="0" bIns="0" rtlCol="0" anchor="t"/>
          <a:lstStyle/>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__header</a:t>
            </a:r>
            <a:r>
              <a:rPr lang="en-US" sz="2400" dirty="0">
                <a:solidFill>
                  <a:srgbClr val="FF6A4C"/>
                </a:solidFill>
                <a:latin typeface="Cascadia Code" panose="020B0609020000020004" pitchFamily="34" charset="0"/>
                <a:ea typeface="Cascadia Code" panose="020B0609020000020004" pitchFamily="34" charset="0"/>
                <a:cs typeface="Cascadia Code" panose="020B0609020000020004" pitchFamily="34" charset="0"/>
              </a:rPr>
              <a:t>--featured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border-color</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#75dfbc;</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__cta</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__badge</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Component.tsx</a:t>
            </a:r>
            <a:endParaRPr lang="en-US"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&lt;div className=</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styles.css</a:t>
            </a:r>
            <a:endParaRPr lang="en-US"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solidFill>
                <a:latin typeface="Courier New" pitchFamily="34" charset="0"/>
                <a:ea typeface="Courier New" pitchFamily="34" charset="-122"/>
                <a:cs typeface="Courier New" pitchFamily="34" charset="-120"/>
              </a:rPr>
              <a:t>PricingCard.tsx (the whole component)</a:t>
            </a:r>
            <a:endParaRPr lang="en-US" sz="1600" dirty="0">
              <a:solidFill>
                <a:schemeClr val="bg1"/>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chemeClr val="bg1">
                    <a:lumMod val="75000"/>
                  </a:schemeClr>
                </a:solidFill>
                <a:latin typeface="Courier New" pitchFamily="34" charset="0"/>
                <a:ea typeface="Courier New" pitchFamily="34" charset="-122"/>
                <a:cs typeface="Courier New" pitchFamily="34" charset="-120"/>
              </a:rPr>
              <a:t>// no CSS file. no class names. no cascade.</a:t>
            </a:r>
            <a:endParaRPr lang="en-US" sz="2400" dirty="0">
              <a:solidFill>
                <a:schemeClr val="bg1">
                  <a:lumMod val="75000"/>
                </a:schemeClr>
              </a:solidFill>
            </a:endParaRPr>
          </a:p>
          <a:p>
            <a:pPr marL="0" indent="0" algn="l">
              <a:lnSpc>
                <a:spcPct val="115000"/>
              </a:lnSpc>
              <a:buNone/>
            </a:pPr>
            <a:endParaRPr lang="en-US" sz="2400" dirty="0"/>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className=</a:t>
            </a: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  "rounded-lg px-4 py-3 font-bold"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&amp;&amp;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"bg-mint text-ink hover:bg-mint/80"</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Choose plan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E1CAD1-B15B-A2D8-35D6-83B9D6BE0862}"/>
              </a:ext>
            </a:extLst>
          </p:cNvPr>
          <p:cNvSpPr txBox="1"/>
          <p:nvPr/>
        </p:nvSpPr>
        <p:spPr>
          <a:xfrm>
            <a:off x="3248594" y="2921168"/>
            <a:ext cx="5694829" cy="1446550"/>
          </a:xfrm>
          <a:prstGeom prst="rect">
            <a:avLst/>
          </a:prstGeom>
          <a:noFill/>
        </p:spPr>
        <p:txBody>
          <a:bodyPr wrap="none" rtlCol="0">
            <a:spAutoFit/>
          </a:bodyPr>
          <a:lstStyle/>
          <a:p>
            <a:pPr algn="ctr"/>
            <a:r>
              <a:rPr lang="en-GB" sz="4400" dirty="0"/>
              <a:t>ui.shadcn.com/create</a:t>
            </a:r>
          </a:p>
          <a:p>
            <a:pPr algn="ctr"/>
            <a:r>
              <a:rPr lang="en-GB" sz="4400" dirty="0"/>
              <a:t>and a real-world project</a:t>
            </a:r>
          </a:p>
        </p:txBody>
      </p:sp>
      <p:sp>
        <p:nvSpPr>
          <p:cNvPr id="4" name="TextBox 3">
            <a:extLst>
              <a:ext uri="{FF2B5EF4-FFF2-40B4-BE49-F238E27FC236}">
                <a16:creationId xmlns:a16="http://schemas.microsoft.com/office/drawing/2014/main" id="{FF09DC34-3988-202A-4626-3F602CA75663}"/>
              </a:ext>
            </a:extLst>
          </p:cNvPr>
          <p:cNvSpPr txBox="1"/>
          <p:nvPr/>
        </p:nvSpPr>
        <p:spPr>
          <a:xfrm>
            <a:off x="817832" y="510741"/>
            <a:ext cx="6105644" cy="1015663"/>
          </a:xfrm>
          <a:prstGeom prst="rect">
            <a:avLst/>
          </a:prstGeom>
          <a:noFill/>
        </p:spPr>
        <p:txBody>
          <a:bodyPr wrap="square">
            <a:spAutoFit/>
          </a:bodyPr>
          <a:lstStyle/>
          <a:p>
            <a:r>
              <a:rPr lang="en-GB" sz="6000" dirty="0"/>
              <a:t>Demo</a:t>
            </a:r>
            <a:endParaRPr lang="en-GB" dirty="0"/>
          </a:p>
        </p:txBody>
      </p:sp>
    </p:spTree>
    <p:extLst>
      <p:ext uri="{BB962C8B-B14F-4D97-AF65-F5344CB8AC3E}">
        <p14:creationId xmlns:p14="http://schemas.microsoft.com/office/powerpoint/2010/main" val="2457681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tailwind </a:t>
            </a:r>
            <a:r>
              <a:rPr lang="en-GB" sz="3600" dirty="0" err="1"/>
              <a:t>css</a:t>
            </a:r>
            <a:r>
              <a:rPr lang="en-GB" sz="3600" dirty="0"/>
              <a:t> and </a:t>
            </a:r>
            <a:r>
              <a:rPr lang="en-GB" sz="3600" dirty="0" err="1"/>
              <a:t>shadcn-ui</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1054</TotalTime>
  <Words>1866</Words>
  <Application>Microsoft Macintosh PowerPoint</Application>
  <PresentationFormat>Widescreen</PresentationFormat>
  <Paragraphs>209</Paragraphs>
  <Slides>32</Slides>
  <Notes>31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Brush Script MT</vt: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Devlin Duldulao</cp:lastModifiedBy>
  <cp:revision>167</cp:revision>
  <dcterms:created xsi:type="dcterms:W3CDTF">2026-07-14T15:54:22Z</dcterms:created>
  <dcterms:modified xsi:type="dcterms:W3CDTF">2026-09-10T03:31:48Z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
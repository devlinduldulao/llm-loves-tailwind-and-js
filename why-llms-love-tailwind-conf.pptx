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316" r:id="rId2"/>
    <p:sldId id="317" r:id="rId3"/>
    <p:sldId id="318" r:id="rId4"/>
    <p:sldId id="301" r:id="rId5"/>
    <p:sldId id="300" r:id="rId6"/>
    <p:sldId id="319" r:id="rId7"/>
    <p:sldId id="261" r:id="rId8"/>
    <p:sldId id="263" r:id="rId9"/>
    <p:sldId id="265" r:id="rId10"/>
    <p:sldId id="266" r:id="rId11"/>
    <p:sldId id="320" r:id="rId12"/>
    <p:sldId id="321" r:id="rId13"/>
    <p:sldId id="334" r:id="rId14"/>
    <p:sldId id="328" r:id="rId15"/>
    <p:sldId id="336" r:id="rId16"/>
    <p:sldId id="330" r:id="rId17"/>
    <p:sldId id="337" r:id="rId18"/>
    <p:sldId id="329" r:id="rId19"/>
    <p:sldId id="339" r:id="rId20"/>
    <p:sldId id="335" r:id="rId21"/>
    <p:sldId id="322" r:id="rId22"/>
    <p:sldId id="323" r:id="rId23"/>
    <p:sldId id="331" r:id="rId24"/>
    <p:sldId id="324" r:id="rId25"/>
    <p:sldId id="332" r:id="rId26"/>
    <p:sldId id="325" r:id="rId27"/>
    <p:sldId id="333" r:id="rId28"/>
    <p:sldId id="326" r:id="rId29"/>
    <p:sldId id="314" r:id="rId30"/>
    <p:sldId id="310" r:id="rId31"/>
    <p:sldId id="315"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49" autoAdjust="0"/>
    <p:restoredTop sz="50177" autoAdjust="0"/>
  </p:normalViewPr>
  <p:slideViewPr>
    <p:cSldViewPr snapToGrid="0" snapToObjects="1">
      <p:cViewPr varScale="1">
        <p:scale>
          <a:sx n="71" d="100"/>
          <a:sy n="71" d="100"/>
        </p:scale>
        <p:origin x="3040" y="176"/>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Hello everyone. I want to start with a question.</a:t>
            </a:r>
          </a:p>
          <a:p>
            <a:r>
              <a:rPr lang="en-US" dirty="0"/>
              <a:t>How many CSS developers does it take to change a lightbulb?</a:t>
            </a:r>
          </a:p>
          <a:p>
            <a:endParaRPr lang="en-GB" dirty="0"/>
          </a:p>
        </p:txBody>
      </p:sp>
    </p:spTree>
    <p:extLst>
      <p:ext uri="{BB962C8B-B14F-4D97-AF65-F5344CB8AC3E}">
        <p14:creationId xmlns:p14="http://schemas.microsoft.com/office/powerpoint/2010/main" val="3207352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None. They change everything around it and hope it cascades.</a:t>
            </a:r>
          </a:p>
        </p:txBody>
      </p:sp>
    </p:spTree>
    <p:extLst>
      <p:ext uri="{BB962C8B-B14F-4D97-AF65-F5344CB8AC3E}">
        <p14:creationId xmlns:p14="http://schemas.microsoft.com/office/powerpoint/2010/main" val="15193936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32625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For fifteen years, frontend developers fought methodology wars.</a:t>
            </a:r>
          </a:p>
          <a:p>
            <a:endParaRPr lang="en-US" dirty="0"/>
          </a:p>
          <a:p>
            <a:r>
              <a:rPr lang="en-US" dirty="0"/>
              <a:t>Vanilla CSS in 2005. </a:t>
            </a:r>
          </a:p>
          <a:p>
            <a:endParaRPr lang="en-US" dirty="0"/>
          </a:p>
          <a:p>
            <a:r>
              <a:rPr lang="en-US" dirty="0"/>
              <a:t>Then OOCSS in 2009, object-oriented CSS, which said reuse objects, not pages. </a:t>
            </a:r>
          </a:p>
          <a:p>
            <a:endParaRPr lang="en-US" dirty="0"/>
          </a:p>
          <a:p>
            <a:r>
              <a:rPr lang="en-US" dirty="0"/>
              <a:t>BEM in 2010, block element modifier, which tried to make naming systematic. </a:t>
            </a:r>
          </a:p>
          <a:p>
            <a:endParaRPr lang="en-US" dirty="0"/>
          </a:p>
          <a:p>
            <a:r>
              <a:rPr lang="en-US" dirty="0"/>
              <a:t>SMACSS in 2011, scalable and modular architecture. </a:t>
            </a:r>
          </a:p>
          <a:p>
            <a:endParaRPr lang="en-US" dirty="0"/>
          </a:p>
          <a:p>
            <a:r>
              <a:rPr lang="en-US" dirty="0"/>
              <a:t>Atomic CSS in 2013. </a:t>
            </a:r>
          </a:p>
          <a:p>
            <a:endParaRPr lang="en-US" dirty="0"/>
          </a:p>
          <a:p>
            <a:r>
              <a:rPr lang="en-US" dirty="0"/>
              <a:t>CSS Modules in 2015, which scoped names to a file. </a:t>
            </a:r>
          </a:p>
          <a:p>
            <a:endParaRPr lang="en-US" dirty="0"/>
          </a:p>
          <a:p>
            <a:r>
              <a:rPr lang="en-US" dirty="0"/>
              <a:t>CSS in JS in 2016, which put styles back into JavaScript. </a:t>
            </a:r>
          </a:p>
          <a:p>
            <a:endParaRPr lang="en-US" dirty="0"/>
          </a:p>
          <a:p>
            <a:r>
              <a:rPr lang="en-US" dirty="0"/>
              <a:t>Then Tailwind, from 2017 on.</a:t>
            </a:r>
          </a:p>
          <a:p>
            <a:endParaRPr lang="en-US" dirty="0"/>
          </a:p>
          <a:p>
            <a:endParaRPr lang="en-US" dirty="0"/>
          </a:p>
          <a:p>
            <a:r>
              <a:rPr lang="en-US" dirty="0"/>
              <a:t>Every one of these tried to answer the same two questions. Where do styles live? And what do we name them? That is the whole war. Location, and naming.</a:t>
            </a:r>
          </a:p>
          <a:p>
            <a:endParaRPr lang="en-US" dirty="0"/>
          </a:p>
          <a:p>
            <a:r>
              <a:rPr lang="en-US" dirty="0"/>
              <a:t>Most of these methodologies answered those questions with more rules. More naming conventions. More files. More process. </a:t>
            </a:r>
          </a:p>
          <a:p>
            <a:r>
              <a:rPr lang="en-US" dirty="0"/>
              <a:t>Tailwind is interesting because it mostly deletes those questions instead of answering them better. You stop inventing names. You stop splitting the look into another file.</a:t>
            </a:r>
          </a:p>
          <a:p>
            <a:endParaRPr lang="en-US" dirty="0"/>
          </a:p>
        </p:txBody>
      </p:sp>
    </p:spTree>
    <p:extLst>
      <p:ext uri="{BB962C8B-B14F-4D97-AF65-F5344CB8AC3E}">
        <p14:creationId xmlns:p14="http://schemas.microsoft.com/office/powerpoint/2010/main" val="3095122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what happened in the past two years. The machines have voted.</a:t>
            </a:r>
          </a:p>
          <a:p>
            <a:endParaRPr lang="en-US" dirty="0"/>
          </a:p>
          <a:p>
            <a:r>
              <a:rPr lang="en-US" dirty="0"/>
              <a:t>v0 from Vercel generates UI in Tailwind. </a:t>
            </a:r>
          </a:p>
          <a:p>
            <a:endParaRPr lang="en-US" dirty="0"/>
          </a:p>
          <a:p>
            <a:r>
              <a:rPr lang="en-US" dirty="0" err="1"/>
              <a:t>bolt.new</a:t>
            </a:r>
            <a:r>
              <a:rPr lang="en-US" dirty="0"/>
              <a:t> from StackBlitz does the same. </a:t>
            </a:r>
          </a:p>
          <a:p>
            <a:endParaRPr lang="en-US" dirty="0"/>
          </a:p>
          <a:p>
            <a:r>
              <a:rPr lang="en-US" dirty="0"/>
              <a:t>Lovable generates full apps in Tailwind. </a:t>
            </a:r>
          </a:p>
          <a:p>
            <a:endParaRPr lang="en-US" dirty="0"/>
          </a:p>
          <a:p>
            <a:r>
              <a:rPr lang="en-US" dirty="0"/>
              <a:t>Claude Artifacts from Anthropic. </a:t>
            </a:r>
          </a:p>
          <a:p>
            <a:endParaRPr lang="en-US" dirty="0"/>
          </a:p>
          <a:p>
            <a:r>
              <a:rPr lang="en-US" dirty="0" err="1"/>
              <a:t>shadcn</a:t>
            </a:r>
            <a:r>
              <a:rPr lang="en-US" dirty="0"/>
              <a:t> is the default component system the AI tools reach for. </a:t>
            </a:r>
          </a:p>
          <a:p>
            <a:endParaRPr lang="en-US" dirty="0"/>
          </a:p>
          <a:p>
            <a:r>
              <a:rPr lang="en-US" dirty="0"/>
              <a:t>Cursor and Copilot lean Tailwind every time you ask for a component.</a:t>
            </a:r>
          </a:p>
          <a:p>
            <a:endParaRPr lang="en-US" dirty="0"/>
          </a:p>
          <a:p>
            <a:r>
              <a:rPr lang="en-US" dirty="0"/>
              <a:t>Every major AI UI generator defaults to Tailwind. Not because Tailwind won a popularity contest with humans. Because the way Tailwind is shaped matches the way a language model, and a teammate, actually understand code. And for the news flash, </a:t>
            </a:r>
            <a:r>
              <a:rPr lang="en-US" dirty="0" err="1"/>
              <a:t>Tailwindcss</a:t>
            </a:r>
            <a:r>
              <a:rPr lang="en-US" dirty="0"/>
              <a:t> is joining Shopify. The reason is they have a new hydrogen framework that is using React Server Component.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number one. Naming things.</a:t>
            </a:r>
          </a:p>
          <a:p>
            <a:endParaRPr lang="en-US" dirty="0"/>
          </a:p>
          <a:p>
            <a:r>
              <a:rPr lang="en-US" dirty="0"/>
              <a:t>Semantic CSS makes you invent a name for every element, and those names are project-specific. </a:t>
            </a:r>
          </a:p>
          <a:p>
            <a:r>
              <a:rPr lang="en-US" dirty="0"/>
              <a:t>Then they drift. card. Card. cardWrapper. card-box. Four names for the same idea, invented by four people, or by one person on four different days.</a:t>
            </a:r>
          </a:p>
          <a:p>
            <a:endParaRPr lang="en-US" dirty="0"/>
          </a:p>
          <a:p>
            <a:r>
              <a:rPr lang="en-US" dirty="0"/>
              <a:t>Humans invent inconsistently. Models invent inconsistently. </a:t>
            </a:r>
          </a:p>
          <a:p>
            <a:endParaRPr lang="en-US" dirty="0"/>
          </a:p>
          <a:p>
            <a:r>
              <a:rPr lang="en-US" dirty="0"/>
              <a:t>This styling here for example. card header featured. What does featured even mean in this file? Is it a thicker border? A badge? A different button color? You cannot know until you read the CSS.</a:t>
            </a:r>
          </a:p>
          <a:p>
            <a:endParaRPr lang="en-US" dirty="0"/>
          </a:p>
          <a:p>
            <a:r>
              <a:rPr lang="en-US" dirty="0"/>
              <a:t>Tailwind deletes the naming decision. You do not name the thing. You describe the look with a closed vocabulary.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Separation of concerns.</a:t>
            </a:r>
          </a:p>
          <a:p>
            <a:endParaRPr lang="en-US" dirty="0"/>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endParaRPr lang="en-US" dirty="0"/>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a:t>
            </a:r>
          </a:p>
          <a:p>
            <a:endParaRPr lang="en-US" dirty="0"/>
          </a:p>
          <a:p>
            <a:r>
              <a:rPr lang="en-US" dirty="0"/>
              <a:t>Before </a:t>
            </a:r>
            <a:r>
              <a:rPr lang="en-US" dirty="0" err="1"/>
              <a:t>vibecoding</a:t>
            </a:r>
            <a:r>
              <a:rPr lang="en-US" dirty="0"/>
              <a:t> days, you can say that this is ugly, but using </a:t>
            </a:r>
            <a:r>
              <a:rPr lang="en-US" dirty="0" err="1"/>
              <a:t>shadcn</a:t>
            </a:r>
            <a:r>
              <a:rPr lang="en-US" dirty="0"/>
              <a:t> </a:t>
            </a:r>
            <a:r>
              <a:rPr lang="en-US" dirty="0" err="1"/>
              <a:t>ui</a:t>
            </a:r>
            <a:r>
              <a:rPr lang="en-US" dirty="0"/>
              <a:t> I saw how to write best practice </a:t>
            </a:r>
            <a:r>
              <a:rPr lang="en-US" dirty="0" err="1"/>
              <a:t>tailwindcss</a:t>
            </a:r>
            <a:r>
              <a:rPr lang="en-US" dirty="0"/>
              <a:t> code in components. You will see later how in my demo.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Tailwindcss</a:t>
            </a:r>
            <a:r>
              <a:rPr lang="en-US" dirty="0"/>
              <a:t> rules in priorities looks like this.</a:t>
            </a:r>
          </a:p>
          <a:p>
            <a:endParaRPr lang="en-US" dirty="0"/>
          </a:p>
          <a:p>
            <a:r>
              <a:rPr lang="en-US" dirty="0"/>
              <a:t>Each box is a place a CSS rule can live, and the arrow tells you which one wins a conflict in styling.</a:t>
            </a:r>
            <a:br>
              <a:rPr lang="en-US" dirty="0"/>
            </a:br>
            <a:br>
              <a:rPr lang="en-US" dirty="0"/>
            </a:br>
            <a:r>
              <a:rPr lang="en-US" dirty="0"/>
              <a:t>The four named layers come from </a:t>
            </a:r>
            <a:r>
              <a:rPr lang="en-US" sz="1200" kern="1200" dirty="0">
                <a:solidFill>
                  <a:schemeClr val="tx1"/>
                </a:solidFill>
                <a:latin typeface="+mn-lt"/>
                <a:ea typeface="+mn-ea"/>
                <a:cs typeface="+mn-cs"/>
              </a:rPr>
              <a:t>@import "</a:t>
            </a:r>
            <a:r>
              <a:rPr lang="en-US" sz="1200" kern="1200" dirty="0" err="1">
                <a:solidFill>
                  <a:schemeClr val="tx1"/>
                </a:solidFill>
                <a:latin typeface="+mn-lt"/>
                <a:ea typeface="+mn-ea"/>
                <a:cs typeface="+mn-cs"/>
              </a:rPr>
              <a:t>tailwindcss</a:t>
            </a:r>
            <a:r>
              <a:rPr lang="en-US" sz="1200" kern="1200" dirty="0">
                <a:solidFill>
                  <a:schemeClr val="tx1"/>
                </a:solidFill>
                <a:latin typeface="+mn-lt"/>
                <a:ea typeface="+mn-ea"/>
                <a:cs typeface="+mn-cs"/>
              </a:rPr>
              <a:t>"</a:t>
            </a:r>
            <a:r>
              <a:rPr lang="en-US" dirty="0"/>
              <a:t>, which declares their order up front. The coral or </a:t>
            </a:r>
            <a:r>
              <a:rPr lang="en-US" dirty="0" err="1"/>
              <a:t>redish</a:t>
            </a:r>
            <a:r>
              <a:rPr lang="en-US" dirty="0"/>
              <a:t> box isn't a layer or unlayered styles means styles are CSS rules written outside of any explicit @layer block, meaning they always take absolute precedence over Tailwind's built-in utility and theme layers</a:t>
            </a:r>
          </a:p>
        </p:txBody>
      </p:sp>
    </p:spTree>
    <p:extLst>
      <p:ext uri="{BB962C8B-B14F-4D97-AF65-F5344CB8AC3E}">
        <p14:creationId xmlns:p14="http://schemas.microsoft.com/office/powerpoint/2010/main" val="29539854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And </a:t>
            </a:r>
            <a:r>
              <a:rPr lang="en-US" dirty="0" err="1"/>
              <a:t>tailwindcss</a:t>
            </a:r>
            <a:r>
              <a:rPr lang="en-US" dirty="0"/>
              <a:t> gives you some solutions to your common </a:t>
            </a:r>
            <a:r>
              <a:rPr lang="en-US" dirty="0" err="1"/>
              <a:t>css</a:t>
            </a:r>
            <a:r>
              <a:rPr lang="en-US" dirty="0"/>
              <a:t> problems.</a:t>
            </a:r>
          </a:p>
        </p:txBody>
      </p:sp>
    </p:spTree>
    <p:extLst>
      <p:ext uri="{BB962C8B-B14F-4D97-AF65-F5344CB8AC3E}">
        <p14:creationId xmlns:p14="http://schemas.microsoft.com/office/powerpoint/2010/main" val="41384000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26457331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4725002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6754506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1133900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375886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581102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859122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a:t>
            </a:r>
            <a:r>
              <a:rPr lang="en-US" dirty="0" err="1"/>
              <a:t>ui</a:t>
            </a:r>
            <a:r>
              <a:rPr lang="en-US" dirty="0"/>
              <a:t> is not a finished design system; it's a foundation for building your own design system.</a:t>
            </a:r>
            <a:endParaRPr lang="en-GB" dirty="0"/>
          </a:p>
        </p:txBody>
      </p:sp>
    </p:spTree>
    <p:extLst>
      <p:ext uri="{BB962C8B-B14F-4D97-AF65-F5344CB8AC3E}">
        <p14:creationId xmlns:p14="http://schemas.microsoft.com/office/powerpoint/2010/main" val="40663008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 distributes code rather than a package: </a:t>
            </a:r>
          </a:p>
          <a:p>
            <a:endParaRPr lang="en-US" dirty="0"/>
          </a:p>
          <a:p>
            <a:r>
              <a:rPr lang="en-US" dirty="0"/>
              <a:t>the registry serves JSON definitions, </a:t>
            </a:r>
          </a:p>
          <a:p>
            <a:endParaRPr lang="en-US" dirty="0"/>
          </a:p>
          <a:p>
            <a:r>
              <a:rPr lang="en-US" dirty="0"/>
              <a:t>the CLI writes real </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tsx</a:t>
            </a:r>
            <a:r>
              <a:rPr lang="en-US" dirty="0"/>
              <a:t> files into your repo, </a:t>
            </a:r>
          </a:p>
          <a:p>
            <a:endParaRPr lang="en-US" dirty="0"/>
          </a:p>
          <a:p>
            <a:r>
              <a:rPr lang="en-US" dirty="0"/>
              <a:t>and nothing links back afterward since the component never lands in </a:t>
            </a:r>
            <a:r>
              <a:rPr lang="en-US" sz="1200" kern="1200" dirty="0" err="1">
                <a:solidFill>
                  <a:schemeClr val="tx1"/>
                </a:solidFill>
                <a:latin typeface="+mn-lt"/>
                <a:ea typeface="+mn-ea"/>
                <a:cs typeface="+mn-cs"/>
              </a:rPr>
              <a:t>node_modules</a:t>
            </a:r>
            <a:r>
              <a:rPr lang="en-US" dirty="0"/>
              <a:t>. </a:t>
            </a:r>
          </a:p>
          <a:p>
            <a:endParaRPr lang="en-US" dirty="0"/>
          </a:p>
          <a:p>
            <a:r>
              <a:rPr lang="en-US" dirty="0"/>
              <a:t>The three boxes at the bottom are the layers inside each file. </a:t>
            </a:r>
          </a:p>
          <a:p>
            <a:endParaRPr lang="en-US" dirty="0"/>
          </a:p>
          <a:p>
            <a:r>
              <a:rPr lang="en-US" dirty="0"/>
              <a:t>Base UI handles keyboard, focus, and ARIA, </a:t>
            </a:r>
          </a:p>
          <a:p>
            <a:endParaRPr lang="en-US" dirty="0"/>
          </a:p>
          <a:p>
            <a:r>
              <a:rPr lang="en-US" dirty="0"/>
              <a:t>Tailwind carries every visual decision as editable classes, </a:t>
            </a:r>
          </a:p>
          <a:p>
            <a:endParaRPr lang="en-US" dirty="0"/>
          </a:p>
          <a:p>
            <a:r>
              <a:rPr lang="en-US" dirty="0"/>
              <a:t>and your theme tokens supply the values. That's why customizing means opening the file instead of overriding from outside. </a:t>
            </a:r>
          </a:p>
          <a:p>
            <a:endParaRPr lang="en-US" dirty="0"/>
          </a:p>
          <a:p>
            <a:r>
              <a:rPr lang="en-US" dirty="0"/>
              <a:t>The trade-off is that you own the maintenance, though </a:t>
            </a:r>
            <a:r>
              <a:rPr lang="en-US" sz="1200" kern="1200" dirty="0">
                <a:solidFill>
                  <a:schemeClr val="tx1"/>
                </a:solidFill>
                <a:latin typeface="+mn-lt"/>
                <a:ea typeface="+mn-ea"/>
                <a:cs typeface="+mn-cs"/>
              </a:rPr>
              <a:t>add --diff</a:t>
            </a:r>
            <a:r>
              <a:rPr lang="en-US" dirty="0"/>
              <a:t> will show you what changed upstream so you can merge deliberately.</a:t>
            </a:r>
          </a:p>
        </p:txBody>
      </p:sp>
    </p:spTree>
    <p:extLst>
      <p:ext uri="{BB962C8B-B14F-4D97-AF65-F5344CB8AC3E}">
        <p14:creationId xmlns:p14="http://schemas.microsoft.com/office/powerpoint/2010/main" val="5793285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Rows 1 through 3 all trace back to the same decision — the source lives in your repo, so there's no props API to work around, no foreign CSS to override, and no version to bump. </a:t>
            </a:r>
          </a:p>
          <a:p>
            <a:endParaRPr lang="en-US" dirty="0"/>
          </a:p>
          <a:p>
            <a:r>
              <a:rPr lang="en-US" dirty="0"/>
              <a:t>Row 4 is the separate win: Base UI supplies the keyboard, focus, and ARIA behavior that's genuinely hard to get right by hand.</a:t>
            </a:r>
          </a:p>
          <a:p>
            <a:endParaRPr lang="en-US" dirty="0"/>
          </a:p>
          <a:p>
            <a:r>
              <a:rPr lang="en-US" dirty="0"/>
              <a:t>Being compliant in accessibility is a headache if you will write them manually. Especially in Europe, any public facing app should be accessible by default.</a:t>
            </a:r>
          </a:p>
        </p:txBody>
      </p:sp>
    </p:spTree>
    <p:extLst>
      <p:ext uri="{BB962C8B-B14F-4D97-AF65-F5344CB8AC3E}">
        <p14:creationId xmlns:p14="http://schemas.microsoft.com/office/powerpoint/2010/main" val="11578531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7233014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The hardest evidence is </a:t>
            </a:r>
            <a:r>
              <a:rPr lang="en-US" dirty="0" err="1"/>
              <a:t>WebUIBench</a:t>
            </a:r>
            <a:r>
              <a:rPr lang="en-US" dirty="0"/>
              <a:t>: generating the same 100 UI images with and without a Tailwind instruction moved compilation success from 47% to 92%. </a:t>
            </a:r>
          </a:p>
          <a:p>
            <a:pPr rtl="0"/>
            <a:endParaRPr lang="en-US" dirty="0"/>
          </a:p>
          <a:p>
            <a:pPr rtl="0"/>
            <a:r>
              <a:rPr lang="en-US" dirty="0"/>
              <a:t>Adoption backs it up — Bolt, Lovable, v0, and Cursor emit </a:t>
            </a:r>
            <a:r>
              <a:rPr lang="en-US" dirty="0" err="1"/>
              <a:t>shadcn</a:t>
            </a:r>
            <a:r>
              <a:rPr lang="en-US" dirty="0"/>
              <a:t>/</a:t>
            </a:r>
            <a:r>
              <a:rPr lang="en-US" dirty="0" err="1"/>
              <a:t>ui</a:t>
            </a:r>
            <a:r>
              <a:rPr lang="en-US" dirty="0"/>
              <a:t> by default, with v0 restricted to React plus Tailwind plus </a:t>
            </a:r>
            <a:r>
              <a:rPr lang="en-US" dirty="0" err="1"/>
              <a:t>shadcn</a:t>
            </a:r>
            <a:r>
              <a:rPr lang="en-US" dirty="0"/>
              <a:t>, and the reason given is architectural, since visible owned source is easier for a model to read and modify than an opaque library abstraction. </a:t>
            </a:r>
          </a:p>
          <a:p>
            <a:pPr rtl="0"/>
            <a:endParaRPr lang="en-US" dirty="0"/>
          </a:p>
          <a:p>
            <a:pPr rtl="0"/>
            <a:r>
              <a:rPr lang="en-US" dirty="0" err="1"/>
              <a:t>shadcn</a:t>
            </a:r>
            <a:r>
              <a:rPr lang="en-US" dirty="0"/>
              <a:t> passed 109,000 GitHub stars by March 2026, </a:t>
            </a:r>
          </a:p>
          <a:p>
            <a:pPr rtl="0"/>
            <a:endParaRPr lang="en-US" dirty="0"/>
          </a:p>
          <a:p>
            <a:pPr rtl="0"/>
            <a:r>
              <a:rPr lang="en-US" dirty="0"/>
              <a:t>Tailwind ranked first in State of CSS 2025 and </a:t>
            </a:r>
            <a:r>
              <a:rPr lang="en-US" dirty="0" err="1"/>
              <a:t>shadcn</a:t>
            </a:r>
            <a:r>
              <a:rPr lang="en-US" dirty="0"/>
              <a:t> now ships official AI skills for agents.</a:t>
            </a:r>
          </a:p>
        </p:txBody>
      </p:sp>
    </p:spTree>
    <p:extLst>
      <p:ext uri="{BB962C8B-B14F-4D97-AF65-F5344CB8AC3E}">
        <p14:creationId xmlns:p14="http://schemas.microsoft.com/office/powerpoint/2010/main" val="22394399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9142551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sz="1200" b="0" i="0" kern="1200" dirty="0">
                <a:solidFill>
                  <a:schemeClr val="tx1"/>
                </a:solidFill>
                <a:effectLst/>
                <a:latin typeface="+mn-lt"/>
                <a:ea typeface="+mn-ea"/>
                <a:cs typeface="+mn-cs"/>
              </a:rPr>
              <a:t>On CC-Bench-V2's frontend suite, generated React projects built successfully 95% of the time for Claude Opus 4.5 and 100% for GLM-5, with check-item pass rates near 71%. </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TypeScript became GitHub's most-used language in August 2025 at 2,636,006 monthly contributors, up about 1.05 million year over year, which GitHub credits to typed languages being more reliable for agent-assisted coding and frameworks scaffolding TypeScript by default.</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and package hallucination rates across the 2026 frontier cohort were consistently lower for JavaScript than Python, 2.62% versus 6.63% for Claude Sonnet 4.6.</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br>
              <a:rPr lang="en-US" dirty="0"/>
            </a:br>
            <a:endParaRPr lang="en-US" dirty="0"/>
          </a:p>
        </p:txBody>
      </p:sp>
    </p:spTree>
    <p:extLst>
      <p:ext uri="{BB962C8B-B14F-4D97-AF65-F5344CB8AC3E}">
        <p14:creationId xmlns:p14="http://schemas.microsoft.com/office/powerpoint/2010/main" val="276701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807594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sz="1200" kern="1200" dirty="0" err="1">
                <a:solidFill>
                  <a:schemeClr val="tx1"/>
                </a:solidFill>
                <a:latin typeface="+mn-lt"/>
                <a:ea typeface="+mn-ea"/>
                <a:cs typeface="+mn-cs"/>
              </a:rPr>
              <a:t>AGENTS.md</a:t>
            </a:r>
            <a:r>
              <a:rPr lang="en-US" dirty="0"/>
              <a:t> holds facts that don't change — the pinned version, the import styles. </a:t>
            </a:r>
            <a:endParaRPr lang="en-US" baseline="0" dirty="0"/>
          </a:p>
          <a:p>
            <a:pPr rtl="0"/>
            <a:endParaRPr lang="en-US" baseline="0" dirty="0"/>
          </a:p>
          <a:p>
            <a:pPr rtl="0"/>
            <a:r>
              <a:rPr lang="en-US" dirty="0"/>
              <a:t>An MCP docs server fetching current docs on demand instead of a snapshot that goes stale. </a:t>
            </a:r>
          </a:p>
          <a:p>
            <a:pPr rtl="0"/>
            <a:endParaRPr lang="en-US" dirty="0"/>
          </a:p>
          <a:p>
            <a:pPr rtl="0"/>
            <a:r>
              <a:rPr lang="en-US" dirty="0"/>
              <a:t>A skill packages the procedures: which command, which flags, what to check. </a:t>
            </a:r>
          </a:p>
          <a:p>
            <a:pPr rtl="0"/>
            <a:endParaRPr lang="en-US" dirty="0"/>
          </a:p>
          <a:p>
            <a:pPr rtl="0"/>
            <a:r>
              <a:rPr lang="en-US" dirty="0"/>
              <a:t>Copying and pasting prompt context is gray because it dies with the chat, though it's still the fastest way to try something once.</a:t>
            </a:r>
          </a:p>
        </p:txBody>
      </p:sp>
    </p:spTree>
    <p:extLst>
      <p:ext uri="{BB962C8B-B14F-4D97-AF65-F5344CB8AC3E}">
        <p14:creationId xmlns:p14="http://schemas.microsoft.com/office/powerpoint/2010/main" val="13310409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GB" dirty="0" err="1"/>
              <a:t>bodyLimitBytes</a:t>
            </a:r>
            <a:r>
              <a:rPr lang="en-GB" dirty="0"/>
              <a:t>, </a:t>
            </a:r>
            <a:r>
              <a:rPr lang="en-GB" dirty="0" err="1"/>
              <a:t>jsonMaxKeys</a:t>
            </a:r>
            <a:r>
              <a:rPr lang="en-GB" dirty="0"/>
              <a:t>, </a:t>
            </a:r>
            <a:r>
              <a:rPr lang="en-GB" dirty="0" err="1"/>
              <a:t>jsonMaxDepth</a:t>
            </a:r>
            <a:r>
              <a:rPr lang="en-GB" dirty="0"/>
              <a:t>, </a:t>
            </a:r>
            <a:r>
              <a:rPr lang="en-GB" dirty="0" err="1"/>
              <a:t>requestTimeoutMs</a:t>
            </a:r>
            <a:r>
              <a:rPr lang="en-GB" dirty="0"/>
              <a:t>, </a:t>
            </a:r>
            <a:r>
              <a:rPr lang="en-GB" dirty="0" err="1"/>
              <a:t>secureHeaders</a:t>
            </a:r>
            <a:r>
              <a:rPr lang="en-GB" dirty="0"/>
              <a:t> + </a:t>
            </a:r>
            <a:r>
              <a:rPr lang="en-GB" dirty="0" err="1"/>
              <a:t>maxHeaderCount</a:t>
            </a:r>
            <a:r>
              <a:rPr lang="en-GB" dirty="0"/>
              <a:t>, RFC 9457 </a:t>
            </a:r>
            <a:r>
              <a:rPr lang="en-GB" dirty="0" err="1"/>
              <a:t>problem+json</a:t>
            </a:r>
            <a:r>
              <a:rPr lang="en-GB" dirty="0"/>
              <a:t> which is reduction or auto strip detail from 5xx.</a:t>
            </a:r>
          </a:p>
          <a:p>
            <a:endParaRPr lang="en-GB" dirty="0"/>
          </a:p>
          <a:p>
            <a:r>
              <a:rPr lang="en-GB" dirty="0"/>
              <a:t>Server will refuse to run on </a:t>
            </a:r>
          </a:p>
          <a:p>
            <a:r>
              <a:rPr lang="en-GB" dirty="0"/>
              <a:t>wildcard CORS with credentials and anywhere</a:t>
            </a:r>
          </a:p>
          <a:p>
            <a:r>
              <a:rPr lang="en-GB" dirty="0"/>
              <a:t>a session secret under 32 bytes or a default placeholder</a:t>
            </a:r>
          </a:p>
          <a:p>
            <a:r>
              <a:rPr lang="en-GB" dirty="0"/>
              <a:t>sessions, a mutating route, and no CSRF hook</a:t>
            </a:r>
          </a:p>
          <a:p>
            <a:r>
              <a:rPr lang="en-GB" dirty="0"/>
              <a:t>proxy trust left unconfigured in production</a:t>
            </a:r>
          </a:p>
          <a:p>
            <a:r>
              <a:rPr lang="en-GB" dirty="0"/>
              <a:t>a symmetric algorithm handed to a JWKS verifier</a:t>
            </a:r>
          </a:p>
          <a:p>
            <a:r>
              <a:rPr lang="en-GB" dirty="0"/>
              <a:t>auth declared with no auth hook behind it</a:t>
            </a:r>
          </a:p>
          <a:p>
            <a:endParaRPr lang="en-GB" dirty="0"/>
          </a:p>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091CD-CE40-DE50-BB6F-73EE86E3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217A3-0C6D-E0FB-E8D9-26C54CD953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80ABD-7274-B998-04A2-E3FDD70461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86FBF8-DAE3-786B-F774-C9033F4FA5D1}"/>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245651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521754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0706852E-5507-9E7B-79DE-72F24FBAA6DF}"/>
              </a:ext>
            </a:extLst>
          </p:cNvPr>
          <p:cNvSpPr/>
          <p:nvPr/>
        </p:nvSpPr>
        <p:spPr>
          <a:xfrm>
            <a:off x="1097280" y="1920240"/>
            <a:ext cx="9997135" cy="2011680"/>
          </a:xfrm>
          <a:prstGeom prst="rect">
            <a:avLst/>
          </a:prstGeom>
          <a:noFill/>
          <a:ln/>
        </p:spPr>
        <p:txBody>
          <a:bodyPr wrap="square" lIns="0" tIns="0" rIns="0" bIns="0" rtlCol="0" anchor="t"/>
          <a:lstStyle/>
          <a:p>
            <a:pPr>
              <a:lnSpc>
                <a:spcPct val="105000"/>
              </a:lnSpc>
            </a:pPr>
            <a:r>
              <a:rPr lang="en-US" sz="4000" b="1" dirty="0">
                <a:solidFill>
                  <a:schemeClr val="tx1">
                    <a:lumMod val="85000"/>
                    <a:lumOff val="15000"/>
                  </a:schemeClr>
                </a:solidFill>
                <a:latin typeface="Arial" pitchFamily="34" charset="0"/>
                <a:ea typeface="Arial" pitchFamily="34" charset="-122"/>
                <a:cs typeface="Arial" pitchFamily="34" charset="-120"/>
              </a:rPr>
              <a:t>Why it feels that CSS is like dating?</a:t>
            </a:r>
            <a:endParaRPr lang="en-US" sz="4000" dirty="0">
              <a:solidFill>
                <a:schemeClr val="tx1">
                  <a:lumMod val="85000"/>
                  <a:lumOff val="15000"/>
                </a:schemeClr>
              </a:solidFill>
            </a:endParaRPr>
          </a:p>
        </p:txBody>
      </p:sp>
      <p:sp>
        <p:nvSpPr>
          <p:cNvPr id="5" name="Text 2">
            <a:extLst>
              <a:ext uri="{FF2B5EF4-FFF2-40B4-BE49-F238E27FC236}">
                <a16:creationId xmlns:a16="http://schemas.microsoft.com/office/drawing/2014/main" id="{8D66257F-9719-6614-AF8F-2F2DA6658338}"/>
              </a:ext>
            </a:extLst>
          </p:cNvPr>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chemeClr val="tx1">
                    <a:lumMod val="85000"/>
                    <a:lumOff val="15000"/>
                  </a:schemeClr>
                </a:solidFill>
                <a:latin typeface="Arial" pitchFamily="34" charset="0"/>
                <a:ea typeface="Arial" pitchFamily="34" charset="-122"/>
                <a:cs typeface="Arial" pitchFamily="34" charset="-120"/>
              </a:rPr>
              <a:t>( wait for it… )</a:t>
            </a:r>
            <a:endParaRPr lang="en-US" sz="2400" dirty="0">
              <a:solidFill>
                <a:schemeClr val="tx1">
                  <a:lumMod val="85000"/>
                  <a:lumOff val="15000"/>
                </a:schemeClr>
              </a:solidFill>
            </a:endParaRPr>
          </a:p>
        </p:txBody>
      </p:sp>
    </p:spTree>
    <p:extLst>
      <p:ext uri="{BB962C8B-B14F-4D97-AF65-F5344CB8AC3E}">
        <p14:creationId xmlns:p14="http://schemas.microsoft.com/office/powerpoint/2010/main" val="33278901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84594E54-C97D-DD45-4972-EFB8080D7132}"/>
              </a:ext>
            </a:extLst>
          </p:cNvPr>
          <p:cNvSpPr/>
          <p:nvPr/>
        </p:nvSpPr>
        <p:spPr>
          <a:xfrm>
            <a:off x="1097280" y="2697480"/>
            <a:ext cx="9997135" cy="1463040"/>
          </a:xfrm>
          <a:prstGeom prst="rect">
            <a:avLst/>
          </a:prstGeom>
          <a:noFill/>
          <a:ln/>
        </p:spPr>
        <p:txBody>
          <a:bodyPr wrap="square" lIns="0" tIns="0" rIns="0" bIns="0" rtlCol="0" anchor="t"/>
          <a:lstStyle/>
          <a:p>
            <a:pPr>
              <a:lnSpc>
                <a:spcPct val="105000"/>
              </a:lnSpc>
            </a:pPr>
            <a:r>
              <a:rPr lang="en-US" sz="3600" dirty="0">
                <a:solidFill>
                  <a:schemeClr val="tx1">
                    <a:lumMod val="95000"/>
                    <a:lumOff val="5000"/>
                  </a:schemeClr>
                </a:solidFill>
                <a:latin typeface="Arial" pitchFamily="34" charset="0"/>
                <a:ea typeface="Arial" pitchFamily="34" charset="-122"/>
                <a:cs typeface="Arial" pitchFamily="34" charset="-120"/>
              </a:rPr>
              <a:t>You think you've finally found the right one, then </a:t>
            </a:r>
            <a:r>
              <a:rPr lang="en-US" sz="3600" dirty="0">
                <a:solidFill>
                  <a:schemeClr val="tx1">
                    <a:lumMod val="95000"/>
                    <a:lumOff val="5000"/>
                  </a:schemeClr>
                </a:solidFill>
                <a:latin typeface="Cascadia Code" panose="020B0609020000020004" pitchFamily="49" charset="0"/>
                <a:ea typeface="Arial" pitchFamily="34" charset="-122"/>
                <a:cs typeface="Cascadia Code" panose="020B0609020000020004" pitchFamily="49" charset="0"/>
              </a:rPr>
              <a:t>!important </a:t>
            </a:r>
            <a:r>
              <a:rPr lang="en-US" sz="3600" dirty="0">
                <a:solidFill>
                  <a:schemeClr val="tx1">
                    <a:lumMod val="95000"/>
                    <a:lumOff val="5000"/>
                  </a:schemeClr>
                </a:solidFill>
                <a:latin typeface="Arial" pitchFamily="34" charset="0"/>
                <a:ea typeface="Arial" pitchFamily="34" charset="-122"/>
                <a:cs typeface="Arial" pitchFamily="34" charset="-120"/>
              </a:rPr>
              <a:t>shows up.</a:t>
            </a:r>
            <a:endParaRPr lang="en-US" sz="3600" dirty="0">
              <a:solidFill>
                <a:schemeClr val="tx1">
                  <a:lumMod val="95000"/>
                  <a:lumOff val="5000"/>
                </a:schemeClr>
              </a:solidFill>
            </a:endParaRPr>
          </a:p>
        </p:txBody>
      </p:sp>
    </p:spTree>
    <p:extLst>
      <p:ext uri="{BB962C8B-B14F-4D97-AF65-F5344CB8AC3E}">
        <p14:creationId xmlns:p14="http://schemas.microsoft.com/office/powerpoint/2010/main" val="1288318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2ABA5A76-1081-2914-0CEA-5010A114DB88}"/>
              </a:ext>
            </a:extLst>
          </p:cNvPr>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chemeClr val="tx1">
                    <a:lumMod val="75000"/>
                    <a:lumOff val="25000"/>
                  </a:schemeClr>
                </a:solidFill>
                <a:latin typeface="Arial" pitchFamily="34" charset="0"/>
                <a:ea typeface="Arial" pitchFamily="34" charset="-122"/>
                <a:cs typeface="Arial" pitchFamily="34" charset="-120"/>
              </a:rPr>
              <a:t>Why LLMs &amp; JS frameworks
love Tailwind CSS</a:t>
            </a:r>
            <a:endParaRPr lang="en-US" sz="5200" dirty="0">
              <a:solidFill>
                <a:schemeClr val="tx1">
                  <a:lumMod val="75000"/>
                  <a:lumOff val="25000"/>
                </a:schemeClr>
              </a:solidFill>
            </a:endParaRPr>
          </a:p>
        </p:txBody>
      </p:sp>
      <p:sp>
        <p:nvSpPr>
          <p:cNvPr id="5" name="Text 1">
            <a:extLst>
              <a:ext uri="{FF2B5EF4-FFF2-40B4-BE49-F238E27FC236}">
                <a16:creationId xmlns:a16="http://schemas.microsoft.com/office/drawing/2014/main" id="{8D0B2F97-ADC1-64C8-0922-FFC85F3F5319}"/>
              </a:ext>
            </a:extLst>
          </p:cNvPr>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7" name="Text 2">
            <a:extLst>
              <a:ext uri="{FF2B5EF4-FFF2-40B4-BE49-F238E27FC236}">
                <a16:creationId xmlns:a16="http://schemas.microsoft.com/office/drawing/2014/main" id="{86804EAF-45AC-F6A9-2492-A03DCE57380B}"/>
              </a:ext>
            </a:extLst>
          </p:cNvPr>
          <p:cNvSpPr/>
          <p:nvPr/>
        </p:nvSpPr>
        <p:spPr>
          <a:xfrm>
            <a:off x="594360" y="4892040"/>
            <a:ext cx="11002975" cy="780972"/>
          </a:xfrm>
          <a:prstGeom prst="rect">
            <a:avLst/>
          </a:prstGeom>
          <a:noFill/>
          <a:ln/>
        </p:spPr>
        <p:txBody>
          <a:bodyPr wrap="square" lIns="0" tIns="0" rIns="0" bIns="0" rtlCol="0" anchor="ctr"/>
          <a:lstStyle/>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@DevlinDuldulao</a:t>
            </a:r>
          </a:p>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Senior consultant at SoftwareOne Norway</a:t>
            </a:r>
          </a:p>
        </p:txBody>
      </p:sp>
    </p:spTree>
    <p:extLst>
      <p:ext uri="{BB962C8B-B14F-4D97-AF65-F5344CB8AC3E}">
        <p14:creationId xmlns:p14="http://schemas.microsoft.com/office/powerpoint/2010/main" val="12714989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B011052-0B56-59B0-E718-EBA992077E07}"/>
              </a:ext>
            </a:extLst>
          </p:cNvPr>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15 years of methodology wars</a:t>
            </a:r>
            <a:endParaRPr lang="en-US" sz="3400" dirty="0">
              <a:solidFill>
                <a:schemeClr val="tx1">
                  <a:lumMod val="95000"/>
                  <a:lumOff val="5000"/>
                </a:schemeClr>
              </a:solidFill>
            </a:endParaRPr>
          </a:p>
        </p:txBody>
      </p:sp>
      <p:sp>
        <p:nvSpPr>
          <p:cNvPr id="5" name="Shape 2">
            <a:extLst>
              <a:ext uri="{FF2B5EF4-FFF2-40B4-BE49-F238E27FC236}">
                <a16:creationId xmlns:a16="http://schemas.microsoft.com/office/drawing/2014/main" id="{50DC7FBD-9BAB-D4E5-9792-DEA061F0458E}"/>
              </a:ext>
            </a:extLst>
          </p:cNvPr>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7" name="Text 3">
            <a:extLst>
              <a:ext uri="{FF2B5EF4-FFF2-40B4-BE49-F238E27FC236}">
                <a16:creationId xmlns:a16="http://schemas.microsoft.com/office/drawing/2014/main" id="{285160DB-9432-0595-B29D-AE38841B3245}"/>
              </a:ext>
            </a:extLst>
          </p:cNvPr>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9" name="Text 4">
            <a:extLst>
              <a:ext uri="{FF2B5EF4-FFF2-40B4-BE49-F238E27FC236}">
                <a16:creationId xmlns:a16="http://schemas.microsoft.com/office/drawing/2014/main" id="{CE7FFF5E-A89A-77A0-C040-B529C81D2FF0}"/>
              </a:ext>
            </a:extLst>
          </p:cNvPr>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2005</a:t>
            </a:r>
            <a:endParaRPr lang="en-US" sz="1600" dirty="0">
              <a:solidFill>
                <a:schemeClr val="bg1">
                  <a:lumMod val="75000"/>
                </a:schemeClr>
              </a:solidFill>
            </a:endParaRPr>
          </a:p>
        </p:txBody>
      </p:sp>
      <p:sp>
        <p:nvSpPr>
          <p:cNvPr id="11" name="Shape 5">
            <a:extLst>
              <a:ext uri="{FF2B5EF4-FFF2-40B4-BE49-F238E27FC236}">
                <a16:creationId xmlns:a16="http://schemas.microsoft.com/office/drawing/2014/main" id="{AC4B3742-73FF-C1BA-6A4A-EA7A2B15D136}"/>
              </a:ext>
            </a:extLst>
          </p:cNvPr>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3" name="Text 6">
            <a:extLst>
              <a:ext uri="{FF2B5EF4-FFF2-40B4-BE49-F238E27FC236}">
                <a16:creationId xmlns:a16="http://schemas.microsoft.com/office/drawing/2014/main" id="{2465B0CB-24C9-BBE7-FD52-6D8D7618BCF7}"/>
              </a:ext>
            </a:extLst>
          </p:cNvPr>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15" name="Text 7">
            <a:extLst>
              <a:ext uri="{FF2B5EF4-FFF2-40B4-BE49-F238E27FC236}">
                <a16:creationId xmlns:a16="http://schemas.microsoft.com/office/drawing/2014/main" id="{E633C04A-B3B8-6C0A-5650-25B632C6735E}"/>
              </a:ext>
            </a:extLst>
          </p:cNvPr>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2009</a:t>
            </a:r>
            <a:endParaRPr lang="en-US" sz="1600" dirty="0">
              <a:solidFill>
                <a:schemeClr val="bg1">
                  <a:lumMod val="75000"/>
                </a:schemeClr>
              </a:solidFill>
            </a:endParaRPr>
          </a:p>
        </p:txBody>
      </p:sp>
      <p:sp>
        <p:nvSpPr>
          <p:cNvPr id="17" name="Shape 8">
            <a:extLst>
              <a:ext uri="{FF2B5EF4-FFF2-40B4-BE49-F238E27FC236}">
                <a16:creationId xmlns:a16="http://schemas.microsoft.com/office/drawing/2014/main" id="{D5886CBD-1C4E-D79F-543F-81F286D67CDC}"/>
              </a:ext>
            </a:extLst>
          </p:cNvPr>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9" name="Text 9">
            <a:extLst>
              <a:ext uri="{FF2B5EF4-FFF2-40B4-BE49-F238E27FC236}">
                <a16:creationId xmlns:a16="http://schemas.microsoft.com/office/drawing/2014/main" id="{07CD2121-6FF8-628C-1EC2-44AC32CC0435}"/>
              </a:ext>
            </a:extLst>
          </p:cNvPr>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21" name="Text 10">
            <a:extLst>
              <a:ext uri="{FF2B5EF4-FFF2-40B4-BE49-F238E27FC236}">
                <a16:creationId xmlns:a16="http://schemas.microsoft.com/office/drawing/2014/main" id="{598E4960-336A-07CF-AD14-1D176AEE0EFB}"/>
              </a:ext>
            </a:extLst>
          </p:cNvPr>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2010</a:t>
            </a:r>
            <a:endParaRPr lang="en-US" sz="1600" dirty="0">
              <a:solidFill>
                <a:schemeClr val="bg1">
                  <a:lumMod val="75000"/>
                </a:schemeClr>
              </a:solidFill>
            </a:endParaRPr>
          </a:p>
        </p:txBody>
      </p:sp>
      <p:sp>
        <p:nvSpPr>
          <p:cNvPr id="23" name="Shape 11">
            <a:extLst>
              <a:ext uri="{FF2B5EF4-FFF2-40B4-BE49-F238E27FC236}">
                <a16:creationId xmlns:a16="http://schemas.microsoft.com/office/drawing/2014/main" id="{BE4163CF-2F22-907B-2D61-DA392718AFA8}"/>
              </a:ext>
            </a:extLst>
          </p:cNvPr>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5" name="Text 12">
            <a:extLst>
              <a:ext uri="{FF2B5EF4-FFF2-40B4-BE49-F238E27FC236}">
                <a16:creationId xmlns:a16="http://schemas.microsoft.com/office/drawing/2014/main" id="{5D489014-E7F6-3F6D-E6E7-75213352FD67}"/>
              </a:ext>
            </a:extLst>
          </p:cNvPr>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27" name="Text 13">
            <a:extLst>
              <a:ext uri="{FF2B5EF4-FFF2-40B4-BE49-F238E27FC236}">
                <a16:creationId xmlns:a16="http://schemas.microsoft.com/office/drawing/2014/main" id="{1054AFA5-A7B9-CFE4-0225-7756BCF5FEC9}"/>
              </a:ext>
            </a:extLst>
          </p:cNvPr>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2011</a:t>
            </a:r>
            <a:endParaRPr lang="en-US" sz="1600" dirty="0">
              <a:solidFill>
                <a:schemeClr val="bg1">
                  <a:lumMod val="75000"/>
                </a:schemeClr>
              </a:solidFill>
            </a:endParaRPr>
          </a:p>
        </p:txBody>
      </p:sp>
      <p:sp>
        <p:nvSpPr>
          <p:cNvPr id="29" name="Shape 14">
            <a:extLst>
              <a:ext uri="{FF2B5EF4-FFF2-40B4-BE49-F238E27FC236}">
                <a16:creationId xmlns:a16="http://schemas.microsoft.com/office/drawing/2014/main" id="{B823822A-0CEB-6FA6-2D74-71E4DB3A6584}"/>
              </a:ext>
            </a:extLst>
          </p:cNvPr>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1" name="Text 15">
            <a:extLst>
              <a:ext uri="{FF2B5EF4-FFF2-40B4-BE49-F238E27FC236}">
                <a16:creationId xmlns:a16="http://schemas.microsoft.com/office/drawing/2014/main" id="{ACED6B06-5F28-EC3B-51CA-23E870FEAF8F}"/>
              </a:ext>
            </a:extLst>
          </p:cNvPr>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33" name="Text 16">
            <a:extLst>
              <a:ext uri="{FF2B5EF4-FFF2-40B4-BE49-F238E27FC236}">
                <a16:creationId xmlns:a16="http://schemas.microsoft.com/office/drawing/2014/main" id="{CDE9EA28-7760-D1EA-F4F1-C0A980BD5EE1}"/>
              </a:ext>
            </a:extLst>
          </p:cNvPr>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2013</a:t>
            </a:r>
            <a:endParaRPr lang="en-US" sz="1600" dirty="0">
              <a:solidFill>
                <a:schemeClr val="bg1">
                  <a:lumMod val="75000"/>
                </a:schemeClr>
              </a:solidFill>
            </a:endParaRPr>
          </a:p>
        </p:txBody>
      </p:sp>
      <p:sp>
        <p:nvSpPr>
          <p:cNvPr id="35" name="Shape 17">
            <a:extLst>
              <a:ext uri="{FF2B5EF4-FFF2-40B4-BE49-F238E27FC236}">
                <a16:creationId xmlns:a16="http://schemas.microsoft.com/office/drawing/2014/main" id="{74044E17-809D-96CB-F791-62D750AB7628}"/>
              </a:ext>
            </a:extLst>
          </p:cNvPr>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7" name="Text 18">
            <a:extLst>
              <a:ext uri="{FF2B5EF4-FFF2-40B4-BE49-F238E27FC236}">
                <a16:creationId xmlns:a16="http://schemas.microsoft.com/office/drawing/2014/main" id="{9B7C33E6-D57D-45A1-9874-40FEC57D1CF7}"/>
              </a:ext>
            </a:extLst>
          </p:cNvPr>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39" name="Text 19">
            <a:extLst>
              <a:ext uri="{FF2B5EF4-FFF2-40B4-BE49-F238E27FC236}">
                <a16:creationId xmlns:a16="http://schemas.microsoft.com/office/drawing/2014/main" id="{A04568C9-356C-8C65-7F40-84EA7C9098EA}"/>
              </a:ext>
            </a:extLst>
          </p:cNvPr>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2015</a:t>
            </a:r>
            <a:endParaRPr lang="en-US" sz="1600" dirty="0">
              <a:solidFill>
                <a:schemeClr val="bg1">
                  <a:lumMod val="75000"/>
                </a:schemeClr>
              </a:solidFill>
            </a:endParaRPr>
          </a:p>
        </p:txBody>
      </p:sp>
      <p:sp>
        <p:nvSpPr>
          <p:cNvPr id="41" name="Shape 20">
            <a:extLst>
              <a:ext uri="{FF2B5EF4-FFF2-40B4-BE49-F238E27FC236}">
                <a16:creationId xmlns:a16="http://schemas.microsoft.com/office/drawing/2014/main" id="{4504358F-A082-C1C8-3C66-C67D0925457C}"/>
              </a:ext>
            </a:extLst>
          </p:cNvPr>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43" name="Text 21">
            <a:extLst>
              <a:ext uri="{FF2B5EF4-FFF2-40B4-BE49-F238E27FC236}">
                <a16:creationId xmlns:a16="http://schemas.microsoft.com/office/drawing/2014/main" id="{C0E9110E-9460-9DC5-1478-797AFB518583}"/>
              </a:ext>
            </a:extLst>
          </p:cNvPr>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45" name="Text 22">
            <a:extLst>
              <a:ext uri="{FF2B5EF4-FFF2-40B4-BE49-F238E27FC236}">
                <a16:creationId xmlns:a16="http://schemas.microsoft.com/office/drawing/2014/main" id="{ACA9714D-10D4-BA1F-895D-3B55B97276AC}"/>
              </a:ext>
            </a:extLst>
          </p:cNvPr>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chemeClr val="bg1">
                    <a:lumMod val="75000"/>
                  </a:schemeClr>
                </a:solidFill>
                <a:latin typeface="Courier New" pitchFamily="34" charset="0"/>
                <a:ea typeface="Courier New" pitchFamily="34" charset="-122"/>
                <a:cs typeface="Courier New" pitchFamily="34" charset="-120"/>
              </a:rPr>
              <a:t>2016</a:t>
            </a:r>
            <a:endParaRPr lang="en-US" sz="1600" dirty="0">
              <a:solidFill>
                <a:schemeClr val="bg1">
                  <a:lumMod val="75000"/>
                </a:schemeClr>
              </a:solidFill>
            </a:endParaRPr>
          </a:p>
        </p:txBody>
      </p:sp>
      <p:sp>
        <p:nvSpPr>
          <p:cNvPr id="47" name="Shape 23">
            <a:extLst>
              <a:ext uri="{FF2B5EF4-FFF2-40B4-BE49-F238E27FC236}">
                <a16:creationId xmlns:a16="http://schemas.microsoft.com/office/drawing/2014/main" id="{34C644E8-CF66-9437-72C4-30C3CCBE6CE3}"/>
              </a:ext>
            </a:extLst>
          </p:cNvPr>
          <p:cNvSpPr/>
          <p:nvPr/>
        </p:nvSpPr>
        <p:spPr>
          <a:xfrm>
            <a:off x="10445991" y="2743200"/>
            <a:ext cx="1151344" cy="1371600"/>
          </a:xfrm>
          <a:prstGeom prst="roundRect">
            <a:avLst>
              <a:gd name="adj" fmla="val 9530"/>
            </a:avLst>
          </a:prstGeom>
          <a:solidFill>
            <a:srgbClr val="2C2B2B"/>
          </a:solidFill>
          <a:ln w="12700">
            <a:solidFill>
              <a:srgbClr val="00B0F0"/>
            </a:solidFill>
            <a:prstDash val="solid"/>
          </a:ln>
        </p:spPr>
        <p:txBody>
          <a:bodyPr/>
          <a:lstStyle/>
          <a:p>
            <a:endParaRPr lang="en-US" sz="2400">
              <a:solidFill>
                <a:srgbClr val="00B0F0"/>
              </a:solidFill>
            </a:endParaRPr>
          </a:p>
        </p:txBody>
      </p:sp>
      <p:sp>
        <p:nvSpPr>
          <p:cNvPr id="49" name="Text 24">
            <a:extLst>
              <a:ext uri="{FF2B5EF4-FFF2-40B4-BE49-F238E27FC236}">
                <a16:creationId xmlns:a16="http://schemas.microsoft.com/office/drawing/2014/main" id="{ADF8D1E7-9E75-D5F6-A9CE-19EDEA015C53}"/>
              </a:ext>
            </a:extLst>
          </p:cNvPr>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00B0F0"/>
                </a:solidFill>
                <a:latin typeface="Arial" pitchFamily="34" charset="0"/>
                <a:ea typeface="Arial" pitchFamily="34" charset="-122"/>
                <a:cs typeface="Arial" pitchFamily="34" charset="-120"/>
              </a:rPr>
              <a:t>Tailwind</a:t>
            </a:r>
            <a:endParaRPr lang="en-US" dirty="0">
              <a:solidFill>
                <a:srgbClr val="00B0F0"/>
              </a:solidFill>
            </a:endParaRPr>
          </a:p>
        </p:txBody>
      </p:sp>
      <p:sp>
        <p:nvSpPr>
          <p:cNvPr id="51" name="Text 25">
            <a:extLst>
              <a:ext uri="{FF2B5EF4-FFF2-40B4-BE49-F238E27FC236}">
                <a16:creationId xmlns:a16="http://schemas.microsoft.com/office/drawing/2014/main" id="{EBD3968A-2DF8-9D6F-C207-591A5065D5AA}"/>
              </a:ext>
            </a:extLst>
          </p:cNvPr>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chemeClr val="bg1"/>
                </a:solidFill>
                <a:latin typeface="Courier New" pitchFamily="34" charset="0"/>
                <a:ea typeface="Courier New" pitchFamily="34" charset="-122"/>
                <a:cs typeface="Courier New" pitchFamily="34" charset="-120"/>
              </a:rPr>
              <a:t>2017→</a:t>
            </a:r>
            <a:endParaRPr lang="en-US" sz="1600" dirty="0">
              <a:solidFill>
                <a:schemeClr val="bg1"/>
              </a:solidFill>
            </a:endParaRPr>
          </a:p>
        </p:txBody>
      </p:sp>
    </p:spTree>
    <p:extLst>
      <p:ext uri="{BB962C8B-B14F-4D97-AF65-F5344CB8AC3E}">
        <p14:creationId xmlns:p14="http://schemas.microsoft.com/office/powerpoint/2010/main" val="3337599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chemeClr val="tx1">
                    <a:lumMod val="95000"/>
                    <a:lumOff val="5000"/>
                  </a:schemeClr>
                </a:solidFill>
                <a:latin typeface="Arial" pitchFamily="34" charset="0"/>
                <a:ea typeface="Arial" pitchFamily="34" charset="-122"/>
                <a:cs typeface="Arial" pitchFamily="34" charset="-120"/>
              </a:rPr>
              <a:t>The machines have voted.</a:t>
            </a:r>
            <a:endParaRPr lang="en-US" sz="4000" dirty="0">
              <a:solidFill>
                <a:schemeClr val="tx1">
                  <a:lumMod val="95000"/>
                  <a:lumOff val="5000"/>
                </a:schemeClr>
              </a:solidFill>
            </a:endParaRPr>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v0</a:t>
            </a:r>
            <a:endParaRPr lang="en-US" sz="2000" dirty="0">
              <a:solidFill>
                <a:srgbClr val="FFC000"/>
              </a:solidFill>
            </a:endParaRPr>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chemeClr val="bg1">
                    <a:lumMod val="85000"/>
                  </a:schemeClr>
                </a:solidFill>
                <a:latin typeface="Arial" pitchFamily="34" charset="0"/>
                <a:ea typeface="Arial" pitchFamily="34" charset="-122"/>
                <a:cs typeface="Arial" pitchFamily="34" charset="-120"/>
              </a:rPr>
              <a:t>Vercel</a:t>
            </a:r>
            <a:endParaRPr lang="en-US" dirty="0">
              <a:solidFill>
                <a:schemeClr val="bg1">
                  <a:lumMod val="85000"/>
                </a:schemeClr>
              </a:solidFill>
            </a:endParaRPr>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bolt.new</a:t>
            </a:r>
            <a:endParaRPr lang="en-US" sz="2000" dirty="0">
              <a:solidFill>
                <a:srgbClr val="FFC000"/>
              </a:solidFill>
            </a:endParaRPr>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StackBlitz</a:t>
            </a:r>
            <a:endParaRPr lang="en-US" sz="1600" dirty="0">
              <a:solidFill>
                <a:schemeClr val="bg1">
                  <a:lumMod val="85000"/>
                </a:schemeClr>
              </a:solidFill>
            </a:endParaRPr>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Lovable</a:t>
            </a:r>
            <a:endParaRPr lang="en-US" sz="2000" dirty="0">
              <a:solidFill>
                <a:srgbClr val="FFC000"/>
              </a:solidFill>
            </a:endParaRPr>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full-app gen</a:t>
            </a:r>
            <a:endParaRPr lang="en-US" sz="1600" dirty="0">
              <a:solidFill>
                <a:schemeClr val="bg1">
                  <a:lumMod val="85000"/>
                </a:schemeClr>
              </a:solidFill>
            </a:endParaRPr>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Claude Artifacts</a:t>
            </a:r>
            <a:endParaRPr lang="en-US" sz="2000" dirty="0">
              <a:solidFill>
                <a:srgbClr val="FFC000"/>
              </a:solidFill>
            </a:endParaRPr>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Anthropic</a:t>
            </a:r>
            <a:endParaRPr lang="en-US" sz="1600" dirty="0">
              <a:solidFill>
                <a:schemeClr val="bg1">
                  <a:lumMod val="85000"/>
                </a:schemeClr>
              </a:solidFill>
            </a:endParaRPr>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shadcn/ui</a:t>
            </a:r>
            <a:endParaRPr lang="en-US" sz="2000" dirty="0">
              <a:solidFill>
                <a:srgbClr val="FFC000"/>
              </a:solidFill>
            </a:endParaRPr>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default for AI tools</a:t>
            </a:r>
            <a:endParaRPr lang="en-US" sz="1600" dirty="0">
              <a:solidFill>
                <a:schemeClr val="bg1">
                  <a:lumMod val="85000"/>
                </a:schemeClr>
              </a:solidFill>
            </a:endParaRPr>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FFC000"/>
                </a:solidFill>
                <a:latin typeface="Arial" pitchFamily="34" charset="0"/>
                <a:ea typeface="Arial" pitchFamily="34" charset="-122"/>
                <a:cs typeface="Arial" pitchFamily="34" charset="-120"/>
              </a:rPr>
              <a:t>Cursor, Copilot</a:t>
            </a:r>
            <a:endParaRPr lang="en-US" sz="2000" dirty="0">
              <a:solidFill>
                <a:srgbClr val="FFC000"/>
              </a:solidFill>
            </a:endParaRPr>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chemeClr val="bg1">
                    <a:lumMod val="85000"/>
                  </a:schemeClr>
                </a:solidFill>
                <a:latin typeface="Arial" pitchFamily="34" charset="0"/>
                <a:ea typeface="Arial" pitchFamily="34" charset="-122"/>
                <a:cs typeface="Arial" pitchFamily="34" charset="-120"/>
              </a:rPr>
              <a:t>lean Tailwind</a:t>
            </a:r>
            <a:endParaRPr lang="en-US" sz="1600" dirty="0">
              <a:solidFill>
                <a:schemeClr val="bg1">
                  <a:lumMod val="85000"/>
                </a:schemeClr>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142024"/>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Naming things</a:t>
            </a:r>
            <a:endParaRPr lang="en-US" sz="3400" dirty="0">
              <a:solidFill>
                <a:schemeClr val="tx1">
                  <a:lumMod val="95000"/>
                  <a:lumOff val="5000"/>
                </a:schemeClr>
              </a:solidFill>
            </a:endParaRPr>
          </a:p>
        </p:txBody>
      </p:sp>
      <p:sp>
        <p:nvSpPr>
          <p:cNvPr id="4" name="Text 2"/>
          <p:cNvSpPr/>
          <p:nvPr/>
        </p:nvSpPr>
        <p:spPr>
          <a:xfrm>
            <a:off x="6849687" y="310150"/>
            <a:ext cx="4438574" cy="1280160"/>
          </a:xfrm>
          <a:prstGeom prst="rect">
            <a:avLst/>
          </a:prstGeom>
          <a:noFill/>
          <a:ln/>
        </p:spPr>
        <p:txBody>
          <a:bodyPr wrap="square" lIns="0" tIns="0" rIns="0" bIns="0" rtlCol="0" anchor="t"/>
          <a:lstStyle/>
          <a:p>
            <a:pPr marL="0" indent="0" algn="l">
              <a:lnSpc>
                <a:spcPct val="110000"/>
              </a:lnSpc>
              <a:buNone/>
            </a:pPr>
            <a:r>
              <a:rPr lang="en-US" sz="2000" i="1" dirty="0">
                <a:solidFill>
                  <a:schemeClr val="tx1">
                    <a:lumMod val="95000"/>
                    <a:lumOff val="5000"/>
                  </a:schemeClr>
                </a:solidFill>
                <a:latin typeface="Arial" pitchFamily="34" charset="0"/>
                <a:ea typeface="Arial" pitchFamily="34" charset="-122"/>
                <a:cs typeface="Arial" pitchFamily="34" charset="-120"/>
              </a:rPr>
              <a:t>“There are only two hard things in computer science: cache invalidation and naming things.”</a:t>
            </a:r>
            <a:endParaRPr lang="en-US" sz="2000" dirty="0">
              <a:solidFill>
                <a:schemeClr val="tx1">
                  <a:lumMod val="95000"/>
                  <a:lumOff val="5000"/>
                </a:schemeClr>
              </a:solidFill>
            </a:endParaRPr>
          </a:p>
        </p:txBody>
      </p:sp>
      <p:sp>
        <p:nvSpPr>
          <p:cNvPr id="6" name="Text 4"/>
          <p:cNvSpPr/>
          <p:nvPr/>
        </p:nvSpPr>
        <p:spPr>
          <a:xfrm>
            <a:off x="609043" y="1147864"/>
            <a:ext cx="4523276" cy="5267690"/>
          </a:xfrm>
          <a:prstGeom prst="rect">
            <a:avLst/>
          </a:prstGeom>
          <a:noFill/>
          <a:ln/>
        </p:spPr>
        <p:txBody>
          <a:bodyPr wrap="square" lIns="0" tIns="0" rIns="0" bIns="0" rtlCol="0" anchor="t"/>
          <a:lstStyle/>
          <a:p>
            <a:pPr marL="342900" indent="-342900" algn="l">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Every element needs an invented, project-specific name</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Names drift: card / Card / </a:t>
            </a:r>
            <a:r>
              <a:rPr lang="en-US" sz="2400" dirty="0" err="1">
                <a:solidFill>
                  <a:schemeClr val="tx1">
                    <a:lumMod val="95000"/>
                    <a:lumOff val="5000"/>
                  </a:schemeClr>
                </a:solidFill>
                <a:latin typeface="Arial" pitchFamily="34" charset="0"/>
                <a:ea typeface="Arial" pitchFamily="34" charset="-122"/>
                <a:cs typeface="Arial" pitchFamily="34" charset="-120"/>
              </a:rPr>
              <a:t>cardWrapper</a:t>
            </a:r>
            <a:r>
              <a:rPr lang="en-US" sz="2400" dirty="0">
                <a:solidFill>
                  <a:schemeClr val="tx1">
                    <a:lumMod val="95000"/>
                    <a:lumOff val="5000"/>
                  </a:schemeClr>
                </a:solidFill>
                <a:latin typeface="Arial" pitchFamily="34" charset="0"/>
                <a:ea typeface="Arial" pitchFamily="34" charset="-122"/>
                <a:cs typeface="Arial" pitchFamily="34" charset="-120"/>
              </a:rPr>
              <a:t> / card-box</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Humans AND ai agents invent inconsistently across a session</a:t>
            </a:r>
            <a:endParaRPr lang="en-US" sz="2400" dirty="0">
              <a:solidFill>
                <a:schemeClr val="tx1">
                  <a:lumMod val="95000"/>
                  <a:lumOff val="5000"/>
                </a:schemeClr>
              </a:solidFill>
            </a:endParaRPr>
          </a:p>
          <a:p>
            <a:pPr marL="342900" indent="-342900">
              <a:lnSpc>
                <a:spcPct val="150000"/>
              </a:lnSpc>
              <a:buFont typeface="Arial" panose="020B0604020202020204" pitchFamily="34" charset="0"/>
              <a:buChar char="•"/>
            </a:pPr>
            <a:endParaRPr lang="en-US" sz="2400" dirty="0">
              <a:solidFill>
                <a:schemeClr val="tx1">
                  <a:lumMod val="95000"/>
                  <a:lumOff val="5000"/>
                </a:schemeClr>
              </a:solidFill>
            </a:endParaRPr>
          </a:p>
          <a:p>
            <a:pPr marL="342900" indent="-342900" algn="l">
              <a:lnSpc>
                <a:spcPct val="150000"/>
              </a:lnSpc>
              <a:buFont typeface="Arial" panose="020B0604020202020204" pitchFamily="34" charset="0"/>
              <a:buChar char="•"/>
            </a:pPr>
            <a:endParaRPr lang="en-US" sz="2400" dirty="0">
              <a:solidFill>
                <a:schemeClr val="tx1">
                  <a:lumMod val="95000"/>
                  <a:lumOff val="5000"/>
                </a:schemeClr>
              </a:solidFill>
            </a:endParaRPr>
          </a:p>
        </p:txBody>
      </p:sp>
      <p:sp>
        <p:nvSpPr>
          <p:cNvPr id="8" name="Text 6"/>
          <p:cNvSpPr/>
          <p:nvPr/>
        </p:nvSpPr>
        <p:spPr>
          <a:xfrm>
            <a:off x="729756" y="2934478"/>
            <a:ext cx="3622144"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0" name="Text 8"/>
          <p:cNvSpPr/>
          <p:nvPr/>
        </p:nvSpPr>
        <p:spPr>
          <a:xfrm>
            <a:off x="729756" y="3851407"/>
            <a:ext cx="4483612"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1" name="Shape 9"/>
          <p:cNvSpPr/>
          <p:nvPr/>
        </p:nvSpPr>
        <p:spPr>
          <a:xfrm>
            <a:off x="5696841" y="1754155"/>
            <a:ext cx="6181027" cy="4344893"/>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5" name="Text 13"/>
          <p:cNvSpPr/>
          <p:nvPr/>
        </p:nvSpPr>
        <p:spPr>
          <a:xfrm>
            <a:off x="6095847" y="1919494"/>
            <a:ext cx="3730752" cy="292608"/>
          </a:xfrm>
          <a:prstGeom prst="rect">
            <a:avLst/>
          </a:prstGeom>
          <a:noFill/>
          <a:ln/>
        </p:spPr>
        <p:txBody>
          <a:bodyPr wrap="square" lIns="0" tIns="0" rIns="0" bIns="0" rtlCol="0" anchor="ctr"/>
          <a:lstStyle/>
          <a:p>
            <a:pPr marL="0" indent="0" algn="l">
              <a:buNone/>
            </a:pPr>
            <a:r>
              <a:rPr lang="en-US" dirty="0">
                <a:solidFill>
                  <a:schemeClr val="bg1"/>
                </a:solidFill>
                <a:latin typeface="Courier New" pitchFamily="34" charset="0"/>
                <a:ea typeface="Courier New" pitchFamily="34" charset="-122"/>
                <a:cs typeface="Courier New" pitchFamily="34" charset="-120"/>
              </a:rPr>
              <a:t>styles.css</a:t>
            </a:r>
            <a:endParaRPr lang="en-US" dirty="0">
              <a:solidFill>
                <a:schemeClr val="bg1"/>
              </a:solidFill>
            </a:endParaRPr>
          </a:p>
        </p:txBody>
      </p:sp>
      <p:sp>
        <p:nvSpPr>
          <p:cNvPr id="16" name="Text 14"/>
          <p:cNvSpPr/>
          <p:nvPr/>
        </p:nvSpPr>
        <p:spPr>
          <a:xfrm>
            <a:off x="5927962" y="2699238"/>
            <a:ext cx="5721810" cy="3010898"/>
          </a:xfrm>
          <a:prstGeom prst="rect">
            <a:avLst/>
          </a:prstGeom>
          <a:noFill/>
          <a:ln/>
        </p:spPr>
        <p:txBody>
          <a:bodyPr wrap="square" lIns="0" tIns="0" rIns="0" bIns="0" rtlCol="0" anchor="t"/>
          <a:lstStyle/>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.card</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__header</a:t>
            </a:r>
            <a:r>
              <a:rPr lang="en-US" sz="2400" dirty="0">
                <a:solidFill>
                  <a:srgbClr val="FF6A4C"/>
                </a:solidFill>
                <a:latin typeface="Cascadia Code" panose="020B0609020000020004" pitchFamily="34" charset="0"/>
                <a:ea typeface="Cascadia Code" panose="020B0609020000020004" pitchFamily="34" charset="0"/>
                <a:cs typeface="Cascadia Code" panose="020B0609020000020004" pitchFamily="34" charset="0"/>
              </a:rPr>
              <a:t>--featured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  border-color</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#75dfbc;</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.card</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__cta</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 …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.card</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__badge</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 …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chemeClr val="bg2">
                    <a:lumMod val="25000"/>
                  </a:schemeClr>
                </a:solidFill>
                <a:latin typeface="Arial" pitchFamily="34" charset="0"/>
                <a:ea typeface="Arial" pitchFamily="34" charset="-122"/>
                <a:cs typeface="Arial" pitchFamily="34" charset="-120"/>
              </a:rPr>
              <a:t>Separation of concerns</a:t>
            </a:r>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Component.tsx</a:t>
            </a:r>
            <a:endParaRPr lang="en-US"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&lt;div className=</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"card--featured"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&gt;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b="1" dirty="0">
                <a:solidFill>
                  <a:srgbClr val="F1CF25"/>
                </a:solidFill>
                <a:latin typeface="Courier New" pitchFamily="34" charset="0"/>
                <a:ea typeface="Courier New" pitchFamily="34" charset="-122"/>
                <a:cs typeface="Courier New" pitchFamily="34" charset="-120"/>
              </a:rPr>
              <a:t>styles.css</a:t>
            </a:r>
            <a:endParaRPr lang="en-US"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.card--featured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 … }</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43294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Tailwind = co-location</a:t>
            </a:r>
            <a:endParaRPr lang="en-US" sz="3400" dirty="0">
              <a:solidFill>
                <a:schemeClr val="tx1">
                  <a:lumMod val="95000"/>
                  <a:lumOff val="5000"/>
                </a:schemeClr>
              </a:solidFill>
            </a:endParaRPr>
          </a:p>
        </p:txBody>
      </p:sp>
      <p:sp>
        <p:nvSpPr>
          <p:cNvPr id="4" name="Text 2"/>
          <p:cNvSpPr/>
          <p:nvPr/>
        </p:nvSpPr>
        <p:spPr>
          <a:xfrm>
            <a:off x="594360" y="1347340"/>
            <a:ext cx="11002975" cy="457200"/>
          </a:xfrm>
          <a:prstGeom prst="rect">
            <a:avLst/>
          </a:prstGeom>
          <a:noFill/>
          <a:ln/>
        </p:spPr>
        <p:txBody>
          <a:bodyPr wrap="square" lIns="0" tIns="0" rIns="0" bIns="0" rtlCol="0" anchor="ctr"/>
          <a:lstStyle/>
          <a:p>
            <a:pPr marL="0" indent="0" algn="l">
              <a:buNone/>
            </a:pPr>
            <a:r>
              <a:rPr lang="en-US" sz="2000" dirty="0">
                <a:solidFill>
                  <a:schemeClr val="tx1">
                    <a:lumMod val="95000"/>
                    <a:lumOff val="5000"/>
                  </a:schemeClr>
                </a:solidFill>
                <a:latin typeface="Arial" pitchFamily="34" charset="0"/>
                <a:ea typeface="Arial" pitchFamily="34" charset="-122"/>
                <a:cs typeface="Arial" pitchFamily="34" charset="-120"/>
              </a:rPr>
              <a:t>Everything about the component, in one place.</a:t>
            </a:r>
            <a:endParaRPr lang="en-US" sz="2000" dirty="0">
              <a:solidFill>
                <a:schemeClr val="tx1">
                  <a:lumMod val="95000"/>
                  <a:lumOff val="5000"/>
                </a:schemeClr>
              </a:solidFill>
            </a:endParaRPr>
          </a:p>
        </p:txBody>
      </p:sp>
      <p:sp>
        <p:nvSpPr>
          <p:cNvPr id="5" name="Shape 3"/>
          <p:cNvSpPr/>
          <p:nvPr/>
        </p:nvSpPr>
        <p:spPr>
          <a:xfrm>
            <a:off x="594360" y="2033140"/>
            <a:ext cx="11002975" cy="4391920"/>
          </a:xfrm>
          <a:prstGeom prst="roundRect">
            <a:avLst>
              <a:gd name="adj" fmla="val 2759"/>
            </a:avLst>
          </a:prstGeom>
          <a:solidFill>
            <a:srgbClr val="171717"/>
          </a:solidFill>
          <a:ln w="12700">
            <a:solidFill>
              <a:srgbClr val="3A3A3A"/>
            </a:solidFill>
            <a:prstDash val="solid"/>
          </a:ln>
        </p:spPr>
        <p:txBody>
          <a:bodyPr/>
          <a:lstStyle/>
          <a:p>
            <a:endParaRPr lang="en-US" dirty="0"/>
          </a:p>
        </p:txBody>
      </p:sp>
      <p:sp>
        <p:nvSpPr>
          <p:cNvPr id="9" name="Text 7"/>
          <p:cNvSpPr/>
          <p:nvPr/>
        </p:nvSpPr>
        <p:spPr>
          <a:xfrm>
            <a:off x="1508760" y="2106292"/>
            <a:ext cx="9905695" cy="292608"/>
          </a:xfrm>
          <a:prstGeom prst="rect">
            <a:avLst/>
          </a:prstGeom>
          <a:noFill/>
          <a:ln/>
        </p:spPr>
        <p:txBody>
          <a:bodyPr wrap="square" lIns="0" tIns="0" rIns="0" bIns="0" rtlCol="0" anchor="ctr"/>
          <a:lstStyle/>
          <a:p>
            <a:pPr marL="0" indent="0" algn="l">
              <a:buNone/>
            </a:pPr>
            <a:r>
              <a:rPr lang="en-US" sz="1600" dirty="0">
                <a:solidFill>
                  <a:schemeClr val="bg1"/>
                </a:solidFill>
                <a:latin typeface="Courier New" pitchFamily="34" charset="0"/>
                <a:ea typeface="Courier New" pitchFamily="34" charset="-122"/>
                <a:cs typeface="Courier New" pitchFamily="34" charset="-120"/>
              </a:rPr>
              <a:t>PricingCard.tsx (the whole component)</a:t>
            </a:r>
            <a:endParaRPr lang="en-US" sz="1600" dirty="0">
              <a:solidFill>
                <a:schemeClr val="bg1"/>
              </a:solidFill>
            </a:endParaRPr>
          </a:p>
        </p:txBody>
      </p:sp>
      <p:sp>
        <p:nvSpPr>
          <p:cNvPr id="10" name="Text 8"/>
          <p:cNvSpPr/>
          <p:nvPr/>
        </p:nvSpPr>
        <p:spPr>
          <a:xfrm>
            <a:off x="886968" y="2581779"/>
            <a:ext cx="10417759" cy="3595086"/>
          </a:xfrm>
          <a:prstGeom prst="rect">
            <a:avLst/>
          </a:prstGeom>
          <a:noFill/>
          <a:ln/>
        </p:spPr>
        <p:txBody>
          <a:bodyPr wrap="square" lIns="0" tIns="0" rIns="0" bIns="0" rtlCol="0" anchor="t"/>
          <a:lstStyle/>
          <a:p>
            <a:pPr marL="0" indent="0" algn="l">
              <a:lnSpc>
                <a:spcPct val="115000"/>
              </a:lnSpc>
              <a:buNone/>
            </a:pPr>
            <a:r>
              <a:rPr lang="en-US" sz="2400" dirty="0">
                <a:solidFill>
                  <a:schemeClr val="bg1">
                    <a:lumMod val="75000"/>
                  </a:schemeClr>
                </a:solidFill>
                <a:latin typeface="Courier New" pitchFamily="34" charset="0"/>
                <a:ea typeface="Courier New" pitchFamily="34" charset="-122"/>
                <a:cs typeface="Courier New" pitchFamily="34" charset="-120"/>
              </a:rPr>
              <a:t>// no CSS file. no class names. no cascade.</a:t>
            </a:r>
            <a:endParaRPr lang="en-US" sz="2400" dirty="0">
              <a:solidFill>
                <a:schemeClr val="bg1">
                  <a:lumMod val="75000"/>
                </a:schemeClr>
              </a:solidFill>
            </a:endParaRPr>
          </a:p>
          <a:p>
            <a:pPr marL="0" indent="0" algn="l">
              <a:lnSpc>
                <a:spcPct val="115000"/>
              </a:lnSpc>
              <a:buNone/>
            </a:pPr>
            <a:endParaRPr lang="en-US" sz="2400" dirty="0"/>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&lt;button</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className=</a:t>
            </a: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{cn(</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  "rounded-lg px-4 py-3 font-bold"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  featured</a:t>
            </a: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&amp;&amp; </a:t>
            </a:r>
            <a:r>
              <a:rPr lang="en-US" sz="2400" dirty="0">
                <a:solidFill>
                  <a:srgbClr val="F1CF25"/>
                </a:solidFill>
                <a:latin typeface="Cascadia Code" panose="020B0609020000020004" pitchFamily="34" charset="0"/>
                <a:ea typeface="Cascadia Code" panose="020B0609020000020004" pitchFamily="34" charset="0"/>
                <a:cs typeface="Cascadia Code" panose="020B0609020000020004" pitchFamily="34" charset="0"/>
              </a:rPr>
              <a:t>"bg-mint text-ink hover:bg-mint/80"</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75DFBC"/>
                </a:solidFill>
                <a:latin typeface="Cascadia Code" panose="020B0609020000020004" pitchFamily="34" charset="0"/>
                <a:ea typeface="Cascadia Code" panose="020B0609020000020004" pitchFamily="34" charset="0"/>
                <a:cs typeface="Cascadia Code" panose="020B0609020000020004" pitchFamily="34" charset="0"/>
              </a:rPr>
              <a:t>)}&gt;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D8D8D8"/>
                </a:solidFill>
                <a:latin typeface="Cascadia Code" panose="020B0609020000020004" pitchFamily="34" charset="0"/>
                <a:ea typeface="Cascadia Code" panose="020B0609020000020004" pitchFamily="34" charset="0"/>
                <a:cs typeface="Cascadia Code" panose="020B0609020000020004" pitchFamily="34" charset="0"/>
              </a:rPr>
              <a:t>  Choose plan</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a:p>
            <a:pPr marL="0" indent="0" algn="l">
              <a:lnSpc>
                <a:spcPct val="115000"/>
              </a:lnSpc>
              <a:buNone/>
            </a:pPr>
            <a:r>
              <a:rPr lang="en-US" sz="2400" dirty="0">
                <a:solidFill>
                  <a:srgbClr val="9CDCFE"/>
                </a:solidFill>
                <a:latin typeface="Cascadia Code" panose="020B0609020000020004" pitchFamily="34" charset="0"/>
                <a:ea typeface="Cascadia Code" panose="020B0609020000020004" pitchFamily="34" charset="0"/>
                <a:cs typeface="Cascadia Code" panose="020B0609020000020004" pitchFamily="34" charset="0"/>
              </a:rPr>
              <a:t>&lt;/button&gt;</a:t>
            </a:r>
            <a:endParaRPr lang="en-US" sz="2400" dirty="0">
              <a:latin typeface="Cascadia Code" panose="020B0609020000020004" pitchFamily="34" charset="0"/>
              <a:ea typeface="Cascadia Code" panose="020B0609020000020004" pitchFamily="34" charset="0"/>
              <a:cs typeface="Cascadia Code" panose="020B06090200000200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2CFE6E-2D96-E374-D839-2D11AEB8B6AB}"/>
              </a:ext>
            </a:extLst>
          </p:cNvPr>
          <p:cNvPicPr>
            <a:picLocks noChangeAspect="1"/>
          </p:cNvPicPr>
          <p:nvPr/>
        </p:nvPicPr>
        <p:blipFill>
          <a:blip r:embed="rId3"/>
          <a:stretch>
            <a:fillRect/>
          </a:stretch>
        </p:blipFill>
        <p:spPr>
          <a:xfrm>
            <a:off x="7958" y="0"/>
            <a:ext cx="12184042" cy="6862481"/>
          </a:xfrm>
          <a:prstGeom prst="rect">
            <a:avLst/>
          </a:prstGeom>
        </p:spPr>
      </p:pic>
    </p:spTree>
    <p:extLst>
      <p:ext uri="{BB962C8B-B14F-4D97-AF65-F5344CB8AC3E}">
        <p14:creationId xmlns:p14="http://schemas.microsoft.com/office/powerpoint/2010/main" val="3510892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E5BEBF-A442-4C34-7379-A29507C3EA44}"/>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37009075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6439F-C0E0-1553-6BC7-B3DFA96B0B6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E28E763-238C-BB4D-A0BB-06B244B081A1}"/>
              </a:ext>
            </a:extLst>
          </p:cNvPr>
          <p:cNvSpPr txBox="1"/>
          <p:nvPr/>
        </p:nvSpPr>
        <p:spPr>
          <a:xfrm>
            <a:off x="782053" y="902368"/>
            <a:ext cx="10744200" cy="646331"/>
          </a:xfrm>
          <a:prstGeom prst="rect">
            <a:avLst/>
          </a:prstGeom>
          <a:noFill/>
        </p:spPr>
        <p:txBody>
          <a:bodyPr wrap="square" rtlCol="0">
            <a:spAutoFit/>
          </a:bodyPr>
          <a:lstStyle/>
          <a:p>
            <a:r>
              <a:rPr lang="en-GB" sz="3600" dirty="0" err="1"/>
              <a:t>Vibecoding</a:t>
            </a:r>
            <a:r>
              <a:rPr lang="en-GB" sz="3600" dirty="0"/>
              <a:t> without design system</a:t>
            </a:r>
          </a:p>
        </p:txBody>
      </p:sp>
    </p:spTree>
    <p:extLst>
      <p:ext uri="{BB962C8B-B14F-4D97-AF65-F5344CB8AC3E}">
        <p14:creationId xmlns:p14="http://schemas.microsoft.com/office/powerpoint/2010/main" val="1734746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E36DE5-BB33-D354-63EF-9448DC12A931}"/>
              </a:ext>
            </a:extLst>
          </p:cNvPr>
          <p:cNvPicPr>
            <a:picLocks noChangeAspect="1"/>
          </p:cNvPicPr>
          <p:nvPr/>
        </p:nvPicPr>
        <p:blipFill>
          <a:blip r:embed="rId3"/>
          <a:stretch>
            <a:fillRect/>
          </a:stretch>
        </p:blipFill>
        <p:spPr>
          <a:xfrm>
            <a:off x="0" y="156411"/>
            <a:ext cx="12107701" cy="6591068"/>
          </a:xfrm>
          <a:prstGeom prst="rect">
            <a:avLst/>
          </a:prstGeom>
        </p:spPr>
      </p:pic>
    </p:spTree>
    <p:extLst>
      <p:ext uri="{BB962C8B-B14F-4D97-AF65-F5344CB8AC3E}">
        <p14:creationId xmlns:p14="http://schemas.microsoft.com/office/powerpoint/2010/main" val="3480598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1C8D49-AEF8-2514-AAF0-8B3DE0AC8F6C}"/>
              </a:ext>
            </a:extLst>
          </p:cNvPr>
          <p:cNvPicPr>
            <a:picLocks noChangeAspect="1"/>
          </p:cNvPicPr>
          <p:nvPr/>
        </p:nvPicPr>
        <p:blipFill>
          <a:blip r:embed="rId3"/>
          <a:stretch>
            <a:fillRect/>
          </a:stretch>
        </p:blipFill>
        <p:spPr>
          <a:xfrm>
            <a:off x="105885" y="0"/>
            <a:ext cx="11980230" cy="6858000"/>
          </a:xfrm>
          <a:prstGeom prst="rect">
            <a:avLst/>
          </a:prstGeom>
        </p:spPr>
      </p:pic>
    </p:spTree>
    <p:extLst>
      <p:ext uri="{BB962C8B-B14F-4D97-AF65-F5344CB8AC3E}">
        <p14:creationId xmlns:p14="http://schemas.microsoft.com/office/powerpoint/2010/main" val="907358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D079E95-6CF3-4A50-DF05-2608ADCE957C}"/>
              </a:ext>
            </a:extLst>
          </p:cNvPr>
          <p:cNvPicPr>
            <a:picLocks noChangeAspect="1"/>
          </p:cNvPicPr>
          <p:nvPr/>
        </p:nvPicPr>
        <p:blipFill>
          <a:blip r:embed="rId3"/>
          <a:stretch>
            <a:fillRect/>
          </a:stretch>
        </p:blipFill>
        <p:spPr>
          <a:xfrm>
            <a:off x="0" y="87570"/>
            <a:ext cx="12192000" cy="6682859"/>
          </a:xfrm>
          <a:prstGeom prst="rect">
            <a:avLst/>
          </a:prstGeom>
        </p:spPr>
      </p:pic>
    </p:spTree>
    <p:extLst>
      <p:ext uri="{BB962C8B-B14F-4D97-AF65-F5344CB8AC3E}">
        <p14:creationId xmlns:p14="http://schemas.microsoft.com/office/powerpoint/2010/main" val="2604705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E22681-241E-6398-9AC4-3A51D8C10E6E}"/>
              </a:ext>
            </a:extLst>
          </p:cNvPr>
          <p:cNvPicPr>
            <a:picLocks noChangeAspect="1"/>
          </p:cNvPicPr>
          <p:nvPr/>
        </p:nvPicPr>
        <p:blipFill>
          <a:blip r:embed="rId3"/>
          <a:stretch>
            <a:fillRect/>
          </a:stretch>
        </p:blipFill>
        <p:spPr>
          <a:xfrm>
            <a:off x="0" y="-2188"/>
            <a:ext cx="12192000" cy="6862376"/>
          </a:xfrm>
          <a:prstGeom prst="rect">
            <a:avLst/>
          </a:prstGeom>
        </p:spPr>
      </p:pic>
    </p:spTree>
    <p:extLst>
      <p:ext uri="{BB962C8B-B14F-4D97-AF65-F5344CB8AC3E}">
        <p14:creationId xmlns:p14="http://schemas.microsoft.com/office/powerpoint/2010/main" val="13465355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032D8FB-4F60-4AF4-158D-962AEC147F0A}"/>
              </a:ext>
            </a:extLst>
          </p:cNvPr>
          <p:cNvPicPr>
            <a:picLocks noChangeAspect="1"/>
          </p:cNvPicPr>
          <p:nvPr/>
        </p:nvPicPr>
        <p:blipFill>
          <a:blip r:embed="rId3"/>
          <a:stretch>
            <a:fillRect/>
          </a:stretch>
        </p:blipFill>
        <p:spPr>
          <a:xfrm>
            <a:off x="117880" y="0"/>
            <a:ext cx="11956239" cy="6858000"/>
          </a:xfrm>
          <a:prstGeom prst="rect">
            <a:avLst/>
          </a:prstGeom>
        </p:spPr>
      </p:pic>
    </p:spTree>
    <p:extLst>
      <p:ext uri="{BB962C8B-B14F-4D97-AF65-F5344CB8AC3E}">
        <p14:creationId xmlns:p14="http://schemas.microsoft.com/office/powerpoint/2010/main" val="6373069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E1CAD1-B15B-A2D8-35D6-83B9D6BE0862}"/>
              </a:ext>
            </a:extLst>
          </p:cNvPr>
          <p:cNvSpPr txBox="1"/>
          <p:nvPr/>
        </p:nvSpPr>
        <p:spPr>
          <a:xfrm>
            <a:off x="3248594" y="2921168"/>
            <a:ext cx="5694829" cy="1446550"/>
          </a:xfrm>
          <a:prstGeom prst="rect">
            <a:avLst/>
          </a:prstGeom>
          <a:noFill/>
        </p:spPr>
        <p:txBody>
          <a:bodyPr wrap="none" rtlCol="0">
            <a:spAutoFit/>
          </a:bodyPr>
          <a:lstStyle/>
          <a:p>
            <a:pPr algn="ctr"/>
            <a:r>
              <a:rPr lang="en-GB" sz="4400" dirty="0"/>
              <a:t>ui.shadcn.com/create</a:t>
            </a:r>
          </a:p>
          <a:p>
            <a:pPr algn="ctr"/>
            <a:r>
              <a:rPr lang="en-GB" sz="4400" dirty="0"/>
              <a:t>and a real-world project</a:t>
            </a:r>
          </a:p>
        </p:txBody>
      </p:sp>
      <p:sp>
        <p:nvSpPr>
          <p:cNvPr id="4" name="TextBox 3">
            <a:extLst>
              <a:ext uri="{FF2B5EF4-FFF2-40B4-BE49-F238E27FC236}">
                <a16:creationId xmlns:a16="http://schemas.microsoft.com/office/drawing/2014/main" id="{FF09DC34-3988-202A-4626-3F602CA75663}"/>
              </a:ext>
            </a:extLst>
          </p:cNvPr>
          <p:cNvSpPr txBox="1"/>
          <p:nvPr/>
        </p:nvSpPr>
        <p:spPr>
          <a:xfrm>
            <a:off x="817832" y="510741"/>
            <a:ext cx="6105644" cy="1015663"/>
          </a:xfrm>
          <a:prstGeom prst="rect">
            <a:avLst/>
          </a:prstGeom>
          <a:noFill/>
        </p:spPr>
        <p:txBody>
          <a:bodyPr wrap="square">
            <a:spAutoFit/>
          </a:bodyPr>
          <a:lstStyle/>
          <a:p>
            <a:r>
              <a:rPr lang="en-GB" sz="6000" dirty="0"/>
              <a:t>Demo</a:t>
            </a:r>
            <a:endParaRPr lang="en-GB" dirty="0"/>
          </a:p>
        </p:txBody>
      </p:sp>
    </p:spTree>
    <p:extLst>
      <p:ext uri="{BB962C8B-B14F-4D97-AF65-F5344CB8AC3E}">
        <p14:creationId xmlns:p14="http://schemas.microsoft.com/office/powerpoint/2010/main" val="2457681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512FB9-33C7-FDEF-7973-3F9D98ADB3D4}"/>
              </a:ext>
            </a:extLst>
          </p:cNvPr>
          <p:cNvPicPr>
            <a:picLocks noChangeAspect="1"/>
          </p:cNvPicPr>
          <p:nvPr/>
        </p:nvPicPr>
        <p:blipFill>
          <a:blip r:embed="rId3"/>
          <a:stretch>
            <a:fillRect/>
          </a:stretch>
        </p:blipFill>
        <p:spPr>
          <a:xfrm>
            <a:off x="2833" y="0"/>
            <a:ext cx="12186334" cy="6858000"/>
          </a:xfrm>
          <a:prstGeom prst="rect">
            <a:avLst/>
          </a:prstGeom>
        </p:spPr>
      </p:pic>
    </p:spTree>
    <p:extLst>
      <p:ext uri="{BB962C8B-B14F-4D97-AF65-F5344CB8AC3E}">
        <p14:creationId xmlns:p14="http://schemas.microsoft.com/office/powerpoint/2010/main" val="30560165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F8CF84-E836-6661-06CC-0231A3914E6F}"/>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18571711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7C662D4-81AB-FBA5-45A0-517D98F31995}"/>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4899086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D137A-3031-1D81-D4B4-006CDC262D66}"/>
              </a:ext>
            </a:extLst>
          </p:cNvPr>
          <p:cNvSpPr txBox="1"/>
          <p:nvPr/>
        </p:nvSpPr>
        <p:spPr>
          <a:xfrm>
            <a:off x="782053" y="902368"/>
            <a:ext cx="10744200" cy="646331"/>
          </a:xfrm>
          <a:prstGeom prst="rect">
            <a:avLst/>
          </a:prstGeom>
          <a:noFill/>
        </p:spPr>
        <p:txBody>
          <a:bodyPr wrap="square" rtlCol="0">
            <a:spAutoFit/>
          </a:bodyPr>
          <a:lstStyle/>
          <a:p>
            <a:r>
              <a:rPr lang="en-GB" sz="3600" dirty="0"/>
              <a:t>Why coding models love tailwind </a:t>
            </a:r>
            <a:r>
              <a:rPr lang="en-GB" sz="3600" dirty="0" err="1"/>
              <a:t>css</a:t>
            </a:r>
            <a:r>
              <a:rPr lang="en-GB" sz="3600" dirty="0"/>
              <a:t> and </a:t>
            </a:r>
            <a:r>
              <a:rPr lang="en-GB" sz="3600" dirty="0" err="1"/>
              <a:t>shadcn-ui</a:t>
            </a:r>
            <a:r>
              <a:rPr lang="en-GB" sz="3600" dirty="0"/>
              <a:t>?</a:t>
            </a:r>
          </a:p>
        </p:txBody>
      </p:sp>
    </p:spTree>
    <p:extLst>
      <p:ext uri="{BB962C8B-B14F-4D97-AF65-F5344CB8AC3E}">
        <p14:creationId xmlns:p14="http://schemas.microsoft.com/office/powerpoint/2010/main" val="17682992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AE848A-25C4-8311-2069-02E7DECB339D}"/>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6438162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290B4-C7A0-0A6E-87CD-25321C23A6A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7A7AA4-B48F-70CD-1365-ECA09787C432}"/>
              </a:ext>
            </a:extLst>
          </p:cNvPr>
          <p:cNvSpPr txBox="1"/>
          <p:nvPr/>
        </p:nvSpPr>
        <p:spPr>
          <a:xfrm>
            <a:off x="782053" y="902368"/>
            <a:ext cx="10744200" cy="1200329"/>
          </a:xfrm>
          <a:prstGeom prst="rect">
            <a:avLst/>
          </a:prstGeom>
          <a:noFill/>
        </p:spPr>
        <p:txBody>
          <a:bodyPr wrap="square" rtlCol="0">
            <a:spAutoFit/>
          </a:bodyPr>
          <a:lstStyle/>
          <a:p>
            <a:r>
              <a:rPr lang="en-GB" sz="3600" dirty="0"/>
              <a:t>Why coding models love JavaScript and TypeScript libraries and frameworks?</a:t>
            </a:r>
          </a:p>
        </p:txBody>
      </p:sp>
    </p:spTree>
    <p:extLst>
      <p:ext uri="{BB962C8B-B14F-4D97-AF65-F5344CB8AC3E}">
        <p14:creationId xmlns:p14="http://schemas.microsoft.com/office/powerpoint/2010/main" val="38246790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ACC80DE-7755-5061-1741-249B3F9177FA}"/>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7646037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35FF5-FB37-6F4D-2E22-4A232A5ED8F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AB1FD6-8748-0CBA-C1EA-F512936A2ADC}"/>
              </a:ext>
            </a:extLst>
          </p:cNvPr>
          <p:cNvSpPr txBox="1"/>
          <p:nvPr/>
        </p:nvSpPr>
        <p:spPr>
          <a:xfrm>
            <a:off x="782053" y="902368"/>
            <a:ext cx="10744200" cy="1200329"/>
          </a:xfrm>
          <a:prstGeom prst="rect">
            <a:avLst/>
          </a:prstGeom>
          <a:noFill/>
        </p:spPr>
        <p:txBody>
          <a:bodyPr wrap="square" rtlCol="0">
            <a:spAutoFit/>
          </a:bodyPr>
          <a:lstStyle/>
          <a:p>
            <a:r>
              <a:rPr lang="en-GB" sz="3600" dirty="0"/>
              <a:t>What to do if you want to use a newly release framework?</a:t>
            </a:r>
          </a:p>
        </p:txBody>
      </p:sp>
    </p:spTree>
    <p:extLst>
      <p:ext uri="{BB962C8B-B14F-4D97-AF65-F5344CB8AC3E}">
        <p14:creationId xmlns:p14="http://schemas.microsoft.com/office/powerpoint/2010/main" val="24218599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DAED699-1E71-1EF9-795A-E643C671B25F}"/>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22621386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b="1" dirty="0">
                <a:solidFill>
                  <a:schemeClr val="tx1">
                    <a:lumMod val="95000"/>
                    <a:lumOff val="5000"/>
                  </a:schemeClr>
                </a:solidFill>
              </a:rPr>
              <a:t>Knowledge atrophy </a:t>
            </a:r>
            <a:r>
              <a:rPr lang="en-GB" sz="2800"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7160"/>
            <a:ext cx="12191650" cy="672084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54D12-4E9A-71CB-5C67-19EDAFF6C7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E8910F-9301-47EA-017F-9BDA2A325682}"/>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1">
                    <a:lumMod val="95000"/>
                    <a:lumOff val="5000"/>
                  </a:schemeClr>
                </a:solidFill>
              </a:rPr>
              <a:t>Thank you!</a:t>
            </a:r>
          </a:p>
          <a:p>
            <a:pPr algn="ctr"/>
            <a:endParaRPr lang="en-US" sz="4000" dirty="0">
              <a:solidFill>
                <a:schemeClr val="tx1">
                  <a:lumMod val="95000"/>
                  <a:lumOff val="5000"/>
                </a:schemeClr>
              </a:solidFill>
            </a:endParaRPr>
          </a:p>
          <a:p>
            <a:pPr algn="ctr"/>
            <a:r>
              <a:rPr lang="en-US" sz="4000" dirty="0">
                <a:solidFill>
                  <a:schemeClr val="tx1">
                    <a:lumMod val="95000"/>
                    <a:lumOff val="5000"/>
                  </a:schemeClr>
                </a:solidFill>
              </a:rPr>
              <a:t>@DevlinDuldulao</a:t>
            </a:r>
          </a:p>
        </p:txBody>
      </p:sp>
      <p:sp>
        <p:nvSpPr>
          <p:cNvPr id="3" name="TextBox 2">
            <a:extLst>
              <a:ext uri="{FF2B5EF4-FFF2-40B4-BE49-F238E27FC236}">
                <a16:creationId xmlns:a16="http://schemas.microsoft.com/office/drawing/2014/main" id="{3A45CE5F-A1C0-EBE2-5D6A-C4DF7A99D10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1">
                    <a:lumMod val="95000"/>
                    <a:lumOff val="5000"/>
                  </a:schemeClr>
                </a:solidFill>
                <a:latin typeface="Brush Script MT" panose="03060802040406070304" pitchFamily="66" charset="0"/>
              </a:rPr>
              <a:t>Social Links</a:t>
            </a:r>
          </a:p>
        </p:txBody>
      </p:sp>
      <p:pic>
        <p:nvPicPr>
          <p:cNvPr id="4" name="Picture 3">
            <a:extLst>
              <a:ext uri="{FF2B5EF4-FFF2-40B4-BE49-F238E27FC236}">
                <a16:creationId xmlns:a16="http://schemas.microsoft.com/office/drawing/2014/main" id="{61B6DF07-7C49-CE6F-718A-1E7FE35848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3939952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2">
                                            <p:txEl>
                                              <p:pRg st="0" end="0"/>
                                            </p:txEl>
                                          </p:spTgt>
                                        </p:tgtEl>
                                        <p:attrNameLst>
                                          <p:attrName>ppt_w</p:attrName>
                                        </p:attrNameLst>
                                      </p:cBhvr>
                                    </p:anim>
                                    <p:anim by="(#ppt_w*0.50)" calcmode="lin" valueType="num">
                                      <p:cBhvr>
                                        <p:cTn id="8" dur="500" decel="50000" autoRev="1" fill="hold">
                                          <p:stCondLst>
                                            <p:cond delay="0"/>
                                          </p:stCondLst>
                                        </p:cTn>
                                        <p:tgtEl>
                                          <p:spTgt spid="2">
                                            <p:txEl>
                                              <p:pRg st="0" end="0"/>
                                            </p:txEl>
                                          </p:spTgt>
                                        </p:tgtEl>
                                        <p:attrNameLst>
                                          <p:attrName>ppt_x</p:attrName>
                                        </p:attrNameLst>
                                      </p:cBhvr>
                                    </p:anim>
                                    <p:anim from="(-#ppt_h/2)" to="(#ppt_y)" calcmode="lin" valueType="num">
                                      <p:cBhvr>
                                        <p:cTn id="9" dur="1000" fill="hold">
                                          <p:stCondLst>
                                            <p:cond delay="0"/>
                                          </p:stCondLst>
                                        </p:cTn>
                                        <p:tgtEl>
                                          <p:spTgt spid="2">
                                            <p:txEl>
                                              <p:pRg st="0" end="0"/>
                                            </p:txEl>
                                          </p:spTgt>
                                        </p:tgtEl>
                                        <p:attrNameLst>
                                          <p:attrName>ppt_y</p:attrName>
                                        </p:attrNameLst>
                                      </p:cBhvr>
                                    </p:anim>
                                    <p:animRot by="21600000">
                                      <p:cBhvr>
                                        <p:cTn id="10" dur="1000" fill="hold">
                                          <p:stCondLst>
                                            <p:cond delay="0"/>
                                          </p:stCondLst>
                                        </p:cTn>
                                        <p:tgtEl>
                                          <p:spTgt spid="2">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2">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2">
                                            <p:txEl>
                                              <p:pRg st="2" end="2"/>
                                            </p:txEl>
                                          </p:spTgt>
                                        </p:tgtEl>
                                        <p:attrNameLst>
                                          <p:attrName>ppt_w</p:attrName>
                                        </p:attrNameLst>
                                      </p:cBhvr>
                                    </p:anim>
                                    <p:anim by="(#ppt_w*0.50)" calcmode="lin" valueType="num">
                                      <p:cBhvr>
                                        <p:cTn id="16" dur="500" decel="50000" autoRev="1" fill="hold">
                                          <p:stCondLst>
                                            <p:cond delay="0"/>
                                          </p:stCondLst>
                                        </p:cTn>
                                        <p:tgtEl>
                                          <p:spTgt spid="2">
                                            <p:txEl>
                                              <p:pRg st="2" end="2"/>
                                            </p:txEl>
                                          </p:spTgt>
                                        </p:tgtEl>
                                        <p:attrNameLst>
                                          <p:attrName>ppt_x</p:attrName>
                                        </p:attrNameLst>
                                      </p:cBhvr>
                                    </p:anim>
                                    <p:anim from="(-#ppt_h/2)" to="(#ppt_y)" calcmode="lin" valueType="num">
                                      <p:cBhvr>
                                        <p:cTn id="17" dur="1000" fill="hold">
                                          <p:stCondLst>
                                            <p:cond delay="0"/>
                                          </p:stCondLst>
                                        </p:cTn>
                                        <p:tgtEl>
                                          <p:spTgt spid="2">
                                            <p:txEl>
                                              <p:pRg st="2" end="2"/>
                                            </p:txEl>
                                          </p:spTgt>
                                        </p:tgtEl>
                                        <p:attrNameLst>
                                          <p:attrName>ppt_y</p:attrName>
                                        </p:attrNameLst>
                                      </p:cBhvr>
                                    </p:anim>
                                    <p:animRot by="21600000">
                                      <p:cBhvr>
                                        <p:cTn id="18" dur="1000" fill="hold">
                                          <p:stCondLst>
                                            <p:cond delay="0"/>
                                          </p:stCondLst>
                                        </p:cTn>
                                        <p:tgtEl>
                                          <p:spTgt spid="2">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1054</TotalTime>
  <Words>1852</Words>
  <Application>Microsoft Macintosh PowerPoint</Application>
  <PresentationFormat>Widescreen</PresentationFormat>
  <Paragraphs>202</Paragraphs>
  <Slides>31</Slides>
  <Notes>31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Brush Script MT</vt:lpstr>
      <vt:lpstr>Aptos</vt:lpstr>
      <vt:lpstr>Arial</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Devlin Duldulao</cp:lastModifiedBy>
  <cp:revision>166</cp:revision>
  <dcterms:created xsi:type="dcterms:W3CDTF">2026-07-14T15:54:22Z</dcterms:created>
  <dcterms:modified xsi:type="dcterms:W3CDTF">2026-09-09T15:19:35Z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